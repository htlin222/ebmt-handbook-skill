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notesMasterIdLst>
    <p:notesMasterId r:id="rId113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how does HCT-CI change the conditioning intensity you would offer a 62-year-old with intermediate-risk AML?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 · 8TH EDITION · 2024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Haematopoietic Cell Transplantation and Cellular Therapies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Study-group handout · chapter by chapter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 · tables · flowcharts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chapters · Parts I–IX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035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Sureda A, Corbacioglu S, Greco R, Kröger N, Carreras E (eds). The EBMT Handbook, 8th ed. Springer 2024. Open access, CC BY 4.0.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DECK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these slides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5943600" cy="169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per handbook chapter, in book order. Header shows Part and chapter number.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forms only: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(what to know),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(compare / thresholds),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(sequence or decision).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marks provenance: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content checked against the handbook text;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condensed summary — confirm details in the chapter before clinical use.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 and cut-offs are teaching values from the 2024 edition; local protocols and newer approvals take precedence.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 on some slides hold discussion prompts for the study group.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09747"/>
            <a:ext cx="59436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FOR FLOWCHARTS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28466"/>
            <a:ext cx="1798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or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2952" y="395706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529840" y="3728466"/>
            <a:ext cx="1798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branch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55592" y="395706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602480" y="3728466"/>
            <a:ext cx="1798320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option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05122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box = step; dashed box = decision point; black box = preferred or default option. Arrows read left→right or top→bottom.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and chapters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3328416"/>
                <a:gridCol w="950976"/>
                <a:gridCol w="713232"/>
              </a:tblGrid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Chapters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Introduction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Biological Aspects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III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 and Clinical Aspects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11–21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IV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Management of the Patient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22–34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Complications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VI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Organ-Specific Complications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48–56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VII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 Prevention, Cellular and Gene Therapy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57–62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VIII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Modalities of HCT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63–69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Indications and Results by Disease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70–95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605833"/>
            <a:ext cx="594360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 opens with a divider slide; the appendix holds audit notes and abbreviations.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of HCT, the EBMT organisation, donor registries, unit requirements, JACIE accreditation and transplant statistics.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1–6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of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1950s–60s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Marrow infusion after irradiation; canine models establish HLA matching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64792" y="193205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011680" y="1417320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1968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successful HLA-matched sibling HCT (SCID); E. D. Thomas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93205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566160" y="1417320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1970s–90s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Ciclosporin; unrelated-donor registries (NMDP); cord blood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73752" y="193205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120640" y="1417320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2000s–now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RIC/NMA, haplo-PTCy, CAR-T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66238"/>
            <a:ext cx="5943600" cy="159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milestones matter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work (Storb, Thomas) showed histocompatibility, not just dose, determines engraftment and GVHD.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Ciclosporin made GVHD controllable; registries and cord blood widened donor access.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RIC/NMA conditioning extended eligibility beyond 70 years.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Haploidentical PTCy made a donor available for almost every patient.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now competes with, and sometimes replaces, autologous HCT.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EBMT: history, present and future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1605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facts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1974, Paris; started as an informal network of European transplant centres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HCT registry worldwide; &gt;45,000 transplants reported per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&gt;600 centres in ~47 countries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Parties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ALWP, CLWP, PDWP, LWP, TCWP, IDWP and others produce guidelines and studies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JACIE accreditation (with ISCT) — see Ch. 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Meeting each spring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250588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point: the registry is the evidence base behind most EBMT recommendations quoted in this deck.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registries: connecting donors and recipients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417320"/>
            <a:ext cx="4206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high-resolution HLA typing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764792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325880" y="2002536"/>
            <a:ext cx="4206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search (WMDA / BMDW, NMDP, DKMS)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2350008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325880" y="2587752"/>
            <a:ext cx="4206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matches → donor contacted → confirmatory typing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2935224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325880" y="3172968"/>
            <a:ext cx="4206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donor chosen: HLA, CMV, age, sex → medical work-up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3520440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325880" y="3758184"/>
            <a:ext cx="4206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scheduled (BM or PBSC) and shipped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06824"/>
            <a:ext cx="5943600" cy="86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40 million registered adult donors and ~800,000 cord blood units worldwide.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DKMS is the largest single registry (&gt; 12 million donors).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 blood banks (Eurocord, NetCord) require minimum TNC and CD34+ content.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of an HCT unit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404164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Inpatient ward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HEPA-filtered, positive-pressure single rooms with own bathroom; visitor control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bank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24-h supply; irradiated, leucodepleted / CMV-safe components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HLA laboratory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High-resolution typing of all relevant loci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processing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GMP-grade collection and processing facility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24-h radiology, ICU, microbiology, pharmacy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CAR-T add-ons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Apheresis, cold-chain logistics, CRS/ICANS expertise and equipment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JACIE accreditation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1165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JACIE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Joint Accreditation Committee ISCT–EBMT; European quality system, aligned with FACT.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three areas: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programme, collection, processing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Accredited centres show lower NRM and better survival in registry analyses.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several countries accreditation is a prerequisite for reimbursement or authorisation.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83586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53896" y="31201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700784" y="2783586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31201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944368" y="2783586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inspection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41064" y="31201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187952" y="2783586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84648" y="31201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31536" y="2783586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(valid 4 years, with interim audit)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·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methods in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852928"/>
                <a:gridCol w="17830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Death from any cause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Kaplan–Meier; Cox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 / PFS / RFS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Relapse, progression or death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Kaplan–Meier; Cox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Death without relapse (competing with relapse)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incidence; Fine–Gray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 (competing with NRM)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incidence; Gray's 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GRFS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Alive without relapse, grade III–IV aGVHD or severe 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Kaplan–Meier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45316"/>
            <a:ext cx="5943600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risks — the core idea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 and NRM compete: a patient who dies of GVHD can no longer relapse.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1 − Kaplan–Meier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overestimates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relapse because it censors competing deaths.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cumulative incidence functions; landmark analysis for time-dependent covariates (e.g. GVHD).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· BIOLOGICAL ASPECTS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Aspects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cell and immune cell biology, histocompatibility and immune reconstitution after transplant.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7–10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· BIOLOGICAL ASPECTS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properties of haematopoietic stem cells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Self-renewal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multilineage differentiation define the HSC.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HSC (LT-HSC)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quiescent, strongest self-renewal, maintained in the bone marrow niche.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HCT the donor HSC pool replaces host haematopoiesis (measured as chimerism, Ch. 21).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LT-HSCs are the target for ex vivo gene therapy (e.g. exa-cel for SCD and thalassaemia).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46273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LT-HSC (quiescent)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64792" y="3174873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011680" y="2946273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ST-HSC / MPP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3174873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566160" y="2946273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progenitors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73752" y="3174873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120640" y="2946273"/>
            <a:ext cx="1280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blood cells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· BIOLOGICAL ASPECTS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properties of non-HSC cells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377440"/>
                <a:gridCol w="225856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after 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relevance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αβ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effectors of GVHD and GVL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of depletion strategies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γδ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Innate-like; retained after TCRαβ/CD19 depletion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infection risk without 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Suppress alloreactivity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Spared by PTCy → GVHD control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NK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Earliest lymphoid recovery (D+30–60); KIR-mediated alloreactivity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GVL in AML, esp. haplo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Immunomodulatory, tissue repair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off-label for steroid-refractory aGVHD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· BIOLOGICAL ASPECTS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Histocompatibility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class I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(HLA-A, -B, -C) presents intracellular peptides to CD8+ T cells;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II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(HLA-DR, -DQ, -DP) presents extracellular peptides to CD4+ T cells.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for HCT: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HLA-A, -B, -C, -DRB1 (8/8) ± DQB1 (10/10)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high resolution; DPB1 permissiveness increasingly considered.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82012"/>
          <a:ext cx="5943600" cy="914400"/>
        </p:xfrm>
        <a:graphic>
          <a:graphicData uri="http://schemas.openxmlformats.org/drawingml/2006/table">
            <a:tbl>
              <a:tblPr/>
              <a:tblGrid>
                <a:gridCol w="2020824"/>
                <a:gridCol w="1783080"/>
                <a:gridCol w="213969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/ 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GVHD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on NRM / survival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10/10 matched sibling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10/10 matched unrelated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Slightly higher than MSD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9/10 mismatched unrelated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mismatch ≈ 10% lower survival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Haploidentical (5/10)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without PTCy / T-cell depletion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Acceptable with PTCy platform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445767"/>
            <a:ext cx="5943600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Non-HLA factors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ligand mismatch: NK alloreactivity, possible GVL benefit in AML.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histocompatibility antigens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why GVHD occurs even between HLA-identical siblings.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donor → male recipient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(H-Y antigens): more chronic GVHD.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· BIOLOGICAL ASPECTS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reconstitution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664208"/>
                <a:gridCol w="2496312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Neutrophils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D+14–28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barrier; engraftment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NK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D+30–60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GVL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CD8+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CMV / EBV control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CD4+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6–12 months (slower after TBI)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Bacterial / fungal defence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cells, immunoglobulins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12–24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 of re-vaccination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627379"/>
            <a:ext cx="2834640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Slows reconstitution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 vivo T-cell depletion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GVHD and its treatment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age (thymic involution)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 blood graft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3627379"/>
            <a:ext cx="283464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(practical)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Lymphocyte subsets at D+30, +100, +180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 &lt; 4 g/L with recurrent infection → IVIG replacement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 &lt; 200/µL → continue PJP prophylaxis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Clinical Aspects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evaluation, donor selection, conditioning, graft source, collection, cord blood, graft manipulation, processing, engraftment and chimerism.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11–21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and counselling of the candidate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disease indication (Part IX)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64792" y="1711262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011680" y="141732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NRM risk: HCT-CI, age, KPS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711262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566160" y="141732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platform: donor, source, intensity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73752" y="1711262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120640" y="141732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consent, fertility, psychosocial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24659"/>
          <a:ext cx="2834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HCT-CI (Sorror)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2-y NRM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2224659"/>
          <a:ext cx="2834640" cy="914400"/>
        </p:xfrm>
        <a:graphic>
          <a:graphicData uri="http://schemas.openxmlformats.org/drawingml/2006/table">
            <a:tbl>
              <a:tblPr/>
              <a:tblGrid>
                <a:gridCol w="992124"/>
                <a:gridCol w="184251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minimum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LVEF ≥ 45%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FEV1 and DLCO ≥ 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Kidney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CrCl ≥ 40–50 mL/min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Bilirubin ≤ 2× ULN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3970477"/>
            <a:ext cx="5943600" cy="60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tools: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risk score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(age, stage, interval, donor, sex match),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KPS/ECOG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geriatric assessment (Ch. 68).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screen: CMV, EBV, HSV, VZV, HBV, HCV, HIV, syphilis, TB (IGRA).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selection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417320"/>
            <a:ext cx="2377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needs allogeneic HCT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746504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6840" y="1929384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1929384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2039112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choice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437384"/>
            <a:ext cx="185928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HLA-matched sibling (MSD)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929384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590800" y="2039112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none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499360" y="2437384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or 8/8 matched unrelated (MUD)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71160" y="1929384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632960" y="2039112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none / urgent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41520" y="2437384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Haploidentical relative (PTCy)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41520" y="2969514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cord blood (Ch. 64)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41520" y="3218688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9/10 MMUD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43884"/>
          <a:ext cx="5943600" cy="914400"/>
        </p:xfrm>
        <a:graphic>
          <a:graphicData uri="http://schemas.openxmlformats.org/drawingml/2006/table">
            <a:tbl>
              <a:tblPr/>
              <a:tblGrid>
                <a:gridCol w="2080260"/>
                <a:gridCol w="386334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factor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Younger (&lt; 35–40 y) beats closer HLA match among unrelated donors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CMV serostatus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to recipient; R+/D− is the highest-risk constellation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female donor for male recipient (cGVHD)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decisive; guides transfusion plan (Ch. 24)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Donor-specific anti-HLA antibodies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in mismatched settings (graft failure)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regimens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891540"/>
                <a:gridCol w="1901952"/>
                <a:gridCol w="1367028"/>
                <a:gridCol w="17830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Intensity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patient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Ablates host marrow; irreversible cytopenia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55–60 y, HCT-CI 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Bu/Cy, Cy/TBI 12 Gy, Flu/Bu4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ablation; relies on GVL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55–70 y, comorbidity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Flu/Bu2, Flu/Mel 140, Flu/Treo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cytopenia; mixed chimerism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70 y or unfit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Flu/TBI 2 Gy, Flu/Cy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334771"/>
            <a:ext cx="5943600" cy="123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doses (teaching values)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Bu/Cy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busulfan 3.2 mg/kg/day IV × 4 + cyclophosphamide 60 mg/kg × 2.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Cy/TBI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TBI 12 Gy fractionated (6 × 2 Gy) + cyclophosphamide 60 mg/kg × 2.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Flu/Bu RIC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fludarabine 150 mg/m² + busulfan 6.4 mg/kg IV (8 mg/kg oral).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Flu/Mel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fludarabine + melphalan 140 mg/m²; Seattle NMA = fludarabine 90 mg/m² + TBI 2 Gy.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67331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TBI late effects: pneumonitis, cataract, infertility, growth failure, secondary malignancy. Fractionation lowers toxicity.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the stem cell source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1545336"/>
                <a:gridCol w="1545336"/>
                <a:gridCol w="154533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Bone marrow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Peripheral blood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Cord blood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CD34+ dose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(but immature)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Neutrophil engraftment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(~ +5 days)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Slowest (D+25–28)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Chronic 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burden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GA, 100–200 punctures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G-CSF + apheresis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Preferred for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Non-malignant disease, children, aplastic anaemia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 malignancy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suitable adult donor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250588"/>
            <a:ext cx="5943600" cy="60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malignancies: PBSC is now used in most transplants worldwide.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Non-malignant or paediatric: BM preferred because GVL is not needed and cGVHD is pure harm.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marrow harvesting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work-up and consent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anaesthesia, prone position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aspirations, posterior iliac crests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10–15 mL/kg recipient weight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count, infuse or process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09876"/>
            <a:ext cx="2834640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TNC ≥ 2–3 × 10⁸/kg recipient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CD34+ ≥ 2 × 10⁶/kg recipient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usually 500–1000 mL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exceed ~ 20 mL/kg donor weight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309876"/>
            <a:ext cx="2834640" cy="171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safety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pain in almost all donors, resolves in days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Autologous back-up transfusion in ~ 10%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(mostly anaesthetic) events &lt; 0.5%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Indicated when BM is the preferred source (Ch. 14)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Mobilisation and collection of PBSC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377440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G-CSF alone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µg/kg/day × 4–5 days; apheresis from day 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for healthy donors and many autos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G-CSF + plerixafor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Plerixafor 0.24 mg/kg s.c. evening of day 4 (pre-emptive or rescue)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poor mobilisers; MM, lymphoma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Chemotherapy + G-CSF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e.g. cyclophosphamide 2–4 g/m² then G-CSF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yield, more toxicity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493740"/>
            <a:ext cx="283464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CD34+ dose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Auto: ≥ 2 × 10⁶/kg minimum, ≥ 5 × 10⁶/kg optimal (more for tandem)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Allo: ≥ 4 × 10⁶/kg recipient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3493740"/>
            <a:ext cx="283464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mobiliser (GITMO)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blood CD34+ &lt; 20/µL up to day 6, or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× 10⁶/kg in ≤ 3 aphereses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Predictors: prior lenalidomide, fludarabine, extensive RT, marrow involvement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Mobilisation and collection in children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1528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blood volume: extracorporeal circuit is a large fraction of total volume →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the circuit with red cells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&lt; 20 kg (some centres &lt; 25 kg).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access usually needs a central apheresis catheter; watch for hypocalcaemia (citrate) and hypothermia.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G-CSF 10 µg/kg/day for 4–5 days; start apheresis when blood CD34+ ≥ 10–20/µL.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≥ 5 × 10⁶ CD34+/kg for autologous (higher for tandem), ≥ 4 × 10⁶/kg for allogeneic.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~ 10 kg bone marrow harvest is often technically easier than apheresis.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4706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Hb, access checked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64792" y="34410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011680" y="314706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primed if &lt; 20 kg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34410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566160" y="314706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Apheresis 2–3 blood volumes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73752" y="34410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120640" y="3147060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CD34+; repeat next day if short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 blood collection and banking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at delivery (in utero or ex utero)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reduction, red cell depletion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Cryopreservation in liquid nitrogen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in registry (HLA, TNC, CD34+)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Thaw and infuse within ~ 4 h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09876"/>
          <a:ext cx="5943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selection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HLA 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4/6 (A, B antigen; DRB1 allele); 8-allele high-resolution now preferred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TNC dose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× 10⁷/kg recipient (single unit); cell dose outranks one extra 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CD34+ dose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1.5 × 10⁵/kg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standards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Eurocord / NetCord–FACT; minimum ~ 80 mL collection, TNC ≥ 5 × 10⁸ per unit for banking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19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Graft manipulation: T-cell depletion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19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1901952"/>
                <a:gridCol w="1069848"/>
                <a:gridCol w="1545336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Trade-off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CD34+ positive selection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bead enrichment of stem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 (&lt; 10⁴/kg)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immune recovery, infection, graft failure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TCRαβ / CD19 depletion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 αβ T and B cells; keeps γδ T, 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Preferred paediatric haplo platform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CD3 / CD19 depletion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 all T and B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Older approach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vivo (ATG, alemtuzumab)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Serotherapy given to patient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graft manipulation but same goal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275917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 GVHD ↓↓ but GVL ↓, infections ↑↑, graft failure ↑; often paired with add-back strategies.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Regulatory: substantially manipulated grafts are ATMPs and need GMP facilities (Ch. 62).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Processing, cryopreservation and quality control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762000" cy="9364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product; identity and sterility checks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46632" y="188556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493520" y="1417320"/>
            <a:ext cx="762000" cy="9364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CD34+ count by flow (ISHAGE)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2952" y="188556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29840" y="1417320"/>
            <a:ext cx="762000" cy="9364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10% DMSO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19272" y="188556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566160" y="1417320"/>
            <a:ext cx="762000" cy="9364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Controlled-rate freezing ≈ −1 °C/min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55592" y="188556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602480" y="1417320"/>
            <a:ext cx="762000" cy="9364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liquid nitrogen ≤ −150 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1912" y="188556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638800" y="1417320"/>
            <a:ext cx="762000" cy="9364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thaw at 37 °C, infuse at once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73274"/>
            <a:ext cx="2834640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criteria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(7-AAD) after thaw ≥ 70%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CFU-GM as functional assay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Sterility, endotoxin, labelling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identity documented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573274"/>
            <a:ext cx="2834640" cy="123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Infusion reactions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DMSO: nausea, flushing, bradycardia, hypertension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Dose-limit DMSO ≈ 1 g/kg/day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Haemolysis from red cell debris (ABO)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Pre-medicate; monitor vitals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· TRANSPLANT METHODOLOGY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Engraftment and chimerism monitoring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1605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Neutrophil engraftment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of 3 consecutive days with ANC ≥ 0.5 × 10⁹/L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Platelet engraftment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Platelets ≥ 20 × 10⁹/L, 7 days transfusion-free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chimerism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 (or 100%) donor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chimerism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&lt; 95% with detectable recipient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chimerism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donor fractions in different lineages (e.g. T cells vs myeloid)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40280" y="3627379"/>
            <a:ext cx="237744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Chimerism at D+30, +60, +100, then 3-monthly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4049781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6840" y="4232661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6840" y="4232661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4506981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complete donor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039111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plan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29000" y="4232661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499360" y="4506981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Mixed, stable or rising donor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499360" y="5039111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Repeat; lineage-specific (CD3)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71160" y="4232661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541520" y="4506981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donor fraction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541520" y="5039111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Taper IS, DLI, watch for graft failure or relapse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Management of the Patient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Follow-up, vascular access, transfusion, nutrition, GVHD prophylaxis, infection control, vaccination, psychology, drug interactions, nursing, ethics and quality of life.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22–34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 and long-term follow-up after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checks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Engraftment, chimerism, CMV/EBV PCR, CBC, CNI level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Chimerism, MRD (acute leukaemia), liver and renal function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restaging, GVHD assessment, immune recovery, vaccine 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D+180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antiviral prophylaxis if eligible, CNI taper, start inactivated vaccines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year, then yearly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 late effects, secondary cancer screening, bone density, endocrine, QoL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786348"/>
            <a:ext cx="2834640" cy="155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organ surveillance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Thyroid: TSH yearly after TBI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Gonads: FSH/LH/oestradiol, testosterone, semen analysis (Ch. 56)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Bone: DXA at 1 year, repeat if abnormal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Eyes: cataract after TBI, sicca with cGVHD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3786348"/>
            <a:ext cx="2834640" cy="155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general care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risk factors yearly (Ch. 55)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and oral cancer screening (Ch. 47)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Revaccination schedule (Ch. 29)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Psychosocial and return-to-work support (Ch. 30, 34)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access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377440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in 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PICC (2–3 lumens)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Peripheral insertion, low insertion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term; thrombosis risk higher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Tunnelled CVC (Hickman/Broviac)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Cuffed, multi-lumen, long 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for the transplant admission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Port-a-Cath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implanted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Outpatient follow-up, intermittent 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Apheresis catheter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bore, high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Stem cell collection, ECP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640044"/>
            <a:ext cx="5943600" cy="139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Complications and prevention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CLABSI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coagulase-negative staphylococci most common → vancomycin; remove catheter for S. aureus, Candida, persistent bacteraemia or tunnel infection.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Thrombosis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LMWH once platelets allow; catheter may stay if functioning.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pneumothorax, malposition, occlusion (alteplase lock).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Bundle: ultrasound-guided insertion, chlorhexidine skin prep and dressings, daily review of need.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support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cells: Hb &lt; 7–8 g/dL (restrictive)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Platelets prophylactic: &lt; 10 × 10⁹/L; &lt; 20 if fever or bleeding risk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Platelets with active bleeding or procedure: &lt; 50 × 10⁹/L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51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Irradiated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(≥ 25 Gy) cellular components for all HCT recipients: prevents TA-GVHD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Leucodepleted or CMV-seronegative components for CMV-negative pairs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Group-compatible plasma and platelets per ABO plan below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37154"/>
          <a:ext cx="5943600" cy="914400"/>
        </p:xfrm>
        <a:graphic>
          <a:graphicData uri="http://schemas.openxmlformats.org/drawingml/2006/table">
            <a:tbl>
              <a:tblPr/>
              <a:tblGrid>
                <a:gridCol w="1069848"/>
                <a:gridCol w="2377440"/>
                <a:gridCol w="1188720"/>
                <a:gridCol w="1307592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 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Platelets / plasma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Recipient has antibody vs donor RBC (e.g. O → 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Recipient type (O)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type (A) or 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has antibody vs recipient RBC (e.g. A → 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type (O)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Recipient type (A) or 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(e.g. A → 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5054605"/>
            <a:ext cx="594360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mismatch: risk of pure red cell aplasia and delayed red cell engraftment; consider red cell depletion of a marrow graft. Minor mismatch: passenger lymphocyte haemolysis around D+7–14.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Nutritional support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at admission (NRS-2002, MUST, weight loss &gt; 10%)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Dietitian plan; oral first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Mucositis / GI GVHD limits intake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Enteral nutrition preferred if gut works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Parenteral only if gut fails &gt; 7 days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441575"/>
            <a:ext cx="594360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25–30 kcal/kg/day; protein 1.5–2.0 g/kg/day in the acute phase.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Enteral feeding is associated with less infection and better outcomes than routine TPN.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Low-microbial ('neutropenic') diets lack strong evidence; focus on safe food handling and avoiding high-risk raw items.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glucose, triglycerides and electrolytes on TPN; refeeding risk in malnourished patients.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 prophylaxis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2258568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backbone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additions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MAC, MSD or MUD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Calcineurin inhibitor (CSA or tacrolimus) + short-course MTX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ATG for unrelated donors (cGVHD ↓)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RIC, MUD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CNI + MMF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Haploidentical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PTCy 50 mg/kg D+3 and D+4, then tacrolimus + MMF from D+5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Emerging / trial-based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PTCy also in matched donors (BMT CTN 1703)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Abatacept, vedolizumab (GI protection), sirolimus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640044"/>
            <a:ext cx="5943600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principles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 ATG (Thymoglobulin) ≈ 4.5–6 mg/kg total; ATG-Fresenius (Grafalon) 30–60 mg/kg — products are not interchangeable.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acute and chronic GVHD without clear survival gain; delays immune recovery, more viral reactivation.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the dose to lymphocyte count and weight in children.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034504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MTX: 15 mg/m² D+1 then 10 mg/m² D+3, +6 (±11). Leucovorin rescue and dose reduction for mucositis or renal impairment.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control and isolation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1605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 hygiene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Alcohol rub before and after every contact — the single most effective measure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HEPA filtration, positive pressure, ≥ 12 air changes/h; no plants or flowers; avoid construction dust (Aspergillus)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Precautions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isolation for MDRO carriers; droplet for respiratory viruses; airborne (N95) for TB, measles, varicella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Admission rectal swab (ESBL, CPE, VRE) and nasal MRSA per local policy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Limited, screened for symptoms; no ill visitors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handling; avoid raw meat, fish, unpasteurised dairy, unwashed produce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 care of infection in children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principles as adults;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by weight or BSA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expect different pharmacokinetics.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Febrile neutropenia first line: piperacillin-tazobactam (≈ 300 mg/kg/day of piperacillin, divided q6–8h) or cefepime.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Antifungal prophylaxis: fluconazole in young children; mould-active azoles (voriconazole, posaconazole) in high-risk adolescents — voriconazole PK is highly variable in children → frequent TDM.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Liposomal amphotericin B is well tolerated in children and useful when azoles fail or interact.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Viruses: CMV, EBV and especially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adenovirus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cause more severe disease after haplo or T-cell-depleted paediatric HCT; monitor by PCR, treat with cidofovir (brincidofovir where available).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7808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 &gt; 38 °C, ANC &lt; 0.5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64792" y="409175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011680" y="3797808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Cultures, then antibiotic within 60 min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409175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566160" y="3797808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Reassess at 48–72 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73752" y="409175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120640" y="3797808"/>
            <a:ext cx="128016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fever: mould work-up, empiric antifungal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29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after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29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1069848"/>
                <a:gridCol w="297180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Vaccine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Pneumococcal conjugate (PCV)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doses, then PPSV23 or 4th PCV at 12 months (PCV if cGVHD)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Inactivated influenza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months (4 in outbreak)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Yearly, lifelong; household contacts too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COVID-19 (mRNA)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primary series again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DTaP, Hib, IPV, HBV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6–12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doses each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6–12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doses, all sexes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MMR (live)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no active cGVHD, off IS, no IVIG in 8–11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Varicella (live)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conditions; recombinant zoster vaccine can be used earlier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14829"/>
            <a:ext cx="594360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vaccines are contraindicated until immune reconstitution (usually ≥ 24 months, no GVHD, no immunosuppression). Household members: yearly influenza and age-appropriate live vaccines are safe.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aspects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7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377440"/>
                <a:gridCol w="225856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problems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Pre-transplant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Anxiety, uncertainty, fear of procedures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(HADS, distress thermometer), psycho-education, CBT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Inpatient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Isolation, body-image change, loss of control, delirium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structure, family contact within infection rules, early mobilisation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Post-transplant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Fatigue (most persistent), depression, PTSD, sexual problems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Rehabilitation, graded activity, psychotherapy, couple counselling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symptom and psychological burden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multidisciplinary clinic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Adolescents / young adults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Interrupted education, peers, identity, fertility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AYA-specific programmes, fertility counselling before conditioning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relevant drug interactions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 CNI / sirolimus level (CYP3A4 inhibitors)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CNI level (CYP3A4 inducers)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Voriconazole, posaconazole, itraconazole, isavuconazole (weaker)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Rifampicin, rifabutin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Fluconazole (moderate, dose-dependent)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Carbamazepine, phenytoin, phenobarbital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Clarithromycin, erythromycin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 John's wort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Letermovir (raises tacrolimus and CSA; CSA raises letermovir)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Nafcillin, dexamethasone (mild)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Grapefruit, diltiazem, verapamil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45316"/>
            <a:ext cx="5943600" cy="175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rules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voriconazole or posaconazole: cut tacrolimus to ≈ 1/3 (CSA to ≈ 1/2) and measure levels within 3–5 days; reverse on stopping.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Rifampicin can make tacrolimus levels undetectable — avoid or use rifabutin with close TDM.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 prolongation: azoles + ondansetron, fluoroquinolones, methadone → ECG and electrolytes.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Busulfan with metronidazole or itraconazole raises Bu exposure; separate them.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MMF levels fall with CSA (enterohepatic cycle) but not with tacrolimus.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nursing in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1605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responsibilities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Transplant coordinator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search liaison, work-up scheduling, timeline, single point of contact for patient and family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Apheresis nurse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collection, manages citrate toxicity and access problems, product labelling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Ward nurse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Mucositis and skin care, CVC dressing under aseptic technique, transfusion monitoring, first to spot GVHD rash or diarrhoea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practice nurse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 follow-up clinics, symptom management, survivorship, protocol adherence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Teaches self-care: temperature, hygiene, medication, when to call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422221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JACIE standards require documented nurse training and competency for HCT and cellular therapy programmes.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issues in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185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consent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high-risk therapy: NRM, GVHD, infection, infertility, secondary cancer must be discussed; urgency must not shortcut understanding.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protection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voluntary, informed, free to withdraw; donor advocate independent of the recipient's team; minor sibling donors need ethics review and assent.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 blood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public banking (altruistic) vs private banking (limited evidence of benefit).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cost of HCT and ATMPs vs equity; access to clinical trials.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life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when to stop escalating (second transplant, ICU); advance care planning belongs in the pre-transplant consultation.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· GENERAL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life assessment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237744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FACT-BMT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 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HCT-specific module of FACT-G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EORTC QLQ-C30 (+ HDC29)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 oncology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cancer QoL, HCT add-on 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PedsQL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Child- and parent-reported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 cGVHD Symptom Scale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symptoms across 7 domains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PROMIS / PRO-CTCAE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Patient-reported symptoms in trials and clinics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54623"/>
            <a:ext cx="179832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 – D+30: mucositis, nausea, fatigue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2952" y="424856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1889760" y="3786348"/>
            <a:ext cx="1005840" cy="149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529840" y="3954623"/>
            <a:ext cx="179832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D+30 – 1 y: cGVHD symptoms, infections, fatigue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55592" y="424856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962400" y="3786348"/>
            <a:ext cx="1005840" cy="149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602480" y="3954623"/>
            <a:ext cx="1798320" cy="58788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 y: fatigue, cognition, sexuality, employment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Complications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Febrile neutropenia, bacterial, fungal, viral and other infections, bleeding and thrombosis, graft failure, endothelial syndromes, acute and chronic GVHD, PTLD, iron overload and secondary malignancies.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35–47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Febrile neutropenia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temperature ≥ 38.3 °C once or ≥ 38.0 °C for 1 h with ANC &lt; 0.5 × 10⁹/L.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HCT recipient counts as high risk.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18538"/>
            <a:ext cx="493776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cultures × 2 (peripheral + each CVC lumen), urine, CXR; do not delay antibiotics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459228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960120" y="2696972"/>
            <a:ext cx="493776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60 min: piperacillin-tazobactam 4.5 g q6–8h or cefepime 2 g q8h (meropenem if MDR-GN colonisation or septic shock)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3137662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60120" y="3375406"/>
            <a:ext cx="493776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vancomycin only for catheter or skin infection, MRSA colonisation, haemodynamic instability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3816096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60120" y="4053840"/>
            <a:ext cx="4937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Reassess at 48–72 h: culture results, de-escalate or switch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4401312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960120" y="4639056"/>
            <a:ext cx="493776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fever ≥ 4 days: chest CT, galactomannan, add mould-active antifungal (empiric or diagnostic-driven)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280914"/>
            <a:ext cx="594360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empirical antibiotics after 72 h if afebrile ≥ 48 h, cultures negative and patient stable, even before neutrophil recovery (ECIL-4). Check the calculator: scripts/hct_tools.py print_checklist('fn').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infections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901952"/>
                <a:gridCol w="237744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setting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Coagulase-negative staphylococci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CVC, most frequent bacteraemia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Vancomycin; often keep catheter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aureus / MRSA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CVC, skin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Vancomycin (daptomycin, ceftaroline alt.); remove CVC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Prolonged hospitalisation, prior vancomycin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Linezolid or daptomycin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Pseudomonas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Mucositis, neutropenia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Pip-tazo, cefepime or meropenem; ceftolozane-tazobactam if resistant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ESBL Enterobacterales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Colonisation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Carbapenem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KPC carbapenemase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Colonisation, outbreaks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Ceftazidime-avibactam or meropenem-vaborbactam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Metallo-β-lactamase (NDM, VIM)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Colonisation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Ceftazidime-avibactam + aztreonam, or cefiderocol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difficile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Antibiotics, PPI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Oral vancomycin or fidaxomicin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497007"/>
            <a:ext cx="5943600" cy="60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Bacteraemia: treat 7–14 days from first negative culture; longer for S. aureus.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Fluoroquinolone prophylaxis during neutropenia is used in many centres but drives resistance — decide locally.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 fungal infections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45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allo-HCT, neutropenia &gt; 10 days, high-dose steroids, GVHD, cord blood, CMV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Intermediate: auto-HCT for lymphoma or myeloma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Aspergillus fumigatus (most), Candida, Mucorales, Fusarium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CT: halo sign early, air-crescent late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Galactomannan: BAL more sensitive than serum; falsely low on mould-active prophylaxis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β-D-glucan: broad, negative in mucormycosis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Aspergillus PCR, culture and histology when possible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3158"/>
          <a:ext cx="5943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020824"/>
                <a:gridCol w="1783080"/>
              </a:tblGrid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Drug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Prophylaxis, low mould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Fluconazole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mg/day (no mould cover)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Prophylaxis, GVHD on steroids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Posaconazole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 mg/day (after loading)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Invasive aspergillosis 1st 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Voriconazole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mg/kg q12h × 2, then 4 mg/kg q12h; TDM 1–5.5 mg/L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Isavuconazole or liposomal amphotericin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L-AmB 3 mg/kg/day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1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Mucormycosis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L-AmB + surgical debridement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5–10 mg/kg/day; isavuconazole or posaconazole step-down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infections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7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2020824"/>
                <a:gridCol w="297180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Prevention / treatment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PCR to D+100 (D+180–200 if high risk)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Letermovir prophylaxis in R+ to D+100 (D+200 high risk). Pre-emptive: ganciclovir 5 mg/kg q12h or foscarnet. Refractory/resistant: maribavir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PCR if ATG, T-cell depletion, haplo, cord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Rising DNA → rituximab 375 mg/m² pre-emptive; PTLD see Ch. 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HHV-6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PCR when encephalitis suspected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Foscarnet or ganciclovir; limbic encephalitis around engraftment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Adenovirus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PCR in children, TCD, haplo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IS; cidofovir; virus-specific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BK virus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Urine/plasma PCR if haematuria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Haemorrhagic cystitis (Ch. 51)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RSV, influenza, SARS-CoV-2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Respiratory PCR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 upper-tract disease early: ribavirin ± IVIG (RSV), oseltamivir, nirmatrelvir/remdesivir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HSV / VZV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Aciclovir prophylaxis for all seropositives ≥ 1 year (longer with cGVHD)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668640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CMV risk: seropositive recipient with seronegative donor (R+/D−), haplo-PTCy, cord blood, ATG, steroids.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39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severe infections: toxoplasma, TB, NTM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39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7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069848"/>
                <a:gridCol w="1664208"/>
                <a:gridCol w="1604772"/>
                <a:gridCol w="1604772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is at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/ prevent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Toxoplasmosis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Seropositive recipient, cord, TCD, 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Serology pre-HCT; TMP-SMX (also covers PJP); PCR monitoring if high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Pyrimethamine + sulfadiazine + folinic acid; TMP-SMX alternative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Tuberculosis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Endemic exposure, prior TB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IGRA (preferred over TST); latent TB → isoniazid 6–9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4-drug therapy; rifampicin crashes CNI levels (Ch. 31)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Non-tuberculous mycobacteria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CVC, cGVHD, lung 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routine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Species-directed (e.g. macrolide + ethambutol + rifabutin for MAC); remove catheter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Pneumocystis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allo, auto with 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TMP-SMX from engraftment ≥ 6 months (longer on IS)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High-dose TMP-SMX ± 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Strongyloides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Tropical exposure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Serology; ivermectin before conditioning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Ivermectin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Bleeding and thrombotic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2020824"/>
                <a:gridCol w="225856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factors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Catheter-related DVT / 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CVC, immobility, cancer, prior VTE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LMWH; hold if platelets &lt; 50 (&lt; 30 with caution); keep working catheter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TA-TMA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CNI, sirolimus, CMV, GVHD, complement variants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CNI, treat trigger, eculizumab (Ch. 42)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SOS/VOD hepatic outflow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Ch. 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Defibrotide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Thrombocytopenia, mucositis, GVHD, coagulopathy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Platelets to &gt; 50 if bleeding, fibrinogen &gt; 1.5 g/L, treat cause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Diffuse alveolar haemorrhage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Engraftment, conditioning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High-dose steroids (Ch. 52)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Haemorrhagic cystitis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Cyclophosphamide, BK virus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Hydration, irrigation (Ch. 51)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27494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Thrombocytopenia is the dominant cause of bleeding; prophylactic platelets at &lt; 10 × 10⁹/L (Ch. 24).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Pharmacological VTE prophylaxis is generally withheld while platelets are &lt; 50 × 10⁹/L; mechanical prophylaxis instead.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Graft failure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7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4279392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graft failure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neutrophil engraftment (ANC &lt; 0.5 × 10⁹/L) by D+28 (BM/PBSC) or D+42 (cord blood)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graft failure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of donor haematopoiesis after initial engraftment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graft function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Cytopenias with full donor chimerism (no rejection)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Graft rejection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of donor cells with recovery of recipient haematopoiesis (immune-mediated)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40280" y="3481075"/>
            <a:ext cx="2377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Cytopenia after HCT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3810259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6840" y="3993139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6840" y="3993139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4267459"/>
            <a:ext cx="185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donor chimerism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06371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graft function: G-CSF, TPO agonist, treat CMV/drugs, CD34+ boost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29000" y="3993139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499360" y="4267459"/>
            <a:ext cx="185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donor chimerism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499360" y="4706371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Rejection: reduce IS? second HCT with different donor and lymphodepleting conditioning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71160" y="3993139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541520" y="4267459"/>
            <a:ext cx="185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Marrow relapse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541520" y="4706371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Disease-directed therapy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450464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factors: HLA mismatch, donor-specific antibodies, low cell dose, T-cell depletion, RIC in non-malignant disease, viral infection (CMV, HHV-6), myelotoxic drugs.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complications of endothelial origin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91540"/>
                <a:gridCol w="2199132"/>
                <a:gridCol w="166420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Syndrome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 / VOD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21 d (late forms exist)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Bilirubin ↑, painful hepatomegaly, weight gain, ascites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Defibrotide (Ch. 49)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Engraftment syndrome / capillary leak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Around ANC recovery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Fever, rash, pulmonary infiltrates, weight gain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Steroids, diuretics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TA-TMA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to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Schistocytes, LDH ↑, thrombocytopenia, proteinuria, hypertension, renal injury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CNI/sirolimus, treat trigger, eculizumab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Diffuse alveolar haemorrhage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D+10 – D+30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Hypoxia, bloody BAL without infection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High-dose 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Any, CNI-related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Headache, seizures, visual loss, posterior oedema on MRI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Switch/stop CNI, control BP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899127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mechanism: endothelial activation by conditioning, cytokines, CNI, infection and alloreactivity.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Endothelial Activation and Stress Index (EASIX = LDH × creatinine / platelets) predicts these syndromes.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GVHD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7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832104"/>
                <a:gridCol w="1277874"/>
                <a:gridCol w="1277874"/>
                <a:gridCol w="1277874"/>
                <a:gridCol w="127787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(rash)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25% BSA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25–50% BSA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50% BSA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Generalised erythroderma with bullae / desquamation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Liver (bilirubin)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mg/dL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3.1–6 mg/dL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6.1–15 mg/dL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15 mg/dL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 (stool volume)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500–999 mL/day or persistent nausea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1000–1500 mL/day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1500 mL/day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pain, ileus, or grossly bloody stool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11676"/>
          <a:ext cx="2359152" cy="914400"/>
        </p:xfrm>
        <a:graphic>
          <a:graphicData uri="http://schemas.openxmlformats.org/drawingml/2006/table">
            <a:tbl>
              <a:tblPr/>
              <a:tblGrid>
                <a:gridCol w="589788"/>
                <a:gridCol w="176936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 (MAGIC)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1–2 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3, or liver 1, or gut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Liver 2–3 or gut 2–3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4 of any organ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3236976" y="3811676"/>
            <a:ext cx="301752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II–IV: methylprednisolone 2 mg/kg/day, continue CNI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45736" y="4252366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3236976" y="4490110"/>
            <a:ext cx="30175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at day 5–7?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45736" y="4837582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3236976" y="5075326"/>
            <a:ext cx="301752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CR/PR: taper over weeks · No response: ruxolitinib 5–10 mg bid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717184"/>
            <a:ext cx="594360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aGVHD ≤ D+100; late-onset aGVHD &gt; D+100 (after RIC or DLI). Steroid-refractory: ruxolitinib (REACH2) is first choice; alternatives ECP, MMF, etanercept, ATG, MSC, faecal transplant in trials. Calculator: hct_tools.grade_acute_gvhd().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GVHD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Epidemiology and risk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30–70% of allo-HCT; leading cause of late NRM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aGVHD, PBSC graft, unrelated or mismatched donor, older age, female → male, no ATG/PTCy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45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2014 diagnosis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diagnostic sign (poikiloderma, lichen planus-like, sclerosis, oesophageal web, BOS) or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distinctive sign plus biopsy or test confirmation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Organs: skin, mouth, eyes, GI, liver, lung, joints/fascia, genital</a:t>
            </a:r>
            <a:endParaRPr lang="en-US" sz="11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75178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160520"/>
              </a:tblGrid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NIH global severity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organs, each score 1 (lung 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organs score 1, or any organ score 2, or lung score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organ score 3, or lung score ≥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2257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</a:tblGrid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Prednisone 1 mg/kg/day ± CNI; taper over 6–12 months; topical therapy for limited disease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Ruxolitinib 10 mg bid (REACH3), belumosudil 200 mg/day, ibrutinib 420 mg/day, ECP (skin, mouth, liver), MMF, sirolimus, imatinib for sclerosis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Infection prophylaxis, IVIG if hypogammaglobulinaemia, physiotherapy, eye and dental care, bone protection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Post-transplant lymphoproliferative disorders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23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(WHO)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Non-destructive lesions (plasmacytic hyperplasia, IM-like)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Polymorphic PTLD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Monomorphic PTLD — DLBCL most common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Hodgkin-type PTLD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39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T-cell depletion, ATG, alemtuzumab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 mismatch, haplo, cord blood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EBV-seronegative recipient with seropositive donor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GVHD and intense immunosuppression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012567"/>
            <a:ext cx="4754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EBV DNA PCR in high-risk patients (first 3–4 months)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3360039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051560" y="3597783"/>
            <a:ext cx="475488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EBV DNA above local threshold → pre-emptive rituximab 375 mg/m² ± reduce 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4038473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051560" y="4276217"/>
            <a:ext cx="4754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PTLD: PET-CT, biopsy, LDH; rituximab weekly ×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4623689"/>
            <a:ext cx="0" cy="21945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51560" y="4861433"/>
            <a:ext cx="47548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Refractory: chemotherapy (R-CHOP) or EBV-specific cytotoxic T cells (tabelecleucel)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overload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transfusion (≈ 200–250 mg iron per red cell unit) plus ineffective erythropoiesis; no physiological excretion.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Pre-HCT iron overload associates with more infection (Aspergillus, mucormycosis), SOS/VOD and NRM — ferritin &gt; 1000 ng/mL is a crude marker (inflammation confounds).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with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(T2* or R2) liver iron concentration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transferrin saturation; cardiac MRI if very high burden.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908173"/>
            <a:ext cx="237744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overload after HCT with stable engraftment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3330575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3513455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6840" y="3513455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3623183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 &gt; 11–12 g/dL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1455"/>
            <a:ext cx="185928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Phlebotomy (first choice)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53585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6 mL/kg every 2–4 weeks until ferritin &lt; 500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9000" y="3513455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590800" y="3623183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Anaemic or not feasible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499360" y="4021455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chelation: deferasirox (monitor creatinine, liver)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499360" y="4553585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Deferiprone alternative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71160" y="3513455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632960" y="3623183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/ cardiac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541520" y="4021455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Deferoxamine s.c. or i.v. infusion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41520" y="4553585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 therapy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·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malignancies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75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1783080"/>
                <a:gridCol w="950976"/>
                <a:gridCol w="17830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risk factors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PTLD (EBV)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T-cell depletion, 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EBV PCR (Ch. 45)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Therapy-related MDS/AML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Alkylators, etoposide, TBI; mostly after auto-HCT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2–10 years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CBC; marrow if cytopenias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 tumours: skin (SCC, BCC), oral, thyroid, breast, oesophagus, liver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TBI, cGVHD, prolonged IS, HPV, young age at TBI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5–10 years, rising with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Yearly skin and oral exam, TSH, mammography from age 25 or 8 y after chest RT, HPV vaccination, avoid sun and tobacco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cell leukaemia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Chimerism plus morphology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593854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incidence of solid cancers ≈ 2–3× the general population, still rising at 20 years.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Survivorship visits should include cancer screening at least as intensive as age-matched population guidelines.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Organ-Specific Complications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and mouth, liver and SOS/VOD, gut, bladder and kidney, lung, nervous system, skin and musculoskeletal, cardiovascular and metabolic, endocrine and fertility.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48–56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Ocular and oral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75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020824"/>
                <a:gridCol w="237744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Eye problem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Dry eye (ocular cGVHD)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Burning, photophobia; Schirmer ≤ 5 mm/5 min, OSDI &gt; 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Preservative-free tears, punctal plugs, topical ciclosporin, scleral lenses, ECP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Cataract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TBI or 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Ophthalmology; surgery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CMV retinitis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Floaters, field loss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Intravenous ganciclovir ± intravitreal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Orbital / sinus mould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Proptosis, pain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L-AmB + surgery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40044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1426464"/>
                <a:gridCol w="297180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Oral problem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Mucositis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D+7–14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Oral care protocol, cryotherapy (melphalan), palifermin (auto-HCT with TBI), opioid PCA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HSV reactivation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Aciclovir prophylaxis for all seropositive patients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Oral 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Topical clobetasol or tacrolimus, dexamethasone rinse; pilocarpine for xerostomia; yearly cancer screen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Pre-HCT and yearly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infection foci before conditioning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49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Hepatic complications and SOS/VOD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49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adult criteria (2016)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(≤ 21 days): bilirubin ≥ 2 mg/dL 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two of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painful hepatomegaly, weight gain &gt; 5%, ascites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Late-onset (&gt; 21 days): classical criteria, or histology, or ≥ 2 criteria with ultrasound/haemodynamic evidence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refined criteria add imaging and remove the strict day-21 cut-off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53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Busulfan-based MAC, TBI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Gemtuzumab or inotuzumab before HCT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HCT, pre-existing liver disease, iron overload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SCD, thalassaemia, osteopetrosis, HLH in children (incidence 20–40%)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Sirolimus, norethisterone</a:t>
            </a:r>
            <a:endParaRPr lang="en-US" sz="11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30118"/>
          <a:ext cx="5943600" cy="914400"/>
        </p:xfrm>
        <a:graphic>
          <a:graphicData uri="http://schemas.openxmlformats.org/drawingml/2006/table">
            <a:tbl>
              <a:tblPr/>
              <a:tblGrid>
                <a:gridCol w="1069848"/>
                <a:gridCol w="2971800"/>
                <a:gridCol w="1901952"/>
              </a:tblGrid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Bilirubin kinetics / organ failure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Bilirubin ≥ 2 and &lt; 3, slow rise, no organ failure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 mg/dL or rise over 2–5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defibrotide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 mg/dL, doubling within 48 h, renal or lung involvement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Defibrotide now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severe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 mg/dL or multi-organ failure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Defibrotide; ICU; mortality &gt; 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5385907"/>
            <a:ext cx="5943600" cy="887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Defibrotide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6.25 mg/kg q6h (25 mg/kg/day) for ≥ 21 days — only approved drug; fluid restriction, diuretics, avoid nephrotoxins; no benefit shown for prophylaxis in adults (HARMONY).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Differentials: drug hepatotoxicity, hepatic GVHD, viral hepatitis, cholestasis of sepsis, TPN.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Gastrointestinal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75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439826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causes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Mucositis, chemotherapy/TBI-induced nausea and vomiting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 – D+30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Infectious enteritis (C. difficile, CMV, norovirus, adenovirus), acute GVHD, drug toxicity (MMF, MTX)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D+30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Chronic GVHD (oesophageal web, strictures, malabsorption), infections, pancreatic insufficiency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40280" y="3175803"/>
            <a:ext cx="2377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Diarrhoea after engraftment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3504987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6840" y="3687867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6840" y="3687867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3962187"/>
            <a:ext cx="185928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Stool tests: C. difficile, viral PCR, culture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641510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→ treat (oral vancomycin / fidaxomicin, ganciclovir)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29000" y="3687867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499360" y="3962187"/>
            <a:ext cx="185928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→ endoscopy with biopsies (rectosigmoid ± upper)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499360" y="4641510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Apoptotic crypts → gut GVHD: MP 2 mg/kg + CNI (Ch. 43)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71160" y="3687867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541520" y="3962187"/>
            <a:ext cx="185928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drugs, MMF colitis, cord colitis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541520" y="4641510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medication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385603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Antiemetics: 5-HT3 antagonist + dexamethasone + NK1 antagonist for highly emetogenic conditioning; olanzapine as add-on.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bleeding: thrombocytopenia, GVHD ulcers, CMV; support with transfusion and treat cause.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Haemorrhagic cystitis and renal dysfunction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Haemorrhagic cystitis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(D0–7): cyclophosphamide/ifosfamide acrolein → prevent with mesna and hyperhydration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(≥ D+14): BK virus (most), adenovirus, CMV; aggravated by GVHD and immune recovery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 microscopic; 2 macroscopic; 3 clots; 4 obstruction / renal failure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204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Hyperhydration, urine output &gt; 100 mL/h, platelets &gt; 50, analgesia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bladder irrigation for clots (grade 3–4)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IS; cidofovir (nephrotoxic; intravesical option), BK-specific T cells in trials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Refractory: hyperbaric oxygen, intravesical agents, embolisation, cystectomy</a:t>
            </a:r>
            <a:endParaRPr lang="en-US" sz="11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3315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615184"/>
                <a:gridCol w="17830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Renal problem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AKI (up to 50%)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Sepsis, CNI, amphotericin, aminoglycosides, SOS/VOD hepatorenal, TMA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AKI needing dialysis: mortality &gt; 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Chronic kidney 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CNI, TA-TMA, TBI nephropathy, BK nephropathy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BP, avoid nephrotoxins, monitor eGFR yearly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Nephrotic syndrome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Membranous GN as renal 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Steroids + CNI/rituximab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Non-infectious pulmonary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7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950976"/>
                <a:gridCol w="2020824"/>
                <a:gridCol w="142646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(&lt; D+100)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Idiopathic pneumonia syndrome (IPS)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D+7 – D+60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Diffuse infiltrates, hypoxia, no pathogen on BAL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High-dose steroids ± etanercept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Diffuse alveolar haemorrhage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D+10 – D+30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Progressively bloodier BAL returns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High-dose 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Engraftment syndrome / PERDS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Neutrophil recovery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Fever, rash, oedema, infiltrates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4771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615184"/>
                <a:gridCol w="17830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(&gt; D+100)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Bronchiolitis obliterans syndrome (BOS)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diagnostic lung cGVHD sign: FEV1/FVC &lt; 0.7, FEV1 &lt; 75%, air trapping (RV &gt; 120% or expiratory CT), no infection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 (fluticasone, azithromycin, montelukast), ruxolitinib, belumosudil, ECP; lung transplant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Cryptogenic organising pneumonia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Patchy consolidation, steroid-responsive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Prednisone taper over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Pleuroparenchymal fibroelastosis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Upper-lobe fibrosis, pneumothorax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5888096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with spirometry every 3 months in the first 2 years and at any respiratory symptom; a 10% FEV1 drop warrants CT and BAL.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Neurological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75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615184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Drug toxicity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CNI → PRES, tremor; busulfan seizures; MTX / ifosfamide encephalopathy; fludarabine leukoencephalopathy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Timing, levels, MRI pattern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HHV-6 limbic encephalitis (most common), Aspergillus, Toxoplasma, Listeria, JC virus (PML), VZV vasculitis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PCR in CSF, imaging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Vascular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Haemorrhage (thrombocytopenia), TMA-related encephalopathy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Sudden onset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CNS GVHD (rare), myasthenia, CIDP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Exclusion diagnosis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Metabolic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Hyponatraemia, hypomagnesaemia, hepatic encephalopathy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40158"/>
            <a:ext cx="283464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Headache, seizures, visual disturbance, hypertension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MRI: posterior vasogenic oedema (T2/FLAIR)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or switch CNI, treat BP; usually reversible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4740158"/>
            <a:ext cx="283464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HHV-6 encephalitis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engraftment (2–6 weeks), cord blood risk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Amnesia, confusion, seizures; hippocampal T2 signal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Foscarnet 90 mg/kg q12h or ganciclovir; sequelae common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Skin, hair and musculoskeletal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75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2377440"/>
                <a:gridCol w="213969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aGVHD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Maculopapular rash starting palms, soles, ears, nape; stage 4 = bullae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Topical steroids for stage 1–2; systemic per Ch. 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Lichenoid 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Violaceous flat papules, poikiloderma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Topical clobetasol/tacrolimus, phototherapy, systemic therapy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Sclerotic cGVHD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thickening, fasciitis, joint contractures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physiotherapy, ECP, ruxolitinib, imatinib, belumosudil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Avascular necrosis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Femoral head; steroids, older age; MRI early (X-ray negative)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reduction, analgesia, joint replacement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Osteoporosis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Steroids, hypogonadism, CNI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 + vitamin D, bisphosphonate, DXA at 1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 myopathy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Proximal weakness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Taper steroids, physiotherapy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886462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Hair: anagen effluvium after conditioning regrows in 3–6 months; permanent alopecia after busulfan or with scalp cGVHD.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Nails and hair changes are distinctive cGVHD signs; photograph and score joints (P-ROM) at each visit.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and metabolic complications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224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Cyclophosphamide cardiotoxicity (high dose, early, haemorrhagic myocarditis)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anthracycline: cumulative dose drives late heart failure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Arrhythmias during conditioning and sepsis; QT prolongation (azoles, ondansetron)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from CNI and steroids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Long-term: 2–4× cardiovascular events vs population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71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syndrome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obesity, dysglycaemia, dyslipidaemia, hypertension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Drivers: steroids, CNI, TBI, hypogonadism, inactivity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yearly: BP, fasting glucose or HbA1c, lipids, weight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aggressively; statins are safe with CNI (watch interactions)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64102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Pre-HCT: echo (LVEF), ECG, risk factors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64792" y="43052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011680" y="3864102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monitor rhythm, fluids, troponin if symptoms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9272" y="43052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566160" y="3864102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BP, glucose, lipids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73752" y="4305236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120640" y="3864102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survivorship: cardiovascular risk score, echo if symptomatic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· ORGAN-SPECIFIC COMPLICATIONS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Endocrine, fertility and sexual health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7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1783080"/>
                <a:gridCol w="261518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Hypothyroidism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TBI, neck irradiation, busulfan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Yearly TSH; levothyroxine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Adrenal insufficiency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 withdrawal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taper; stress dosing during illness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hormone deficiency (children)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TBI, cranial 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Endocrine review; GH replacement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Hypogonadism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Alkylators, TBI; almost universal after MAC in 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Hormone replacement; oestrogen for bone and symptoms; testosterone if 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Osteoporosis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Steroids, hypogonadism, CNI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Ca/vitamin D, bisphosphonates, DXA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Sexual dysfunction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Hormonal, genital cGVHD, psychological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actively; topical oestrogen, dilators, counselling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886462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conditioning: discuss fertility with every patient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64792" y="5401193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011680" y="4886462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Men: sperm cryopreservation (testicular extraction if azoospermic)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19272" y="5401193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566160" y="4886462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Women: oocyte or embryo cryopreservation; ovarian tissue if no time or pre-pubertal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73752" y="5401193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120640" y="4886462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HCT: pregnancy possible after RIC; counsel about risks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 Prevention, Cellular and Gene Therapy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monitoring, pharmacological maintenance, donor lymphocyte infusion, CAR-T cells, immune escape and ATMP regulation.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57–62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monitoring in ALL and AML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7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1188720"/>
                <a:gridCol w="261518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Multiparameter flow cytometry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10⁻⁴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and AML (LAIP / different-from-normal)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qPCR of IG/TR rearrangements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10⁻⁵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standard (EuroMRD)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qPCR of fusion / mutation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10⁻⁵–10⁻⁶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BCR::ABL1, NPM1, RUNX1::RUNX1T1, CBFB::MYH11, WT1 expression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10⁻⁶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IG/TR in ALL; mutation panels in AML (exclude DTA clones)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40280" y="3640044"/>
            <a:ext cx="237744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Post-HCT MRD at D+30, +60, +100, then 3-monthly to 2 years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4062446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6840" y="4245326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6840" y="4245326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4519646"/>
            <a:ext cx="1859280" cy="32918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negative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958558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plan; taper IS on schedule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29000" y="4245326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499360" y="4519646"/>
            <a:ext cx="185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positive or rising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499360" y="4958558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IS taper, DLI, targeted maintenance (TKI, FLT3i, HMA ± venetoclax)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71160" y="4245326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541520" y="4519646"/>
            <a:ext cx="185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Haematological relapse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541520" y="4958558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Salvage; second HCT or CAR-T in selected patients (Ch. 58–60)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702651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Pre-HCT MRD positivity is the strongest predictor of relapse in both AML and ALL and should drive conditioning and maintenance decisions, not exclude transplant.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Pharmacological prevention and treatment of relapse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7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020824"/>
                <a:gridCol w="261518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Drugs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/ evidence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BCR::ABL1 TKI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Imatinib, dasatinib (CNS penetration), ponatinib (T315I)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Ph+ ALL: restart after engraftment, prophylactic or MRD-triggered; CML blast crisis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FLT3 inhibitors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Sorafenib, midostaurin, gilteritinib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FLT3-ITD AML: sorafenib maintenance improved RFS (SORMAIN); gilteritinib benefit in MRD+ (MORPHO)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Hypomethylating agents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Azacitidine, decitabine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AML/MDS: pre-emptive at MRD relapse (RELAZA2); oral azacitidine maintenance under study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BCL-2 inhibitor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Venetoclax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Relapsed AML with HMA or low-dose cytarabine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inhibitors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Nivolumab, pembrolizumab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Hodgkin lymphoma; high GVHD risk after allo-HCT — low dose, caution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IDH / menin inhibitors, antibodies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Ivosidenib, enasidenib, revumenib; blinatumomab, inotuzumab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salvage bridging to DLI or second 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363367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drugs act best on low disease burden and may add GVL through immunomodulation (HMA → Tregs, sorafenib → IL-15).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after engraftment and count recovery; watch for cytopenia and interactions with CNI (azoles!).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59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lymphocyte infusion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59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75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377440"/>
                <a:gridCol w="225856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Prophylactic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High-risk disease, MRD-negative, ≥ D+100–120, no GVHD, off 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Escalating doses; best evidence in AML / MDS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Pre-emptive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MRD positive or falling donor chimerism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IS first; combine with HMA or TKI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Therapeutic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Overt relapse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Cytoreduce first; response best in CML, poor in 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4771"/>
          <a:ext cx="5943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1901952"/>
                <a:gridCol w="1901952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Starting CD3+ dose / kg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Matched sibling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10⁶ – 1 × 10⁷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Half-log to 1-log every 4–8 weeks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Unrelated donor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10⁶ – 5 × 10⁶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above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Haploidentical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10⁵ – 1 × 10⁶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cautious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CML (therapeutic)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10⁷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10⁸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5239558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Contraindications: active GVHD, ongoing high-dose immunosuppression, uncontrolled infection.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Toxicity: GVHD in 30–50% (the price of GVL), marrow aplasia if recipient haematopoiesis dominant; GVHD after DLI predicts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cells and gene therapy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7079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Leukapheresis of patient T cells</a:t>
            </a:r>
            <a:endParaRPr lang="en-US" sz="725" dirty="0"/>
          </a:p>
        </p:txBody>
      </p:sp>
      <p:sp>
        <p:nvSpPr>
          <p:cNvPr id="9" name="Shape 7"/>
          <p:cNvSpPr/>
          <p:nvPr/>
        </p:nvSpPr>
        <p:spPr>
          <a:xfrm>
            <a:off x="1453896" y="17713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7079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(3–5 weeks): viral CAR transduction, expansion; bridging therapy</a:t>
            </a:r>
            <a:endParaRPr lang="en-US" sz="725" dirty="0"/>
          </a:p>
        </p:txBody>
      </p:sp>
      <p:sp>
        <p:nvSpPr>
          <p:cNvPr id="11" name="Shape 9"/>
          <p:cNvSpPr/>
          <p:nvPr/>
        </p:nvSpPr>
        <p:spPr>
          <a:xfrm>
            <a:off x="2697480" y="17713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7079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Lymphodepletion: Flu 30 mg/m² + Cy 300–500 mg/m² × 3 days</a:t>
            </a:r>
            <a:endParaRPr lang="en-US" sz="725" dirty="0"/>
          </a:p>
        </p:txBody>
      </p:sp>
      <p:sp>
        <p:nvSpPr>
          <p:cNvPr id="13" name="Shape 11"/>
          <p:cNvSpPr/>
          <p:nvPr/>
        </p:nvSpPr>
        <p:spPr>
          <a:xfrm>
            <a:off x="3941064" y="17713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7079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Infusion; monitor CRS / ICANS 2–4 weeks</a:t>
            </a:r>
            <a:endParaRPr lang="en-US" sz="725" dirty="0"/>
          </a:p>
        </p:txBody>
      </p:sp>
      <p:sp>
        <p:nvSpPr>
          <p:cNvPr id="15" name="Shape 13"/>
          <p:cNvSpPr/>
          <p:nvPr/>
        </p:nvSpPr>
        <p:spPr>
          <a:xfrm>
            <a:off x="5184648" y="1771301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7079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assessment; B-cell aplasia, IVIG</a:t>
            </a:r>
            <a:endParaRPr lang="en-US" sz="725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44738"/>
          <a:ext cx="5943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832104"/>
                <a:gridCol w="2971800"/>
              </a:tblGrid>
              <a:tr h="284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indications (2024)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Tisagenlecleucel (Kymriah)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B-ALL ≤ 25 y R/R, DLBCL ≥ 3rd line, FL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Axicabtagene ciloleucel (Yescarta)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LBCL 2nd line (ZUMA-7) and ≥ 3rd line, FL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4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Lisocabtagene maraleucel (Breyanzi)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LBCL 2nd line (TRANSFORM), FL, MCL, CLL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4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Brexucabtagene autoleucel (Tecartus)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MCL, adult B-ALL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Idecabtagene vicleucel (Abecma)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BCMA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Myeloma (2nd line and later after KarMMa-3)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4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Ciltacabtagene autoleucel (Carvykti)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BCMA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Myeloma (2nd line and later after CARTITUDE-4)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968837"/>
            <a:ext cx="2834640" cy="1182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CRS (ASTCT grading)</a:t>
            </a:r>
            <a:endParaRPr lang="en-US" sz="102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fever only; G2 hypotension not needing pressors and/or O₂ ≤ 6 L/min; G3 one pressor or high-flow O₂; G4 multiple pressors or ventilation</a:t>
            </a:r>
            <a:endParaRPr lang="en-US" sz="102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Tocilizumab 8 mg/kg (max 800 mg, up to 3–4 doses) ± dexamethasone from grade 2</a:t>
            </a:r>
            <a:endParaRPr lang="en-US" sz="1025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4968837"/>
            <a:ext cx="2834640" cy="1182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ICANS</a:t>
            </a:r>
            <a:endParaRPr lang="en-US" sz="102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score (orientation, naming, commands, writing, attention) plus consciousness, seizures, motor, oedema</a:t>
            </a:r>
            <a:endParaRPr lang="en-US" sz="102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Dexamethasone 10 mg q6h from grade 2; high-dose methylprednisolone for grade 3–4; anakinra emerging</a:t>
            </a:r>
            <a:endParaRPr lang="en-US" sz="10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Mechanisms of immune resistance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75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377440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Escape mechanism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Consequence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HLA loss (uniparental disomy 6p)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Leukaemia deletes the mismatched haplotype after haplo-HCT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DLI from the same donor is useless; different donor needed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HLA class II downregulation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of antigen presentation to CD4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 after matched HCT; IFN-γ or HMA may restore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upregulation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PD-L1, CTLA-4 ligands on blasts; exhausted T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blockade (GVHD risk)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Antigen loss / lineage switch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CD19-negative relapse after blinatumomab or CAR-T; myeloid switch in KMT2A 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to CD22 or dual-targeting CAR-T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Suppressive microenvironment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Tregs, MDSC, IDO, TGF-β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GVL despite full chimerism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581190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Practical: at relapse after haplo-HCT, test the leukaemia for HLA loss before offering DLI.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immunomodulation (HMA, checkpoint) with cellular therapy is an active research area.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· RELAPSE AND CELLULAR THERAPY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aspects: ATMPs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5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3328416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ATMP class (EU Regulation 1394/2007)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 therapy medicinal products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Lentiviral HSC gene therapy, CRISPR-edited HSC (exa-cel)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Somatic cell therapy medicinal products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CAR-T cells, virus-specific T cells, MSC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Tissue-engineered products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Engineered skin, cartilage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ATMPs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Cells on a scaffold or device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1988820" y="3640044"/>
            <a:ext cx="2880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cell product an ATMP?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3969228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97380" y="415210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97380" y="4152108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48640" y="4261836"/>
            <a:ext cx="269748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660108"/>
            <a:ext cx="288036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manipulation, same essential function (CD34 selection, RBC depletion, cryopreservation)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339431"/>
            <a:ext cx="288036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and cell directives, JACIE standards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60620" y="4152108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611880" y="4261836"/>
            <a:ext cx="269748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4660108"/>
            <a:ext cx="2880360" cy="56959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manipulation or different function (gene modification, expansion, CAR)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5339431"/>
            <a:ext cx="28803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 manufacture, EMA CAT assessment, marketing authorisation or hospital exemption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5944078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exemption allows non-routine, in-house ATMPs for individual patients under national authority oversight. Costs and centre qualification requirements are major access barriers.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Modalities of HCT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At-home transplantation, cord blood, haploidentical HCT, extracorporeal photopheresis, obese and elderly patients, and HCT in resource-limited settings.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63–69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At-home autologous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 after conditioning and infusion the patient spends the aplastic phase at home (or hotel) with daily nurse visits or telemonitoring instead of on the ward.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fewer nosocomial infections and less C. difficile, better quality of life, lower cost, freed beds; similar safety in selected patients.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82012"/>
            <a:ext cx="2834640" cy="139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KPS ≥ 80%, no severe organ dysfunction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 caregiver at home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within ~ 1 h of the centre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team, 24-h phone line, rapid readmission path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382012"/>
            <a:ext cx="2834640" cy="139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 causes (by frequency)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 / infection (≈ 50%)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Mucositis with inability to eat or drink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control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intravenous hydration or transfusion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259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temperature ≥ 38 °C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64792" y="441839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011680" y="3977259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unit, come in immediately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9272" y="441839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566160" y="3977259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Cultures and antibiotics per febrile neutropenia protocol (Ch. 35)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73752" y="441839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120640" y="3977259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at home if stable, or admit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Umbilical cord blood transplantation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39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availability (weeks), no donor risk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Tolerates 1–2 HLA mismatches (4–6/6)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chronic GVHD despite mismatch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GVL; low relapse in MRD+ leukaemia (Milano 2016)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155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engraftment (neutrophils median D+25–28, platelets D+40–60)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graft failure and early infection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immune reconstitution; HHV-6, adenovirus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cell dose for adults; cost</a:t>
            </a:r>
            <a:endParaRPr lang="en-US" sz="115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75254"/>
          <a:ext cx="5943600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332841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rule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dose (single unit)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TNC ≥ 3 × 10⁷/kg, CD34+ ≥ 1.5 × 10⁵/kg recipient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4/6 antigen-level; prefer ≥ 5/8 allele-level; avoid donor-specific antibodies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 cord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Adults when no single unit reaches dose; one unit finally dominates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 products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Omidubicel (UM171, nicotinamide-expanded) shortens neutrophil recovery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5556946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cord blood has fallen as haplo-PTCy grew; it remains valuable for rare HLA types, urgent transplants and children with non-malignant diseases.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Haploidentical HCT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75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2496312"/>
                <a:gridCol w="178308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used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PTCy (Baltimore)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Cyclophosphamide 50 mg/kg D+3, +4 kills alloreactive T cells; then tacrolimus + MMF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Adults worldwide; BM or PBSC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GIAC / Beijing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G-CSF-primed BM + PBSC, ATG, intensive 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TCRαβ/CD19 depletion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 vivo removal of αβ T and B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 (Italy, Germany)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CD34 selection ('megadose')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purified stem cells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(Perugia)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57980"/>
            <a:ext cx="283464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with PTCy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aGVHD grade III–IV ≈ 10–15%, cGVHD moderate–severe ≈ 15–20%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comparable to matched unrelated donors in registry studies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CD4 recovery → more CMV: letermovir to D+100 or beyond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3957980"/>
            <a:ext cx="2834640" cy="171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choice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Younger donor; avoid donor-specific anti-HLA antibodies (test MFI)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mother and female-to-male if alternatives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CMV-seropositive donor if recipient is positive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 B haplotype / NK alloreactive donor in AML if available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Extracorporeal photopheresis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Leukapheresis collects mononuclear cells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8-MOP (psoralen) added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irradiation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Reinfusion of apoptotic lymphocytes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Tolerogenic DCs, Tregs ↑; no global IS</a:t>
            </a:r>
            <a:endParaRPr lang="en-US" sz="85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09876"/>
          <a:ext cx="5943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166420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schedule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Steroid-refractory aGVHD (skin, liver, gut)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CR ≈ 60%; liver and gut lower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consecutive days weekly, then taper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cGVHD skin (sclerotic), mouth, liver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responses; steroid-sparing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days every 2 weeks for 3 months, then monthly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Lung cGVHD (BOS)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Stabilisation rather than improvement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above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386296"/>
            <a:ext cx="5943600" cy="60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 very low toxicity, no increase in infection or relapse, combinable with drugs.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Limits: venous access, time, cost; slow onset (allow 8–12 weeks before judging).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in overweight and obese patients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Obesity changes drug distribution, protein binding and clearance; body-weight-based dosing can over- or under-dose.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Obesity itself (BMI &gt; 35 scores 1 in HCT-CI) modestly increases NRM; do not deny HCT on BMI alone.</a:t>
            </a:r>
            <a:endParaRPr lang="en-US" sz="105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82012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901952"/>
                <a:gridCol w="237744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Drug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Dosing weight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Busulfan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body weight (AIBW); TDM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AUC; highly variable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Cyclophosphamide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body weight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ABW = IBW + 0.4 × (actual − IBW)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Fludarabine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weight via BSA; cap BSA ≈ 2.0 m² or adjust for renal function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Neurotoxicity if overdosed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Melphalan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BSA (some cap at 2.0 m²)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Mucositis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ATG, G-CSF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weight (G-CSF); ATG per protocol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Treosulfan, thiotepa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5374249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IBW (Devine): men 50 kg, women 45.5 kg, plus 2.3 kg per inch over 152 cm. ABW = IBW + 0.4 × (actual − IBW). Calculator: hct_tools.py.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in elderly patients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≥ 60–65 years; now &gt; 30% of allo-HCT in Europe thanks to RIC/NMA. Chronological age alone is not a contraindication.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hazards: infection with slower immune recovery, poor tolerance of cGVHD, frailty and polypharmacy.</a:t>
            </a:r>
            <a:endParaRPr lang="en-US" sz="105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82012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496312"/>
                <a:gridCol w="166420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captures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Cut-off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HCT-CI (± age)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Comorbidity burden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 = high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70% expected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Geriatric assessment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IADL, cognition, gait speed, falls, nutrition, mood, polypharmacy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impairment → prehabilitation, RIC/NMA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EBMT / disease risk index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Disease-related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against NRM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988820" y="4604736"/>
            <a:ext cx="2880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older patient with an HCT indication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4933920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97380" y="5116800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97380" y="5116800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48640" y="5226528"/>
            <a:ext cx="269748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HCT-CI 0–2, GA normal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624800"/>
            <a:ext cx="288036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 (Flu/Bu2, Flu/Mel) with MSD or MUD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60620" y="5116800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611880" y="5226528"/>
            <a:ext cx="269748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HCT-CI ≥ 3 or frail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5624800"/>
            <a:ext cx="288036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 or non-transplant therapy; optimise then reassess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· SPECIFIC MODALITIES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69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in resource-limited settings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69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155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capacity (platelets), irradiators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 typing and CMV/EBV PCR cost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Cryopreservation, GMP processing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staff, ICU access, drug availability (letermovir, posaconazole, defibrotide)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204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autologous HCT for myeloma and lymphoma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 first with matched siblings; then haplo-PTCy (no registry costs)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(non-cryopreserved) grafts, oral busulfan, cheaper prophylaxis (fluconazole, aciclovir)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Twinning with established centres; WBMT and EBMT training; registry participation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63315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local blood, lab and ICU support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64792" y="410444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011680" y="3663315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indications with best risk–benefit (SAA, thalassaemia, CML-BC, MM)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9272" y="410444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566160" y="3663315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operating procedures, JACIE-inspired quality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73752" y="410444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120640" y="3663315"/>
            <a:ext cx="1280160" cy="8822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outcomes; expand stepwise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Indications and Results by Disease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leukaemias, MDS and MPN, marrow failure, haemoglobinopathies, plasma cell disorders, lymphomas, immune deficiencies, autoimmune and metabolic diseases, solid tumours and CAR-T indications.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 70–95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in adults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75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1545336"/>
                <a:gridCol w="2496312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ELN 2022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in CR1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Favourable (CBF, NPM1 without adverse, bZIP CEBPA)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routinely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Chemotherapy cures &gt; 50%; transplant at MRD persistence or relapse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if donor available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 ≈ 50% with chemo alone; MRD status refines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Adverse (TP53, complex or monosomal karyotype, ASXL1, RUNX1, FLT3-ITD high)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Chemotherapy rarely curative; proceed at first CR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MRD positive after induction / consolidation (any risk)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MRD trumps cytogenetic category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434886"/>
            <a:ext cx="594360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CR1: allo-HCT still cures a third in CR2; active disease transplants have high NRM and relapse but sequential (FLAMSA-like) approaches exist.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MAC for fit patients &lt; 55–60 y (less relapse, BMT CTN 0901); RIC for older or comorbid; MRD+ may favour MAC or maintenance.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Maintenance: FLT3 inhibitors for FLT3-ITD, HMA-based in trials (Ch. 58).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ATRA + arsenic cures without HCT; auto-HCT in second molecular remission, allo if MRD persists.</a:t>
            </a:r>
            <a:endParaRPr lang="en-US" sz="10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in children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75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069848"/>
                <a:gridCol w="2971800"/>
                <a:gridCol w="1901952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group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in CR1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/ 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t(8;21), inv(16), NPM1, bZIP CEBPA, good MRD response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No; HCT at relapse (CR2)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of the others; MRD-guided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Chemotherapy ± HCT if MSD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FLT3-ITD with high allelic ratio, KMT2A fusions other than t(9;11), monosomy 7, del(5q), TP53, 12p abnormalities, MRD &gt; 0.1% after induction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best donor available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493740"/>
            <a:ext cx="594360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</a:t>
            </a: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busulfan-based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(Bu/Cy ± melphalan, Bu/Flu) preferred; avoid TBI for growth and endocrine late effects; treosulfan gaining ground.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Infants and children &lt; 2 y: busulfan dosed by weight bands with TDM; AUC targeting reduces SOS/VOD.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FLT3-ITD: sorafenib maintenance after HCT (AAML1031 experience); MRD+ post-HCT → DLI with caution.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5-year OS after HCT in CR1 ≈ 60–70%; relapse remains the main failure.</a:t>
            </a:r>
            <a:endParaRPr lang="en-US" sz="10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adults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417320"/>
            <a:ext cx="2377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ALL in CR1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746504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6840" y="1929384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1929384"/>
            <a:ext cx="0" cy="6136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2039112"/>
            <a:ext cx="1676400" cy="3027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Ph-negative, MRD-negative, no high-risk features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61336"/>
            <a:ext cx="185928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paediatric-inspired chemotherapy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40659"/>
            <a:ext cx="18592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929384"/>
            <a:ext cx="0" cy="6136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590800" y="2039112"/>
            <a:ext cx="1676400" cy="3027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Ph-negative but high risk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499360" y="2561336"/>
            <a:ext cx="1859280" cy="569595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 in CR1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499360" y="3240659"/>
            <a:ext cx="185928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Ph-like, KMT2A-r, ETP-ALL, hypodiploidy, MRD ≥ 10⁻⁴ after induction/consolidation, high WBC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1160" y="1929384"/>
            <a:ext cx="0" cy="6136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632960" y="2039112"/>
            <a:ext cx="1676400" cy="3027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Ph-positive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541520" y="2561336"/>
            <a:ext cx="185928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 + chemotherapy → allo-HCT in CMR (or MRD-negative)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41520" y="3240659"/>
            <a:ext cx="185928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 maintenance after HCT (dasatinib, ponatinib); chemo-free blinatumomab + TKI reduces need in older patients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63644"/>
            <a:ext cx="5943600" cy="112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TBI-based MAC (Cy/TBI 12 Gy or Flu/TBI) gives less relapse than chemo-only in ALL; RIC for &gt; 55 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Relapsed / refractory: blinatumomab or inotuzumab to MRD-negative CR, then HCT; CD19 CAR-T (brexu-cel, obe-cel) as alternative or bridge.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Post-HCT: MRD monitoring with IG/TR PCR; MRD+ → IS taper, DLI, blinatumomab or TKI.</a:t>
            </a:r>
            <a:endParaRPr lang="en-US" sz="10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children and adolescents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13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indications (CR1)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failure; poor early MRD response (≥ 10⁻³ after consolidation on ALL-IC/AIEOP-BFM lines)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Ph+ with poor MRD response; KMT2A::AFF1 infant ALL with high risk; hypodiploidy &lt; 44 chromosomes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MRD before HCT is the strongest adverse factor — clear it (blinatumomab, CAR-T)</a:t>
            </a:r>
            <a:endParaRPr lang="en-US" sz="115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4467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1605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 (FORUM trial)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≈ MUD (10/10 or 9/10); haplo (TCRαβ depletion or PTCy) if none; cord blood acceptable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Bone marrow preferred (less cGVHD); PBSC for haplo depletion platforms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Conditioning ≥ 4 years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TBI 12 Gy + etoposide is superior to chemo-conditioning (FORUM): fewer relapses, better 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Conditioning &lt; 4 years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Chemotherapy: Flu/Thio/Bu or Flu/Thio/Treo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MRD and chimerism at D+30, +60, +100, +180, then 3-monthly; pre-emptive IS taper or DLI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MDS in adults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75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545336"/>
                <a:gridCol w="261518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IPSS-R (score)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IPSS-M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 (≤ 1.5) / Low (&gt; 1.5–3)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 / Low / Moderate-low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 or supportive care; HCT delayed until progression (survival gain from waiting)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 (&gt; 3–4.5)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Moderate-high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Individualise: age, comorbidity, transfusion need, mutations (TP53, ASXL1, RUNX1)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(&gt; 4.5–6) / Very high (&gt; 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/ Very 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as soon as feasible — only curative option (BMT CTN 1102 survival benefit)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811676"/>
            <a:ext cx="5943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Pre-HCT therapy: HMA or intensive chemotherapy to reduce blasts ≥ 10%; complete remission is not required and delay carries risk.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MAC or RIC give similar OS overall; MAC lowers relapse in fit younger patients; treosulfan-based (Flu/Treo) is a well-tolerated middle ground.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TP53-mutated MDS: poor outcome regardless; HCT still offers the only long-term survival in a minority.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Post-HCT relapse prevention: azacitidine-based maintenance or pre-emptive therapy on MRD/chimerism (Ch. 58).</a:t>
            </a:r>
            <a:endParaRPr lang="en-US" sz="10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MDS and JMML in children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2006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Refractory cytopenia of childhood / advanced MDS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 is the only curative therapy; screen for germline predisposition (GATA2, SAMD9/9L, RUNX1)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RCC with hypocellular marrow and normal karyotype: IST or watchful waiting possible; monosomy 7 → HCT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Flu/Thio/Treo or Bu-based; avoid TBI; MSD or MUD preferred, haplo feasible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204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JMML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RAS-pathway driven (PTPN11, NRAS, KRAS, CBL, NF1)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 is the only cure for most; relapse 25–35% → early IS taper, second HCT works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Bu/Cy/Mel or Bu/Flu conditioning; azacitidine bridging improves disease control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CBL-germline and some NRAS cases may regress spontaneously — observe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63315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paediatric MDS / JMML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53896" y="406571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700784" y="3663315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Morphology, cytogenetics, germline testing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97480" y="406571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44368" y="3663315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assignment (blasts, karyotype, gene)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41064" y="406571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187952" y="3663315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search at diagnosis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84648" y="4065714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31536" y="3663315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without delay in advanced disease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MDS/MPN overlap syndromes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75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377440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Monocytosis ≥ 0.5 × 10⁹/L and ≥ 10% of WBC; ASXL1, TET2, SRSF2; CPSS-Mol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for intermediate-2 / high CPSS-Mol in fit patients; HMA bridging optional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Atypical CML (BCR::ABL1-negative)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Dysplastic neutrophilia, SETBP1, ETNK1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prognosis → HCT if 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MDS/MPN with ring sideroblasts and thrombocytosis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SF3B1 + JAK2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Indolent; HCT rarely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MDS/MPN unclassifiable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Individualised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275917"/>
            <a:ext cx="5943600" cy="60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older patients → RIC (Flu/Bu, Flu/Mel, Flu/Treo).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 is the main problem; spleen size and high blast count predict worse outcome; consider ruxolitinib or HMA pre-HCT for proliferative disease.</a:t>
            </a:r>
            <a:endParaRPr lang="en-US" sz="10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Myeloproliferative neoplasms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75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Myelofibrosis risk (DIPSS-plus, MIPSS70)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recommendation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Intermediate-2 or 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recommended in eligible patients (&lt; 70 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if transfusion-dependent, high-risk mutations (ASXL1, EZH2, SRSF2, IDH, U2AF1), triple-negative or &gt; 2% blasts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recommended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652708"/>
            <a:ext cx="5943600" cy="165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Ruxolitinib bridging shrinks spleen and improves performance; continue until conditioning and taper to avoid rebound.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Conditioning: Flu/Bu (RIC or MAC dose), Flu/Mel or Flu/Treo; splenectomy rarely, only for massive spleen with poor graft function history.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graft function and slow engraftment are common; monitor chimerism and driver-mutation MRD; DLI for molecular relapse works well.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CML</a:t>
            </a: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HCT only for blast crisis (after TKI-induced second chronic phase), failure or intolerance of ≥ 2 TKIs including ponatinib/asciminib, or T315I with no options; results best in chronic phase.</a:t>
            </a:r>
            <a:endParaRPr lang="en-US" sz="10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aplastic anaemia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417320"/>
            <a:ext cx="2377440" cy="5695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acquired SAA (exclude inherited BMF, PNH, hypoplastic MDS)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986915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6840" y="2169795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2169795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2279523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40 y with MSD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77795"/>
            <a:ext cx="185928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allo-HCT (MSD)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9925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Flu/Cy ± ATG; BM graft; CSA + MTX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2169795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590800" y="2279523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40 y or no MSD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499360" y="2677795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IST: hATG + CSA + eltrombopag (RACE)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499360" y="3209925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≈ 70–80%; assess at 3–6 months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1160" y="2169795"/>
            <a:ext cx="0" cy="4897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632960" y="2279523"/>
            <a:ext cx="1676400" cy="1788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failure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541520" y="2677795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 from MUD or haplo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41520" y="3209925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Flu/Cy/ATG ± TBI 2 Gy; PTCy-based haplo increasingly used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54018"/>
            <a:ext cx="594360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MUD HCT is a reasonable option in children and young adults when a 10/10 donor is quickly available.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transfusion-related sensitisation: leucodepleted, irradiated products; minimise family-member donations.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Graft rejection is the key risk: BM graft, ATG in conditioning, adequate CSA levels for ≥ 12 months.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clonal evolution (PNH, MDS) after IST — monitor CBC and marrow.</a:t>
            </a:r>
            <a:endParaRPr lang="en-US" sz="10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79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Fanconi anaemia and inherited BMF syndromes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79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75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664208"/>
                <a:gridCol w="1901952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Syndrome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indication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 conditioning / issues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1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Fanconi anaemia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DNA repair; chemo/radio hypersensitivity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Transfusion-dependent BMF, clonal evolution, MDS/AML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Low-dose Flu/Cy (± ATG, ± TBI ≤ 2 Gy); never standard MAC; lifelong head-and-neck SCC screening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Dyskeratosis congenita / telomeropathies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Telomere maintenance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BMF; not the lung or liver 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 (Flu/Cy/alemtuzumab); pulmonary and hepatic fibrosis progress despite 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Diamond-Blackfan anaemia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Ribosomal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Steroid-refractory transfusion dependence; MDS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Flu/Bu or Flu/Treo RIC; OS &gt; 85% with MSD/MUD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Shwachman-Diamond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Ribosomal (SBDS)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cytopenia, MDS/AML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RIC; higher cardiotoxicity with high-dose 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congenital neutropenia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ELANE, HAX1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G-CSF-refractory, MDS/AML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conditioning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535000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Chromosomal breakage (DEB/MMC) testing and telomere length should precede HCT in any young patient with BMF; siblings must be tested before donating.</a:t>
            </a:r>
            <a:endParaRPr lang="en-US" sz="9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Haemoglobinopathies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2834640" cy="233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Sickle cell disease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Indications: stroke or silent infarcts, recurrent acute chest syndrome or vaso-occlusive crises despite hydroxyurea, alloimmunisation with transfusion need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 HCT in children: EFS &gt; 90%; Bu/Cy/ATG or Flu/Bu/ATG; conditioning-related seizures, PRES → keep platelets &gt; 50, Hb 9–11, magnesium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MSD: haplo-PTCy with low-dose TBI or gene therapy (exa-cel, lovo-cel)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17320"/>
            <a:ext cx="2834640" cy="237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Thalassaemia major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Pesaro class I–II: disease-free survival &gt; 90% with MSD; class III (hepatomegaly, fibrosis, poor chelation) 75–85% with pre-HCT cytoreduction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&lt; 14 y and good chelation predict best outcome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Bu/Cy/Thio or Flu/Bu/Thio; mixed chimerism &gt; 25–30% donor is enough for transfusion independence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therapy (beti-cel, exa-cel) for those without MSD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88689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early (before organ damage)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53896" y="439108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700784" y="3988689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 type siblings; consider pre-implantation diagnosis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97480" y="439108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44368" y="3988689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iron, transfuse to suppress marrow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41064" y="439108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187952" y="3988689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HCT; watch graft rejection, SOS/VOD, seizures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84648" y="4391089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31536" y="3988689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Long-term: fertility, iron unloading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myeloma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4–6 cycles: Dara-VRd (quadruplet) or VRd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Mobilise: G-CSF ± plerixafor (after lenalidomide)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Melphalan 200 mg/m² (140 if frail or renal) → auto-HCT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± second (tandem) auto in high risk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81972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804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Lenalidomide maintenance until progression (± daratumumab)</a:t>
            </a:r>
            <a:endParaRPr lang="en-US" sz="85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41575"/>
          <a:ext cx="5943600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404164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answer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is transplant-eligible?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Fitness rather than age; usually ≤ 70–75 y with adequate organ function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Upfront vs delayed auto?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Upfront still improves PFS (IFM 2009, DETERMINATION); delayed acceptable in standard risk with MRD-negativity — debated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Tandem auto?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for high-risk cytogenetics (del17p, t(4;14), t(14;16)) — EMN02/HO95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standard; trials or young high-risk patients with early relapse; NRM 10–20%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CAR-T / bispecifics?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Ide-cel and cilta-cel from second line (KarMMa-3, CARTITUDE-4); teclistamab, elranatamab, talquetamab in relapsed disease; may reshape auto-HCT's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light-chain (AL) amyloidosis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5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Eligibility for auto-HCT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Cardiac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 stage I–II (NT-proBNP &lt; 5000 ng/L, troponin T &lt; 0.06 µg/L), NYHA ≤ II, LVEF &gt; 40–45%, systolic BP ≥ 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eGFR ≥ 30–50 mL/min (dialysis patients in selected centres)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ECOG ≤ 2, age ≤ 70, ≤ 2 organs severely involved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significant autonomic neuropathy, GI bleeding or pleural effusions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799012"/>
            <a:ext cx="5943600" cy="165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≈ 20–25% of patients qualify; strict selection has cut treatment-related mortality from &gt; 20% to &lt; 5%.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Melphalan 200 mg/m² for fit patients, 140 mg/m² risk-adapted (age, renal function).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Daratumumab-CyBorD (ANDROMEDA) is now standard induction and a strong non-transplant alternative; the incremental value of auto-HCT after Dara-CyBorD is under study.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 haematological CR/VGPR; consolidate with daratumumab or bortezomib-based therapy if &lt; VGPR.</a:t>
            </a:r>
            <a:endParaRPr lang="en-US" sz="10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POEMS syndrome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75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2971800"/>
                <a:gridCol w="2258568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in diagnosis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Polyneuropathy (demyelinating, symmetric)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Organomegaly, Castleman 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Endocrinopathy (not diabetes or thyroid alone)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Monoclonal plasma cell disorder, almost always λ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Skin changes; also sclerotic bone lesions, papilloedema, oedema, thrombocytosis; VEGF 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(sclerotic lesions, Castleman, VEGF) / minor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104284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≥ 2 mandatory + 1 major + 1 minor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64792" y="4619015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011680" y="4104284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bone lesions: radiotherapy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19272" y="4619015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566160" y="4104284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Disseminated: induction (lenalidomide-dexamethasone) → auto-HCT with Mel-200 (Mel-140 if renal)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73752" y="4619015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120640" y="4104284"/>
            <a:ext cx="1280160" cy="10294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Neuropathy improves slowly over months–years; VEGF as response marker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353202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haematological and VEGF response &gt; 80%, 5-year OS &gt; 90%. Engraftment syndrome is frequent — pre-emptive steroids around neutrophil recovery.</a:t>
            </a:r>
            <a:endParaRPr lang="en-US" sz="9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Indolent lymphomas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75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020824"/>
                <a:gridCol w="1545336"/>
                <a:gridCol w="2377440"/>
              </a:tblGrid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 (follicular and other iNHL)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Chemosensitive relapse, esp. POD24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Auto-HCT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Prolongs PFS; used less since bispecifics and CAR-T; still relevant for early relapse after chemo-immunotherapy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relapses, relapse after auto, transformation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(RIC)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GVL, plateau in survival; NRM 15–25%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3rd line FL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 CAR-T (axi-cel ZUMA-5, tisa-cel ELARA, liso-cel)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≈ 70–80%; durable in most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Relapsed FL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Bispecifics (mosunetuzumab, epcoritamab), R² (lenalidomide-rituximab)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Off-the-shelf alternatives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52823"/>
            <a:ext cx="5943600" cy="60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zone and lymphoplasmacytic lymphoma: transplant only for multiply relapsed or transformed disease.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Rituximab maintenance after auto-HCT improves PFS in FL.</a:t>
            </a:r>
            <a:endParaRPr lang="en-US" sz="10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lymphocytic leukaemia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5943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agents (BTK inhibitors, venetoclax, ± obinutuzumab) have made allo-HCT a late option; auto-HCT has no role.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018538"/>
            <a:ext cx="237744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CLL progressing on both BTK inhibitor and venetoclax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440940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2623820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6840" y="2623820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57200" y="2898140"/>
            <a:ext cx="1859280" cy="42240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Fit, donor available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30270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 allo-HCT (Flu/Bu, Flu/Cy ± ATG); GVL effect real, plateau ≈ 40% PFS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2623820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99360" y="2898140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cellular therapy without allo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499360" y="3430270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Liso-cel (TRANSCEND CLL 004) approved 2024 after BTKi and BCL2i; pirtobrutinib bridge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71160" y="2623820"/>
            <a:ext cx="0" cy="25603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41520" y="2898140"/>
            <a:ext cx="185928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Richter transformation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41520" y="3430270"/>
            <a:ext cx="185928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Chemo-immunotherapy to CR then allo-HCT; checkpoint or CAR-T trials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74363"/>
            <a:ext cx="5943600" cy="3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allo-HCT before double-refractory disease develops; TP53 aberration alone no longer mandates transplant.</a:t>
            </a:r>
            <a:endParaRPr lang="en-US" sz="9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 large B-cell lymphoma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417320"/>
            <a:ext cx="2377440" cy="42240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Relapsed or refractory DLBCL after R-CHOP(-like)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839722"/>
            <a:ext cx="0" cy="1828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6840" y="2022602"/>
            <a:ext cx="4084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6840" y="2022602"/>
            <a:ext cx="0" cy="6136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2132330"/>
            <a:ext cx="1676400" cy="3027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refractory or relapse ≤ 12 months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54554"/>
            <a:ext cx="1859280" cy="863981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CD19 CAR-T second line: axi-cel (ZUMA-7), liso-cel (TRANSFORM)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28263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Tisa-cel did not beat SOC (BELINDA)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2022602"/>
            <a:ext cx="0" cy="6136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590800" y="2132330"/>
            <a:ext cx="1676400" cy="3027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relapse &gt; 12 months, chemosensitive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499360" y="2654554"/>
            <a:ext cx="1859280" cy="86398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Salvage (R-DHAP, R-ICE, R-GDP) → BEAM auto-HCT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499360" y="3628263"/>
            <a:ext cx="18592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≈ 40–50% if PET-negative before HCT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1160" y="2022602"/>
            <a:ext cx="0" cy="61366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632960" y="2132330"/>
            <a:ext cx="1676400" cy="3027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eligible for either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541520" y="2654554"/>
            <a:ext cx="1859280" cy="86398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Bispecifics (glofitamab, epcoritamab), polatuzumab-BR, tafasitamab-len, loncastuximab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32910"/>
            <a:ext cx="5943600" cy="112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≥ 3rd line: axi-cel (ZUMA-1), tisa-cel (JULIET), liso-cel (TRANSCEND) — durable CR ≈ 35–40%.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Allo-HCT: relapse after auto-HCT or CAR-T in fit patients; RIC; NRM 20–30%, long-term PFS ≈ 30%.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Auto-HCT in CR1 is not recommended outside trials, even for high IPI or double-hit lymphoma.</a:t>
            </a:r>
            <a:endParaRPr lang="en-US" sz="10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Mantle cell lymphoma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75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2971800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Younger fit patients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1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Cytarabine-containing induction (R-CHOP/R-DHAP, Nordic) + rituximab maintenance; auto-HCT consolidation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TRIANGLE: ibrutinib added to induction and maintenance; auto-HCT adds little when ibrutinib is given — practice shifting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BTK inhibitor (ibrutinib, acalabrutinib, zanubrutinib); pirtobrutinib after cBTKi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limited, especially TP53-mutated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BTKi failure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Brexucabtagene autoleucel (ZUMA-2): ORR ≈ 90%, CR ≈ 65%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(RIC) for fit patients as alternative or after CAR-T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70645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TP53-mutated or blastoid MCL: poor response to chemo-immunotherapy and auto-HCT; consider early BTKi and cellular therapy.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Allo-HCT retains GVL in MCL; NRM ≈ 20%; reserve for young patients with high-risk relapse.</a:t>
            </a:r>
            <a:endParaRPr lang="en-US" sz="10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aggressive lymphomas: T-cell, NK/T-cell, HIV-associated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88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5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545336"/>
                <a:gridCol w="2258568"/>
                <a:gridCol w="213969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approach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Transplant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ALK+ ALCL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CHOP-based (brentuximab-CHP)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only at relapse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PTCL-NOS, AITL, ALK− ALCL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CHOP/CHOEP or BV-CHP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Auto-HCT consolidation in CR1 (widely used, level II evidence); allo for relapse or CR1 in very high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Relapsed PTCL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Salvage (GDP, ICE), brentuximab, pralatrexate, romidepsin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(RIC) curative in ≈ 40%; auto if chemosensitive and not previously given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Extranodal NK/T-cell (nasal)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Asparaginase-based (SMILE, P-GemOx, DDGP) + radiotherapy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Auto-HCT for advanced stage in CR; allo for relapse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1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HIV-associated (DLBCL, Burkitt, HL)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chemo-immunotherapy with cART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Auto-HCT with same outcomes as HIV-negative if HIV controlled; watch cART–chemo interactions (ritonavir, cobicistat)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89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Hodgkin lymphoma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89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 or primary refractory HL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Salvage: BV + nivolumab, or ICE/DHAP ± BV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PET-negative CR → BEAM auto-HCT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 maintenance × 16 if high risk (AETHERA)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1753870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 after auto: PD-1 inhibitor, BV, then allo-HCT</a:t>
            </a:r>
            <a:endParaRPr lang="en-US" sz="85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09876"/>
          <a:ext cx="5943600" cy="914400"/>
        </p:xfrm>
        <a:graphic>
          <a:graphicData uri="http://schemas.openxmlformats.org/drawingml/2006/table">
            <a:tbl>
              <a:tblPr/>
              <a:tblGrid>
                <a:gridCol w="2020824"/>
                <a:gridCol w="392277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predictor of auto-HCT success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PET-negative status before transplant (Deauville ≤ 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Allo-HCT indication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Relapse after auto-HCT in fit patients, ideally in response to PD-1 or BV; RIC; haplo-PTCy works well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inhibitor before allo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bridge but more early severe aGVHD and hepatic SOS; leave ≥ 6 weeks, use PTCy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inhibitor after allo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GVHD risk — only for relapse without alternatives, low dose, off 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principles; avoid TBI; auto-HCT for high-risk relapse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Inborn errors of immunity (primary immunodeficiencies)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75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2971800"/>
              </a:tblGrid>
              <a:tr h="301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urgency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SCID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— transplant before infection (newborn screening)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without conditioning; MUD/haplo with RIC (Flu/Treo or Bu); TCRαβ/CD19 depletion for haplo; OS &gt; 90% if &lt; 3.5 months and infection-free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Wiskott-Aldrich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in childhood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MAC/RTC Bu-based; full donor chimerism needed for platelets; gene therapy available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Chronic granulomatous disease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Elective, before organ damage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 Flu/Bu/ATG or alemtuzumab; excellent survival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4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Familial HLH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disease control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HLH-94/2004 (etoposide, dexamethasone, CSA) or emapalumab → RIC HCT (Flu/Treo/alemtuzumab); mixed chimerism ≥ 20–30% protects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CTLA4, LRBA, IPEX, others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Individualised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RIC; targeted drugs (abatacept, sirolimus) as bridge</a:t>
                      </a:r>
                      <a:endParaRPr lang="en-US" sz="9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145946"/>
            <a:ext cx="5943600" cy="748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is immune reconstitution, not eradication of malignancy → reduced-toxicity conditioning is standard.</a:t>
            </a:r>
            <a:endParaRPr lang="en-US" sz="102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Pre-HCT: treat infections, immunoglobulin replacement, irradiated CMV-safe blood, avoid live vaccines.</a:t>
            </a:r>
            <a:endParaRPr lang="en-US" sz="1025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for autoimmune diseases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91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75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1783080"/>
                <a:gridCol w="1664208"/>
                <a:gridCol w="1188720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sclerosis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Relapsing, highly active despite high-efficacy DMT, EDSS ≤ 6.5, age &lt; 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 RCT: 5-y progression 10% vs 75% with DMT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Cy/ATG (auto)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1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Systemic sclerosis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diffuse (&lt; 5 y), lung or heart involvement but no severe pulmonary hypertension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ASTIS and SCOT RCTs: better long-term survival; TRM 3–10%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 200 mg/kg + ATG ± TBI (SCOT)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Crohn's 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Refractory to biologics, unsuitable for surgery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ASTIC: no remission benefit; selected centres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Cy/ATG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SLE, CIDP, NMOSD, type 1 diabetes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Refractory cases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series; trials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Cy/ATG or BEAM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52823"/>
            <a:ext cx="5943600" cy="92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immune reset — thymic re-education, new Treg and naive T-cell repertoire; autologous only, except rare allo for refractory cases (and CD19 CAR-T now being tested in SLE).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Accredited centres with joint rheumatology or neurology teams; register in EBMT ADWP.</a:t>
            </a:r>
            <a:endParaRPr lang="en-US" sz="10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Inborn errors of metabolism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92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5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39696"/>
                <a:gridCol w="2020824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indication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Hurler syndrome (MPS I-H)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 &lt; 2–2.5 y, DQ &gt; 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of care; donor macrophages deliver enzyme; enzyme replacement as bridge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Cerebral X-linked adrenoleukodystrophy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cerebral disease (Loes 1–9), no major neurological deficit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MSD/MUD HCT or lentiviral gene therapy (eli-cel); asymptomatic boys need MRI surveillance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Krabbe disease, metachromatic leukodystrophy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Pre-symptomatic (late-infantile) or early juvenile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 therapy (atidarsagene) for MLD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Osteopetrosis (malignant infantile)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Early, before vision loss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SOS/VOD and pulmonary hypertension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MPS II, VI, others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CNS benefit; ERT preferred for many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899127"/>
            <a:ext cx="5943600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donor chimerism and normal enzyme levels matter: MAC (busulfan-based with TDM) or Flu/Treo; Bu/Flu/ATG standard.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HCT halts progression; it does not reverse existing neurological damage — speed of referral determines outcome.</a:t>
            </a:r>
            <a:endParaRPr lang="en-US" sz="10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Neuroblastoma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93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969264" cy="1199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neuroblastoma (MYCN amplified, or stage M ≥ 18 months)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3896" y="2017268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00784" y="1417320"/>
            <a:ext cx="969264" cy="1199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chemotherapy + PBSC collection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2017268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44368" y="1417320"/>
            <a:ext cx="969264" cy="1199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 of primary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41064" y="2017268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87952" y="1417320"/>
            <a:ext cx="969264" cy="1199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Bu/Mel high-dose therapy + auto-HCT (SIOPEN HR-NBL1 superior to CEM)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84648" y="2017268"/>
            <a:ext cx="21945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31536" y="1417320"/>
            <a:ext cx="969264" cy="1199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Radiotherapy to primary; anti-GD2 (dinutuximab beta) + isotretinoin maintenance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36672"/>
            <a:ext cx="5943600" cy="112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Tandem auto-HCT (thiotepa/Cy then CEM) improved EFS in COG ANBL0532 and is used in North America; single Bu/Mel is European standard.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Bu/Mel toxicity: SOS/VOD (up to 20%) → busulfan TDM, defibrotide prophylaxis in some protocols; avoid prior 131I-MIBG close to HDT.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Relapse: chemo-immunotherapy (irinotecan/temozolomide + dinutuximab), 131I-MIBG therapy; allo-HCT experimental.</a:t>
            </a:r>
            <a:endParaRPr lang="en-US" sz="10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solid tumours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summary · verify with handbook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75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2139696"/>
                <a:gridCol w="2139696"/>
              </a:tblGrid>
              <a:tr h="305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Tumour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Auto-HCT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Regimen / evidence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 cell tumours (relapsed, platinum-refractory)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salvage; cures ≈ 50% of second-line, 20–40% later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Tandem high-dose carboplatin/etoposide (TI-CE, Indiana); TIGER trial vs conventional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Medulloblastoma / CNS embryonal tumours in children &lt; 3–5 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Delays or avoids craniospinal irradiation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Start, tandem thiotepa-based HDT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Ewing sarcoma (high risk)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Selected: Bu/Mel consolidation in localised high-risk (Euro-EWING 99 R2Loc)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benefit in primary metastatic (R3)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2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Retinoblastoma (metastatic), Wilms (relapsed)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series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Thiotepa/carboplatin-based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Breast, ovarian, small-cell lung cancer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role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randomised trials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· INDICATIONS AND RESULTS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95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in haematological malignancies: indications and results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 · Chapter 95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6400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verified against handbook text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750" dirty="0"/>
          </a:p>
        </p:txBody>
      </p:sp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1545336"/>
                <a:gridCol w="1426464"/>
                <a:gridCol w="1664208"/>
              </a:tblGrid>
              <a:tr h="2927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Pivotal trials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result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LBCL ≥ 3rd line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Axi-cel, tisa-cel, liso-cel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ZUMA-1, JULIET, TRANSCEND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≈ 40–55%; ≈ 35–40% long-term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5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LBCL 2nd line (refractory or relapse ≤ 12 mo)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Axi-cel, liso-cel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ZUMA-7, TRANSFORM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 and OS (axi-cel) superior to auto-HCT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 ≥ 3rd line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Axi-cel, tisa-cel, liso-cel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ZUMA-5, ELARA, TRANSCEND FL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≈ 70–80%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7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MCL after BTKi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Brexu-cel, liso-cel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ZUMA-2, TRANSCEND MCL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≈ 65%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5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B-ALL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Tisa-cel (≤ 25 y), brexu-cel (adults), obe-cel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ELIANA, ZUMA-3, FELIX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 70–90%; ≈ 50% long-term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Myeloma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Ide-cel, cilta-cel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KarMMa(-3), CARTITUDE-1/-4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PFS gain in 2nd–4th line; cilta-cel CR &gt; 80%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1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Liso-cel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TRANSCEND CLL 004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2024 after BTKi + BCL2i</a:t>
                      </a:r>
                      <a:endParaRPr lang="en-US" sz="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5149901"/>
            <a:ext cx="5943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vs allo-HCT after CAR-T in B-ALL: consolidative allo improves outcome in adults and in children with early B-cell recovery or MRD; not needed for all.</a:t>
            </a:r>
            <a:endParaRPr lang="en-US" sz="97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Relapse after CAR-T: CD19-negative escape, short persistence; options include allo-HCT, bispecifics, alternative-target CAR-T.</a:t>
            </a:r>
            <a:endParaRPr lang="en-US" sz="975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follow-up (EBMT CTIWP) is mandatory: late cytopenias, infections, second malignancies (T-cell lymphoma reports 2024).</a:t>
            </a:r>
            <a:endParaRPr lang="en-US" sz="975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notes: corrections (1 of 2)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5943600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chapter summary in ebmt-handbook/references/*.md was read against the handbook and current guidance while building this deck. These statements were wrong or misleading and are corrected in the slides and in the reference files.</a:t>
            </a:r>
            <a:endParaRPr lang="en-US" sz="850" dirty="0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0161"/>
          <a:ext cx="5943600" cy="914400"/>
        </p:xfrm>
        <a:graphic>
          <a:graphicData uri="http://schemas.openxmlformats.org/drawingml/2006/table">
            <a:tbl>
              <a:tblPr/>
              <a:tblGrid>
                <a:gridCol w="416052"/>
                <a:gridCol w="2555748"/>
                <a:gridCol w="2971800"/>
              </a:tblGrid>
              <a:tr h="28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file said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 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HCT-CI 0 / 1–2 / ≥3 → NRM ≈15% / 26% / 41%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Sorror 2005: 2-year NRM ≈ 14% / 21% / 41%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mobiliser = CD34+ &lt; 10/µL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GITMO: peak CD34+ &lt; 20/µL or &lt; 2 × 10⁶/kg in ≤ 3 aphereses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KPC / ESBL → meropenem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ESBL → carbapenem; KPC producers → ceftazidime-avibactam or meropenem-vaborbactam; MBL → aztreonam + ceftazidime-avibactam or cefiderocol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Maribavir approved 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FDA November 2021 (EMA 2022) for refractory/resistant CMV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Ruxolitinib for aGVHD 'FDA 2021'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FDA approval for steroid-refractory aGVHD was 2019 (REACH1); 2021 was cGVHD (REACH3)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SOS/VOD: 'any ≥ 2 of' bilirubin, hepatomegaly, ascites, ultrasound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EBMT 2016: bilirubin ≥ 2 mg/dL plus ≥ 2 of painful hepatomegaly, weight gain &gt; 5%, ascites (classical ≤ 21 d); late-onset criteria differ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BOS criteria require 'no hyperinflation'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NIH criteria require evidence of air trapping (RV &gt; 120% or expiratory CT) with FEV1/FVC &lt; 0.7 and FEV1 &lt; 75%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notes: corrections (2 of 2)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75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416052"/>
                <a:gridCol w="2555748"/>
                <a:gridCol w="2971800"/>
              </a:tblGrid>
              <a:tr h="2885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file said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 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CRS grade 2 = 'O₂ &lt; 40%'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ASTCT: grade 2 = hypotension not needing vasopressors and/or O₂ by low-flow cannula ≤ 6 L/min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IPSS-R low &lt; 3.5, intermediate 3.5–4.5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IPSS-R: very low ≤ 1.5, low &gt; 1.5–3, intermediate &gt; 3–4.5, high &gt; 4.5–6, very high &gt; 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Lenalidomide maintenance 'FORTE/MAIA'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Evidence: CALGB 100104, IFM 2005-02, Myeloma XI meta-analysis; MAIA is a transplant-ineligible trial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Mel-140 for normal organ function, Mel-100 if impaired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Mel-200 for fit patients; Mel-140 risk-adapted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Axicabtagene ciloleucel labelled 'KymRiah'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Axi-cel is Yescarta; Kymriah is tisagenlecleucel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MIST: 'no progression 79% vs 9%'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MIST: progression at 5 years 9.7% (HSCT) vs 75.3% (DMT)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notes: scope and provenance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594360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files tag each chapter either 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from the book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model-supplemented</a:t>
            </a: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(Chinese tags in the source). The footer symbol on each slide carries that tag forward: ● verified, ○ supplemented.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Supplemented chapters (1–8, 11–25, 27–29, 31–34, 41–42, 45, 61–62, 69, 76, 82–85, 87–94) were rewritten from general knowledge of the 8th edition and current ELN, ECIL, EBMT and ASTCT guidance; treat numbers as teaching values.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added beyond the reference files where the handbook covers them: engraftment definitions (Ch. 21), ABO bidirectional mismatch (Ch. 24), MAGIC aGVHD grading (Ch. 43), NIH cGVHD severity rules (Ch. 44), EASIX (Ch. 42), FORUM trial (Ch. 73), IPSS-M (Ch. 74), TRIANGLE (Ch. 87), FELIX/obe-cel (Ch. 95).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than the 2024 print edition and flagged as such: 2023 refined SOS/VOD criteria, liso-cel for CLL (2024), KarMMa-3 / CARTITUDE-4 second-line myeloma CAR-T, teclistamab-class bispecifics.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by this deck: individual drug monographs, paediatric dosing tables, and the handbook's country-specific regulatory annexes.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69664"/>
            <a:ext cx="5943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Rebuild: node study-materials/src/build.js — content lives in study-materials/src/content/*.js; edit and re-run to regenerate PPTX and PDF.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EBMT Handbook, 8th ed. (2024)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6400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750" dirty="0"/>
          </a:p>
        </p:txBody>
      </p:sp>
      <p:graphicFrame>
        <p:nvGraphicFramePr>
          <p:cNvPr id="1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2834640" cy="914400"/>
        </p:xfrm>
        <a:graphic>
          <a:graphicData uri="http://schemas.openxmlformats.org/drawingml/2006/table">
            <a:tbl>
              <a:tblPr/>
              <a:tblGrid>
                <a:gridCol w="737006"/>
                <a:gridCol w="2097634"/>
              </a:tblGrid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Abbr.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aGVHD / cGVHD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Acute / chronic graft-versus-host disease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ATG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Anti-thymocyte globulin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ATMP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therapy medicinal product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Bronchiolitis obliterans syndrome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/ Cy / Flu / Mel / Treo / Thio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Busulfan / cyclophosphamide / fludarabine / melphalan / treosulfan / thiotepa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CNI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Calcineurin inhibitor (ciclosporin, tacrolimus)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CRS / ICANS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Cytokine release syndrome / immune effector cell-associated neurotoxicity syndrome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DLI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lymphocyte infusion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ECP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Extracorporeal photopheresis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GVL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Graft-versus-leukaemia effect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HCT-CI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HCT comorbidity index (Sorror)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HMA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Hypomethylating agent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Immunosuppression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417320"/>
          <a:ext cx="2834640" cy="914400"/>
        </p:xfrm>
        <a:graphic>
          <a:graphicData uri="http://schemas.openxmlformats.org/drawingml/2006/table">
            <a:tbl>
              <a:tblPr/>
              <a:tblGrid>
                <a:gridCol w="737006"/>
                <a:gridCol w="2097634"/>
              </a:tblGrid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Abbr.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Karnofsky performance status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 / RIC / NMA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Myeloablative / reduced-intensity / non-myeloablative conditioning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MMF / MTX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Mycophenolate mofetil / methotrexate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MRD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Measurable residual disease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/ MUD / MMUD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Matched sibling / matched unrelated / mismatched unrelated donor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NRM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Non-relapse mortality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PBSC / BM / CB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Peripheral blood stem cells / bone marrow / cord blood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Posterior reversible encephalopathy syndrome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6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PTCy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Post-transplant cyclophosphamide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PTLD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Post-transplant lymphoproliferative disorder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 / VOD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Sinusoidal obstruction syndrome / veno-occlusive disease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TA-TMA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Transplant-associated thrombotic microangiopathy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TBI / TDM / TNC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5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body irradiation / therapeutic drug monitoring / total nucleated cells</a:t>
                      </a:r>
                      <a:endParaRPr lang="en-US" sz="7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EBMT Handbook 8th ed. — Study Deck</dc:title>
  <dc:subject>PptxGenJS Presentation</dc:subject>
  <dc:creator>EBMT Handbook study group</dc:creator>
  <cp:lastModifiedBy>EBMT Handbook study group</cp:lastModifiedBy>
  <cp:revision>1</cp:revision>
  <dcterms:created xsi:type="dcterms:W3CDTF">2026-09-03T16:28:36Z</dcterms:created>
  <dcterms:modified xsi:type="dcterms:W3CDTF">2026-09-03T16:28:36Z</dcterms:modified>
</cp:coreProperties>
</file>