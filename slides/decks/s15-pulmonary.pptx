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e2b289c-a795-cb3e-4173-5084a5607294}">
          <p14:sldIdLst>
            <p14:sldId id="256"/>
            <p14:sldId id="257"/>
          </p14:sldIdLst>
        </p14:section>
        <p14:section name="Classification and work-up" id="{ff0fe76b-a28d-f369-fd9d-8474b8475b1d}">
          <p14:sldIdLst>
            <p14:sldId id="258"/>
            <p14:sldId id="259"/>
          </p14:sldIdLst>
        </p14:section>
        <p14:section name="Early complications" id="{746ee17d-fce2-5c79-2e46-f80ff1854807}">
          <p14:sldIdLst>
            <p14:sldId id="260"/>
            <p14:sldId id="261"/>
            <p14:sldId id="262"/>
            <p14:sldId id="263"/>
            <p14:sldId id="264"/>
            <p14:sldId id="265"/>
            <p14:sldId id="266"/>
          </p14:sldIdLst>
        </p14:section>
        <p14:section name="Late complications" id="{c8b1e619-6db9-8885-82e0-805fef99ebdd}">
          <p14:sldIdLst>
            <p14:sldId id="267"/>
            <p14:sldId id="268"/>
            <p14:sldId id="269"/>
            <p14:sldId id="270"/>
            <p14:sldId id="271"/>
          </p14:sldIdLst>
        </p14:section>
        <p14:section name="Board questions" id="{3b9e8c63-1740-7b2f-2dc7-69d3aee2a35d}">
          <p14:sldIdLst>
            <p14:sldId id="272"/>
            <p14:sldId id="273"/>
            <p14:sldId id="274"/>
            <p14:sldId id="275"/>
            <p14:sldId id="276"/>
            <p14:sldId id="277"/>
          </p14:sldIdLst>
        </p14:section>
        <p14:section name="References" id="{261a4c81-43d1-a51c-ce2e-de66cdface35}">
          <p14:sldIdLst>
            <p14:sldId id="278"/>
            <p14:sldId id="279"/>
          </p14:sldIdLst>
        </p14:section>
        <p14:section name="Backup" id="{b804ef64-d265-758a-feba-3ad1b18119b0}">
          <p14:sldIdLst>
            <p14:sldId id="280"/>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各位早安，今天是第 15 堂，主題是移植後的非感染性肺部併發症，內容來自 EBMT Handbook 第八版第 52 章，作者是 Bergeron 和 Cooke。</a:t>
            </a:r>
          </a:p>
          <a:p>
            <a:pPr>
              <a:spcAft>
                <a:spcPts val="600"/>
              </a:spcAft>
            </a:pPr>
            <a:r>
              <a:rPr lang="en-US" dirty="0"/>
              <a:t>前半段談早期的 fluid overload、IPS 和 DAH，後半段談晚期的 BOS 和 ILD，最後做三題 board-style 題目。今天只有一章，會講得比較深入。</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今天分四段。第一段先看分類和檢查流程。肺部併發症的鑑別範圍很大，有一套固定的 work-up 順序，後面每一個診斷都建立在這個流程上。</a:t>
            </a:r>
          </a:p>
          <a:p>
            <a:pPr>
              <a:spcAft>
                <a:spcPts val="600"/>
              </a:spcAft>
            </a:pPr>
            <a:r>
              <a:rPr lang="en-US" dirty="0"/>
              <a:t>第二段是早期併發症，時間最長。先講最常見、卻不在正式分類裡的 fluid overload，再講 IPS 的診斷三要件、危險因子、steroid 加 etanercept 的治療和證據，最後是 DAH。</a:t>
            </a:r>
          </a:p>
          <a:p>
            <a:pPr>
              <a:spcAft>
                <a:spcPts val="600"/>
              </a:spcAft>
            </a:pPr>
            <a:r>
              <a:rPr lang="en-US" dirty="0"/>
              <a:t>第三段是 day 100 以後的晚期併發症，以 BOS 和 ILD 為主，重點在 NIH 的 BOS 診斷條件、治療證據的強弱，以及怎麼用 PFT 和 CT 分辨兩者。最後三題，分別對應 IPS、DAH 和 BOS。</a:t>
            </a:r>
          </a:p>
          <a:p>
            <a:pPr>
              <a:spcAft>
                <a:spcPts val="600"/>
              </a:spcAft>
            </a:pPr>
            <a:r>
              <a:rPr lang="en-US" dirty="0"/>
              <a:t>每一段結束前，我會點出這一段最常被拿來出題的數字，方便大家複習。</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移植後肺功能異常很常見，整體大約 25 到 55% 的病人會發生。過去大約一半的肺部併發症來自感染，廣效抗生素普及之後，比例已經往非感染性移動。非感染性肺損傷可以占 allo 移植非感染性死亡的一半。</a:t>
            </a:r>
          </a:p>
          <a:p>
            <a:pPr>
              <a:spcAft>
                <a:spcPts val="600"/>
              </a:spcAft>
            </a:pPr>
            <a:r>
              <a:rPr lang="en-US" dirty="0"/>
              <a:t>這張表是 American Thoracic Society 的分類，依照主要受傷的組織分三大類。肺實質包括 ARDS、BCNU 和放射線肺炎等。血管內皮這一類包括 PERDS、capillary leak、DAH、pulmonary VOD 和 TRALI。呼吸道上皮則是 ILD 和 BOS。</a:t>
            </a:r>
          </a:p>
          <a:p>
            <a:pPr>
              <a:spcAft>
                <a:spcPts val="600"/>
              </a:spcAft>
            </a:pPr>
            <a:r>
              <a:rPr lang="en-US" dirty="0"/>
              <a:t>打星號的這幾種，如果發生在移植早期，都可以歸到 IPS 這把大傘底下，所以 IPS 其實是一個排除性的總稱。</a:t>
            </a:r>
          </a:p>
          <a:p>
            <a:pPr>
              <a:spcAft>
                <a:spcPts val="600"/>
              </a:spcAft>
            </a:pPr>
            <a:r>
              <a:rPr lang="en-US" dirty="0"/>
              <a:t>最後一列是例外，最常見的肺部併發症是 fluid overload 造成的肺水腫，反而不在這個分類裡。</a:t>
            </a:r>
          </a:p>
          <a:p>
            <a:pPr>
              <a:spcAft>
                <a:spcPts val="600"/>
              </a:spcAft>
            </a:pPr>
            <a:r>
              <a:rPr lang="en-US" dirty="0"/>
              <a:t>這個分類的用意，是提醒我們同一張胸部影像背後，受傷的可能是肺實質、血管內皮，也可能是小呼吸道，處置方向完全不同。內皮這一群和第 13 堂講的 capillary leak、engraftment syndrome 是同一個家族，DAH 也在這一類。考試常問哪一個不在 ATS 分類裡，答案就是 fluid overload。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3:00 至 4:30]</a:t>
            </a:r>
          </a:p>
          <a:p>
            <a:pPr>
              <a:spcAft>
                <a:spcPts val="600"/>
              </a:spcAft>
            </a:pPr>
            <a:r>
              <a:rPr lang="en-US" dirty="0"/>
              <a:t>呼吸窘迫可以進展得很快，所以第 52 章建議每家醫院都有一套事先訂好的流程。第一步評估血氧，晚發的病人建議走廊步行後再量 SpO₂。</a:t>
            </a:r>
          </a:p>
          <a:p>
            <a:pPr>
              <a:spcAft>
                <a:spcPts val="600"/>
              </a:spcAft>
            </a:pPr>
            <a:r>
              <a:rPr lang="en-US" dirty="0"/>
              <a:t>第二步影像。早期肺損傷用 low-dose CT 就夠，晚發的一定要有吸氣相 CT，並考慮加呼氣相看 air trapping。懷疑左心衰竭或肺高壓就做心臟超音波。PFT 在急性期很少需要，但晚發的病人要做完整的 spirometry、肺容積和 DLCO。</a:t>
            </a:r>
          </a:p>
          <a:p>
            <a:pPr>
              <a:spcAft>
                <a:spcPts val="600"/>
              </a:spcAft>
            </a:pPr>
            <a:r>
              <a:rPr lang="en-US" dirty="0"/>
              <a:t>第四步是感染檢查，血液培養、病毒 PCR、鼻咽拭子的呼吸道病毒 panel，以及 galactomannan 和 β-D-glucan。</a:t>
            </a:r>
          </a:p>
          <a:p>
            <a:pPr>
              <a:spcAft>
                <a:spcPts val="600"/>
              </a:spcAft>
            </a:pPr>
            <a:r>
              <a:rPr lang="en-US" dirty="0"/>
              <a:t>核心是支氣管鏡加 BAL，可以在 78% 的病例找到病因。懷疑 IPS 的病人，BAL 仍有約一半找到病原。五天內做的陽性率比晚做高，併發症不到 5%。切片只留給少數非侵入檢查無法診斷的晚發病例，優先 VATS。</a:t>
            </a:r>
          </a:p>
          <a:p>
            <a:pPr>
              <a:spcAft>
                <a:spcPts val="600"/>
              </a:spcAft>
            </a:pPr>
            <a:r>
              <a:rPr lang="en-US" dirty="0"/>
              <a:t>要注意 BAL 驗到病原不一定就是元兇，感染和免疫發炎也可能同時存在。</a:t>
            </a:r>
          </a:p>
          <a:p>
            <a:pPr>
              <a:spcAft>
                <a:spcPts val="600"/>
              </a:spcAft>
            </a:pPr>
            <a:r>
              <a:rPr lang="en-US" dirty="0"/>
              <a:t>臨床上最常見的失誤是一路換抗生素，拖過一週才找胸腔科做支氣管鏡，這時陽性率已經下降。病人無法做 BAL 時，改送誘導痰液。</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4:30 至 5:30]</a:t>
            </a:r>
          </a:p>
          <a:p>
            <a:pPr>
              <a:spcAft>
                <a:spcPts val="600"/>
              </a:spcAft>
            </a:pPr>
            <a:r>
              <a:rPr lang="en-US" dirty="0"/>
              <a:t>早期最常見的其實是 fluid overload。移植早期多達 60% 的病人有水分過多，肺水腫的確切發生率不清楚，估計超過 20%。</a:t>
            </a:r>
          </a:p>
          <a:p>
            <a:pPr>
              <a:spcAft>
                <a:spcPts val="600"/>
              </a:spcAft>
            </a:pPr>
            <a:r>
              <a:rPr lang="en-US" dirty="0"/>
              <a:t>表現是體重上升、喘、乾咳和中度低血氧，兩側肺底有 crackles，X 光是瀰漫性浸潤。體重增加、心胸比變大、加上 crackles，就要先想到它，很少需要量肺動脈壓。</a:t>
            </a:r>
          </a:p>
          <a:p>
            <a:pPr>
              <a:spcAft>
                <a:spcPts val="600"/>
              </a:spcAft>
            </a:pPr>
            <a:r>
              <a:rPr lang="en-US" dirty="0"/>
              <a:t>鑑別包括 anthracycline 或 CY 造成的心衰竭、SOS、capillary leak、engraftment syndrome、IPS 和 TRALI。治療就是限水加利尿。IPS 的定義正是要先排除這一項。</a:t>
            </a:r>
          </a:p>
          <a:p>
            <a:pPr>
              <a:spcAft>
                <a:spcPts val="600"/>
              </a:spcAft>
            </a:pPr>
            <a:r>
              <a:rPr lang="en-US" dirty="0"/>
              <a:t>病房上的做法很簡單，每天量體重、算 in and out。體重上升又有 crackles，先給利尿劑觀察反應，往往就能避免不必要的支氣管鏡。</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5:30 至 7:30]</a:t>
            </a:r>
          </a:p>
          <a:p>
            <a:pPr>
              <a:spcAft>
                <a:spcPts val="600"/>
              </a:spcAft>
            </a:pPr>
            <a:r>
              <a:rPr lang="en-US" dirty="0"/>
              <a:t>IPS 的定義是廣泛的肺泡損傷，同時沒有活動性下呼吸道感染、心臟或腎臟功能異常，也不是醫源性的水分過多。三項條件必須全部成立。</a:t>
            </a:r>
          </a:p>
          <a:p>
            <a:pPr>
              <a:spcAft>
                <a:spcPts val="600"/>
              </a:spcAft>
            </a:pPr>
            <a:r>
              <a:rPr lang="en-US" dirty="0"/>
              <a:t>第一項是肺泡損傷的證據，包括多葉浸潤、咳嗽、喘、呼吸急促、crackles 這些肺炎表現，再加上生理指標異常，A-a gradient 增加、需要氧氣，或新出現的限制型 PFT。</a:t>
            </a:r>
          </a:p>
          <a:p>
            <a:pPr>
              <a:spcAft>
                <a:spcPts val="600"/>
              </a:spcAft>
            </a:pPr>
            <a:r>
              <a:rPr lang="en-US" dirty="0"/>
              <a:t>第二項是排除感染，而且要靠 BAL。細菌要包括 AFB、Nocardia 和 Legionella；非細菌病原要做培養、CMV 的 shell vial、病毒 PCR，以及找 CMV inclusion、黴菌和 Pneumocystis 的細胞學。書上建議再考慮 metapneumovirus、HHV-6、Mycoplasma 的 PCR，以及血清和 BAL 的 galactomannan、血清 β-D-glucan。</a:t>
            </a:r>
          </a:p>
          <a:p>
            <a:pPr>
              <a:spcAft>
                <a:spcPts val="600"/>
              </a:spcAft>
            </a:pPr>
            <a:r>
              <a:rPr lang="en-US" dirty="0"/>
              <a:t>第三項是排除心臟、急性腎衰竭和水分過多。前一張講的 fluid overload，就是在這一步被排除的。</a:t>
            </a:r>
          </a:p>
          <a:p>
            <a:pPr>
              <a:spcAft>
                <a:spcPts val="600"/>
              </a:spcAft>
            </a:pPr>
            <a:r>
              <a:rPr lang="en-US" dirty="0"/>
              <a:t>時間上 IPS 典型發生在 day 120 以內，最早三週，最晚 day 180。考題常把 BAL 結果和心臟超音波放在題幹裡，讓你判斷三項是否都成立。</a:t>
            </a:r>
          </a:p>
          <a:p>
            <a:pPr>
              <a:spcAft>
                <a:spcPts val="600"/>
              </a:spcAft>
            </a:pPr>
            <a:r>
              <a:rPr lang="en-US" dirty="0"/>
              <a:t>實務上 IPS 是排除診斷，很多病例最後是在 BAL 驗不到病原之後才成立。書上也提醒，就算驗到病原，也不代表一定是感染造成，感染和免疫發炎可以同時存在，所以 BAL 陽性的病人，治療感染之外仍要評估是否合併 IPS。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7:30 至 9:00]</a:t>
            </a:r>
          </a:p>
          <a:p>
            <a:pPr>
              <a:spcAft>
                <a:spcPts val="600"/>
              </a:spcAft>
            </a:pPr>
            <a:r>
              <a:rPr lang="en-US" dirty="0"/>
              <a:t>IPS 的發生率過去大約 25%，現在已經降到 allo 移植的 10% 以下。MAC 合併 12 Gy 以上 TBI 大約 7%，成人 RIC 只有 2%。</a:t>
            </a:r>
          </a:p>
          <a:p>
            <a:pPr>
              <a:spcAft>
                <a:spcPts val="600"/>
              </a:spcAft>
            </a:pPr>
            <a:r>
              <a:rPr lang="en-US" dirty="0"/>
              <a:t>下降的原因有三個，定義變嚴格、RIC 用得更多，以及病原偵測進步。以前被叫做 IPS 的病例，有一部分其實是當時驗不到的感染。</a:t>
            </a:r>
          </a:p>
          <a:p>
            <a:pPr>
              <a:spcAft>
                <a:spcPts val="600"/>
              </a:spcAft>
            </a:pPr>
            <a:r>
              <a:rPr lang="en-US" dirty="0"/>
              <a:t>危險因子分成病人和移植兩邊。病人這邊是年紀大、KPS 低於 90、診斷到移植的間隔長。移植這邊是 MAC 或 12 Gy 以上的 TBI、HLA 不合、用 MTX 預防 GVHD。另外還有 acute GVHD、先前的病毒感染，以及白血病以外的惡性疾病。</a:t>
            </a:r>
          </a:p>
          <a:p>
            <a:pPr>
              <a:spcAft>
                <a:spcPts val="600"/>
              </a:spcAft>
            </a:pPr>
            <a:r>
              <a:rPr lang="en-US" dirty="0"/>
              <a:t>機轉上，肺對細胞和可溶性發炎因子都很敏感，主要走 TNF-α/LPS 和 IL-6/IL-17 兩條路，這正是下一張治療的依據。</a:t>
            </a:r>
          </a:p>
          <a:p>
            <a:pPr>
              <a:spcAft>
                <a:spcPts val="600"/>
              </a:spcAft>
            </a:pPr>
            <a:r>
              <a:rPr lang="en-US" dirty="0"/>
              <a:t>題目如果給一位接受 12 Gy TBI、HLA 不合、用 MTX 預防、又有 aGVHD 的病人，就是在暗示 IPS 的高風險族群。相反地，成人 RIC 的病人只有 2%，出現肺浸潤時要更積極找感染或其他原因。</a:t>
            </a:r>
          </a:p>
          <a:p>
            <a:pPr>
              <a:spcAft>
                <a:spcPts val="600"/>
              </a:spcAft>
            </a:pPr>
            <a:r>
              <a:rPr lang="en-US" dirty="0"/>
              <a:t>書上也提到，肺部微生物體和 metatranscriptome 可能參與移植後肺部發炎，這是目前研究的方向。</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9:00 至 10:30]</a:t>
            </a:r>
          </a:p>
          <a:p>
            <a:pPr>
              <a:spcAft>
                <a:spcPts val="600"/>
              </a:spcAft>
            </a:pPr>
            <a:r>
              <a:rPr lang="en-US" dirty="0"/>
              <a:t>治療先做支持療法，給氧，必要時用 high-flow nasal oxygen、CPAP 或插管，同時經驗性給廣效抗生素，並嚴格控制水分，必要時做 hemofiltration。</a:t>
            </a:r>
          </a:p>
          <a:p>
            <a:pPr>
              <a:spcAft>
                <a:spcPts val="600"/>
              </a:spcAft>
            </a:pPr>
            <a:r>
              <a:rPr lang="en-US" dirty="0"/>
              <a:t>特定治療針對 TNF-α 這條路。Methylprednisolone 每天 2 mg/kg 以內，加上 etanercept 0.4 mg/kg 一週兩次，最多 8 劑。劑量和最多 8 劑這兩個數字都值得記。</a:t>
            </a:r>
          </a:p>
          <a:p>
            <a:pPr>
              <a:spcAft>
                <a:spcPts val="600"/>
              </a:spcAft>
            </a:pPr>
            <a:r>
              <a:rPr lang="en-US" dirty="0"/>
              <a:t>要提醒的是，書上 steroid 那一行寫著「若反應不明確，盡快考慮」，後面的受詞漏掉了，依上下文應該是指加上 etanercept，上課前會再對照紙本。</a:t>
            </a:r>
          </a:p>
          <a:p>
            <a:pPr>
              <a:spcAft>
                <a:spcPts val="600"/>
              </a:spcAft>
            </a:pPr>
            <a:r>
              <a:rPr lang="en-US" dirty="0"/>
              <a:t>IL-6 和 IL-17 這條路的 tocilizumab、brodalumab，目前只在動物模型。TNF blockade 沒反應的病人 IL-6 最高，所以未來可能要合併阻斷。保護肺血管內皮的策略也還在研究階段。</a:t>
            </a:r>
          </a:p>
          <a:p>
            <a:pPr>
              <a:spcAft>
                <a:spcPts val="600"/>
              </a:spcAft>
            </a:pPr>
            <a:r>
              <a:rPr lang="en-US" dirty="0"/>
              <a:t>Etanercept 是 soluble TNF receptor，作用是中和 TNF-α，所以理論上和 IPS 的 TNF/LPS 路徑對得上。開始 etanercept 時，經驗性抗生素要繼續給，因為 BAL 陰性不代表完全沒有感染，而且兩者可以同時存在。</a:t>
            </a:r>
          </a:p>
          <a:p>
            <a:pPr>
              <a:spcAft>
                <a:spcPts val="600"/>
              </a:spcAft>
            </a:pPr>
            <a:r>
              <a:rPr lang="en-US" dirty="0"/>
              <a:t>Etanercept 最多 8 劑，一週兩次，所以完整療程大約四週。</a:t>
            </a:r>
          </a:p>
          <a:p>
            <a:pPr>
              <a:spcAft>
                <a:spcPts val="600"/>
              </a:spcAft>
            </a:pPr>
            <a:r>
              <a:rPr lang="en-US" b="1" dirty="0"/>
              <a:t>講者提醒（不念出來）：</a:t>
            </a:r>
          </a:p>
          <a:p>
            <a:pPr>
              <a:spcAft>
                <a:spcPts val="600"/>
              </a:spcAft>
            </a:pPr>
            <a:r>
              <a:rPr lang="en-US" dirty="0"/>
              <a:t>- TO CONFIRM BEFORE PRESENTING: Ch. 52 reads 'Methyl-PDN ≤ 2 mg/kg/day; if not clear response, consider as soon as possible' with the object missing; presumably etanercept is meant. Check the printed chapter.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10:30 至 12:00]</a:t>
            </a:r>
          </a:p>
          <a:p>
            <a:pPr>
              <a:spcAft>
                <a:spcPts val="600"/>
              </a:spcAft>
            </a:pPr>
            <a:r>
              <a:rPr lang="en-US" dirty="0"/>
              <a:t>Etanercept 的證據主要來自兒童。Yanik 2015 的 phase II，也就是 COG 的 ASCT0521，etanercept 加 steroid，CR 71%，一年存活 63%。</a:t>
            </a:r>
          </a:p>
          <a:p>
            <a:pPr>
              <a:spcAft>
                <a:spcPts val="600"/>
              </a:spcAft>
            </a:pPr>
            <a:r>
              <a:rPr lang="en-US" dirty="0"/>
              <a:t>Thompson 2017 看的是少見的晚發 IPS，同樣的組合 CR 42%，有反應的人兩年存活 62%。</a:t>
            </a:r>
          </a:p>
          <a:p>
            <a:pPr>
              <a:spcAft>
                <a:spcPts val="600"/>
              </a:spcAft>
            </a:pPr>
            <a:r>
              <a:rPr lang="en-US" dirty="0"/>
              <a:t>成人唯一的 randomized trial 是 Yanik 2014，steroid 加 etanercept 對比 steroid 加安慰劑，因為收案太慢提早結束。在有限的病人裡，day 28 兩組反應率都大約 60%，沒有差別。書上特別強調，這個收案不足的試驗缺乏證據，不等於藥物無效。</a:t>
            </a:r>
          </a:p>
          <a:p>
            <a:pPr>
              <a:spcAft>
                <a:spcPts val="600"/>
              </a:spcAft>
            </a:pPr>
            <a:r>
              <a:rPr lang="en-US" dirty="0"/>
              <a:t>所以考題如果問成人 IPS 的標準治療，答案仍然是 steroid 加 etanercept，但要知道 RCT 是陰性的。Wenger 2020 也提醒，即使診斷和治療都有進步，成人 IPS 的死亡率仍然很高。</a:t>
            </a:r>
          </a:p>
          <a:p>
            <a:pPr>
              <a:spcAft>
                <a:spcPts val="600"/>
              </a:spcAft>
            </a:pPr>
            <a:r>
              <a:rPr lang="en-US" dirty="0"/>
              <a:t>另外 Varelias 2015 的動物模型發現，對 TNF blockade 沒反應的病人 IL-6 最高，這也是未來考慮合併阻斷 TNF 和 IL-6 的理由。換到病房上，若 etanercept 加 steroid 一週左右仍無反應，就要重新檢討診斷，再找一次感染。</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12:00 至 14:00]</a:t>
            </a:r>
          </a:p>
          <a:p>
            <a:pPr>
              <a:spcAft>
                <a:spcPts val="600"/>
              </a:spcAft>
            </a:pPr>
            <a:r>
              <a:rPr lang="en-US" dirty="0"/>
              <a:t>DAH 是急性呼吸衰竭的重要原因，發生在 2 到 14% 的移植病人，機轉是肺泡微血管基底膜受損，所以也屬於內皮症候群。它可以是非感染性，也可以和感染有關。</a:t>
            </a:r>
          </a:p>
          <a:p>
            <a:pPr>
              <a:spcAft>
                <a:spcPts val="600"/>
              </a:spcAft>
            </a:pPr>
            <a:r>
              <a:rPr lang="en-US" dirty="0"/>
              <a:t>時間上中位數 day 23，常在 engraftment 之前，但多達 42% 較晚才發生。臨床表現和其他 IPS 一樣，真正的咳血反而少見，不能等到咳血才懷疑。</a:t>
            </a:r>
          </a:p>
          <a:p>
            <a:pPr>
              <a:spcAft>
                <a:spcPts val="600"/>
              </a:spcAft>
            </a:pPr>
            <a:r>
              <a:rPr lang="en-US" dirty="0"/>
              <a:t>診斷要靠 BAL，至少三個 segmental bronchi 連續灌洗，回收液一管比一管更紅，代表肺泡內有血。含鐵血素巨噬細胞 20% 可以支持，但可能要 72 小時才出現，所以早期沒看到不能排除。這兩個細節是考題最愛的陷阱。</a:t>
            </a:r>
          </a:p>
          <a:p>
            <a:pPr>
              <a:spcAft>
                <a:spcPts val="600"/>
              </a:spcAft>
            </a:pPr>
            <a:r>
              <a:rPr lang="en-US" dirty="0"/>
              <a:t>危險因子是 TBI 和高劑量 CY。和典型 IPS 的鑑別非常困難，只能靠 BAL；典型 IPS 通常在 engraftment 之後、以 allo 為主、對 steroid 反應較差。和 PERDS 幾乎無法區分，除非 BAL 越洗越紅。非感染性 DAH 本身就歸在 IPS 的大傘下。</a:t>
            </a:r>
          </a:p>
          <a:p>
            <a:pPr>
              <a:spcAft>
                <a:spcPts val="600"/>
              </a:spcAft>
            </a:pPr>
            <a:r>
              <a:rPr lang="en-US" dirty="0"/>
              <a:t>為什麼一定要強調 BAL，是因為 DAH、典型 IPS、PERDS 和感染相關出血的表現幾乎一樣，影像也分不出來。BAL 同時可以排除感染，所以懷疑 DAH 時，支氣管鏡一樣要盡早做，而且要做在三個以上的 segmental bronchi。</a:t>
            </a:r>
          </a:p>
          <a:p>
            <a:pPr>
              <a:spcAft>
                <a:spcPts val="600"/>
              </a:spcAft>
            </a:pPr>
            <a:r>
              <a:rPr lang="en-US" dirty="0"/>
              <a:t>考試常給一個 engraftment 前、接受過 TBI 或高劑量 CY、沒有咳血的病人，再給 BAL 越洗越紅的描述，就是在考 DAH。</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14:00 至 15:30]</a:t>
            </a:r>
          </a:p>
          <a:p>
            <a:pPr>
              <a:spcAft>
                <a:spcPts val="600"/>
              </a:spcAft>
            </a:pPr>
            <a:r>
              <a:rPr lang="en-US" dirty="0"/>
              <a:t>DAH 的治療傳統上用高劑量 methylprednisolone，250 到 500 mg 每六小時一次，給五天後減量。這個劑量比 IPS 的 2 mg/kg 高得多，兩者不要搞混。</a:t>
            </a:r>
          </a:p>
          <a:p>
            <a:pPr>
              <a:spcAft>
                <a:spcPts val="600"/>
              </a:spcAft>
            </a:pPr>
            <a:r>
              <a:rPr lang="en-US" dirty="0"/>
              <a:t>Rathi 2015 比較低、中、高劑量 steroid，加或不加 aminocaproic acid，整體反應都令人失望。書上補充，這個研究裡三分之二是非感染性、可歸為 IPS 的 DAH，卻沒有人用 TNF 抑制劑。Recombinant factor VIIa 合併高劑量 steroid，有些研究有幫助，有些沒有。</a:t>
            </a:r>
          </a:p>
          <a:p>
            <a:pPr>
              <a:spcAft>
                <a:spcPts val="600"/>
              </a:spcAft>
            </a:pPr>
            <a:r>
              <a:rPr lang="en-US" dirty="0"/>
              <a:t>預後很差，day 100 總死亡率可達 85%。直接死於出血的不到 15%，多數是演變成多重器官衰竭，死亡率因此超過 60%，auto 大約 30%，allo 大約 70%。Auto 移植後發生的 DAH 預後比較好，這也是常考的比較點。</a:t>
            </a:r>
          </a:p>
          <a:p>
            <a:pPr>
              <a:spcAft>
                <a:spcPts val="600"/>
              </a:spcAft>
            </a:pPr>
            <a:r>
              <a:rPr lang="en-US" dirty="0"/>
              <a:t>實務上，除了高劑量 steroid，還要矯正凝血功能、維持血小板，並積極排除感染，因為感染相關的出血預後同樣很差。Day 100 死亡率 85% 這個數字，說明 DAH 是移植早期最致命的肺部併發症之一。</a:t>
            </a:r>
          </a:p>
          <a:p>
            <a:pPr>
              <a:spcAft>
                <a:spcPts val="600"/>
              </a:spcAft>
            </a:pPr>
            <a:r>
              <a:rPr lang="en-US" b="1" dirty="0"/>
              <a:t>講者提醒（不念出來）：</a:t>
            </a:r>
          </a:p>
          <a:p>
            <a:pPr>
              <a:spcAft>
                <a:spcPts val="600"/>
              </a:spcAft>
            </a:pPr>
            <a:r>
              <a:rPr lang="en-US" dirty="0"/>
              <a:t>- Ch. 52 says MOF raises mortality to '&gt;60% (30% in auto- and 70% in allo-HCT)'; the 30% auto figure sits below the &gt;60% overall. Present the auto/allo split as given and do not reconcile.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15:30 至 17:00]</a:t>
            </a:r>
          </a:p>
          <a:p>
            <a:pPr>
              <a:spcAft>
                <a:spcPts val="600"/>
              </a:spcAft>
            </a:pPr>
            <a:r>
              <a:rPr lang="en-US" dirty="0"/>
              <a:t>Day 100 以後的晚期非感染性併發症，在 allo 移植可達 20%，最常見的是 BOS 和 ILD。診斷前一定要先排除感染，雖然病毒感染常常就是誘發因子。</a:t>
            </a:r>
          </a:p>
          <a:p>
            <a:pPr>
              <a:spcAft>
                <a:spcPts val="600"/>
              </a:spcAft>
            </a:pPr>
            <a:r>
              <a:rPr lang="en-US" dirty="0"/>
              <a:t>BOS 是目前唯一被認可的肺部 chronic GVHD。危險因子是其他部位的 cGVHD、呼吸道病毒感染和肺功能下降。多在移植後 6 到 24 個月發生，發生率 3 到 11%，超過九成合併其他部位的 cGVHD。</a:t>
            </a:r>
          </a:p>
          <a:p>
            <a:pPr>
              <a:spcAft>
                <a:spcPts val="600"/>
              </a:spcAft>
            </a:pPr>
            <a:r>
              <a:rPr lang="en-US" dirty="0"/>
              <a:t>早期可以完全沒有症狀，所以建議移植前做基準 PFT，第一年每三個月追蹤；有其他部位 GVHD，或剛得過呼吸道病毒感染的人，要更密集地做 spirometry。</a:t>
            </a:r>
          </a:p>
          <a:p>
            <a:pPr>
              <a:spcAft>
                <a:spcPts val="600"/>
              </a:spcAft>
            </a:pPr>
            <a:r>
              <a:rPr lang="en-US" dirty="0"/>
              <a:t>CT 是 mosaic attenuation、支氣管擴張、管壁增厚和呼氣相的 air trapping。兩年存活 65 到 79%，五年 74%，越早發生預後越差。</a:t>
            </a:r>
          </a:p>
          <a:p>
            <a:pPr>
              <a:spcAft>
                <a:spcPts val="600"/>
              </a:spcAft>
            </a:pPr>
            <a:r>
              <a:rPr lang="en-US" dirty="0"/>
              <a:t>為什麼要這麼密集地追蹤 PFT，是因為 BOS 一旦造成阻塞，多半不可逆，FEV1 掉下去就很難回來。很多中心在 cGVHD 門診每次都排 spirometry，就是根據這個建議。CT 上移植後三個月的支氣管異常，也能預測後續 BOS。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17:00 至 18:30]</a:t>
            </a:r>
          </a:p>
          <a:p>
            <a:pPr>
              <a:spcAft>
                <a:spcPts val="600"/>
              </a:spcAft>
            </a:pPr>
            <a:r>
              <a:rPr lang="en-US" dirty="0"/>
              <a:t>NIH 共識的 BOS 診斷，是其他部位有 cGVHD，再加上新出現、對支氣管擴張劑沒反應、合併 air trapping 的阻塞型缺損。三個 PFT 門檻是FEV1/VC 小於 0.7 或低於第五百分位，FEV1 小於預測值 75% 且比基準下降 10% 以上，RV 大於預測值 120%。</a:t>
            </a:r>
          </a:p>
          <a:p>
            <a:pPr>
              <a:spcAft>
                <a:spcPts val="600"/>
              </a:spcAft>
            </a:pPr>
            <a:r>
              <a:rPr lang="en-US" dirty="0"/>
              <a:t>最新的 NIH 共識只靠肺功能就能診斷，不需要切片，所以叫 BOS，而不是需要病理的 BO。例外是肺為唯一的 cGVHD 器官，這時需要 VATS 切片確認。</a:t>
            </a:r>
          </a:p>
          <a:p>
            <a:pPr>
              <a:spcAft>
                <a:spcPts val="600"/>
              </a:spcAft>
            </a:pPr>
            <a:r>
              <a:rPr lang="en-US" dirty="0"/>
              <a:t>CT 在診斷時一定要做，目的是排除其他診斷；如果看到肺實質浸潤，代表另有診斷或合併其他問題。超過三成病人移植前的 CT 就有 air trapping，所以呼氣相 CT 的價值有限，BOS 的診斷主要靠 PFT。</a:t>
            </a:r>
          </a:p>
          <a:p>
            <a:pPr>
              <a:spcAft>
                <a:spcPts val="600"/>
              </a:spcAft>
            </a:pPr>
            <a:r>
              <a:rPr lang="en-US" dirty="0"/>
              <a:t>臨床上最常見的情境，是一位皮膚或口腔 cGVHD 的病人在門診 spirometry 發現 FEV1 下降，這時要先排除感染，再確認阻塞對支氣管擴張劑沒反應、RV 上升，就能直接診斷 BOS，不必等切片。</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18:30 至 20:00]</a:t>
            </a:r>
          </a:p>
          <a:p>
            <a:pPr>
              <a:spcAft>
                <a:spcPts val="600"/>
              </a:spcAft>
            </a:pPr>
            <a:r>
              <a:rPr lang="en-US" dirty="0"/>
              <a:t>BOS 的治療證據都很弱，書上明說證據不足以建議任何固定流程。唯一在 double-blind、placebo-controlled RCT 證明能改善 FEV1 的，是吸入型 budesonide/formoterol，對象是新診斷的中重度 BOS。</a:t>
            </a:r>
          </a:p>
          <a:p>
            <a:pPr>
              <a:spcAft>
                <a:spcPts val="600"/>
              </a:spcAft>
            </a:pPr>
            <a:r>
              <a:rPr lang="en-US" dirty="0"/>
              <a:t>臨床常用的 FAM，也就是 fluticasone、azithromycin、montelukast，只有單臂研究，結果是 FEV1 穩定。Azithromycin 要特別小心，ALLOZITHRO 和後續研究顯示可能增加癌症風險，尤其是移植後早期使用。</a:t>
            </a:r>
          </a:p>
          <a:p>
            <a:pPr>
              <a:spcAft>
                <a:spcPts val="600"/>
              </a:spcAft>
            </a:pPr>
            <a:r>
              <a:rPr lang="en-US" dirty="0"/>
              <a:t>全身性 steroid 對 BOS 效果差，開始前要衡量利弊。末期 BOS 如果肺外 GVHD 不活躍、復發風險很低，可以考慮肺移植。支持療法包括肺復健、治療胃食道逆流、感染預防、呼吸道病毒疫苗，以及感染合併低丙種球蛋白時補 IVIg。</a:t>
            </a:r>
          </a:p>
          <a:p>
            <a:pPr>
              <a:spcAft>
                <a:spcPts val="600"/>
              </a:spcAft>
            </a:pPr>
            <a:r>
              <a:rPr lang="en-US" dirty="0"/>
              <a:t>FEV1 通常先急降再穩定，之後的下滑多和感染有關，所以療效指標是穩定還是改善，至今仍有爭議。</a:t>
            </a:r>
          </a:p>
          <a:p>
            <a:pPr>
              <a:spcAft>
                <a:spcPts val="600"/>
              </a:spcAft>
            </a:pPr>
            <a:r>
              <a:rPr lang="en-US" dirty="0"/>
              <a:t>門診上通常是確診後就開始吸入型藥物，同時看肺外 cGVHD 的活性決定全身治療，至於全身治療的選擇，第 9 堂有完整的表。</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20:00 至 21:30]</a:t>
            </a:r>
          </a:p>
          <a:p>
            <a:pPr>
              <a:spcAft>
                <a:spcPts val="600"/>
              </a:spcAft>
            </a:pPr>
            <a:r>
              <a:rPr lang="en-US" dirty="0"/>
              <a:t>ILD 的三年累積發生率 5%。和 BOS 不同，ILD 的診斷靠影像，在排除感染之後看到肺實質浸潤。任何時間都可能發生，多數病人以喘來表現，四分之一是在加護病房才診斷。</a:t>
            </a:r>
          </a:p>
          <a:p>
            <a:pPr>
              <a:spcAft>
                <a:spcPts val="600"/>
              </a:spcAft>
            </a:pPr>
            <a:r>
              <a:rPr lang="en-US" dirty="0"/>
              <a:t>依 CT 分成三型，organizing pneumonia 37%，PPFE 13%，無法分類的 50%，後者包括 NSIP 等不同的病理診斷。</a:t>
            </a:r>
          </a:p>
          <a:p>
            <a:pPr>
              <a:spcAft>
                <a:spcPts val="600"/>
              </a:spcAft>
            </a:pPr>
            <a:r>
              <a:rPr lang="en-US" dirty="0"/>
              <a:t>臨床上要分兩群。OP 和無法分類型屬於發炎型，通常對 steroid 有反應，但減量時容易復發。PPFE 發炎很少，對包括 steroid 在內的免疫抑制都沒反應，而且常在移植多年後才出現。</a:t>
            </a:r>
          </a:p>
          <a:p>
            <a:pPr>
              <a:spcAft>
                <a:spcPts val="600"/>
              </a:spcAft>
            </a:pPr>
            <a:r>
              <a:rPr lang="en-US" dirty="0"/>
              <a:t>特有的危險因子是先前胸部放射治療，以及發病時沒有在用免疫抑制劑。完整 PFT 可以評估嚴重度，也能發現四分之一合併 BOS 的混合型。ILD 是否也算肺部 cGVHD，書上認為仍是開放的問題。</a:t>
            </a:r>
          </a:p>
          <a:p>
            <a:pPr>
              <a:spcAft>
                <a:spcPts val="600"/>
              </a:spcAft>
            </a:pPr>
            <a:r>
              <a:rPr lang="en-US" dirty="0"/>
              <a:t>病房上遇到 cGVHD 病人出現新的肺部浸潤，排除感染後，先看 CT 型態判斷是發炎型還是 PPFE，這會決定要不要給 steroid。PPFE 常在上肺葉，移植多年後慢慢出現。</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21:30 至 23:30]</a:t>
            </a:r>
          </a:p>
          <a:p>
            <a:pPr>
              <a:spcAft>
                <a:spcPts val="600"/>
              </a:spcAft>
            </a:pPr>
            <a:r>
              <a:rPr lang="en-US" dirty="0"/>
              <a:t>這張是第 52 章的 Table 52.3，把 BOS 和 ILD 並排比較，是整章最值得背的一張表。</a:t>
            </a:r>
          </a:p>
          <a:p>
            <a:pPr>
              <a:spcAft>
                <a:spcPts val="600"/>
              </a:spcAft>
            </a:pPr>
            <a:r>
              <a:rPr lang="en-US" dirty="0"/>
              <a:t>發病時間很接近，BOS 中位數 13 個月，ILD 15 個月，但 PPFE 可以在移植很多年後才出現。兩者都常合併肺外 cGVHD，BOS 超過 90%，ILD 超過 75%，PPFE 則不到一半。</a:t>
            </a:r>
          </a:p>
          <a:p>
            <a:pPr>
              <a:spcAft>
                <a:spcPts val="600"/>
              </a:spcAft>
            </a:pPr>
            <a:r>
              <a:rPr lang="en-US" dirty="0"/>
              <a:t>診斷依據剛好相反，BOS 靠 PFT，ILD 靠胸部影像。BOS 的 CT 是支氣管變化和 air trapping，沒有肺泡或間質浸潤；ILD 的 CT 就是肺泡或間質浸潤。</a:t>
            </a:r>
          </a:p>
          <a:p>
            <a:pPr>
              <a:spcAft>
                <a:spcPts val="600"/>
              </a:spcAft>
            </a:pPr>
            <a:r>
              <a:rPr lang="en-US" dirty="0"/>
              <a:t>PFT 上，BOS 是阻塞型，FEV1/FVC 小於 0.7、TLC 大於 80%。ILD 是正常或限制型，TLC 小於 80%、FEV1/FVC 大於 0.7，合併 BOS 時變成混合型，兩者 FEV1/FVC 都小於 0.7、TLC 小於 80%，DLCO 都下降。</a:t>
            </a:r>
          </a:p>
          <a:p>
            <a:pPr>
              <a:spcAft>
                <a:spcPts val="600"/>
              </a:spcAft>
            </a:pPr>
            <a:r>
              <a:rPr lang="en-US" dirty="0"/>
              <a:t>兩者的肺外 cGVHD 比例都很高，所以書上也提出疑問，ILD 是否其實是肺部 cGVHD 的另一種表現，目前還沒有定論。PPFE 是例外，肺外 cGVHD 不到一半，對免疫抑制也沒有反應。</a:t>
            </a:r>
          </a:p>
          <a:p>
            <a:pPr>
              <a:spcAft>
                <a:spcPts val="600"/>
              </a:spcAft>
            </a:pPr>
            <a:r>
              <a:rPr lang="en-US" dirty="0"/>
              <a:t>治療上 BOS 的選擇有限，ILD 通常對 steroid 有反應，PPFE 除外。長期存活其實相近，五年都在七成上下，但呼吸功能障礙和反覆感染很常見。考題給 PFT 數字和 CT 描述，用這張表就能判斷。</a:t>
            </a:r>
          </a:p>
          <a:p>
            <a:pPr>
              <a:spcAft>
                <a:spcPts val="600"/>
              </a:spcAft>
            </a:pPr>
            <a:r>
              <a:rPr lang="en-US" dirty="0"/>
              <a:t>實際判讀時，先看 FEV1/FVC 是否小於 0.7，再看 TLC 是否小於 80%，最後看 CT 有沒有實質浸潤。三個問題答完，BOS、ILD 或混合型就分得出來。</a:t>
            </a:r>
          </a:p>
          <a:p>
            <a:pPr>
              <a:spcAft>
                <a:spcPts val="600"/>
              </a:spcAft>
            </a:pPr>
            <a:r>
              <a:rPr lang="en-US" b="1" dirty="0"/>
              <a:t>講者提醒（不念出來）：</a:t>
            </a:r>
          </a:p>
          <a:p>
            <a:pPr>
              <a:spcAft>
                <a:spcPts val="600"/>
              </a:spcAft>
            </a:pPr>
            <a:r>
              <a:rPr lang="en-US" dirty="0"/>
              <a:t>- Table 52.2 gives BOS OS 65–79% at 2 years and 74% at 5 years; Table 52.3 gives 79% at 3 years. Both are from Ch. 52; quote each with its own time point.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23:30 至 24:15]</a:t>
            </a:r>
          </a:p>
          <a:p>
            <a:pPr>
              <a:spcAft>
                <a:spcPts val="600"/>
              </a:spcAft>
            </a:pPr>
            <a:r>
              <a:rPr lang="en-US" dirty="0"/>
              <a:t>第一題。42 歲男性，AML，接受 12 Gy TBI 的 MAC，HLA 不合的非親屬捐贈者，GVHD 預防含 MTX。Day 45、已經 engraft，出現發燒、乾咳、低血氧和多葉浸潤。心臟超音波、肌酸酐、體重都正常。第二天做的 BAL，細菌、病毒、黴菌和 Pneumocystis 都陰性，回收液也不帶血。</a:t>
            </a:r>
          </a:p>
          <a:p>
            <a:pPr>
              <a:spcAft>
                <a:spcPts val="600"/>
              </a:spcAft>
            </a:pPr>
            <a:r>
              <a:rPr lang="en-US" dirty="0"/>
              <a:t>選項是高劑量 steroid 加 aminocaproic acid、低劑量 steroid 加 etanercept、tocilizumab、吸入型 budesonide/formoterol，以及先做手術切片。</a:t>
            </a:r>
          </a:p>
          <a:p>
            <a:pPr>
              <a:spcAft>
                <a:spcPts val="600"/>
              </a:spcAft>
            </a:pPr>
            <a:r>
              <a:rPr lang="en-US" dirty="0"/>
              <a:t>題幹裡的危險因子很多，留意一下。</a:t>
            </a:r>
          </a:p>
          <a:p>
            <a:pPr>
              <a:spcAft>
                <a:spcPts val="600"/>
              </a:spcAft>
            </a:pPr>
            <a:r>
              <a:rPr lang="en-US" dirty="0"/>
              <a:t>請先確認 IPS 三項條件是否成立，再選治療。</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24:15 至 25:15]</a:t>
            </a:r>
          </a:p>
          <a:p>
            <a:pPr>
              <a:spcAft>
                <a:spcPts val="600"/>
              </a:spcAft>
            </a:pPr>
            <a:r>
              <a:rPr lang="en-US" dirty="0"/>
              <a:t>答案是 B。多葉浸潤加低血氧代表肺泡損傷，BAL 陰性排除感染，心臟、腎臟和水分都正常，IPS 三要件全部成立。TBI 12 Gy、MAC、HLA 不合和 MTX 都是危險因子。治療是 methylprednisolone 每天 2 mg/kg 以內，加 etanercept 0.4 mg/kg 一週兩次，最多 8 劑。</a:t>
            </a:r>
          </a:p>
          <a:p>
            <a:pPr>
              <a:spcAft>
                <a:spcPts val="600"/>
              </a:spcAft>
            </a:pPr>
            <a:r>
              <a:rPr lang="en-US" dirty="0"/>
              <a:t>A 是 DAH 的高劑量 steroid，這位病人 BAL 不帶血，而且 aminocaproic acid 的效果本來就令人失望。C 的 tocilizumab 只有動物實驗。D 是 BOS 的藥。E 也不對，書上不鼓勵切片，只保留給晚發、非侵入檢查無法診斷的病例。</a:t>
            </a:r>
          </a:p>
          <a:p>
            <a:pPr>
              <a:spcAft>
                <a:spcPts val="600"/>
              </a:spcAft>
            </a:pPr>
            <a:r>
              <a:rPr lang="en-US" dirty="0"/>
              <a:t>這題同時考了 IPS 和 DAH 的劑量差別，2 mg/kg 對比 250 到 500 mg 每六小時，考前一定要分清楚。</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25:15 至 26:00]</a:t>
            </a:r>
          </a:p>
          <a:p>
            <a:pPr>
              <a:spcAft>
                <a:spcPts val="600"/>
              </a:spcAft>
            </a:pPr>
            <a:r>
              <a:rPr lang="en-US" dirty="0"/>
              <a:t>第二題。30 歲女性，Cy/TBI 的 myeloablative allo 移植。Day 19、還沒 engraft，出現低血氧和瀰漫性浸潤，沒有咳血。三個 segmental bronchi 的 BAL 回收液一管比一管紅，含鐵血素巨噬細胞只有 5%，培養和 PCR 都陰性。</a:t>
            </a:r>
          </a:p>
          <a:p>
            <a:pPr>
              <a:spcAft>
                <a:spcPts val="600"/>
              </a:spcAft>
            </a:pPr>
            <a:r>
              <a:rPr lang="en-US" dirty="0"/>
              <a:t>選項 A 沒有咳血不支持診斷，B 巨噬細胞不到 20% 所以排除，C 多數死於出血本身，D auto 移植後預後較好，E 非感染型不屬於 IPS。哪一個正確。</a:t>
            </a:r>
          </a:p>
          <a:p>
            <a:pPr>
              <a:spcAft>
                <a:spcPts val="600"/>
              </a:spcAft>
            </a:pPr>
            <a:r>
              <a:rPr lang="en-US" dirty="0"/>
              <a:t>題幹的每個數字都有用意，請仔細看。</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26:00 至 27:00]</a:t>
            </a:r>
          </a:p>
          <a:p>
            <a:pPr>
              <a:spcAft>
                <a:spcPts val="600"/>
              </a:spcAft>
            </a:pPr>
            <a:r>
              <a:rPr lang="en-US" dirty="0"/>
              <a:t>正確的是 D。BAL 越洗越紅，就是 DAH，加上 TBI、高劑量 CY 和 engraftment 前這個時間點，都很典型。Auto 移植後的 DAH 預後比 allo 好。</a:t>
            </a:r>
          </a:p>
          <a:p>
            <a:pPr>
              <a:spcAft>
                <a:spcPts val="600"/>
              </a:spcAft>
            </a:pPr>
            <a:r>
              <a:rPr lang="en-US" dirty="0"/>
              <a:t>B 是最常見的錯誤，含鐵血素巨噬細胞可能要 72 小時才出現，沒看到不能排除。A 也錯，真正咳血很少見。C 錯在死因，直接死於出血的不到 15%，多數死於多重器官衰竭。E 剛好相反，非感染性 DAH 歸在 IPS 的大傘下。</a:t>
            </a:r>
          </a:p>
          <a:p>
            <a:pPr>
              <a:spcAft>
                <a:spcPts val="600"/>
              </a:spcAft>
            </a:pPr>
            <a:r>
              <a:rPr lang="en-US" dirty="0"/>
              <a:t>這題的病人在 engraftment 前、接受過 TBI 和 Cy，都是 DAH 的典型背景。臨床上有兩件事，診斷看 BAL 是否越洗越紅，預後要看是否演變成多重器官衰竭。</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27:00 至 27:45]</a:t>
            </a:r>
          </a:p>
          <a:p>
            <a:pPr>
              <a:spcAft>
                <a:spcPts val="600"/>
              </a:spcAft>
            </a:pPr>
            <a:r>
              <a:rPr lang="en-US" dirty="0"/>
              <a:t>第三題。48 歲女性，口腔和皮膚有 chronic GVHD，移植後 14 個月漸進性喘。FEV1/VC 0.62，FEV1 是預測值 58%，比基準掉了 25%，RV 140%，對支氣管擴張劑沒反應。CT 有 mosaic 和 air trapping，沒有實質浸潤，BAL 陰性。</a:t>
            </a:r>
          </a:p>
          <a:p>
            <a:pPr>
              <a:spcAft>
                <a:spcPts val="600"/>
              </a:spcAft>
            </a:pPr>
            <a:r>
              <a:rPr lang="en-US" dirty="0"/>
              <a:t>選項 A 需要肺切片，B 全身 steroid 很有效，C 吸入型 budesonide/formoterol 在 RCT 改善 FEV1，D 是 organizing pneumonia，E 早期 azithromycin 安全又降低癌症風險。先決定是 BOS 還是 ILD，再想治療證據。</a:t>
            </a:r>
          </a:p>
          <a:p>
            <a:pPr>
              <a:spcAft>
                <a:spcPts val="600"/>
              </a:spcAft>
            </a:pPr>
            <a:r>
              <a:rPr lang="en-US" dirty="0"/>
              <a:t>題幹的 PFT 數字要一個一個對照。</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27:45 至 28:45]</a:t>
            </a:r>
          </a:p>
          <a:p>
            <a:pPr>
              <a:spcAft>
                <a:spcPts val="600"/>
              </a:spcAft>
            </a:pPr>
            <a:r>
              <a:rPr lang="en-US" dirty="0"/>
              <a:t>選 C。FEV1/VC 小於 0.7、FEV1 小於 75% 且下降超過 10%、RV 大於 120%，加上其他部位有 cGVHD，符合 NIH 的 BOS。唯一有 double-blind RCT 證明能改善 FEV1 的就是吸入型 budesonide/formoterol。</a:t>
            </a:r>
          </a:p>
          <a:p>
            <a:pPr>
              <a:spcAft>
                <a:spcPts val="600"/>
              </a:spcAft>
            </a:pPr>
            <a:r>
              <a:rPr lang="en-US" dirty="0"/>
              <a:t>A 是最常見的錯誤，只有肺是唯一 cGVHD 器官時才需要切片，這位病人有口腔和皮膚 GVHD。B 錯，steroid 對 BOS 效果很差。D 的 organizing pneumonia 屬於 ILD，CT 會有實質浸潤。E 剛好相反，azithromycin 可能增加癌症風險，早期使用尤其要小心。</a:t>
            </a:r>
          </a:p>
          <a:p>
            <a:pPr>
              <a:spcAft>
                <a:spcPts val="600"/>
              </a:spcAft>
            </a:pPr>
            <a:r>
              <a:rPr lang="en-US" dirty="0"/>
              <a:t>這題考的是 BOS 和 ILD 的分辨，以及治療證據的強度。看到阻塞型 PFT、air trapping、沒有實質浸潤，就是 BOS。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dirty="0"/>
              <a:t>這是第 44 章的內容，第 9 堂已經講過。只要肺有輕度侵犯，整體至少是 moderate；肺是中度或重度，整體就是 severe。肺部侵犯也是 cGVHD 長期死亡的危險因子之一，abatacept 和 imatinib 在肺部 cGVHD 有一些資料。</a:t>
            </a:r>
          </a:p>
          <a:p>
            <a:pPr>
              <a:spcAft>
                <a:spcPts val="600"/>
              </a:spcAft>
            </a:pPr>
            <a:r>
              <a:rPr lang="en-US" b="1" dirty="0"/>
              <a:t>講者提醒（不念出來）：</a:t>
            </a:r>
          </a:p>
          <a:p>
            <a:pPr>
              <a:spcAft>
                <a:spcPts val="600"/>
              </a:spcAft>
            </a:pPr>
            <a:r>
              <a:rPr lang="en-US" dirty="0"/>
              <a:t>- Ch. 44 prints the number of involved organs as '&gt;3' for both moderate and severe; the organ-count row is left off this slide. Check Session 09 for the agreed wording.</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IPS 病人的 sTNFR1、IL-6、ST2 等會上升，其中 sTNFR1、IL-6 和 ST2 在症狀出現前就有預測力。Rowan 2022 的 panel 在 day 7 就能預測呼吸衰竭和死亡，但目前都還不是常規檢查。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目前的 BOS 標準大概只能抓到晚期病人，而且有些 FEV1/VC 正常的 BOS 不在 NIH 標準內。第 44 章另外提醒，兒童的呼吸肌無力、胸壁硬化和 TBI 後胸廓生長不良，會讓 PFT 呈現混合型。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Noninfectious pulmonary complications</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15 · Ch. 52</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PULMONARY COMPLICATIONS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Work-up first, then early and late syndromes, then three questions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Classification and diagnostic work-up</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ATS tissue-based classification, the six-step work-up, BAL yield</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3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Early: fluid overload, IPS, DAH</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IPS criteria, risk factors, steroids plus etanercept; DAH on BAL</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11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Late: BOS and ILD</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NIH criteria for BOS, inhaled therapy, ILD patterns, PFT versus CT</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8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Board-style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IPS, DAH and BOS vignettes</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CLASSIFICATION · ATS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Noninfectious lung injury is classified by the tissue primarily injured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18104"/>
                <a:gridCol w="7699248"/>
              </a:tblGrid>
              <a:tr h="0">
                <a:tc>
                  <a:txBody>
                    <a:bodyPr/>
                    <a:lstStyle/>
                    <a:p>
                      <a:pPr indent="0" marL="0">
                        <a:buNone/>
                      </a:pPr>
                      <a:r>
                        <a:rPr lang="en-US" sz="1600" b="1" dirty="0">
                          <a:solidFill>
                            <a:schemeClr val="tx1"/>
                          </a:solidFill>
                        </a:rPr>
                        <a:t>Tissue injured</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Entities (* = counts as IPS if early after HCT)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Pulmonary parenchyma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Acute interstitial pneumonitis*, ARDS*, delayed toxicity*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Parenchyma (cont.)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BCNU and radiation pneumonitis, eosinophilic pneumonia,</a:t>
                      </a:r>
                      <a:endParaRPr lang="en-US" sz="1600" dirty="0"/>
                    </a:p>
                    <a:p>
                      <a:pPr indent="0" marL="0">
                        <a:buNone/>
                      </a:pPr>
                      <a:r>
                        <a:rPr lang="en-US" sz="1600" dirty="0">
                          <a:solidFill>
                            <a:schemeClr val="tx1"/>
                          </a:solidFill>
                        </a:rPr>
                        <a:t>alveolar proteinosis, PTLD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Vascular endothelium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PERDS*, capillary leak syndrome*, DAH*, pulmonary VOD, TRALI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Endothelium (cont.)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Pulmonary cytolytic syndrome, PAH, thromboembolism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Airway epithelium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ILD incl. COP (formerly BOOP)*; BOS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Not in the ATS list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Pulmonary oedema from fluid overload: the most frequent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1"/>
          <p:cNvSpPr txBox="1"/>
          <p:nvPr/>
        </p:nvSpPr>
        <p:spPr>
          <a:xfrm>
            <a:off x="685800" y="52578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Pulmonary dysfunction affects 25–55% of recipients; noninfectious lung injury causes up to 50% of noninfectious mortality after allo-HCT.</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WORK-UP · SEQUENCE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Early bronchoscopy with BAL is the core of the lung work-up</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sp>
        <p:nvSpPr>
          <p:cNvPr id="6" name="Box 22"/>
          <p:cNvSpPr txBox="1"/>
          <p:nvPr/>
        </p:nvSpPr>
        <p:spPr>
          <a:xfrm>
            <a:off x="685800"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SpO₂; hall walk if late onset</a:t>
            </a:r>
            <a:endParaRPr lang="en-US" sz="1500" dirty="0"/>
          </a:p>
        </p:txBody>
      </p:sp>
      <p:sp>
        <p:nvSpPr>
          <p:cNvPr id="7" name="Shape 4"/>
          <p:cNvSpPr/>
          <p:nvPr/>
        </p:nvSpPr>
        <p:spPr>
          <a:xfrm>
            <a:off x="2501798" y="3474720"/>
            <a:ext cx="393192" cy="0"/>
          </a:xfrm>
          <a:prstGeom prst="line">
            <a:avLst/>
          </a:prstGeom>
          <a:noFill/>
          <a:ln w="15875">
            <a:solidFill>
              <a:schemeClr val="tx1"/>
            </a:solidFill>
            <a:prstDash val="solid"/>
            <a:tailEnd type="triangle"/>
          </a:ln>
        </p:spPr>
      </p:sp>
      <p:sp>
        <p:nvSpPr>
          <p:cNvPr id="8" name="Box 23"/>
          <p:cNvSpPr txBox="1"/>
          <p:nvPr/>
        </p:nvSpPr>
        <p:spPr>
          <a:xfrm>
            <a:off x="2949854"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CT; expiratory cuts if late</a:t>
            </a:r>
            <a:endParaRPr lang="en-US" sz="1500" dirty="0"/>
          </a:p>
        </p:txBody>
      </p:sp>
      <p:sp>
        <p:nvSpPr>
          <p:cNvPr id="9" name="Shape 6"/>
          <p:cNvSpPr/>
          <p:nvPr/>
        </p:nvSpPr>
        <p:spPr>
          <a:xfrm>
            <a:off x="4765853" y="3474720"/>
            <a:ext cx="393192" cy="0"/>
          </a:xfrm>
          <a:prstGeom prst="line">
            <a:avLst/>
          </a:prstGeom>
          <a:noFill/>
          <a:ln w="15875">
            <a:solidFill>
              <a:schemeClr val="tx1"/>
            </a:solidFill>
            <a:prstDash val="solid"/>
            <a:tailEnd type="triangle"/>
          </a:ln>
        </p:spPr>
      </p:sp>
      <p:sp>
        <p:nvSpPr>
          <p:cNvPr id="10" name="Box 24"/>
          <p:cNvSpPr txBox="1"/>
          <p:nvPr/>
        </p:nvSpPr>
        <p:spPr>
          <a:xfrm>
            <a:off x="5213909"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Full PFTs for late onset</a:t>
            </a:r>
            <a:endParaRPr lang="en-US" sz="1500" dirty="0"/>
          </a:p>
        </p:txBody>
      </p:sp>
      <p:sp>
        <p:nvSpPr>
          <p:cNvPr id="11" name="Shape 8"/>
          <p:cNvSpPr/>
          <p:nvPr/>
        </p:nvSpPr>
        <p:spPr>
          <a:xfrm>
            <a:off x="7029907" y="3474720"/>
            <a:ext cx="393192" cy="0"/>
          </a:xfrm>
          <a:prstGeom prst="line">
            <a:avLst/>
          </a:prstGeom>
          <a:noFill/>
          <a:ln w="15875">
            <a:solidFill>
              <a:schemeClr val="tx1"/>
            </a:solidFill>
            <a:prstDash val="solid"/>
            <a:tailEnd type="triangle"/>
          </a:ln>
        </p:spPr>
      </p:sp>
      <p:sp>
        <p:nvSpPr>
          <p:cNvPr id="12" name="Box 25"/>
          <p:cNvSpPr txBox="1"/>
          <p:nvPr/>
        </p:nvSpPr>
        <p:spPr>
          <a:xfrm>
            <a:off x="7477963"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Blood, swabs, GM, β-D-glucan</a:t>
            </a:r>
            <a:endParaRPr lang="en-US" sz="1500" dirty="0"/>
          </a:p>
        </p:txBody>
      </p:sp>
      <p:sp>
        <p:nvSpPr>
          <p:cNvPr id="13" name="Shape 10"/>
          <p:cNvSpPr/>
          <p:nvPr/>
        </p:nvSpPr>
        <p:spPr>
          <a:xfrm>
            <a:off x="9293962" y="3474720"/>
            <a:ext cx="393192" cy="0"/>
          </a:xfrm>
          <a:prstGeom prst="line">
            <a:avLst/>
          </a:prstGeom>
          <a:noFill/>
          <a:ln w="15875">
            <a:solidFill>
              <a:schemeClr val="tx1"/>
            </a:solidFill>
            <a:prstDash val="solid"/>
            <a:tailEnd type="triangle"/>
          </a:ln>
        </p:spPr>
      </p:sp>
      <p:sp>
        <p:nvSpPr>
          <p:cNvPr id="14" name="Box 26"/>
          <p:cNvSpPr txBox="1"/>
          <p:nvPr/>
        </p:nvSpPr>
        <p:spPr>
          <a:xfrm>
            <a:off x="9742018" y="2606040"/>
            <a:ext cx="1761134"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dirty="0">
                <a:solidFill>
                  <a:schemeClr val="bg1"/>
                </a:solidFill>
              </a:rPr>
              <a:t>FOB/BAL early (&lt; 5 days)</a:t>
            </a:r>
            <a:endParaRPr lang="en-US" sz="1500" dirty="0"/>
          </a:p>
        </p:txBody>
      </p:sp>
      <p:sp>
        <p:nvSpPr>
          <p:cNvPr id="15" name="Text 27"/>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BAL gives an etiological diagnosis in up to 78% and finds a pathogen in ~50% of suspected IPS; FOB complications &lt; 5%. Biopsy (VATS over transbronchial) only in selected late cases. Echo if cardiac doubt.</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EARLY · FLUID OVERLOAD</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Fluid overload is the most frequent early cause of lung infiltrates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graphicFrame>
        <p:nvGraphicFramePr>
          <p:cNvPr id="6" name="Table 2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935224"/>
                <a:gridCol w="7882128"/>
              </a:tblGrid>
              <a:tr h="0">
                <a:tc>
                  <a:txBody>
                    <a:bodyPr/>
                    <a:lstStyle/>
                    <a:p>
                      <a:pPr indent="0" marL="0">
                        <a:buNone/>
                      </a:pPr>
                      <a:r>
                        <a:rPr lang="en-US" sz="1700" b="1" dirty="0">
                          <a:solidFill>
                            <a:schemeClr val="tx1"/>
                          </a:solidFill>
                        </a:rPr>
                        <a:t>Feature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Pulmonary oedema from fluid overload</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Incidence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Fluid overload in up to 60% early; oedema probably &gt; 20%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Symptoms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Weight gain, dyspnoea, dry cough, moderate hypoxaemia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Signs and imaging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Bibasal crackles; diffuse alveolar or interstitial infiltrates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Diagnosis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Weight gain + larger cardiothoracic index + crackles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Differential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Heart failure (anthracycline, CY), SOS, CLS, ES, IPS, TRALI</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Treatment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Fluid restriction and diuretics to restore euvolaemia</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IPS · DIAGNOSIS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IPS requires alveolar injury, a negative BAL and no cardiorenal cause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graphicFrame>
        <p:nvGraphicFramePr>
          <p:cNvPr id="7" name="Table 2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575304"/>
                <a:gridCol w="7242048"/>
              </a:tblGrid>
              <a:tr h="0">
                <a:tc>
                  <a:txBody>
                    <a:bodyPr/>
                    <a:lstStyle/>
                    <a:p>
                      <a:pPr indent="0" marL="0">
                        <a:buNone/>
                      </a:pPr>
                      <a:r>
                        <a:rPr lang="en-US" sz="1600" b="1" dirty="0">
                          <a:solidFill>
                            <a:schemeClr val="tx1"/>
                          </a:solidFill>
                        </a:rPr>
                        <a:t>All three required</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Elements (Ch. 52)</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1. Widespread alveolar injury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Multilobar infiltrates on chest radiograph or 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Cough, dyspnoea, tachypnoea, crackles or rales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A–a O₂ gradient or O₂ need; new restrictive PFT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2. No lower-tract infection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BAL negative for bacteria incl. AFB, Nocardia, Legionella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Cultures, CMV shell vial, viral PCR, cytology for PJ</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Consider hMPV, HHV-6, Mycoplasma PCR; GM, β-D-glucan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3. No other cause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cardiac dysfunction, acute renal failure or fluid overload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0"/>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Onset classically ≤ day 120 (as early as day 21, as late as day 180): fever, dry cough, dyspnoea, hypoxaemia, diffuse infiltrates.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IPS · INCIDENCE AND RISK</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IPS now affects &lt; 10% of allo-HCT, mostly after TBI-based MAC</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graphicFrame>
        <p:nvGraphicFramePr>
          <p:cNvPr id="8" name="Table 3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300984"/>
                <a:gridCol w="7516368"/>
              </a:tblGrid>
              <a:tr h="0">
                <a:tc>
                  <a:txBody>
                    <a:bodyPr/>
                    <a:lstStyle/>
                    <a:p>
                      <a:pPr indent="0" marL="0">
                        <a:buNone/>
                      </a:pPr>
                      <a:r>
                        <a:rPr lang="en-US" sz="1700" b="1" dirty="0">
                          <a:solidFill>
                            <a:schemeClr val="tx1"/>
                          </a:solidFill>
                        </a:rPr>
                        <a:t>Item</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Ch. 52</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Incidence, past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~25%</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Incidence, now</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&lt; 10% of allo-HCT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By conditioning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7% after MAC with TBI ≥ 12 Gy; 2% after RIC in adults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Why it fell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Strict definition, more RIC, better pathogen detection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Host risk factors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Older age, KPS &lt; 90, long interval diagnosis–HCT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Transplant risk factors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MAC or TBI ≥ 12 Gy, HLA disparity, MTX prophylaxis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Other risk factors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Acute GVHD, prior viral infection, non-leukaemia malignancy</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2"/>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Mechanism: cellular and soluble inflammatory effectors recruit immune cells to the lung via TNF-α/LPS and IL-6/IL-17 pathways.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IPS · TREATMENT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IPS treatment targets TNF-α with steroids plus etanercept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sp>
        <p:nvSpPr>
          <p:cNvPr id="6" name="Box 33"/>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IPS: BAL negative, no cardiac, renal or fluid cause</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34"/>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Everyone</a:t>
            </a:r>
            <a:endParaRPr lang="en-US" sz="1400" dirty="0"/>
          </a:p>
        </p:txBody>
      </p:sp>
      <p:sp>
        <p:nvSpPr>
          <p:cNvPr id="11" name="Box 35"/>
          <p:cNvSpPr txBox="1"/>
          <p:nvPr/>
        </p:nvSpPr>
        <p:spPr>
          <a:xfrm>
            <a:off x="685800"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O₂, HFNO/CPAP or ventilation</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36"/>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Empiric antimicrobials; strict fluid balance</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37"/>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TNF-α pathway</a:t>
            </a:r>
            <a:endParaRPr lang="en-US" sz="1400" dirty="0"/>
          </a:p>
        </p:txBody>
      </p:sp>
      <p:sp>
        <p:nvSpPr>
          <p:cNvPr id="16" name="Box 38"/>
          <p:cNvSpPr txBox="1"/>
          <p:nvPr/>
        </p:nvSpPr>
        <p:spPr>
          <a:xfrm>
            <a:off x="3481578"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Methylprednisolone ≤ 2 mg/kg/day</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39"/>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 etanercept 0.4 mg/kg 2×/wk, ≤ 8 doses</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40"/>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IL-6/IL-17 pathway</a:t>
            </a:r>
            <a:endParaRPr lang="en-US" sz="1400" dirty="0"/>
          </a:p>
        </p:txBody>
      </p:sp>
      <p:sp>
        <p:nvSpPr>
          <p:cNvPr id="21" name="Box 41"/>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Tocilizumab, brodalumab</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42"/>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Investigational (experimental IPS)</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43"/>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Endothelium</a:t>
            </a:r>
            <a:endParaRPr lang="en-US" sz="1400" dirty="0"/>
          </a:p>
        </p:txBody>
      </p:sp>
      <p:sp>
        <p:nvSpPr>
          <p:cNvPr id="26" name="Box 44"/>
          <p:cNvSpPr txBox="1"/>
          <p:nvPr/>
        </p:nvSpPr>
        <p:spPr>
          <a:xfrm>
            <a:off x="9073134"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Endothelial protection</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45"/>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Investigational (Klein 2023)</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IPS · EVIDENCE FOR ETANERCEPT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Etanercept works in children; the adult RCT was under-accrued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graphicFrame>
        <p:nvGraphicFramePr>
          <p:cNvPr id="10" name="Table 4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569464"/>
                <a:gridCol w="4032504"/>
                <a:gridCol w="4215384"/>
              </a:tblGrid>
              <a:tr h="0">
                <a:tc>
                  <a:txBody>
                    <a:bodyPr/>
                    <a:lstStyle/>
                    <a:p>
                      <a:pPr indent="0" marL="0">
                        <a:buNone/>
                      </a:pPr>
                      <a:r>
                        <a:rPr lang="en-US" sz="1600" b="1" dirty="0">
                          <a:solidFill>
                            <a:schemeClr val="tx1"/>
                          </a:solidFill>
                        </a:rPr>
                        <a:t>Study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Setting</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Result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Yanik 2015</a:t>
                      </a:r>
                      <a:endParaRPr lang="en-US" sz="1600" dirty="0"/>
                    </a:p>
                    <a:p>
                      <a:pPr indent="0" marL="0">
                        <a:buNone/>
                      </a:pPr>
                      <a:r>
                        <a:rPr lang="en-US" sz="1600" dirty="0">
                          <a:solidFill>
                            <a:schemeClr val="tx1"/>
                          </a:solidFill>
                        </a:rPr>
                        <a:t>(ASCT0521)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Children, phase II,</a:t>
                      </a:r>
                      <a:endParaRPr lang="en-US" sz="1600" dirty="0"/>
                    </a:p>
                    <a:p>
                      <a:pPr indent="0" marL="0">
                        <a:buNone/>
                      </a:pPr>
                      <a:r>
                        <a:rPr lang="en-US" sz="1600" dirty="0">
                          <a:solidFill>
                            <a:schemeClr val="tx1"/>
                          </a:solidFill>
                        </a:rPr>
                        <a:t>etanercept + steroids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CR 71%; 1-year survival 63%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Thompson 2017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Late-onset IPS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CR 42%; 2-year survival 62%</a:t>
                      </a:r>
                      <a:endParaRPr lang="en-US" sz="1600" dirty="0"/>
                    </a:p>
                    <a:p>
                      <a:pPr indent="0" marL="0">
                        <a:buNone/>
                      </a:pPr>
                      <a:r>
                        <a:rPr lang="en-US" sz="1600" dirty="0">
                          <a:solidFill>
                            <a:schemeClr val="tx1"/>
                          </a:solidFill>
                        </a:rPr>
                        <a:t>in responders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Yanik 2014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Adults, RCT: steroids ±</a:t>
                      </a:r>
                      <a:endParaRPr lang="en-US" sz="1600" dirty="0"/>
                    </a:p>
                    <a:p>
                      <a:pPr indent="0" marL="0">
                        <a:buNone/>
                      </a:pPr>
                      <a:r>
                        <a:rPr lang="en-US" sz="1600" dirty="0">
                          <a:solidFill>
                            <a:schemeClr val="tx1"/>
                          </a:solidFill>
                        </a:rPr>
                        <a:t>etanercept vs placebo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Stopped for slow accrual;</a:t>
                      </a:r>
                      <a:endParaRPr lang="en-US" sz="1600" dirty="0"/>
                    </a:p>
                    <a:p>
                      <a:pPr indent="0" marL="0">
                        <a:buNone/>
                      </a:pPr>
                      <a:r>
                        <a:rPr lang="en-US" sz="1600" dirty="0">
                          <a:solidFill>
                            <a:schemeClr val="tx1"/>
                          </a:solidFill>
                        </a:rPr>
                        <a:t>day-28 response ≈60% in both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Varelias 2015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Experimental IPS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IL-6 highest when TNF</a:t>
                      </a:r>
                      <a:endParaRPr lang="en-US" sz="1600" dirty="0"/>
                    </a:p>
                    <a:p>
                      <a:pPr indent="0" marL="0">
                        <a:buNone/>
                      </a:pPr>
                      <a:r>
                        <a:rPr lang="en-US" sz="1600" dirty="0">
                          <a:solidFill>
                            <a:schemeClr val="tx1"/>
                          </a:solidFill>
                        </a:rPr>
                        <a:t>blockade fails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Wenger 2020</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Adults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IPS mortality remains high</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7"/>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“Lack of evidence in this under-accrued trial does not equate to lack of effectiveness” (Ch. 52).</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DAH · DIAGNOSIS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DAH is diagnosed by progressively bloodier BAL aliquots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graphicFrame>
        <p:nvGraphicFramePr>
          <p:cNvPr id="11" name="Table 4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8065008"/>
              </a:tblGrid>
              <a:tr h="0">
                <a:tc>
                  <a:txBody>
                    <a:bodyPr/>
                    <a:lstStyle/>
                    <a:p>
                      <a:pPr indent="0" marL="0">
                        <a:buNone/>
                      </a:pPr>
                      <a:r>
                        <a:rPr lang="en-US" sz="1600" b="1" dirty="0">
                          <a:solidFill>
                            <a:schemeClr val="tx1"/>
                          </a:solidFill>
                        </a:rPr>
                        <a:t>Feature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Diffuse alveolar haemorrhage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Incidence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2–14% of recipients; noninfectious or infectious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Mechanism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Damage to the alveolar capillary basement membrane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Timing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Median day 23, often pre-engraftment; later in up to 42%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Clinical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As for any IPS; frank haemoptysis is rare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Progressively bloodier return in ≥ 3 segmental bronchi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Supporting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20% haemosiderin-laden macrophages (may take 72 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Risk factors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TBI and high-dose cyclophosphamide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vs classic IPS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IPS: after engraftment, allo-HCT, less steroid-responsive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DAH · TREATMENT AND PROGNOSIS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High-dose steroids remain standard for DAH despite poor results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graphicFrame>
        <p:nvGraphicFramePr>
          <p:cNvPr id="12" name="Table 4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935224"/>
                <a:gridCol w="7882128"/>
              </a:tblGrid>
              <a:tr h="0">
                <a:tc>
                  <a:txBody>
                    <a:bodyPr/>
                    <a:lstStyle/>
                    <a:p>
                      <a:pPr indent="0" marL="0">
                        <a:buNone/>
                      </a:pPr>
                      <a:r>
                        <a:rPr lang="en-US" sz="1700" b="1" dirty="0">
                          <a:solidFill>
                            <a:schemeClr val="tx1"/>
                          </a:solidFill>
                        </a:rPr>
                        <a:t>Item</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Ch. 52</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Steroids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Methylprednisolone 250–500 mg q6h × 5 days, then taper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Aminocaproic acid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Added in Rathi 2015; overall response still disappointing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Factor VIIa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With high-dose steroids: benefit in some, not all studies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Mortality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Up to 85% by day 100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Cause of death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&lt; 15% from bleeding itself; evolution to MOF dominates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Auto vs allo</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MOF mortality ~30% vs ~70%; better prognosis after auto-HCT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0"/>
          <p:cNvSpPr txBox="1"/>
          <p:nvPr/>
        </p:nvSpPr>
        <p:spPr>
          <a:xfrm>
            <a:off x="685800" y="512064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In Rathi 2015, two-thirds of DAH cases were noninfectious (IPS-type), and TNF-α inhibition was not used.</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LATE · BOS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BOS is the lung manifestation of chronic 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graphicFrame>
        <p:nvGraphicFramePr>
          <p:cNvPr id="13" name="Table 5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935224"/>
                <a:gridCol w="7882128"/>
              </a:tblGrid>
              <a:tr h="0">
                <a:tc>
                  <a:txBody>
                    <a:bodyPr/>
                    <a:lstStyle/>
                    <a:p>
                      <a:pPr indent="0" marL="0">
                        <a:buNone/>
                      </a:pPr>
                      <a:r>
                        <a:rPr lang="en-US" sz="1600" b="1" dirty="0">
                          <a:solidFill>
                            <a:schemeClr val="tx1"/>
                          </a:solidFill>
                        </a:rPr>
                        <a:t>Item</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BOS (Table 52.2)</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Risk factors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Extrathoracic cGVHD, respiratory viruses, falling lung function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Onset, incidence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6–24 months after HCT; 3–11%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Symptoms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Dyspnoea, dry cough, wheeze; may be asymptomatic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cGVHD elsewhere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Present in &gt; 90%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PFT screening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Pre-HCT baseline, then every 3 months in year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Mosaic, bronchiectasis, wall thickening, expiratory air trapping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Survival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65–79% at 2 years, 74% at 5 years; worse if early onset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2"/>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Closer spirometry with extrathoracic GVHD and after respiratory viral infection. Bronchial abnormalities on CT at 3 months predict BOS.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BOS · NIH DIAGNOSIS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NIH criteria diagnose BOS from PFTs; biopsy only if lung is sole site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sp>
        <p:nvSpPr>
          <p:cNvPr id="6" name="Box 53"/>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New obstruction, no bronchodilator response, no infection</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54"/>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PFT thresholds</a:t>
            </a:r>
            <a:endParaRPr lang="en-US" sz="1400" dirty="0"/>
          </a:p>
        </p:txBody>
      </p:sp>
      <p:sp>
        <p:nvSpPr>
          <p:cNvPr id="11" name="Box 55"/>
          <p:cNvSpPr txBox="1"/>
          <p:nvPr/>
        </p:nvSpPr>
        <p:spPr>
          <a:xfrm>
            <a:off x="685800"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FEV1/VC &lt; 0.7 or &lt; 5th percentile</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56"/>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FEV1 &lt; 75% with ≥ 10% fall; RV &gt; 120%</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57"/>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cGVHD elsewhere</a:t>
            </a:r>
            <a:endParaRPr lang="en-US" sz="1400" dirty="0"/>
          </a:p>
        </p:txBody>
      </p:sp>
      <p:sp>
        <p:nvSpPr>
          <p:cNvPr id="16" name="Box 58"/>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PFTs alone suffice (NIH 2014)</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59"/>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BOS; biopsy not required</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60"/>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Lung is only site</a:t>
            </a:r>
            <a:endParaRPr lang="en-US" sz="1400" dirty="0"/>
          </a:p>
        </p:txBody>
      </p:sp>
      <p:sp>
        <p:nvSpPr>
          <p:cNvPr id="21" name="Box 61"/>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Biopsy needed (VATS)</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62"/>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Histology: constrictive bronchiolitis (BO)</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63"/>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CT at diagnosis</a:t>
            </a:r>
            <a:endParaRPr lang="en-US" sz="1400" dirty="0"/>
          </a:p>
        </p:txBody>
      </p:sp>
      <p:sp>
        <p:nvSpPr>
          <p:cNvPr id="26" name="Box 64"/>
          <p:cNvSpPr txBox="1"/>
          <p:nvPr/>
        </p:nvSpPr>
        <p:spPr>
          <a:xfrm>
            <a:off x="9073134"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Required to exclude alternatives</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65"/>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Opacities: other or added diagnosis</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BOS · TREATMENT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Only inhaled budesonide/formoterol improved FEV1 in a randomized trial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graphicFrame>
        <p:nvGraphicFramePr>
          <p:cNvPr id="15" name="Table 6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660904"/>
                <a:gridCol w="3941064"/>
                <a:gridCol w="4215384"/>
              </a:tblGrid>
              <a:tr h="0">
                <a:tc>
                  <a:txBody>
                    <a:bodyPr/>
                    <a:lstStyle/>
                    <a:p>
                      <a:pPr indent="0" marL="0">
                        <a:buNone/>
                      </a:pPr>
                      <a:r>
                        <a:rPr lang="en-US" sz="1500" b="1" dirty="0">
                          <a:solidFill>
                            <a:schemeClr val="tx1"/>
                          </a:solidFill>
                        </a:rPr>
                        <a:t>Option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Evidence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Comment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Budesonide/</a:t>
                      </a:r>
                      <a:endParaRPr lang="en-US" sz="1500" dirty="0"/>
                    </a:p>
                    <a:p>
                      <a:pPr indent="0" marL="0">
                        <a:buNone/>
                      </a:pPr>
                      <a:r>
                        <a:rPr lang="en-US" sz="1500" dirty="0">
                          <a:solidFill>
                            <a:schemeClr val="tx1"/>
                          </a:solidFill>
                        </a:rPr>
                        <a:t>formoterol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Double-blind placebo RCT</a:t>
                      </a:r>
                      <a:endParaRPr lang="en-US" sz="1500" dirty="0"/>
                    </a:p>
                    <a:p>
                      <a:pPr indent="0" marL="0">
                        <a:buNone/>
                      </a:pPr>
                      <a:r>
                        <a:rPr lang="en-US" sz="1500" dirty="0">
                          <a:solidFill>
                            <a:schemeClr val="tx1"/>
                          </a:solidFill>
                        </a:rPr>
                        <a:t>(Bergeron 2015)</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Improved FEV1 in new-onset</a:t>
                      </a:r>
                      <a:endParaRPr lang="en-US" sz="1500" dirty="0"/>
                    </a:p>
                    <a:p>
                      <a:pPr indent="0" marL="0">
                        <a:buNone/>
                      </a:pPr>
                      <a:r>
                        <a:rPr lang="en-US" sz="1500" dirty="0">
                          <a:solidFill>
                            <a:schemeClr val="tx1"/>
                          </a:solidFill>
                        </a:rPr>
                        <a:t>moderate–severe BOS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FAM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Open-label single arm</a:t>
                      </a:r>
                      <a:endParaRPr lang="en-US" sz="1500" dirty="0"/>
                    </a:p>
                    <a:p>
                      <a:pPr indent="0" marL="0">
                        <a:buNone/>
                      </a:pPr>
                      <a:r>
                        <a:rPr lang="en-US" sz="1500" dirty="0">
                          <a:solidFill>
                            <a:schemeClr val="tx1"/>
                          </a:solidFill>
                        </a:rPr>
                        <a:t>(Williams 2016)</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Fluticasone, azithromycin,</a:t>
                      </a:r>
                      <a:endParaRPr lang="en-US" sz="1500" dirty="0"/>
                    </a:p>
                    <a:p>
                      <a:pPr indent="0" marL="0">
                        <a:buNone/>
                      </a:pPr>
                      <a:r>
                        <a:rPr lang="en-US" sz="1500" dirty="0">
                          <a:solidFill>
                            <a:schemeClr val="tx1"/>
                          </a:solidFill>
                        </a:rPr>
                        <a:t>montelukast: FEV1 stable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Azithromycin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ALLOZITHRO 2017;</a:t>
                      </a:r>
                      <a:endParaRPr lang="en-US" sz="1500" dirty="0"/>
                    </a:p>
                    <a:p>
                      <a:pPr indent="0" marL="0">
                        <a:buNone/>
                      </a:pPr>
                      <a:r>
                        <a:rPr lang="en-US" sz="1500" dirty="0">
                          <a:solidFill>
                            <a:schemeClr val="tx1"/>
                          </a:solidFill>
                        </a:rPr>
                        <a:t>Cheng 2020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Possible ↑ cancer risk,</a:t>
                      </a:r>
                      <a:endParaRPr lang="en-US" sz="1500" dirty="0"/>
                    </a:p>
                    <a:p>
                      <a:pPr indent="0" marL="0">
                        <a:buNone/>
                      </a:pPr>
                      <a:r>
                        <a:rPr lang="en-US" sz="1500" dirty="0">
                          <a:solidFill>
                            <a:schemeClr val="tx1"/>
                          </a:solidFill>
                        </a:rPr>
                        <a:t>especially early after 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Systemic steroids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Low efficacy in BOS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Weigh benefit and risk first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Lung transplant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Pan-European series</a:t>
                      </a:r>
                      <a:endParaRPr lang="en-US" sz="1500" dirty="0"/>
                    </a:p>
                    <a:p>
                      <a:pPr indent="0" marL="0">
                        <a:buNone/>
                      </a:pPr>
                      <a:r>
                        <a:rPr lang="en-US" sz="1500" dirty="0">
                          <a:solidFill>
                            <a:schemeClr val="tx1"/>
                          </a:solidFill>
                        </a:rPr>
                        <a:t>(Greer 2018)</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End stage, GVHD inactive,</a:t>
                      </a:r>
                      <a:endParaRPr lang="en-US" sz="1500" dirty="0"/>
                    </a:p>
                    <a:p>
                      <a:pPr indent="0" marL="0">
                        <a:buNone/>
                      </a:pPr>
                      <a:r>
                        <a:rPr lang="en-US" sz="1500" dirty="0">
                          <a:solidFill>
                            <a:schemeClr val="tx1"/>
                          </a:solidFill>
                        </a:rPr>
                        <a:t>very low relapse risk</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Supportive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Rehab, reflux, prophylaxis,</a:t>
                      </a:r>
                      <a:endParaRPr lang="en-US" sz="1500" dirty="0"/>
                    </a:p>
                    <a:p>
                      <a:pPr indent="0" marL="0">
                        <a:buNone/>
                      </a:pPr>
                      <a:r>
                        <a:rPr lang="en-US" sz="1500" dirty="0">
                          <a:solidFill>
                            <a:schemeClr val="tx1"/>
                          </a:solidFill>
                        </a:rPr>
                        <a:t>vaccines, IVIg if needed</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LATE · ILD</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ILD is diagnosed by CT; PPFE is the steroid-resistant pattern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graphicFrame>
        <p:nvGraphicFramePr>
          <p:cNvPr id="16" name="Table 6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666744"/>
                <a:gridCol w="1463040"/>
                <a:gridCol w="5687568"/>
              </a:tblGrid>
              <a:tr h="0">
                <a:tc>
                  <a:txBody>
                    <a:bodyPr/>
                    <a:lstStyle/>
                    <a:p>
                      <a:pPr indent="0" marL="0">
                        <a:buNone/>
                      </a:pPr>
                      <a:r>
                        <a:rPr lang="en-US" sz="1600" b="1" dirty="0">
                          <a:solidFill>
                            <a:schemeClr val="tx1"/>
                          </a:solidFill>
                        </a:rPr>
                        <a:t>Item</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Value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Comment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3-year incidence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Any time after HCT; mostly dyspnoea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Organizing pneumonia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Inflammatory; usually steroid-sensitive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Undetermined (incl. NSIP)</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Inflammatory; usually steroid-sensitive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PPFE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Years after HCT; no response to</a:t>
                      </a:r>
                      <a:endParaRPr lang="en-US" sz="1600" dirty="0"/>
                    </a:p>
                    <a:p>
                      <a:pPr indent="0" marL="0">
                        <a:buNone/>
                      </a:pPr>
                      <a:r>
                        <a:rPr lang="en-US" sz="1600" dirty="0">
                          <a:solidFill>
                            <a:schemeClr val="tx1"/>
                          </a:solidFill>
                        </a:rPr>
                        <a:t>immunosuppression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Diagnosed in ICU</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Acute, subacute or chronic onset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Combined with BOS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Mixed defect on full PFTs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Risk factors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Prior thoracic irradiation;</a:t>
                      </a:r>
                      <a:endParaRPr lang="en-US" sz="1600" dirty="0"/>
                    </a:p>
                    <a:p>
                      <a:pPr indent="0" marL="0">
                        <a:buNone/>
                      </a:pPr>
                      <a:r>
                        <a:rPr lang="en-US" sz="1600" dirty="0">
                          <a:solidFill>
                            <a:schemeClr val="tx1"/>
                          </a:solidFill>
                        </a:rPr>
                        <a:t>no IS at ILD onset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LATE · BOS VS ILD</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BOS is diagnosed by PFTs and ILD by 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graphicFrame>
        <p:nvGraphicFramePr>
          <p:cNvPr id="17" name="Table 68"/>
          <p:cNvGraphicFramePr>
            <a:graphicFrameLocks noGrp="1"/>
          </p:cNvGraphicFramePr>
          <p:nvPr>
            <p:extLst>
              <p:ext uri="{D42A27DB-BD31-4B8C-83A1-F6EECF244321}">
                <p14:modId xmlns:p14="http://schemas.microsoft.com/office/powerpoint/2010/main" val="1579011935"/>
              </p:ext>
            </p:extLst>
          </p:nvPr>
        </p:nvGraphicFramePr>
        <p:xfrm>
          <a:off x="685800" y="1783080"/>
          <a:ext cx="10817352" cy="914400"/>
        </p:xfrm>
        <a:graphic>
          <a:graphicData uri="http://schemas.openxmlformats.org/drawingml/2006/table">
            <a:tbl>
              <a:tblPr/>
              <a:tblGrid>
                <a:gridCol w="2935224"/>
                <a:gridCol w="3941064"/>
                <a:gridCol w="3941064"/>
              </a:tblGrid>
              <a:tr h="0">
                <a:tc>
                  <a:txBody>
                    <a:bodyPr/>
                    <a:lstStyle/>
                    <a:p>
                      <a:pPr indent="0" marL="0">
                        <a:buNone/>
                      </a:pP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BOS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ILD</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Median onset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13 months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15 months (PPFE: years)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Extrathoracic cGVHD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&gt; 90%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&gt; 75% (&lt; 50% in PPFE)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Diagnosis rests 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PFTs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Chest imaging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Bronchial changes, air trapping;</a:t>
                      </a:r>
                      <a:endParaRPr lang="en-US" sz="1500" dirty="0"/>
                    </a:p>
                    <a:p>
                      <a:pPr indent="0" marL="0">
                        <a:buNone/>
                      </a:pPr>
                      <a:r>
                        <a:rPr lang="en-US" sz="1500" dirty="0">
                          <a:solidFill>
                            <a:schemeClr val="tx1"/>
                          </a:solidFill>
                        </a:rPr>
                        <a:t>no parenchymal opacities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Alveolar and/or interstitial</a:t>
                      </a:r>
                      <a:endParaRPr lang="en-US" sz="1500" dirty="0"/>
                    </a:p>
                    <a:p>
                      <a:pPr indent="0" marL="0">
                        <a:buNone/>
                      </a:pPr>
                      <a:r>
                        <a:rPr lang="en-US" sz="1500" dirty="0">
                          <a:solidFill>
                            <a:schemeClr val="tx1"/>
                          </a:solidFill>
                        </a:rPr>
                        <a:t>opacities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PFT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FEV1/FVC &lt; 0.7, TLC &gt; 80%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TLC &lt; 80%, FEV1/FVC &gt; 0.7</a:t>
                      </a:r>
                      <a:endParaRPr lang="en-US" sz="1500" dirty="0"/>
                    </a:p>
                    <a:p>
                      <a:pPr indent="0" marL="0">
                        <a:buNone/>
                      </a:pPr>
                      <a:r>
                        <a:rPr lang="en-US" sz="1500" dirty="0">
                          <a:solidFill>
                            <a:schemeClr val="tx1"/>
                          </a:solidFill>
                        </a:rPr>
                        <a:t>(mixed if BOS); low DLCO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Steroids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Limited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Usual response (not PPFE);</a:t>
                      </a:r>
                      <a:endParaRPr lang="en-US" sz="1500" dirty="0"/>
                    </a:p>
                    <a:p>
                      <a:pPr indent="0" marL="0">
                        <a:buNone/>
                      </a:pPr>
                      <a:r>
                        <a:rPr lang="en-US" sz="1500" dirty="0">
                          <a:solidFill>
                            <a:schemeClr val="tx1"/>
                          </a:solidFill>
                        </a:rPr>
                        <a:t>relapse on taper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Survival</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3-y OS 79%; 5-y OS 74%</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3-y OS 81%; 5-y OS 71%</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bilateral infiltrates on day +45</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sp>
        <p:nvSpPr>
          <p:cNvPr id="6" name="Text 69"/>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42-year-old man with AML received MAC with TBI 12 Gy and MTX-based prophylaxis from an HLA-mismatched unrelated donor. On day +45, after engraftment, he has fever, dry cough, hypoxaemia and multilobar infiltrates. Echo, creatinine and weight are normal. BAL on day 2 is negative for bacteria, viruses, fungi and PJ; aliquots are not bloody. Best management?</a:t>
            </a:r>
            <a:endParaRPr lang="en-US" sz="1900" dirty="0"/>
          </a:p>
        </p:txBody>
      </p:sp>
      <p:sp>
        <p:nvSpPr>
          <p:cNvPr id="7" name="Text 70"/>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Methylprednisolone 250–500 mg q6h for 5 days plus aminocaproic acid</a:t>
            </a:r>
            <a:endParaRPr lang="en-US" sz="1800" dirty="0"/>
          </a:p>
          <a:p>
            <a:pPr indent="0" marL="0">
              <a:spcAft>
                <a:spcPts val="800"/>
              </a:spcAft>
              <a:buNone/>
            </a:pPr>
            <a:r>
              <a:rPr lang="en-US" sz="1800" dirty="0">
                <a:solidFill>
                  <a:schemeClr val="tx1"/>
                </a:solidFill>
              </a:rPr>
              <a:t>B.  Methylprednisolone ≤ 2 mg/kg/day plus etanercept 0.4 mg/kg twice weekly</a:t>
            </a:r>
            <a:endParaRPr lang="en-US" sz="1800" dirty="0"/>
          </a:p>
          <a:p>
            <a:pPr indent="0" marL="0">
              <a:spcAft>
                <a:spcPts val="800"/>
              </a:spcAft>
              <a:buNone/>
            </a:pPr>
            <a:r>
              <a:rPr lang="en-US" sz="1800" dirty="0">
                <a:solidFill>
                  <a:schemeClr val="tx1"/>
                </a:solidFill>
              </a:rPr>
              <a:t>C.  Tocilizumab as standard first-line therapy</a:t>
            </a:r>
            <a:endParaRPr lang="en-US" sz="1800" dirty="0"/>
          </a:p>
          <a:p>
            <a:pPr indent="0" marL="0">
              <a:spcAft>
                <a:spcPts val="800"/>
              </a:spcAft>
              <a:buNone/>
            </a:pPr>
            <a:r>
              <a:rPr lang="en-US" sz="1800" dirty="0">
                <a:solidFill>
                  <a:schemeClr val="tx1"/>
                </a:solidFill>
              </a:rPr>
              <a:t>D.  Inhaled budesonide/formoterol</a:t>
            </a:r>
            <a:endParaRPr lang="en-US" sz="1800" dirty="0"/>
          </a:p>
          <a:p>
            <a:pPr indent="0" marL="0">
              <a:spcAft>
                <a:spcPts val="800"/>
              </a:spcAft>
              <a:buNone/>
            </a:pPr>
            <a:r>
              <a:rPr lang="en-US" sz="1800" dirty="0">
                <a:solidFill>
                  <a:schemeClr val="tx1"/>
                </a:solidFill>
              </a:rPr>
              <a:t>E.  Withhold specific therapy until a surgical lung biopsy is done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IPS, treated with steroids plus etanercept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sp>
        <p:nvSpPr>
          <p:cNvPr id="6" name="Box 71"/>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Methylprednisolone ≤ 2 mg/kg/day plus etanercept 0.4 mg/kg twice weekly</a:t>
            </a:r>
            <a:endParaRPr lang="en-US" sz="2000" dirty="0"/>
          </a:p>
        </p:txBody>
      </p:sp>
      <p:sp>
        <p:nvSpPr>
          <p:cNvPr id="7" name="Text 72"/>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Alveolar injury, a negative BAL and no cardiac, renal or fluid cause fulfil all three IPS criteria; TBI ≥ 12 Gy, MAC, HLA disparity and MTX are risk factors. Treatment is methylprednisolone ≤ 2 mg/kg/day with etanercept 0.4 mg/kg twice weekly (≤ 8 doses). Option A is the DAH regimen; tocilizumab is investigational; biopsy is not encouraged.</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hypoxaemia before engraftment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sp>
        <p:nvSpPr>
          <p:cNvPr id="6" name="Text 73"/>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30-year-old woman receives Cy/TBI myeloablative allo-HCT. On day +19, before engraftment, she develops hypoxaemia and diffuse infiltrates without haemoptysis. BAL from three segmental bronchi returns progressively bloodier aliquots; haemosiderin-laden macrophages are 5%. Cultures and PCR are negative. Which statement is correct?</a:t>
            </a:r>
            <a:endParaRPr lang="en-US" sz="1900" dirty="0"/>
          </a:p>
        </p:txBody>
      </p:sp>
      <p:sp>
        <p:nvSpPr>
          <p:cNvPr id="7" name="Text 74"/>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The absence of haemoptysis argues against the diagnosis</a:t>
            </a:r>
            <a:endParaRPr lang="en-US" sz="1800" dirty="0"/>
          </a:p>
          <a:p>
            <a:pPr indent="0" marL="0">
              <a:spcAft>
                <a:spcPts val="800"/>
              </a:spcAft>
              <a:buNone/>
            </a:pPr>
            <a:r>
              <a:rPr lang="en-US" sz="1800" dirty="0">
                <a:solidFill>
                  <a:schemeClr val="tx1"/>
                </a:solidFill>
              </a:rPr>
              <a:t>B.  The diagnosis is excluded because macrophages are below 20%</a:t>
            </a:r>
            <a:endParaRPr lang="en-US" sz="1800" dirty="0"/>
          </a:p>
          <a:p>
            <a:pPr indent="0" marL="0">
              <a:spcAft>
                <a:spcPts val="800"/>
              </a:spcAft>
              <a:buNone/>
            </a:pPr>
            <a:r>
              <a:rPr lang="en-US" sz="1800" dirty="0">
                <a:solidFill>
                  <a:schemeClr val="tx1"/>
                </a:solidFill>
              </a:rPr>
              <a:t>C.  Most deaths in this condition are caused by the bleeding itself</a:t>
            </a:r>
            <a:endParaRPr lang="en-US" sz="1800" dirty="0"/>
          </a:p>
          <a:p>
            <a:pPr indent="0" marL="0">
              <a:spcAft>
                <a:spcPts val="800"/>
              </a:spcAft>
              <a:buNone/>
            </a:pPr>
            <a:r>
              <a:rPr lang="en-US" sz="1800" dirty="0">
                <a:solidFill>
                  <a:schemeClr val="tx1"/>
                </a:solidFill>
              </a:rPr>
              <a:t>D.  The same condition after auto-HCT has a better prognosis</a:t>
            </a:r>
            <a:endParaRPr lang="en-US" sz="1800" dirty="0"/>
          </a:p>
          <a:p>
            <a:pPr indent="0" marL="0">
              <a:spcAft>
                <a:spcPts val="800"/>
              </a:spcAft>
              <a:buNone/>
            </a:pPr>
            <a:r>
              <a:rPr lang="en-US" sz="1800" dirty="0">
                <a:solidFill>
                  <a:schemeClr val="tx1"/>
                </a:solidFill>
              </a:rPr>
              <a:t>E.  Noninfectious forms fall outside the IPS diagnostic umbrella</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D: DAH carries a better prognosis after auto-HCT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sp>
        <p:nvSpPr>
          <p:cNvPr id="6" name="Box 75"/>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D.  The same condition after auto-HCT has a better prognosis</a:t>
            </a:r>
            <a:endParaRPr lang="en-US" sz="2000" dirty="0"/>
          </a:p>
        </p:txBody>
      </p:sp>
      <p:sp>
        <p:nvSpPr>
          <p:cNvPr id="7" name="Text 76"/>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Progressively bloodier BAL in ≥ 3 segmental bronchi diagnoses DAH; haemosiderin-laden macrophages can take 72 h to appear, and frank haemoptysis is rare. &lt; 15% die of the bleeding itself; MOF drives mortality. Noninfectious DAH is under the IPS umbrella. DAH after auto-HCT has a better prognosis.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breathlessness at 14 months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sp>
        <p:nvSpPr>
          <p:cNvPr id="6" name="Text 77"/>
          <p:cNvSpPr txBox="1"/>
          <p:nvPr/>
        </p:nvSpPr>
        <p:spPr>
          <a:xfrm>
            <a:off x="685800" y="17373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48-year-old woman with oral and skin chronic GVHD has progressive dyspnoea 14 months after allo-HCT. FEV1/VC 0.62, FEV1 58% of predicted (25% below baseline), RV 140%, no bronchodilator response. CT: mosaic attenuation and air trapping, no parenchymal opacity. BAL is negative. Which statement is correct?</a:t>
            </a:r>
            <a:endParaRPr lang="en-US" sz="1900" dirty="0"/>
          </a:p>
        </p:txBody>
      </p:sp>
      <p:sp>
        <p:nvSpPr>
          <p:cNvPr id="7" name="Text 78"/>
          <p:cNvSpPr txBox="1"/>
          <p:nvPr/>
        </p:nvSpPr>
        <p:spPr>
          <a:xfrm>
            <a:off x="960120" y="3465576"/>
            <a:ext cx="10543032" cy="24323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A lung biopsy is required to confirm the diagnosis</a:t>
            </a:r>
            <a:endParaRPr lang="en-US" sz="1800" dirty="0"/>
          </a:p>
          <a:p>
            <a:pPr indent="0" marL="0">
              <a:spcAft>
                <a:spcPts val="800"/>
              </a:spcAft>
              <a:buNone/>
            </a:pPr>
            <a:r>
              <a:rPr lang="en-US" sz="1800" dirty="0">
                <a:solidFill>
                  <a:schemeClr val="tx1"/>
                </a:solidFill>
              </a:rPr>
              <a:t>B.  Systemic steroids are highly effective for this condition</a:t>
            </a:r>
            <a:endParaRPr lang="en-US" sz="1800" dirty="0"/>
          </a:p>
          <a:p>
            <a:pPr indent="0" marL="0">
              <a:spcAft>
                <a:spcPts val="800"/>
              </a:spcAft>
              <a:buNone/>
            </a:pPr>
            <a:r>
              <a:rPr lang="en-US" sz="1800" dirty="0">
                <a:solidFill>
                  <a:schemeClr val="tx1"/>
                </a:solidFill>
              </a:rPr>
              <a:t>C.  Inhaled budesonide/formoterol improved FEV1 in a randomized trial</a:t>
            </a:r>
            <a:endParaRPr lang="en-US" sz="1800" dirty="0"/>
          </a:p>
          <a:p>
            <a:pPr indent="0" marL="0">
              <a:spcAft>
                <a:spcPts val="800"/>
              </a:spcAft>
              <a:buNone/>
            </a:pPr>
            <a:r>
              <a:rPr lang="en-US" sz="1800" dirty="0">
                <a:solidFill>
                  <a:schemeClr val="tx1"/>
                </a:solidFill>
              </a:rPr>
              <a:t>D.  The CT pattern indicates organizing pneumonia</a:t>
            </a:r>
            <a:endParaRPr lang="en-US" sz="1800" dirty="0"/>
          </a:p>
          <a:p>
            <a:pPr indent="0" marL="0">
              <a:spcAft>
                <a:spcPts val="800"/>
              </a:spcAft>
              <a:buNone/>
            </a:pPr>
            <a:r>
              <a:rPr lang="en-US" sz="1800" dirty="0">
                <a:solidFill>
                  <a:schemeClr val="tx1"/>
                </a:solidFill>
              </a:rPr>
              <a:t>E.  Early azithromycin is safe and lowers cancer risk</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BOS, where only budesonide/formoterol has RCT data</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sp>
        <p:nvSpPr>
          <p:cNvPr id="6" name="Box 79"/>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Inhaled budesonide/formoterol improved FEV1 in a randomized trial</a:t>
            </a:r>
            <a:endParaRPr lang="en-US" sz="2000" dirty="0"/>
          </a:p>
        </p:txBody>
      </p:sp>
      <p:sp>
        <p:nvSpPr>
          <p:cNvPr id="7" name="Text 80"/>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Obstruction (FEV1/VC &lt; 0.7, FEV1 &lt; 75% with ≥ 10% fall, RV &gt; 120%) plus cGVHD elsewhere meets NIH BOS criteria; biopsy is needed only when the lung is the sole cGVHD organ. Steroids have low efficacy in BOS. Organizing pneumonia is an ILD with parenchymal opacities. Azithromycin may raise cancer risk.</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2</a:t>
            </a:r>
            <a:endParaRPr lang="en-US" sz="3600" dirty="0"/>
          </a:p>
        </p:txBody>
      </p:sp>
      <p:sp>
        <p:nvSpPr>
          <p:cNvPr id="5" name="Text 81"/>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Bergeron A, Cooke KR. Noninfectious pulmonary complications. In: Sureda A, Corbacioglu S, Greco R, Kröger N, Carreras E, editors. The EBMT Handbook: Hematopoietic Cell Transplantation and Cellular Therapies. 8th ed. Cham: Springer; 2024. p. 471–80. https://doi.org/10.1007/978-3-031-44080-9_52</a:t>
            </a:r>
            <a:endParaRPr lang="en-US" sz="1100" dirty="0"/>
          </a:p>
          <a:p>
            <a:pPr indent="0" marL="0">
              <a:spcAft>
                <a:spcPts val="700"/>
              </a:spcAft>
              <a:buNone/>
            </a:pPr>
            <a:r>
              <a:rPr lang="en-US" sz="1100" dirty="0">
                <a:solidFill>
                  <a:schemeClr val="tx1"/>
                </a:solidFill>
              </a:rPr>
              <a:t>2. Wolff D, Peric Z, Lawitschka A. Chronic graft-versus-host disease. In: Sureda A, Corbacioglu S, Greco R, Kröger N, Carreras E, editors. The EBMT Handbook: Hematopoietic Cell Transplantation and Cellular Therapies. 8th ed. Cham: Springer; 2024. p. 395–410. https://doi.org/10.1007/978-3-031-44080-9_44</a:t>
            </a:r>
            <a:endParaRPr lang="en-US" sz="1100" dirty="0"/>
          </a:p>
          <a:p>
            <a:pPr indent="0" marL="0">
              <a:spcAft>
                <a:spcPts val="700"/>
              </a:spcAft>
              <a:buNone/>
            </a:pPr>
            <a:r>
              <a:rPr lang="en-US" sz="1100" dirty="0">
                <a:solidFill>
                  <a:schemeClr val="tx1"/>
                </a:solidFill>
              </a:rPr>
              <a:t>3. Panoskaltsis-Mortari A, Griese M, Madtes DK, et al. An official American Thoracic Society research statement: non-infectious lung injury after hematopoietic stem cell transplantation: idiopathic pneumonia syndrome. Am J Respir Crit Care Med. 2011;183:1262–79.</a:t>
            </a:r>
            <a:endParaRPr lang="en-US" sz="1100" dirty="0"/>
          </a:p>
          <a:p>
            <a:pPr indent="0" marL="0">
              <a:spcAft>
                <a:spcPts val="700"/>
              </a:spcAft>
              <a:buNone/>
            </a:pPr>
            <a:r>
              <a:rPr lang="en-US" sz="1100" dirty="0">
                <a:solidFill>
                  <a:schemeClr val="tx1"/>
                </a:solidFill>
              </a:rPr>
              <a:t>4. Yanik GA, Grupp SA, Pulsipher MA, et al. TNF-receptor inhibitor therapy for the treatment of children with idiopathic pneumonia syndrome. A joint pediatric consortium and Children’s Oncology Group study (ASCT0521). Biol Blood Marrow Transplant. 2015;21:67–73.</a:t>
            </a:r>
            <a:endParaRPr lang="en-US" sz="1100" dirty="0"/>
          </a:p>
          <a:p>
            <a:pPr indent="0" marL="0">
              <a:spcAft>
                <a:spcPts val="700"/>
              </a:spcAft>
              <a:buNone/>
            </a:pPr>
            <a:r>
              <a:rPr lang="en-US" sz="1100" dirty="0">
                <a:solidFill>
                  <a:schemeClr val="tx1"/>
                </a:solidFill>
              </a:rPr>
              <a:t>5. Thompson J, Yin Z, D’Souza A, et al. Etanercept and corticosteroid therapy for the treatment of late-onset idiopathic pneumonia syndrome. Biol Blood Marrow Transplant. 2017;23:1955–60.</a:t>
            </a:r>
            <a:endParaRPr lang="en-US" sz="1100" dirty="0"/>
          </a:p>
        </p:txBody>
      </p:sp>
      <p:sp>
        <p:nvSpPr>
          <p:cNvPr id="6" name="Text 82"/>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6. Yanik GA, Horowitz MM, Weisdorf DJ, et al. Randomized, double-blind, placebo-controlled trial of soluble tumor necrosis factor receptor: Enbrel (etanercept) for the treatment of idiopathic pneumonia syndrome after allogeneic stem cell transplantation: blood and marrow. Biol Blood Marrow Transplant. 2014;20:858–64.</a:t>
            </a:r>
            <a:endParaRPr lang="en-US" sz="1100" dirty="0"/>
          </a:p>
          <a:p>
            <a:pPr indent="0" marL="0">
              <a:spcAft>
                <a:spcPts val="700"/>
              </a:spcAft>
              <a:buNone/>
            </a:pPr>
            <a:r>
              <a:rPr lang="en-US" sz="1100" dirty="0">
                <a:solidFill>
                  <a:schemeClr val="tx1"/>
                </a:solidFill>
              </a:rPr>
              <a:t>7. Varelias A, Gartlan KH, Kreijveld E, et al. Lung parenchyma-derived IL-6 promotes IL-17A-dependent acute lung injury after allogeneic stem cell transplantation. Blood. 2015;125:2435–44.</a:t>
            </a:r>
            <a:endParaRPr lang="en-US" sz="1100" dirty="0"/>
          </a:p>
          <a:p>
            <a:pPr indent="0" marL="0">
              <a:spcAft>
                <a:spcPts val="700"/>
              </a:spcAft>
              <a:buNone/>
            </a:pPr>
            <a:r>
              <a:rPr lang="en-US" sz="1100" dirty="0">
                <a:solidFill>
                  <a:schemeClr val="tx1"/>
                </a:solidFill>
              </a:rPr>
              <a:t>8. Wenger DS, Triplette M, Crothers K, et al. Incidence, risk factors, and outcomes of idiopathic pneumonia syndrome after allogeneic hematopoietic cell transplantation. Biol Blood Marrow Transplant. 2020;26:413–20.</a:t>
            </a:r>
            <a:endParaRPr lang="en-US" sz="1100" dirty="0"/>
          </a:p>
          <a:p>
            <a:pPr indent="0" marL="0">
              <a:spcAft>
                <a:spcPts val="700"/>
              </a:spcAft>
              <a:buNone/>
            </a:pPr>
            <a:r>
              <a:rPr lang="en-US" sz="1100" dirty="0">
                <a:solidFill>
                  <a:schemeClr val="tx1"/>
                </a:solidFill>
              </a:rPr>
              <a:t>9. Rathi NK, Tanner AR, Dinh A, et al. Low-, medium- and high-dose steroids with or without aminocaproic acid in adult hematopoietic SCT patients with diffuse alveolar hemorrhage. Bone Marrow Transplant. 2015;50:420–6.</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2</a:t>
            </a:r>
            <a:endParaRPr lang="en-US" sz="3600" dirty="0"/>
          </a:p>
        </p:txBody>
      </p:sp>
      <p:sp>
        <p:nvSpPr>
          <p:cNvPr id="5" name="Text 83"/>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10. Jagasia MH, Greinix HT, Arora M, et al. National Institutes of Health consensus development project on criteria for clinical trials in chronic graft-versus-host disease: I. The 2014 diagnosis and staging working group report. Biol Blood Marrow Transplant. 2015;21:389–401.</a:t>
            </a:r>
            <a:endParaRPr lang="en-US" sz="1100" dirty="0"/>
          </a:p>
          <a:p>
            <a:pPr indent="0" marL="0">
              <a:spcAft>
                <a:spcPts val="700"/>
              </a:spcAft>
              <a:buNone/>
            </a:pPr>
            <a:r>
              <a:rPr lang="en-US" sz="1100" dirty="0">
                <a:solidFill>
                  <a:schemeClr val="tx1"/>
                </a:solidFill>
              </a:rPr>
              <a:t>11. Bergeron A, Chevret S, Chagnon K, et al. Budesonide/formoterol for bronchiolitis obliterans after hematopoietic stem cell transplantation. Am J Respir Crit Care Med. 2015;191:1242–9.</a:t>
            </a:r>
            <a:endParaRPr lang="en-US" sz="1100" dirty="0"/>
          </a:p>
          <a:p>
            <a:pPr indent="0" marL="0">
              <a:spcAft>
                <a:spcPts val="700"/>
              </a:spcAft>
              <a:buNone/>
            </a:pPr>
            <a:r>
              <a:rPr lang="en-US" sz="1100" dirty="0">
                <a:solidFill>
                  <a:schemeClr val="tx1"/>
                </a:solidFill>
              </a:rPr>
              <a:t>12. Williams KM, Cheng GS, Pusic I, et al. Fluticasone, Azithromycin, and Montelukast treatment for new-onset bronchiolitis obliterans syndrome after hematopoietic cell transplantation. Biol Blood Marrow Transplant. 2016;22:710–6.</a:t>
            </a:r>
            <a:endParaRPr lang="en-US" sz="1100" dirty="0"/>
          </a:p>
          <a:p>
            <a:pPr indent="0" marL="0">
              <a:spcAft>
                <a:spcPts val="700"/>
              </a:spcAft>
              <a:buNone/>
            </a:pPr>
            <a:r>
              <a:rPr lang="en-US" sz="1100" dirty="0">
                <a:solidFill>
                  <a:schemeClr val="tx1"/>
                </a:solidFill>
              </a:rPr>
              <a:t>13. Bergeron A, Chevret S, Granata A, et al. Effect of azithromycin on airflow decline-free survival after allogeneic hematopoietic stem cell transplant: the ALLOZITHRO randomized clinical trial. JAMA. 2017;318:557–66.</a:t>
            </a:r>
            <a:endParaRPr lang="en-US" sz="1100" dirty="0"/>
          </a:p>
          <a:p>
            <a:pPr indent="0" marL="0">
              <a:spcAft>
                <a:spcPts val="700"/>
              </a:spcAft>
              <a:buNone/>
            </a:pPr>
            <a:r>
              <a:rPr lang="en-US" sz="1100" dirty="0">
                <a:solidFill>
                  <a:schemeClr val="tx1"/>
                </a:solidFill>
              </a:rPr>
              <a:t>14. Cheng GS, Bondeelle L, Gooley T, et al. Azithromycin use and increased cancer risk among patients with bronchiolitis obliterans after hematopoietic cell transplantation. Biol Blood Marrow Transplant. 2020;26:392–400.</a:t>
            </a:r>
            <a:endParaRPr lang="en-US" sz="1100" dirty="0"/>
          </a:p>
        </p:txBody>
      </p:sp>
      <p:sp>
        <p:nvSpPr>
          <p:cNvPr id="6" name="Text 84"/>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15. Greer M, Berastegui C, Jaksch P, et al. Lung transplantation after allogeneic stem cell transplantation: a pan-European experience. Eur Respir J. 2018;51:1701330.</a:t>
            </a:r>
            <a:endParaRPr lang="en-US" sz="1100" dirty="0"/>
          </a:p>
          <a:p>
            <a:pPr indent="0" marL="0">
              <a:spcAft>
                <a:spcPts val="700"/>
              </a:spcAft>
              <a:buNone/>
            </a:pPr>
            <a:r>
              <a:rPr lang="en-US" sz="1100" dirty="0">
                <a:solidFill>
                  <a:schemeClr val="tx1"/>
                </a:solidFill>
              </a:rPr>
              <a:t>16. Archer G, Berger I, Bondeelle L, et al. Interstitial lung diseases after hematopoietic stem cell transplantation: new pattern of lung chronic graft-versus-host disease? Bone Marrow Transplant. 2023;58:87–93.</a:t>
            </a:r>
            <a:endParaRPr lang="en-US" sz="1100" dirty="0"/>
          </a:p>
          <a:p>
            <a:pPr indent="0" marL="0">
              <a:spcAft>
                <a:spcPts val="700"/>
              </a:spcAft>
              <a:buNone/>
            </a:pPr>
            <a:r>
              <a:rPr lang="en-US" sz="1100" dirty="0">
                <a:solidFill>
                  <a:schemeClr val="tx1"/>
                </a:solidFill>
              </a:rPr>
              <a:t>17. Seo S, Yu J, Jenkins IC, et al. Diagnostic and prognostic plasma biomarkers for idiopathic pneumonia syndrome after hematopoietic cell transplantation. Biol Blood Marrow Transplant. 2017;24:678–86.</a:t>
            </a:r>
            <a:endParaRPr lang="en-US" sz="1100" dirty="0"/>
          </a:p>
          <a:p>
            <a:pPr indent="0" marL="0">
              <a:spcAft>
                <a:spcPts val="700"/>
              </a:spcAft>
              <a:buNone/>
            </a:pPr>
            <a:r>
              <a:rPr lang="en-US" sz="1100" dirty="0">
                <a:solidFill>
                  <a:schemeClr val="tx1"/>
                </a:solidFill>
              </a:rPr>
              <a:t>18. Rowan CM, Smith L, Sharron MP, et al. A biomarker panel for risk of early respiratory failure following hematopoietic cell transplantation. Blood Adv. 2022;6:1866–78.</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BOS · LUNG IN CHRONIC GVHD</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Lung involvement raises the overall severity of chronic 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Wolff D, et al. EBMT Handbook 8th ed. 2024; Ch. 44</a:t>
            </a:r>
            <a:endParaRPr lang="en-US" sz="1000" dirty="0"/>
          </a:p>
        </p:txBody>
      </p:sp>
      <p:graphicFrame>
        <p:nvGraphicFramePr>
          <p:cNvPr id="26" name="Table 8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8065008"/>
              </a:tblGrid>
              <a:tr h="0">
                <a:tc>
                  <a:txBody>
                    <a:bodyPr/>
                    <a:lstStyle/>
                    <a:p>
                      <a:pPr indent="0" marL="0">
                        <a:buNone/>
                      </a:pPr>
                      <a:r>
                        <a:rPr lang="en-US" sz="1600" b="1" dirty="0">
                          <a:solidFill>
                            <a:schemeClr val="tx1"/>
                          </a:solidFill>
                        </a:rPr>
                        <a:t>Item</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 44</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Mild cGVHD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1–2 organs, mild; lung must not be involved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Moderate cGVHD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Mild–moderate organ involvement; lung only mild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Severe cGVHD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Severe organ involvement, or lung moderate or severe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Mortality risk</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Lung, GI and cholestatic liver involvement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PFT follow-up</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Serial PFT, plethysmography from age 4–6, DLCO from 8–10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Abatacept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~45% response; best in lung and mucocutaneous cGVHD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Imatinib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Efficacy mainly in sclerodermoid cGVHD and BO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Etanercept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May be used for pulmonary or GI manifestations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IPS · BIOMARKERS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Plasma biomarkers can flag IPS before symptoms appear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graphicFrame>
        <p:nvGraphicFramePr>
          <p:cNvPr id="27" name="Table 8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935224"/>
                <a:gridCol w="7882128"/>
              </a:tblGrid>
              <a:tr h="0">
                <a:tc>
                  <a:txBody>
                    <a:bodyPr/>
                    <a:lstStyle/>
                    <a:p>
                      <a:pPr indent="0" marL="0">
                        <a:buNone/>
                      </a:pPr>
                      <a:r>
                        <a:rPr lang="en-US" sz="1700" b="1" dirty="0">
                          <a:solidFill>
                            <a:schemeClr val="tx1"/>
                          </a:solidFill>
                        </a:rPr>
                        <a:t>Finding</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Ch. 52</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Elevated in IPS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sTNFR1, IL-6, MCP-1, Ang2, sCD14, IL-8</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Seo 2017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sTNFR1, IL-6 and ST2 most predictive, even pre-symptoms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Rowan 2022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ST2, IL-6, sTNFR1 panel at day 7 predicts respiratory failure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Microbiome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Pulmonary metatranscriptome linked to post-HCT lung injury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Occult infection</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Better pathogen detection has shrunk the IPS group</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BOS · LIMITS OF THE CRITERIA</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Current BOS criteria detect late disease and miss some phenotypes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 · Wolff D, et al. EBMT Handbook 8th ed. 2024; Ch. 44</a:t>
            </a:r>
            <a:endParaRPr lang="en-US" sz="1000" dirty="0"/>
          </a:p>
        </p:txBody>
      </p:sp>
      <p:sp>
        <p:nvSpPr>
          <p:cNvPr id="6" name="Text 87"/>
          <p:cNvSpPr txBox="1"/>
          <p:nvPr/>
        </p:nvSpPr>
        <p:spPr>
          <a:xfrm>
            <a:off x="685800" y="2240280"/>
            <a:ext cx="10817352" cy="3657600"/>
          </a:xfrm>
          <a:prstGeom prst="rect">
            <a:avLst/>
          </a:prstGeom>
          <a:noFill/>
          <a:ln/>
        </p:spPr>
        <p:txBody>
          <a:bodyPr wrap="square" lIns="0" tIns="0" rIns="0" bIns="0" rtlCol="0" anchor="t"/>
          <a:lstStyle/>
          <a:p>
            <a:pPr marL="342900" indent="-342900">
              <a:spcAft>
                <a:spcPts val="800"/>
              </a:spcAft>
              <a:buSzPct val="100000"/>
              <a:buChar char="•"/>
            </a:pPr>
            <a:r>
              <a:rPr lang="en-US" sz="2000" dirty="0">
                <a:solidFill>
                  <a:schemeClr val="tx1"/>
                </a:solidFill>
              </a:rPr>
              <a:t>BOS reflects various small-airway pathologies, not only constrictive bronchiolitis</a:t>
            </a:r>
            <a:endParaRPr lang="en-US" sz="2000" dirty="0"/>
          </a:p>
          <a:p>
            <a:pPr marL="342900" indent="-342900">
              <a:spcAft>
                <a:spcPts val="800"/>
              </a:spcAft>
              <a:buSzPct val="100000"/>
              <a:buChar char="•"/>
            </a:pPr>
            <a:r>
              <a:rPr lang="en-US" sz="2000" dirty="0">
                <a:solidFill>
                  <a:schemeClr val="tx1"/>
                </a:solidFill>
              </a:rPr>
              <a:t>Some BOS has a preserved FEV1/VC ratio and falls outside NIH criteria</a:t>
            </a:r>
            <a:endParaRPr lang="en-US" sz="2000" dirty="0"/>
          </a:p>
          <a:p>
            <a:pPr marL="342900" indent="-342900">
              <a:spcAft>
                <a:spcPts val="800"/>
              </a:spcAft>
              <a:buSzPct val="100000"/>
              <a:buChar char="•"/>
            </a:pPr>
            <a:r>
              <a:rPr lang="en-US" sz="2000" dirty="0">
                <a:solidFill>
                  <a:schemeClr val="tx1"/>
                </a:solidFill>
              </a:rPr>
              <a:t>&gt; 30% have air trapping on pre-HCT CT, limiting expiratory CT for diagnosis</a:t>
            </a:r>
            <a:endParaRPr lang="en-US" sz="2000" dirty="0"/>
          </a:p>
          <a:p>
            <a:pPr marL="342900" indent="-342900">
              <a:spcAft>
                <a:spcPts val="800"/>
              </a:spcAft>
              <a:buSzPct val="100000"/>
              <a:buChar char="•"/>
            </a:pPr>
            <a:r>
              <a:rPr lang="en-US" sz="2000" dirty="0">
                <a:solidFill>
                  <a:schemeClr val="tx1"/>
                </a:solidFill>
              </a:rPr>
              <a:t>FEV1 usually falls abruptly, then plateaus; later falls follow infections</a:t>
            </a:r>
            <a:endParaRPr lang="en-US" sz="2000" dirty="0"/>
          </a:p>
          <a:p>
            <a:pPr marL="342900" indent="-342900">
              <a:spcAft>
                <a:spcPts val="800"/>
              </a:spcAft>
              <a:buSzPct val="100000"/>
              <a:buChar char="•"/>
            </a:pPr>
            <a:r>
              <a:rPr lang="en-US" sz="2000" dirty="0">
                <a:solidFill>
                  <a:schemeClr val="tx1"/>
                </a:solidFill>
              </a:rPr>
              <a:t>Early biomarkers (PFT, imaging, biology) are being sought for earlier treatment</a:t>
            </a:r>
            <a:endParaRPr lang="en-US" sz="2000" dirty="0"/>
          </a:p>
          <a:p>
            <a:pPr marL="342900" indent="-342900">
              <a:spcAft>
                <a:spcPts val="800"/>
              </a:spcAft>
              <a:buSzPct val="100000"/>
              <a:buChar char="•"/>
            </a:pPr>
            <a:r>
              <a:rPr lang="en-US" sz="2000" dirty="0">
                <a:solidFill>
                  <a:schemeClr val="tx1"/>
                </a:solidFill>
              </a:rPr>
              <a:t>Children (Ch. 44): muscle weakness, sclerotic chest wall, TBI can add restriction</a:t>
            </a:r>
            <a:endParaRPr lang="en-US" sz="2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Noninfectious pulmonary complications</dc:title>
  <dc:subject>PptxGenJS Presentation</dc:subject>
  <dc:creator>Hsieh-Ting Lin, MD</dc:creator>
  <cp:lastModifiedBy>Hsieh-Ting Lin, MD</cp:lastModifiedBy>
  <cp:revision>1</cp:revision>
  <dcterms:created xsi:type="dcterms:W3CDTF">2026-10-09T16:09:12Z</dcterms:created>
  <dcterms:modified xsi:type="dcterms:W3CDTF">2026-10-09T16:09:12Z</dcterms:modified>
</cp:coreProperties>
</file>