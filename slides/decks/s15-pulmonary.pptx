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c5c049b-0be3-5453-e47c-109426cb2d88}">
          <p14:sldIdLst>
            <p14:sldId id="256"/>
            <p14:sldId id="257"/>
          </p14:sldIdLst>
        </p14:section>
        <p14:section name="Classification and work-up" id="{d8cc70e2-3973-3b10-2b05-9875e17b552f}">
          <p14:sldIdLst>
            <p14:sldId id="258"/>
            <p14:sldId id="259"/>
          </p14:sldIdLst>
        </p14:section>
        <p14:section name="Early complications" id="{f4a9174d-976c-4200-d422-cbe9cb0031fd}">
          <p14:sldIdLst>
            <p14:sldId id="260"/>
            <p14:sldId id="261"/>
            <p14:sldId id="262"/>
            <p14:sldId id="263"/>
            <p14:sldId id="264"/>
            <p14:sldId id="265"/>
            <p14:sldId id="266"/>
          </p14:sldIdLst>
        </p14:section>
        <p14:section name="Late complications" id="{98be0755-709b-5171-4f34-d817e1fe1e0a}">
          <p14:sldIdLst>
            <p14:sldId id="267"/>
            <p14:sldId id="268"/>
            <p14:sldId id="269"/>
            <p14:sldId id="270"/>
            <p14:sldId id="271"/>
          </p14:sldIdLst>
        </p14:section>
        <p14:section name="Board questions" id="{04add629-6796-cd06-7294-5d898557a390}">
          <p14:sldIdLst>
            <p14:sldId id="272"/>
            <p14:sldId id="273"/>
            <p14:sldId id="274"/>
            <p14:sldId id="275"/>
            <p14:sldId id="276"/>
            <p14:sldId id="277"/>
          </p14:sldIdLst>
        </p14:section>
        <p14:section name="References" id="{8ef991c9-1fbb-9a6c-b4da-838ffd2ccc2c}">
          <p14:sldIdLst>
            <p14:sldId id="278"/>
            <p14:sldId id="279"/>
          </p14:sldIdLst>
        </p14:section>
        <p14:section name="Backup" id="{11872858-05ef-3962-fb89-ec6288783fd3}">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各位早安，今天是第 15 堂，主題是移植後的非感染性肺部併發症，內容來自 EBMT Handbook 第八版第 52 章，作者是 Bergeron 和 Cooke。</a:t>
            </a:r>
          </a:p>
          <a:p>
            <a:pPr>
              <a:spcAft>
                <a:spcPts val="600"/>
              </a:spcAft>
            </a:pPr>
            <a:r>
              <a:rPr lang="en-US" dirty="0"/>
              <a:t>前半段談早期的 fluid overload、IPS 和 DAH，後半段談晚期的 BOS 和 ILD，最後做三題 board-style 題目。今天只有一章，會講得比較深入。</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今天分四段。第一段先看分類和檢查流程。肺部併發症的鑑別範圍很大，有一套固定的 work-up 順序，後面每一個診斷都建立在這個流程上。</a:t>
            </a:r>
          </a:p>
          <a:p>
            <a:pPr>
              <a:spcAft>
                <a:spcPts val="600"/>
              </a:spcAft>
            </a:pPr>
            <a:r>
              <a:rPr lang="en-US" dirty="0"/>
              <a:t>第二段是早期併發症，時間最長。先講最常見、卻不在正式分類裡的 fluid overload，再講 IPS 的診斷三要件、危險因子、steroid 加 etanercept 的治療和證據，最後是 DAH。</a:t>
            </a:r>
          </a:p>
          <a:p>
            <a:pPr>
              <a:spcAft>
                <a:spcPts val="600"/>
              </a:spcAft>
            </a:pPr>
            <a:r>
              <a:rPr lang="en-US" dirty="0"/>
              <a:t>第三段是 day 100 以後的晚期併發症，以 BOS 和 ILD 為主，重點在 NIH 的 BOS 診斷條件、治療證據的強弱，以及怎麼用 PFT 和 CT 分辨兩者。最後三題，分別對應 IPS、DAH 和 BOS。</a:t>
            </a:r>
          </a:p>
          <a:p>
            <a:pPr>
              <a:spcAft>
                <a:spcPts val="600"/>
              </a:spcAft>
            </a:pPr>
            <a:r>
              <a:rPr lang="en-US" dirty="0"/>
              <a:t>每一段結束前，我會點出這一段最常被拿來出題的數字，方便大家複習。</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移植後肺功能異常很常見，整體大約 25 到 55% 的病人會發生。過去大約一半的肺部併發症來自感染，廣效抗生素普及之後，比例已經往非感染性移動。非感染性肺損傷可以占 allo 移植非感染性死亡的一半。</a:t>
            </a:r>
          </a:p>
          <a:p>
            <a:pPr>
              <a:spcAft>
                <a:spcPts val="600"/>
              </a:spcAft>
            </a:pPr>
            <a:r>
              <a:rPr lang="en-US" dirty="0"/>
              <a:t>這張表是 American Thoracic Society 的分類，依照主要受傷的組織分三大類。肺實質包括 ARDS、BCNU 和放射線肺炎等。血管內皮這一類包括 PERDS、capillary leak、DAH、pulmonary VOD 和 TRALI。呼吸道上皮則是 ILD 和 BOS。</a:t>
            </a:r>
          </a:p>
          <a:p>
            <a:pPr>
              <a:spcAft>
                <a:spcPts val="600"/>
              </a:spcAft>
            </a:pPr>
            <a:r>
              <a:rPr lang="en-US" dirty="0"/>
              <a:t>打星號的這幾種，如果發生在移植早期，都可以歸到 IPS 這把大傘底下，所以 IPS 其實是一個排除性的總稱。</a:t>
            </a:r>
          </a:p>
          <a:p>
            <a:pPr>
              <a:spcAft>
                <a:spcPts val="600"/>
              </a:spcAft>
            </a:pPr>
            <a:r>
              <a:rPr lang="en-US" dirty="0"/>
              <a:t>最後一列要特別記住，最常見的肺部併發症是 fluid overload 造成的肺水腫，反而不在這個分類裡。</a:t>
            </a:r>
          </a:p>
          <a:p>
            <a:pPr>
              <a:spcAft>
                <a:spcPts val="600"/>
              </a:spcAft>
            </a:pPr>
            <a:r>
              <a:rPr lang="en-US" dirty="0"/>
              <a:t>這個分類的用意，是提醒我們同一張胸部影像背後，受傷的可能是肺實質、血管內皮，也可能是小呼吸道，處置方向完全不同。內皮這一群和第 13 堂講的 capillary leak、engraftment syndrome 是同一個家族，DAH 也在這一類。考試常問哪一個不在 ATS 分類裡，答案就是 fluid overload。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呼吸窘迫可以進展得很快，所以第 52 章建議每家醫院都有一套事先訂好的流程。第一步評估血氧，晚發的病人建議走廊步行後再量 SpO₂。</a:t>
            </a:r>
          </a:p>
          <a:p>
            <a:pPr>
              <a:spcAft>
                <a:spcPts val="600"/>
              </a:spcAft>
            </a:pPr>
            <a:r>
              <a:rPr lang="en-US" dirty="0"/>
              <a:t>第二步影像。早期肺損傷用 low-dose CT 就夠，晚發的一定要有吸氣相 CT，並考慮加呼氣相看 air trapping。懷疑左心衰竭或肺高壓就做心臟超音波。PFT 在急性期很少需要，但晚發的病人要做完整的 spirometry、肺容積和 DLCO。</a:t>
            </a:r>
          </a:p>
          <a:p>
            <a:pPr>
              <a:spcAft>
                <a:spcPts val="600"/>
              </a:spcAft>
            </a:pPr>
            <a:r>
              <a:rPr lang="en-US" dirty="0"/>
              <a:t>第四步是感染檢查，血液培養、病毒 PCR、鼻咽拭子的呼吸道病毒 panel，以及 galactomannan 和 β-D-glucan。</a:t>
            </a:r>
          </a:p>
          <a:p>
            <a:pPr>
              <a:spcAft>
                <a:spcPts val="600"/>
              </a:spcAft>
            </a:pPr>
            <a:r>
              <a:rPr lang="en-US" dirty="0"/>
              <a:t>核心是支氣管鏡加 BAL，可以在 78% 的病例找到病因。懷疑 IPS 的病人，BAL 仍有約一半找到病原。五天內做的陽性率比晚做高，併發症不到 5%。切片只留給少數非侵入檢查無法診斷的晚發病例，優先 VATS。</a:t>
            </a:r>
          </a:p>
          <a:p>
            <a:pPr>
              <a:spcAft>
                <a:spcPts val="600"/>
              </a:spcAft>
            </a:pPr>
            <a:r>
              <a:rPr lang="en-US" dirty="0"/>
              <a:t>要注意 BAL 驗到病原不一定就是元兇，感染和免疫發炎也可能同時存在。</a:t>
            </a:r>
          </a:p>
          <a:p>
            <a:pPr>
              <a:spcAft>
                <a:spcPts val="600"/>
              </a:spcAft>
            </a:pPr>
            <a:r>
              <a:rPr lang="en-US" dirty="0"/>
              <a:t>臨床上最常見的失誤是一路換抗生素，拖過一週才找胸腔科做支氣管鏡，這時陽性率已經下降。病人無法做 BAL 時，改送誘導痰液。</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4:30 至 5:30]</a:t>
            </a:r>
          </a:p>
          <a:p>
            <a:pPr>
              <a:spcAft>
                <a:spcPts val="600"/>
              </a:spcAft>
            </a:pPr>
            <a:r>
              <a:rPr lang="en-US" dirty="0"/>
              <a:t>早期最常見的其實是 fluid overload。移植早期多達 60% 的病人有水分過多，肺水腫的確切發生率不清楚，估計超過 20%。</a:t>
            </a:r>
          </a:p>
          <a:p>
            <a:pPr>
              <a:spcAft>
                <a:spcPts val="600"/>
              </a:spcAft>
            </a:pPr>
            <a:r>
              <a:rPr lang="en-US" dirty="0"/>
              <a:t>表現是體重上升、喘、乾咳和中度低血氧，兩側肺底有 crackles，X 光是瀰漫性浸潤。體重增加、心胸比變大、加上 crackles，就要先想到它，很少需要量肺動脈壓。</a:t>
            </a:r>
          </a:p>
          <a:p>
            <a:pPr>
              <a:spcAft>
                <a:spcPts val="600"/>
              </a:spcAft>
            </a:pPr>
            <a:r>
              <a:rPr lang="en-US" dirty="0"/>
              <a:t>鑑別包括 anthracycline 或 CY 造成的心衰竭、SOS、capillary leak、engraftment syndrome、IPS 和 TRALI。治療就是限水加利尿。IPS 的定義正是要先排除這一項。</a:t>
            </a:r>
          </a:p>
          <a:p>
            <a:pPr>
              <a:spcAft>
                <a:spcPts val="600"/>
              </a:spcAft>
            </a:pPr>
            <a:r>
              <a:rPr lang="en-US" dirty="0"/>
              <a:t>病房上的做法很簡單，每天量體重、算 in and out。體重上升又有 crackles，先給利尿劑觀察反應，往往就能避免不必要的支氣管鏡。</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5:30 至 7:30]</a:t>
            </a:r>
          </a:p>
          <a:p>
            <a:pPr>
              <a:spcAft>
                <a:spcPts val="600"/>
              </a:spcAft>
            </a:pPr>
            <a:r>
              <a:rPr lang="en-US" dirty="0"/>
              <a:t>IPS 的定義是廣泛的肺泡損傷，同時沒有活動性下呼吸道感染、心臟或腎臟功能異常，也不是醫源性的水分過多。三項條件必須全部成立。</a:t>
            </a:r>
          </a:p>
          <a:p>
            <a:pPr>
              <a:spcAft>
                <a:spcPts val="600"/>
              </a:spcAft>
            </a:pPr>
            <a:r>
              <a:rPr lang="en-US" dirty="0"/>
              <a:t>第一項是肺泡損傷的證據，包括多葉浸潤、咳嗽、喘、呼吸急促、crackles 這些肺炎表現，再加上生理指標異常，A-a gradient 增加、需要氧氣，或新出現的限制型 PFT。</a:t>
            </a:r>
          </a:p>
          <a:p>
            <a:pPr>
              <a:spcAft>
                <a:spcPts val="600"/>
              </a:spcAft>
            </a:pPr>
            <a:r>
              <a:rPr lang="en-US" dirty="0"/>
              <a:t>第二項是排除感染，而且要靠 BAL。細菌要包括 AFB、Nocardia 和 Legionella；非細菌病原要做培養、CMV 的 shell vial、病毒 PCR，以及找 CMV inclusion、黴菌和 Pneumocystis 的細胞學。書上建議再考慮 metapneumovirus、HHV-6、Mycoplasma 的 PCR，以及血清和 BAL 的 galactomannan、血清 β-D-glucan。</a:t>
            </a:r>
          </a:p>
          <a:p>
            <a:pPr>
              <a:spcAft>
                <a:spcPts val="600"/>
              </a:spcAft>
            </a:pPr>
            <a:r>
              <a:rPr lang="en-US" dirty="0"/>
              <a:t>第三項是排除心臟、急性腎衰竭和水分過多。前一張講的 fluid overload，就是在這一步被排除的。</a:t>
            </a:r>
          </a:p>
          <a:p>
            <a:pPr>
              <a:spcAft>
                <a:spcPts val="600"/>
              </a:spcAft>
            </a:pPr>
            <a:r>
              <a:rPr lang="en-US" dirty="0"/>
              <a:t>時間上 IPS 典型發生在 day 120 以內，最早三週，最晚 day 180。考題常把 BAL 結果和心臟超音波放在題幹裡，讓你判斷三項是否都成立。</a:t>
            </a:r>
          </a:p>
          <a:p>
            <a:pPr>
              <a:spcAft>
                <a:spcPts val="600"/>
              </a:spcAft>
            </a:pPr>
            <a:r>
              <a:rPr lang="en-US" dirty="0"/>
              <a:t>實務上 IPS 是排除診斷，很多病例最後是在 BAL 驗不到病原之後才成立。書上也提醒，就算驗到病原，也不代表一定是感染造成，感染和免疫發炎可以同時存在，所以 BAL 陽性的病人，治療感染之外仍要評估是否合併 IPS。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IPS 的發生率過去大約 25%，現在已經降到 allo 移植的 10% 以下。MAC 合併 12 Gy 以上 TBI 大約 7%，成人 RIC 只有 2%。</a:t>
            </a:r>
          </a:p>
          <a:p>
            <a:pPr>
              <a:spcAft>
                <a:spcPts val="600"/>
              </a:spcAft>
            </a:pPr>
            <a:r>
              <a:rPr lang="en-US" dirty="0"/>
              <a:t>下降的原因有三個，定義變嚴格、RIC 用得更多，以及病原偵測進步。以前被叫做 IPS 的病例，有一部分其實是當時驗不到的感染。</a:t>
            </a:r>
          </a:p>
          <a:p>
            <a:pPr>
              <a:spcAft>
                <a:spcPts val="600"/>
              </a:spcAft>
            </a:pPr>
            <a:r>
              <a:rPr lang="en-US" dirty="0"/>
              <a:t>危險因子分成病人和移植兩邊。病人這邊是年紀大、KPS 低於 90、診斷到移植的間隔長。移植這邊是 MAC 或 12 Gy 以上的 TBI、HLA 不合、用 MTX 預防 GVHD。另外還有 acute GVHD、先前的病毒感染，以及白血病以外的惡性疾病。</a:t>
            </a:r>
          </a:p>
          <a:p>
            <a:pPr>
              <a:spcAft>
                <a:spcPts val="600"/>
              </a:spcAft>
            </a:pPr>
            <a:r>
              <a:rPr lang="en-US" dirty="0"/>
              <a:t>機轉上，肺對細胞和可溶性發炎因子都很敏感，主要走 TNF-α/LPS 和 IL-6/IL-17 兩條路，這正是下一張治療的依據。</a:t>
            </a:r>
          </a:p>
          <a:p>
            <a:pPr>
              <a:spcAft>
                <a:spcPts val="600"/>
              </a:spcAft>
            </a:pPr>
            <a:r>
              <a:rPr lang="en-US" dirty="0"/>
              <a:t>題目如果給一位接受 12 Gy TBI、HLA 不合、用 MTX 預防、又有 aGVHD 的病人，就是在暗示 IPS 的高風險族群。相反地，成人 RIC 的病人只有 2%，出現肺浸潤時要更積極找感染或其他原因。</a:t>
            </a:r>
          </a:p>
          <a:p>
            <a:pPr>
              <a:spcAft>
                <a:spcPts val="600"/>
              </a:spcAft>
            </a:pPr>
            <a:r>
              <a:rPr lang="en-US" dirty="0"/>
              <a:t>書上也提到，肺部微生物體和 metatranscriptome 可能參與移植後肺部發炎，這是目前研究的方向。</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9:00 至 10:30]</a:t>
            </a:r>
          </a:p>
          <a:p>
            <a:pPr>
              <a:spcAft>
                <a:spcPts val="600"/>
              </a:spcAft>
            </a:pPr>
            <a:r>
              <a:rPr lang="en-US" dirty="0"/>
              <a:t>治療先做支持療法，給氧，必要時用 high-flow nasal oxygen、CPAP 或插管，同時經驗性給廣效抗生素，並嚴格控制水分，必要時做 hemofiltration。</a:t>
            </a:r>
          </a:p>
          <a:p>
            <a:pPr>
              <a:spcAft>
                <a:spcPts val="600"/>
              </a:spcAft>
            </a:pPr>
            <a:r>
              <a:rPr lang="en-US" dirty="0"/>
              <a:t>特定治療針對 TNF-α 這條路。Methylprednisolone 每天 2 mg/kg 以內，加上 etanercept 0.4 mg/kg 一週兩次，最多 8 劑。劑量和最多 8 劑這兩個數字都值得記。</a:t>
            </a:r>
          </a:p>
          <a:p>
            <a:pPr>
              <a:spcAft>
                <a:spcPts val="600"/>
              </a:spcAft>
            </a:pPr>
            <a:r>
              <a:rPr lang="en-US" dirty="0"/>
              <a:t>要提醒的是，書上 steroid 那一行寫著「若反應不明確，盡快考慮」，後面的受詞漏掉了，依上下文應該是指加上 etanercept，上課前會再對照紙本。</a:t>
            </a:r>
          </a:p>
          <a:p>
            <a:pPr>
              <a:spcAft>
                <a:spcPts val="600"/>
              </a:spcAft>
            </a:pPr>
            <a:r>
              <a:rPr lang="en-US" dirty="0"/>
              <a:t>IL-6 和 IL-17 這條路的 tocilizumab、brodalumab，目前只在動物模型。TNF blockade 沒反應的病人 IL-6 最高，所以未來可能要合併阻斷。保護肺血管內皮的策略也還在研究階段。</a:t>
            </a:r>
          </a:p>
          <a:p>
            <a:pPr>
              <a:spcAft>
                <a:spcPts val="600"/>
              </a:spcAft>
            </a:pPr>
            <a:r>
              <a:rPr lang="en-US" dirty="0"/>
              <a:t>Etanercept 是 soluble TNF receptor，作用是中和 TNF-α，所以理論上和 IPS 的 TNF/LPS 路徑對得上。開始 etanercept 時，經驗性抗生素要繼續給，因為 BAL 陰性不代表完全沒有感染，而且兩者可以同時存在。</a:t>
            </a:r>
          </a:p>
          <a:p>
            <a:pPr>
              <a:spcAft>
                <a:spcPts val="600"/>
              </a:spcAft>
            </a:pPr>
            <a:r>
              <a:rPr lang="en-US" dirty="0"/>
              <a:t>Etanercept 最多 8 劑，一週兩次，所以完整療程大約四週。</a:t>
            </a:r>
          </a:p>
          <a:p>
            <a:pPr>
              <a:spcAft>
                <a:spcPts val="600"/>
              </a:spcAft>
            </a:pPr>
            <a:r>
              <a:rPr lang="en-US" b="1" dirty="0"/>
              <a:t>講者提醒（不念出來）：</a:t>
            </a:r>
          </a:p>
          <a:p>
            <a:pPr>
              <a:spcAft>
                <a:spcPts val="600"/>
              </a:spcAft>
            </a:pPr>
            <a:r>
              <a:rPr lang="en-US" dirty="0"/>
              <a:t>- TO CONFIRM BEFORE PRESENTING: Ch. 52 reads 'Methyl-PDN ≤ 2 mg/kg/day; if not clear response, consider as soon as possible' with the object missing; presumably etanercept is meant. Check the printed chapter.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10:30 至 12:00]</a:t>
            </a:r>
          </a:p>
          <a:p>
            <a:pPr>
              <a:spcAft>
                <a:spcPts val="600"/>
              </a:spcAft>
            </a:pPr>
            <a:r>
              <a:rPr lang="en-US" dirty="0"/>
              <a:t>Etanercept 的證據主要來自兒童。Yanik 2015 的 phase II，也就是 COG 的 ASCT0521，etanercept 加 steroid，CR 71%，一年存活 63%。</a:t>
            </a:r>
          </a:p>
          <a:p>
            <a:pPr>
              <a:spcAft>
                <a:spcPts val="600"/>
              </a:spcAft>
            </a:pPr>
            <a:r>
              <a:rPr lang="en-US" dirty="0"/>
              <a:t>Thompson 2017 看的是少見的晚發 IPS，同樣的組合 CR 42%，有反應的人兩年存活 62%。</a:t>
            </a:r>
          </a:p>
          <a:p>
            <a:pPr>
              <a:spcAft>
                <a:spcPts val="600"/>
              </a:spcAft>
            </a:pPr>
            <a:r>
              <a:rPr lang="en-US" dirty="0"/>
              <a:t>成人唯一的 randomized trial 是 Yanik 2014，steroid 加 etanercept 對比 steroid 加安慰劑，因為收案太慢提早結束。在有限的病人裡，day 28 兩組反應率都大約 60%，沒有差別。書上特別強調，這個收案不足的試驗缺乏證據，不等於藥物無效。</a:t>
            </a:r>
          </a:p>
          <a:p>
            <a:pPr>
              <a:spcAft>
                <a:spcPts val="600"/>
              </a:spcAft>
            </a:pPr>
            <a:r>
              <a:rPr lang="en-US" dirty="0"/>
              <a:t>所以考題如果問成人 IPS 的標準治療，答案仍然是 steroid 加 etanercept，但要知道 RCT 是陰性的。Wenger 2020 也提醒，即使診斷和治療都有進步，成人 IPS 的死亡率仍然很高。</a:t>
            </a:r>
          </a:p>
          <a:p>
            <a:pPr>
              <a:spcAft>
                <a:spcPts val="600"/>
              </a:spcAft>
            </a:pPr>
            <a:r>
              <a:rPr lang="en-US" dirty="0"/>
              <a:t>另外 Varelias 2015 的動物模型發現，對 TNF blockade 沒反應的病人 IL-6 最高，這也是未來考慮合併阻斷 TNF 和 IL-6 的理由。換到病房上，若 etanercept 加 steroid 一週左右仍無反應，就要重新檢討診斷，再找一次感染。</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DAH 是急性呼吸衰竭的重要原因，發生在 2 到 14% 的移植病人，機轉是肺泡微血管基底膜受損，所以也屬於內皮症候群。它可以是非感染性，也可以和感染有關。</a:t>
            </a:r>
          </a:p>
          <a:p>
            <a:pPr>
              <a:spcAft>
                <a:spcPts val="600"/>
              </a:spcAft>
            </a:pPr>
            <a:r>
              <a:rPr lang="en-US" dirty="0"/>
              <a:t>時間上中位數 day 23，常在 engraftment 之前，但多達 42% 較晚才發生。臨床表現和其他 IPS 一樣，真正的咳血反而少見，不能等到咳血才懷疑。</a:t>
            </a:r>
          </a:p>
          <a:p>
            <a:pPr>
              <a:spcAft>
                <a:spcPts val="600"/>
              </a:spcAft>
            </a:pPr>
            <a:r>
              <a:rPr lang="en-US" dirty="0"/>
              <a:t>診斷要靠 BAL，至少三個 segmental bronchi 連續灌洗，回收液一管比一管更紅，代表肺泡內有血。含鐵血素巨噬細胞 20% 可以支持，但可能要 72 小時才出現，所以早期沒看到不能排除。這兩個細節是考題最愛的陷阱。</a:t>
            </a:r>
          </a:p>
          <a:p>
            <a:pPr>
              <a:spcAft>
                <a:spcPts val="600"/>
              </a:spcAft>
            </a:pPr>
            <a:r>
              <a:rPr lang="en-US" dirty="0"/>
              <a:t>危險因子是 TBI 和高劑量 CY。和典型 IPS 的鑑別非常困難，只能靠 BAL；典型 IPS 通常在 engraftment 之後、以 allo 為主、對 steroid 反應較差。和 PERDS 幾乎無法區分，除非 BAL 越洗越紅。非感染性 DAH 本身就歸在 IPS 的大傘下。</a:t>
            </a:r>
          </a:p>
          <a:p>
            <a:pPr>
              <a:spcAft>
                <a:spcPts val="600"/>
              </a:spcAft>
            </a:pPr>
            <a:r>
              <a:rPr lang="en-US" dirty="0"/>
              <a:t>為什麼一定要強調 BAL，是因為 DAH、典型 IPS、PERDS 和感染相關出血的表現幾乎一樣，影像也分不出來。BAL 同時可以排除感染，所以懷疑 DAH 時，支氣管鏡一樣要盡早做，而且要做在三個以上的 segmental bronchi。</a:t>
            </a:r>
          </a:p>
          <a:p>
            <a:pPr>
              <a:spcAft>
                <a:spcPts val="600"/>
              </a:spcAft>
            </a:pPr>
            <a:r>
              <a:rPr lang="en-US" dirty="0"/>
              <a:t>考試常給一個 engraftment 前、接受過 TBI 或高劑量 CY、沒有咳血的病人，再給 BAL 越洗越紅的描述，就是在考 DAH。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DAH 的治療傳統上用高劑量 methylprednisolone，250 到 500 mg 每六小時一次，給五天後減量。這個劑量比 IPS 的 2 mg/kg 高得多，兩者不要搞混。</a:t>
            </a:r>
          </a:p>
          <a:p>
            <a:pPr>
              <a:spcAft>
                <a:spcPts val="600"/>
              </a:spcAft>
            </a:pPr>
            <a:r>
              <a:rPr lang="en-US" dirty="0"/>
              <a:t>Rathi 2015 比較低、中、高劑量 steroid，加或不加 aminocaproic acid，整體反應都令人失望。書上補充，這個研究裡三分之二是非感染性、可歸為 IPS 的 DAH，卻沒有人用 TNF 抑制劑。Recombinant factor VIIa 合併高劑量 steroid，有些研究有幫助，有些沒有。</a:t>
            </a:r>
          </a:p>
          <a:p>
            <a:pPr>
              <a:spcAft>
                <a:spcPts val="600"/>
              </a:spcAft>
            </a:pPr>
            <a:r>
              <a:rPr lang="en-US" dirty="0"/>
              <a:t>預後很差，day 100 總死亡率可達 85%。直接死於出血的不到 15%，多數是演變成多重器官衰竭，死亡率因此超過 60%，auto 大約 30%，allo 大約 70%。Auto 移植後發生的 DAH 預後比較好，這也是常考的比較點。</a:t>
            </a:r>
          </a:p>
          <a:p>
            <a:pPr>
              <a:spcAft>
                <a:spcPts val="600"/>
              </a:spcAft>
            </a:pPr>
            <a:r>
              <a:rPr lang="en-US" dirty="0"/>
              <a:t>實務上，除了高劑量 steroid，還要矯正凝血功能、維持血小板，並積極排除感染，因為感染相關的出血預後同樣很差。Day 100 死亡率 85% 這個數字，說明 DAH 是移植早期最致命的肺部併發症之一。</a:t>
            </a:r>
          </a:p>
          <a:p>
            <a:pPr>
              <a:spcAft>
                <a:spcPts val="600"/>
              </a:spcAft>
            </a:pPr>
            <a:r>
              <a:rPr lang="en-US" b="1" dirty="0"/>
              <a:t>講者提醒（不念出來）：</a:t>
            </a:r>
          </a:p>
          <a:p>
            <a:pPr>
              <a:spcAft>
                <a:spcPts val="600"/>
              </a:spcAft>
            </a:pPr>
            <a:r>
              <a:rPr lang="en-US" dirty="0"/>
              <a:t>- Ch. 52 says MOF raises mortality to '&gt;60% (30% in auto- and 70% in allo-HCT)'; the 30% auto figure sits below the &gt;60% overall. Present the auto/allo split as given and do not reconcile.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Day 100 以後的晚期非感染性併發症，在 allo 移植可達 20%，最常見的是 BOS 和 ILD。診斷前一定要先排除感染，雖然病毒感染常常就是誘發因子。</a:t>
            </a:r>
          </a:p>
          <a:p>
            <a:pPr>
              <a:spcAft>
                <a:spcPts val="600"/>
              </a:spcAft>
            </a:pPr>
            <a:r>
              <a:rPr lang="en-US" dirty="0"/>
              <a:t>BOS 是目前唯一被認可的肺部 chronic GVHD。危險因子是其他部位的 cGVHD、呼吸道病毒感染和肺功能下降。多在移植後 6 到 24 個月發生，發生率 3 到 11%，超過九成合併其他部位的 cGVHD。</a:t>
            </a:r>
          </a:p>
          <a:p>
            <a:pPr>
              <a:spcAft>
                <a:spcPts val="600"/>
              </a:spcAft>
            </a:pPr>
            <a:r>
              <a:rPr lang="en-US" dirty="0"/>
              <a:t>早期可以完全沒有症狀，所以建議移植前做基準 PFT，第一年每三個月追蹤；有其他部位 GVHD，或剛得過呼吸道病毒感染的人，要更密集地做 spirometry。</a:t>
            </a:r>
          </a:p>
          <a:p>
            <a:pPr>
              <a:spcAft>
                <a:spcPts val="600"/>
              </a:spcAft>
            </a:pPr>
            <a:r>
              <a:rPr lang="en-US" dirty="0"/>
              <a:t>CT 是 mosaic attenuation、支氣管擴張、管壁增厚和呼氣相的 air trapping。兩年存活 65 到 79%，五年 74%，越早發生預後越差。</a:t>
            </a:r>
          </a:p>
          <a:p>
            <a:pPr>
              <a:spcAft>
                <a:spcPts val="600"/>
              </a:spcAft>
            </a:pPr>
            <a:r>
              <a:rPr lang="en-US" dirty="0"/>
              <a:t>為什麼要這麼密集地追蹤 PFT，是因為 BOS 一旦造成阻塞，多半不可逆，FEV1 掉下去就很難回來。很多中心在 cGVHD 門診每次都排 spirometry，就是根據這個建議。CT 上移植後三個月的支氣管異常，也能預測後續 BOS。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NIH 共識的 BOS 診斷，是其他部位有 cGVHD，再加上新出現、對支氣管擴張劑沒反應、合併 air trapping 的阻塞型缺損。三個 PFT 數字要記牢，FEV1/VC 小於 0.7 或低於第五百分位，FEV1 小於預測值 75% 且比基準下降 10% 以上，RV 大於預測值 120%。</a:t>
            </a:r>
          </a:p>
          <a:p>
            <a:pPr>
              <a:spcAft>
                <a:spcPts val="600"/>
              </a:spcAft>
            </a:pPr>
            <a:r>
              <a:rPr lang="en-US" dirty="0"/>
              <a:t>最新的 NIH 共識只靠肺功能就能診斷，不需要切片，所以叫 BOS，而不是需要病理的 BO。例外是肺為唯一的 cGVHD 器官，這時需要 VATS 切片確認。</a:t>
            </a:r>
          </a:p>
          <a:p>
            <a:pPr>
              <a:spcAft>
                <a:spcPts val="600"/>
              </a:spcAft>
            </a:pPr>
            <a:r>
              <a:rPr lang="en-US" dirty="0"/>
              <a:t>CT 在診斷時一定要做，目的是排除其他診斷；如果看到肺實質浸潤，代表另有診斷或合併其他問題。超過三成病人移植前的 CT 就有 air trapping，所以呼氣相 CT 的價值有限，BOS 的診斷主要靠 PFT。</a:t>
            </a:r>
          </a:p>
          <a:p>
            <a:pPr>
              <a:spcAft>
                <a:spcPts val="600"/>
              </a:spcAft>
            </a:pPr>
            <a:r>
              <a:rPr lang="en-US" dirty="0"/>
              <a:t>臨床上最常見的情境，是一位皮膚或口腔 cGVHD 的病人在門診 spirometry 發現 FEV1 下降，這時要先排除感染，再確認阻塞對支氣管擴張劑沒反應、RV 上升，就能直接診斷 BOS，不必等切片。</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18:30 至 20:00]</a:t>
            </a:r>
          </a:p>
          <a:p>
            <a:pPr>
              <a:spcAft>
                <a:spcPts val="600"/>
              </a:spcAft>
            </a:pPr>
            <a:r>
              <a:rPr lang="en-US" dirty="0"/>
              <a:t>BOS 的治療證據都很弱，書上明說證據不足以建議任何固定流程。唯一在 double-blind、placebo-controlled RCT 證明能改善 FEV1 的，是吸入型 budesonide/formoterol，對象是新診斷的中重度 BOS。</a:t>
            </a:r>
          </a:p>
          <a:p>
            <a:pPr>
              <a:spcAft>
                <a:spcPts val="600"/>
              </a:spcAft>
            </a:pPr>
            <a:r>
              <a:rPr lang="en-US" dirty="0"/>
              <a:t>臨床常用的 FAM，也就是 fluticasone、azithromycin、montelukast，只有單臂研究，結果是 FEV1 穩定。Azithromycin 要特別小心，ALLOZITHRO 和後續研究顯示可能增加癌症風險，尤其是移植後早期使用。</a:t>
            </a:r>
          </a:p>
          <a:p>
            <a:pPr>
              <a:spcAft>
                <a:spcPts val="600"/>
              </a:spcAft>
            </a:pPr>
            <a:r>
              <a:rPr lang="en-US" dirty="0"/>
              <a:t>全身性 steroid 對 BOS 效果差，開始前要衡量利弊。末期 BOS 如果肺外 GVHD 不活躍、復發風險很低，可以考慮肺移植。支持療法包括肺復健、治療胃食道逆流、感染預防、呼吸道病毒疫苗，以及感染合併低丙種球蛋白時補 IVIg。</a:t>
            </a:r>
          </a:p>
          <a:p>
            <a:pPr>
              <a:spcAft>
                <a:spcPts val="600"/>
              </a:spcAft>
            </a:pPr>
            <a:r>
              <a:rPr lang="en-US" dirty="0"/>
              <a:t>FEV1 通常先急降再穩定，之後的下滑多和感染有關，所以療效指標是穩定還是改善，至今仍有爭議。</a:t>
            </a:r>
          </a:p>
          <a:p>
            <a:pPr>
              <a:spcAft>
                <a:spcPts val="600"/>
              </a:spcAft>
            </a:pPr>
            <a:r>
              <a:rPr lang="en-US" dirty="0"/>
              <a:t>門診上通常是確診後就開始吸入型藥物，同時看肺外 cGVHD 的活性決定全身治療，至於全身治療的選擇，第 9 堂有完整的表。</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20:00 至 21:30]</a:t>
            </a:r>
          </a:p>
          <a:p>
            <a:pPr>
              <a:spcAft>
                <a:spcPts val="600"/>
              </a:spcAft>
            </a:pPr>
            <a:r>
              <a:rPr lang="en-US" dirty="0"/>
              <a:t>ILD 的三年累積發生率 5%。和 BOS 不同，ILD 的診斷靠影像，在排除感染之後看到肺實質浸潤。任何時間都可能發生，多數病人以喘來表現，四分之一是在加護病房才診斷。</a:t>
            </a:r>
          </a:p>
          <a:p>
            <a:pPr>
              <a:spcAft>
                <a:spcPts val="600"/>
              </a:spcAft>
            </a:pPr>
            <a:r>
              <a:rPr lang="en-US" dirty="0"/>
              <a:t>依 CT 分成三型，organizing pneumonia 37%，PPFE 13%，無法分類的 50%，後者包括 NSIP 等不同的病理診斷。</a:t>
            </a:r>
          </a:p>
          <a:p>
            <a:pPr>
              <a:spcAft>
                <a:spcPts val="600"/>
              </a:spcAft>
            </a:pPr>
            <a:r>
              <a:rPr lang="en-US" dirty="0"/>
              <a:t>臨床上要分兩群。OP 和無法分類型屬於發炎型，通常對 steroid 有反應，但減量時容易復發。PPFE 發炎很少，對包括 steroid 在內的免疫抑制都沒反應，而且常在移植多年後才出現。</a:t>
            </a:r>
          </a:p>
          <a:p>
            <a:pPr>
              <a:spcAft>
                <a:spcPts val="600"/>
              </a:spcAft>
            </a:pPr>
            <a:r>
              <a:rPr lang="en-US" dirty="0"/>
              <a:t>特有的危險因子是先前胸部放射治療，以及發病時沒有在用免疫抑制劑。完整 PFT 可以評估嚴重度，也能發現四分之一合併 BOS 的混合型。ILD 是否也算肺部 cGVHD，書上認為仍是開放的問題。</a:t>
            </a:r>
          </a:p>
          <a:p>
            <a:pPr>
              <a:spcAft>
                <a:spcPts val="600"/>
              </a:spcAft>
            </a:pPr>
            <a:r>
              <a:rPr lang="en-US" dirty="0"/>
              <a:t>病房上遇到 cGVHD 病人出現新的肺部浸潤，排除感染後，先看 CT 型態判斷是發炎型還是 PPFE，這會決定要不要給 steroid。PPFE 常在上肺葉，移植多年後慢慢出現。</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21:30 至 23:30]</a:t>
            </a:r>
          </a:p>
          <a:p>
            <a:pPr>
              <a:spcAft>
                <a:spcPts val="600"/>
              </a:spcAft>
            </a:pPr>
            <a:r>
              <a:rPr lang="en-US" dirty="0"/>
              <a:t>這張是第 52 章的 Table 52.3，把 BOS 和 ILD 並排比較，是整章最值得背的一張表。</a:t>
            </a:r>
          </a:p>
          <a:p>
            <a:pPr>
              <a:spcAft>
                <a:spcPts val="600"/>
              </a:spcAft>
            </a:pPr>
            <a:r>
              <a:rPr lang="en-US" dirty="0"/>
              <a:t>發病時間很接近，BOS 中位數 13 個月，ILD 15 個月，但 PPFE 可以在移植很多年後才出現。兩者都常合併肺外 cGVHD，BOS 超過 90%，ILD 超過 75%，PPFE 則不到一半。</a:t>
            </a:r>
          </a:p>
          <a:p>
            <a:pPr>
              <a:spcAft>
                <a:spcPts val="600"/>
              </a:spcAft>
            </a:pPr>
            <a:r>
              <a:rPr lang="en-US" dirty="0"/>
              <a:t>診斷依據剛好相反，BOS 靠 PFT，ILD 靠胸部影像。BOS 的 CT 是支氣管變化和 air trapping，沒有肺泡或間質浸潤；ILD 的 CT 就是肺泡或間質浸潤。</a:t>
            </a:r>
          </a:p>
          <a:p>
            <a:pPr>
              <a:spcAft>
                <a:spcPts val="600"/>
              </a:spcAft>
            </a:pPr>
            <a:r>
              <a:rPr lang="en-US" dirty="0"/>
              <a:t>PFT 上，BOS 是阻塞型，FEV1/FVC 小於 0.7、TLC 大於 80%。ILD 是正常或限制型，TLC 小於 80%、FEV1/FVC 大於 0.7，合併 BOS 時變成混合型，兩者 FEV1/FVC 都小於 0.7、TLC 小於 80%，DLCO 都下降。</a:t>
            </a:r>
          </a:p>
          <a:p>
            <a:pPr>
              <a:spcAft>
                <a:spcPts val="600"/>
              </a:spcAft>
            </a:pPr>
            <a:r>
              <a:rPr lang="en-US" dirty="0"/>
              <a:t>兩者的肺外 cGVHD 比例都很高，所以書上也提出疑問，ILD 是否其實是肺部 cGVHD 的另一種表現，目前還沒有定論。PPFE 是例外，肺外 cGVHD 不到一半，對免疫抑制也沒有反應。</a:t>
            </a:r>
          </a:p>
          <a:p>
            <a:pPr>
              <a:spcAft>
                <a:spcPts val="600"/>
              </a:spcAft>
            </a:pPr>
            <a:r>
              <a:rPr lang="en-US" dirty="0"/>
              <a:t>治療上 BOS 的選擇有限，ILD 通常對 steroid 有反應，PPFE 除外。長期存活其實相近，五年都在七成上下，但呼吸功能障礙和反覆感染很常見。考題給 PFT 數字和 CT 描述，用這張表就能判斷。</a:t>
            </a:r>
          </a:p>
          <a:p>
            <a:pPr>
              <a:spcAft>
                <a:spcPts val="600"/>
              </a:spcAft>
            </a:pPr>
            <a:r>
              <a:rPr lang="en-US" dirty="0"/>
              <a:t>實際判讀時，先看 FEV1/FVC 是否小於 0.7，再看 TLC 是否小於 80%，最後看 CT 有沒有實質浸潤。三個問題答完，BOS、ILD 或混合型就分得出來。</a:t>
            </a:r>
          </a:p>
          <a:p>
            <a:pPr>
              <a:spcAft>
                <a:spcPts val="600"/>
              </a:spcAft>
            </a:pPr>
            <a:r>
              <a:rPr lang="en-US" b="1" dirty="0"/>
              <a:t>講者提醒（不念出來）：</a:t>
            </a:r>
          </a:p>
          <a:p>
            <a:pPr>
              <a:spcAft>
                <a:spcPts val="600"/>
              </a:spcAft>
            </a:pPr>
            <a:r>
              <a:rPr lang="en-US" dirty="0"/>
              <a:t>- Table 52.2 gives BOS OS 65–79% at 2 years and 74% at 5 years; Table 52.3 gives 79% at 3 years. Both are from Ch. 52; quote each with its own time point.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第一題。42 歲男性，AML，接受 12 Gy TBI 的 MAC，HLA 不合的非親屬捐贈者，GVHD 預防含 MTX。Day 45、已經 engraft，出現發燒、乾咳、低血氧和多葉浸潤。心臟超音波、肌酸酐、體重都正常。第二天做的 BAL，細菌、病毒、黴菌和 Pneumocystis 都陰性，回收液也不帶血。</a:t>
            </a:r>
          </a:p>
          <a:p>
            <a:pPr>
              <a:spcAft>
                <a:spcPts val="600"/>
              </a:spcAft>
            </a:pPr>
            <a:r>
              <a:rPr lang="en-US" dirty="0"/>
              <a:t>選項是高劑量 steroid 加 aminocaproic acid、低劑量 steroid 加 etanercept、tocilizumab、吸入型 budesonide/formoterol，以及先做手術切片。</a:t>
            </a:r>
          </a:p>
          <a:p>
            <a:pPr>
              <a:spcAft>
                <a:spcPts val="600"/>
              </a:spcAft>
            </a:pPr>
            <a:r>
              <a:rPr lang="en-US" dirty="0"/>
              <a:t>題幹裡的危險因子很多，留意一下。</a:t>
            </a:r>
          </a:p>
          <a:p>
            <a:pPr>
              <a:spcAft>
                <a:spcPts val="600"/>
              </a:spcAft>
            </a:pPr>
            <a:r>
              <a:rPr lang="en-US" dirty="0"/>
              <a:t>請先確認 IPS 三項條件是否成立，再選治療。</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B。多葉浸潤加低血氧代表肺泡損傷，BAL 陰性排除感染，心臟、腎臟和水分都正常，IPS 三要件全部成立。TBI 12 Gy、MAC、HLA 不合和 MTX 都是危險因子。治療是 methylprednisolone 每天 2 mg/kg 以內，加 etanercept 0.4 mg/kg 一週兩次，最多 8 劑。</a:t>
            </a:r>
          </a:p>
          <a:p>
            <a:pPr>
              <a:spcAft>
                <a:spcPts val="600"/>
              </a:spcAft>
            </a:pPr>
            <a:r>
              <a:rPr lang="en-US" dirty="0"/>
              <a:t>A 是 DAH 的高劑量 steroid，這位病人 BAL 不帶血，而且 aminocaproic acid 的效果本來就令人失望。C 的 tocilizumab 只有動物實驗。D 是 BOS 的藥。E 也不對，書上不鼓勵切片，只保留給晚發、非侵入檢查無法診斷的病例。</a:t>
            </a:r>
          </a:p>
          <a:p>
            <a:pPr>
              <a:spcAft>
                <a:spcPts val="600"/>
              </a:spcAft>
            </a:pPr>
            <a:r>
              <a:rPr lang="en-US" dirty="0"/>
              <a:t>這題同時考了 IPS 和 DAH 的劑量差別，2 mg/kg 對比 250 到 500 mg 每六小時，考前一定要分清楚。</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第二題。30 歲女性，Cy/TBI 的 myeloablative allo 移植。Day 19、還沒 engraft，出現低血氧和瀰漫性浸潤，沒有咳血。三個 segmental bronchi 的 BAL 回收液一管比一管紅，含鐵血素巨噬細胞只有 5%，培養和 PCR 都陰性。</a:t>
            </a:r>
          </a:p>
          <a:p>
            <a:pPr>
              <a:spcAft>
                <a:spcPts val="600"/>
              </a:spcAft>
            </a:pPr>
            <a:r>
              <a:rPr lang="en-US" dirty="0"/>
              <a:t>選項 A 沒有咳血不支持診斷，B 巨噬細胞不到 20% 所以排除，C 多數死於出血本身，D auto 移植後預後較好，E 非感染型不屬於 IPS。哪一個正確。</a:t>
            </a:r>
          </a:p>
          <a:p>
            <a:pPr>
              <a:spcAft>
                <a:spcPts val="600"/>
              </a:spcAft>
            </a:pPr>
            <a:r>
              <a:rPr lang="en-US" dirty="0"/>
              <a:t>題幹的每個數字都有用意，請仔細看。</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D。BAL 越洗越紅，就是 DAH，加上 TBI、高劑量 CY 和 engraftment 前這個時間點，都很典型。Auto 移植後的 DAH 預後比 allo 好。</a:t>
            </a:r>
          </a:p>
          <a:p>
            <a:pPr>
              <a:spcAft>
                <a:spcPts val="600"/>
              </a:spcAft>
            </a:pPr>
            <a:r>
              <a:rPr lang="en-US" dirty="0"/>
              <a:t>B 是最常見的錯誤，含鐵血素巨噬細胞可能要 72 小時才出現，沒看到不能排除。A 也錯，真正咳血很少見。C 錯在死因，直接死於出血的不到 15%，多數死於多重器官衰竭。E 剛好相反，非感染性 DAH 歸在 IPS 的大傘下。</a:t>
            </a:r>
          </a:p>
          <a:p>
            <a:pPr>
              <a:spcAft>
                <a:spcPts val="600"/>
              </a:spcAft>
            </a:pPr>
            <a:r>
              <a:rPr lang="en-US" dirty="0"/>
              <a:t>這題的病人在 engraftment 前、接受過 TBI 和 Cy，都是 DAH 的典型背景。臨床上記住兩件事，診斷看 BAL 是否越洗越紅，預後要看是否演變成多重器官衰竭。</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第三題。48 歲女性，口腔和皮膚有 chronic GVHD，移植後 14 個月漸進性喘。FEV1/VC 0.62，FEV1 是預測值 58%，比基準掉了 25%，RV 140%，對支氣管擴張劑沒反應。CT 有 mosaic 和 air trapping，沒有實質浸潤，BAL 陰性。</a:t>
            </a:r>
          </a:p>
          <a:p>
            <a:pPr>
              <a:spcAft>
                <a:spcPts val="600"/>
              </a:spcAft>
            </a:pPr>
            <a:r>
              <a:rPr lang="en-US" dirty="0"/>
              <a:t>選項 A 需要肺切片，B 全身 steroid 很有效，C 吸入型 budesonide/formoterol 在 RCT 改善 FEV1，D 是 organizing pneumonia，E 早期 azithromycin 安全又降低癌症風險。先決定是 BOS 還是 ILD，再想治療證據。</a:t>
            </a:r>
          </a:p>
          <a:p>
            <a:pPr>
              <a:spcAft>
                <a:spcPts val="600"/>
              </a:spcAft>
            </a:pPr>
            <a:r>
              <a:rPr lang="en-US" dirty="0"/>
              <a:t>題幹的 PFT 數字要一個一個對照。</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C。FEV1/VC 小於 0.7、FEV1 小於 75% 且下降超過 10%、RV 大於 120%，加上其他部位有 cGVHD，符合 NIH 的 BOS。唯一有 double-blind RCT 證明能改善 FEV1 的就是吸入型 budesonide/formoterol。</a:t>
            </a:r>
          </a:p>
          <a:p>
            <a:pPr>
              <a:spcAft>
                <a:spcPts val="600"/>
              </a:spcAft>
            </a:pPr>
            <a:r>
              <a:rPr lang="en-US" dirty="0"/>
              <a:t>A 是最常見的錯誤，只有肺是唯一 cGVHD 器官時才需要切片，這位病人有口腔和皮膚 GVHD。B 錯，steroid 對 BOS 效果很差。D 的 organizing pneumonia 屬於 ILD，CT 會有實質浸潤。E 剛好相反，azithromycin 可能增加癌症風險，早期使用尤其要小心。</a:t>
            </a:r>
          </a:p>
          <a:p>
            <a:pPr>
              <a:spcAft>
                <a:spcPts val="600"/>
              </a:spcAft>
            </a:pPr>
            <a:r>
              <a:rPr lang="en-US" dirty="0"/>
              <a:t>這題考的是 BOS 和 ILD 的分辨，以及治療證據的強度。看到阻塞型 PFT、air trapping、沒有實質浸潤，就是 BOS。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這是第 44 章的內容，第 9 堂已經講過。只要肺有輕度侵犯，整體至少是 moderate；肺是中度或重度，整體就是 severe。肺部侵犯也是 cGVHD 長期死亡的危險因子之一，abatacept 和 imatinib 在肺部 cGVHD 有一些資料。</a:t>
            </a:r>
          </a:p>
          <a:p>
            <a:pPr>
              <a:spcAft>
                <a:spcPts val="600"/>
              </a:spcAft>
            </a:pPr>
            <a:r>
              <a:rPr lang="en-US" b="1" dirty="0"/>
              <a:t>講者提醒（不念出來）：</a:t>
            </a:r>
          </a:p>
          <a:p>
            <a:pPr>
              <a:spcAft>
                <a:spcPts val="600"/>
              </a:spcAft>
            </a:pPr>
            <a:r>
              <a:rPr lang="en-US" dirty="0"/>
              <a:t>- Ch. 44 prints the number of involved organs as '&gt;3' for both moderate and severe; the organ-count row is left off this slide. Check Session 09 for the agreed wording.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IPS 病人的 sTNFR1、IL-6、ST2 等會上升，其中 sTNFR1、IL-6 和 ST2 在症狀出現前就有預測力。Rowan 2022 的 panel 在 day 7 就能預測呼吸衰竭和死亡，但目前都還不是常規檢查。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目前的 BOS 標準大概只能抓到晚期病人，而且有些 FEV1/VC 正常的 BOS 不在 NIH 標準內。第 44 章另外提醒，兒童的呼吸肌無力、胸壁硬化和 TBI 後胸廓生長不良，會讓 PFT 呈現混合型。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Noninfectious pulmonary complications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15 · Ch. 52</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PULMONARY COMPLICATIONS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Work-up first, then early and late syndromes, then three questions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Classification and diagnostic work-up</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ATS tissue-based classification, the six-step work-up, BAL yield</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Early: fluid overload, IPS, DAH</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IPS criteria, risk factors, steroids plus etanercept; DAH on BAL</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11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Late: BOS and ILD</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NIH criteria for BOS, inhaled therapy, ILD patterns, PFT versus CT</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Board-style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IPS, DAH and BOS vignettes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CLASSIFICATION · ATS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Noninfectious lung injury is classified by the tissue primarily injured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7699248"/>
              </a:tblGrid>
              <a:tr h="0">
                <a:tc>
                  <a:txBody>
                    <a:bodyPr/>
                    <a:lstStyle/>
                    <a:p>
                      <a:pPr indent="0" marL="0">
                        <a:buNone/>
                      </a:pPr>
                      <a:r>
                        <a:rPr lang="en-US" sz="1600" b="1" dirty="0">
                          <a:solidFill>
                            <a:schemeClr val="tx1"/>
                          </a:solidFill>
                        </a:rPr>
                        <a:t>Tissue injured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Entities (* = counts as IPS if early after HCT)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Pulmonary parenchyma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Acute interstitial pneumonitis*, ARDS*, delayed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Parenchyma (cont.)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BCNU and radiation pneumonitis, eosinophilic pneumonia,</a:t>
                      </a:r>
                      <a:endParaRPr lang="en-US" sz="1600" dirty="0"/>
                    </a:p>
                    <a:p>
                      <a:pPr indent="0" marL="0">
                        <a:buNone/>
                      </a:pPr>
                      <a:r>
                        <a:rPr lang="en-US" sz="1600" dirty="0">
                          <a:solidFill>
                            <a:schemeClr val="tx1"/>
                          </a:solidFill>
                        </a:rPr>
                        <a:t>alveolar proteinosis, PTLD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Vascular endothelium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PERDS*, capillary leak syndrome*, DAH*, pulmonary VOD, TRALI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Endothelium (cont.)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Pulmonary cytolytic syndrome, PAH, thromboembolism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Airway epithelium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ILD incl. COP (formerly BOOP)*; BOS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Not in the ATS list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Pulmonary oedema from fluid overload: the most frequent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257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Pulmonary dysfunction affects 25–55% of recipients; noninfectious lung injury causes up to 50% of noninfectious mortality after allo-HCT.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WORK-UP · SEQUENCE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Early bronchoscopy with BAL is the core of the lung work-up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22"/>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SpO₂; hall walk if late onset</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23"/>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CT; expiratory cuts if late</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24"/>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Full PFTs for late onset</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25"/>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Blood, swabs, GM, β-D-glucan</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26"/>
          <p:cNvSpPr txBox="1"/>
          <p:nvPr/>
        </p:nvSpPr>
        <p:spPr>
          <a:xfrm>
            <a:off x="9742018"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FOB/BAL early (&lt; 5 days)</a:t>
            </a:r>
            <a:endParaRPr lang="en-US" sz="1500" dirty="0"/>
          </a:p>
        </p:txBody>
      </p:sp>
      <p:sp>
        <p:nvSpPr>
          <p:cNvPr id="15" name="Text 27"/>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BAL gives an etiological diagnosis in up to 78% and finds a pathogen in ~50% of suspected IPS; FOB complications &lt; 5%. Biopsy (VATS over transbronchial) only in selected late cases. Echo if cardiac doubt.</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EARLY · FLUID OVERLOAD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Fluid overload is the most frequent early cause of lung infiltrates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6"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35224"/>
                <a:gridCol w="7882128"/>
              </a:tblGrid>
              <a:tr h="0">
                <a:tc>
                  <a:txBody>
                    <a:bodyPr/>
                    <a:lstStyle/>
                    <a:p>
                      <a:pPr indent="0" marL="0">
                        <a:buNone/>
                      </a:pPr>
                      <a:r>
                        <a:rPr lang="en-US" sz="1700" b="1" dirty="0">
                          <a:solidFill>
                            <a:schemeClr val="tx1"/>
                          </a:solidFill>
                        </a:rPr>
                        <a:t>Feature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Pulmonary oedema from fluid overload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Incidence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Fluid overload in up to 60% early; oedema probably &gt; 20%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Symptoms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Weight gain, dyspnoea, dry cough, moderate hypoxaemia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Signs and imaging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Bibasal crackles; diffuse alveolar or interstitial infiltrates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Diagnosis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Weight gain + larger cardiothoracic index + crackles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Differential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Heart failure (anthracycline, CY), SOS, CLS, ES, IPS, TRALI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Treatment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Fluid restriction and diuretics to restore euvolaemia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IPS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IPS requires alveolar injury, a negative BAL and no cardiorenal cause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7"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575304"/>
                <a:gridCol w="7242048"/>
              </a:tblGrid>
              <a:tr h="0">
                <a:tc>
                  <a:txBody>
                    <a:bodyPr/>
                    <a:lstStyle/>
                    <a:p>
                      <a:pPr indent="0" marL="0">
                        <a:buNone/>
                      </a:pPr>
                      <a:r>
                        <a:rPr lang="en-US" sz="1600" b="1" dirty="0">
                          <a:solidFill>
                            <a:schemeClr val="tx1"/>
                          </a:solidFill>
                        </a:rPr>
                        <a:t>All three required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Elements (Ch. 52)</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 Widespread alveolar injury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Multilobar infiltrates on chest radiograph or 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Cough, dyspnoea, tachypnoea, crackles or rales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A–a O₂ gradient or O₂ need; new restrictive PFT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2. No lower-tract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BAL negative for bacteria incl. AFB, Nocardia, Legionella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Cultures, CMV shell vial, viral PCR, cytology for PJ</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Consider hMPV, HHV-6, Mycoplasma PCR; GM, β-D-glucan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 No other cause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cardiac dysfunction, acute renal failure or fluid overload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Onset classically ≤ day 120 (as early as day 21, as late as day 180): fever, dry cough, dyspnoea, hypoxaemia, diffuse infiltrates.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IPS · INCIDENCE AND RISK</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IPS now affects &lt; 10% of allo-HCT, mostly after TBI-based MAC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8" name="Table 3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52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Incidence, past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Incidence, now</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&lt; 10% of allo-HCT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By 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7% after MAC with TBI ≥ 12 Gy; 2% after RIC in adults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Why it fell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Strict definition, more RIC, better pathogen detection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Host 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Older age, KPS &lt; 90, long interval diagnosis–HCT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Transplant 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MAC or TBI ≥ 12 Gy, HLA disparity, MTX prophylaxis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Other risk factors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Acute GVHD, prior viral infection, non-leukaemia malignancy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Mechanism: cellular and soluble inflammatory effectors recruit immune cells to the lung via TNF-α/LPS and IL-6/IL-17 pathways.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IPS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IPS treatment targets TNF-α with steroids plus etanercept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3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IPS: BAL negative, no cardiac, renal or fluid cause</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34"/>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Everyone</a:t>
            </a:r>
            <a:endParaRPr lang="en-US" sz="1400" dirty="0"/>
          </a:p>
        </p:txBody>
      </p:sp>
      <p:sp>
        <p:nvSpPr>
          <p:cNvPr id="11" name="Box 35"/>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O₂, HFNO/CPAP or ventilation</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6"/>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Empiric antimicrobials; strict fluid balance</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7"/>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TNF-α pathway</a:t>
            </a:r>
            <a:endParaRPr lang="en-US" sz="1400" dirty="0"/>
          </a:p>
        </p:txBody>
      </p:sp>
      <p:sp>
        <p:nvSpPr>
          <p:cNvPr id="16" name="Box 38"/>
          <p:cNvSpPr txBox="1"/>
          <p:nvPr/>
        </p:nvSpPr>
        <p:spPr>
          <a:xfrm>
            <a:off x="3481578"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Methylprednisolone ≤ 2 mg/kg/day</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39"/>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 etanercept 0.4 mg/kg 2×/wk, ≤ 8 doses</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0"/>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IL-6/IL-17 pathway</a:t>
            </a:r>
            <a:endParaRPr lang="en-US" sz="1400" dirty="0"/>
          </a:p>
        </p:txBody>
      </p:sp>
      <p:sp>
        <p:nvSpPr>
          <p:cNvPr id="21" name="Box 41"/>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Tocilizumab, brodalumab</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42"/>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Investigational (experimental IPS)</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43"/>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Endothelium</a:t>
            </a:r>
            <a:endParaRPr lang="en-US" sz="1400" dirty="0"/>
          </a:p>
        </p:txBody>
      </p:sp>
      <p:sp>
        <p:nvSpPr>
          <p:cNvPr id="26" name="Box 44"/>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Endothelial protection</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45"/>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Investigational (Klein 2023)</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IPS · EVIDENCE FOR ETANERCEPT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Etanercept works in children; the adult RCT was under-accrued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0" name="Table 4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69464"/>
                <a:gridCol w="4032504"/>
                <a:gridCol w="4215384"/>
              </a:tblGrid>
              <a:tr h="0">
                <a:tc>
                  <a:txBody>
                    <a:bodyPr/>
                    <a:lstStyle/>
                    <a:p>
                      <a:pPr indent="0" marL="0">
                        <a:buNone/>
                      </a:pPr>
                      <a:r>
                        <a:rPr lang="en-US" sz="1600" b="1" dirty="0">
                          <a:solidFill>
                            <a:schemeClr val="tx1"/>
                          </a:solidFill>
                        </a:rPr>
                        <a:t>Study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Yanik 2015</a:t>
                      </a:r>
                      <a:endParaRPr lang="en-US" sz="1600" dirty="0"/>
                    </a:p>
                    <a:p>
                      <a:pPr indent="0" marL="0">
                        <a:buNone/>
                      </a:pPr>
                      <a:r>
                        <a:rPr lang="en-US" sz="1600" dirty="0">
                          <a:solidFill>
                            <a:schemeClr val="tx1"/>
                          </a:solidFill>
                        </a:rPr>
                        <a:t>(ASCT0521)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Children, phase II,</a:t>
                      </a:r>
                      <a:endParaRPr lang="en-US" sz="1600" dirty="0"/>
                    </a:p>
                    <a:p>
                      <a:pPr indent="0" marL="0">
                        <a:buNone/>
                      </a:pPr>
                      <a:r>
                        <a:rPr lang="en-US" sz="1600" dirty="0">
                          <a:solidFill>
                            <a:schemeClr val="tx1"/>
                          </a:solidFill>
                        </a:rPr>
                        <a:t>etanercept + steroids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71%; 1-year survival 63%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Thompson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Late-onset IPS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 42%; 2-year survival 62%</a:t>
                      </a:r>
                      <a:endParaRPr lang="en-US" sz="1600" dirty="0"/>
                    </a:p>
                    <a:p>
                      <a:pPr indent="0" marL="0">
                        <a:buNone/>
                      </a:pPr>
                      <a:r>
                        <a:rPr lang="en-US" sz="1600" dirty="0">
                          <a:solidFill>
                            <a:schemeClr val="tx1"/>
                          </a:solidFill>
                        </a:rPr>
                        <a:t>in responders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Yanik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Adults, RCT: steroids ±</a:t>
                      </a:r>
                      <a:endParaRPr lang="en-US" sz="1600" dirty="0"/>
                    </a:p>
                    <a:p>
                      <a:pPr indent="0" marL="0">
                        <a:buNone/>
                      </a:pPr>
                      <a:r>
                        <a:rPr lang="en-US" sz="1600" dirty="0">
                          <a:solidFill>
                            <a:schemeClr val="tx1"/>
                          </a:solidFill>
                        </a:rPr>
                        <a:t>etanercept vs placebo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Stopped for slow accrual;</a:t>
                      </a:r>
                      <a:endParaRPr lang="en-US" sz="1600" dirty="0"/>
                    </a:p>
                    <a:p>
                      <a:pPr indent="0" marL="0">
                        <a:buNone/>
                      </a:pPr>
                      <a:r>
                        <a:rPr lang="en-US" sz="1600" dirty="0">
                          <a:solidFill>
                            <a:schemeClr val="tx1"/>
                          </a:solidFill>
                        </a:rPr>
                        <a:t>day-28 response ≈60% in both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Varelias 2015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Experimental IPS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IL-6 highest when TNF</a:t>
                      </a:r>
                      <a:endParaRPr lang="en-US" sz="1600" dirty="0"/>
                    </a:p>
                    <a:p>
                      <a:pPr indent="0" marL="0">
                        <a:buNone/>
                      </a:pPr>
                      <a:r>
                        <a:rPr lang="en-US" sz="1600" dirty="0">
                          <a:solidFill>
                            <a:schemeClr val="tx1"/>
                          </a:solidFill>
                        </a:rPr>
                        <a:t>blockade fails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Wenger 2020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Adults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IPS mortality remains high</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7"/>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“Lack of evidence in this under-accrued trial does not equate to lack of effectiveness” (Ch. 52).</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DAH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DAH is diagnosed by progressively bloodier BAL aliquots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1"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600" b="1" dirty="0">
                          <a:solidFill>
                            <a:schemeClr val="tx1"/>
                          </a:solidFill>
                        </a:rPr>
                        <a:t>Feature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Diffuse alveolar haemorrhage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2–14% of recipients; noninfectious or infectious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Mechanism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Damage to the alveolar capillary basement membrane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Timing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day 23, often pre-engraftment; later in up to 42%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Clinical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As for any IPS; frank haemoptysis is rare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Progressively bloodier return in ≥ 3 segmental bronchi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Supporting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 haemosiderin-laden macrophages (may take 72 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Risk factors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TBI and high-dose cyclophosphamide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vs classic IPS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IPS: after engraftment, allo-HCT, less steroid-responsive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DAH · TREATMENT AND PROGNOSIS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High-dose steroids remain standard for DAH despite poor results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2"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35224"/>
                <a:gridCol w="788212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52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Steroids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Methylprednisolone 250–500 mg q6h × 5 days, then taper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Aminocaproic acid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Added in Rathi 2015; overall response still disappointing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Factor VIIa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With high-dose steroids: benefit in some, not all studies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Mortality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Up to 85% by day 100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Cause of death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&lt; 15% from bleeding itself; evolution to MOF dominates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 vs allo</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MOF mortality ~30% vs ~70%; better prognosis after auto-HCT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0"/>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In Rathi 2015, two-thirds of DAH cases were noninfectious (IPS-type), and TNF-α inhibition was not used.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LATE · BOS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BOS is the lung manifestation of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3" name="Table 5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35224"/>
                <a:gridCol w="7882128"/>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BOS (Table 52.2)</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Risk factors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Extrathoracic cGVHD, respiratory viruses, falling lung function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Onset, 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6–24 months after HCT; 3–11%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Symptoms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Dyspnoea, dry cough, wheeze; may be asymptomatic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cGVHD elsewhere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Present in &gt; 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PFT screening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Pre-HCT baseline, then every 3 months in year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Mosaic, bronchiectasis, wall thickening, expiratory air trapping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Survival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65–79% at 2 years, 74% at 5 years; worse if early onset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Closer spirometry with extrathoracic GVHD and after respiratory viral infection. Bronchial abnormalities on CT at 3 months predict BOS.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BOS · NIH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NIH criteria diagnose BOS from PFTs; biopsy only if lung is sole site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5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New obstruction, no bronchodilator response, no infection</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4"/>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PFT thresholds</a:t>
            </a:r>
            <a:endParaRPr lang="en-US" sz="1400" dirty="0"/>
          </a:p>
        </p:txBody>
      </p:sp>
      <p:sp>
        <p:nvSpPr>
          <p:cNvPr id="11" name="Box 55"/>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FEV1/VC &lt; 0.7 or &lt; 5th percentile</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56"/>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FEV1 &lt; 75% with ≥ 10% fall; RV &gt; 120%</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57"/>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cGVHD elsewhere</a:t>
            </a:r>
            <a:endParaRPr lang="en-US" sz="1400" dirty="0"/>
          </a:p>
        </p:txBody>
      </p:sp>
      <p:sp>
        <p:nvSpPr>
          <p:cNvPr id="16" name="Box 58"/>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PFTs alone suffice (NIH 2014)</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59"/>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BOS; biopsy not required</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60"/>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Lung is only site</a:t>
            </a:r>
            <a:endParaRPr lang="en-US" sz="1400" dirty="0"/>
          </a:p>
        </p:txBody>
      </p:sp>
      <p:sp>
        <p:nvSpPr>
          <p:cNvPr id="21" name="Box 61"/>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Biopsy needed (VATS)</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2"/>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Histology: constrictive bronchiolitis (BO)</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3"/>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CT at diagnosis</a:t>
            </a:r>
            <a:endParaRPr lang="en-US" sz="1400" dirty="0"/>
          </a:p>
        </p:txBody>
      </p:sp>
      <p:sp>
        <p:nvSpPr>
          <p:cNvPr id="26" name="Box 64"/>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Required to exclude alternatives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65"/>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Opacities: other or added diagnosis</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BOS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Only inhaled budesonide/formoterol improved FEV1 in a randomized trial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5" name="Table 6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660904"/>
                <a:gridCol w="3941064"/>
                <a:gridCol w="4215384"/>
              </a:tblGrid>
              <a:tr h="0">
                <a:tc>
                  <a:txBody>
                    <a:bodyPr/>
                    <a:lstStyle/>
                    <a:p>
                      <a:pPr indent="0" marL="0">
                        <a:buNone/>
                      </a:pPr>
                      <a:r>
                        <a:rPr lang="en-US" sz="1500" b="1" dirty="0">
                          <a:solidFill>
                            <a:schemeClr val="tx1"/>
                          </a:solidFill>
                        </a:rPr>
                        <a:t>Option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Evidence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Comment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Budesonide/</a:t>
                      </a:r>
                      <a:endParaRPr lang="en-US" sz="1500" dirty="0"/>
                    </a:p>
                    <a:p>
                      <a:pPr indent="0" marL="0">
                        <a:buNone/>
                      </a:pPr>
                      <a:r>
                        <a:rPr lang="en-US" sz="1500" dirty="0">
                          <a:solidFill>
                            <a:schemeClr val="tx1"/>
                          </a:solidFill>
                        </a:rPr>
                        <a:t>formoterol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Double-blind placebo RCT</a:t>
                      </a:r>
                      <a:endParaRPr lang="en-US" sz="1500" dirty="0"/>
                    </a:p>
                    <a:p>
                      <a:pPr indent="0" marL="0">
                        <a:buNone/>
                      </a:pPr>
                      <a:r>
                        <a:rPr lang="en-US" sz="1500" dirty="0">
                          <a:solidFill>
                            <a:schemeClr val="tx1"/>
                          </a:solidFill>
                        </a:rPr>
                        <a:t>(Bergeron 2015)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Improved FEV1 in new-onset</a:t>
                      </a:r>
                      <a:endParaRPr lang="en-US" sz="1500" dirty="0"/>
                    </a:p>
                    <a:p>
                      <a:pPr indent="0" marL="0">
                        <a:buNone/>
                      </a:pPr>
                      <a:r>
                        <a:rPr lang="en-US" sz="1500" dirty="0">
                          <a:solidFill>
                            <a:schemeClr val="tx1"/>
                          </a:solidFill>
                        </a:rPr>
                        <a:t>moderate–severe BOS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FAM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Open-label single arm</a:t>
                      </a:r>
                      <a:endParaRPr lang="en-US" sz="1500" dirty="0"/>
                    </a:p>
                    <a:p>
                      <a:pPr indent="0" marL="0">
                        <a:buNone/>
                      </a:pPr>
                      <a:r>
                        <a:rPr lang="en-US" sz="1500" dirty="0">
                          <a:solidFill>
                            <a:schemeClr val="tx1"/>
                          </a:solidFill>
                        </a:rPr>
                        <a:t>(Williams 2016)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Fluticasone, azithromycin,</a:t>
                      </a:r>
                      <a:endParaRPr lang="en-US" sz="1500" dirty="0"/>
                    </a:p>
                    <a:p>
                      <a:pPr indent="0" marL="0">
                        <a:buNone/>
                      </a:pPr>
                      <a:r>
                        <a:rPr lang="en-US" sz="1500" dirty="0">
                          <a:solidFill>
                            <a:schemeClr val="tx1"/>
                          </a:solidFill>
                        </a:rPr>
                        <a:t>montelukast: FEV1 stable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Azithromycin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ALLOZITHRO 2017;</a:t>
                      </a:r>
                      <a:endParaRPr lang="en-US" sz="1500" dirty="0"/>
                    </a:p>
                    <a:p>
                      <a:pPr indent="0" marL="0">
                        <a:buNone/>
                      </a:pPr>
                      <a:r>
                        <a:rPr lang="en-US" sz="1500" dirty="0">
                          <a:solidFill>
                            <a:schemeClr val="tx1"/>
                          </a:solidFill>
                        </a:rPr>
                        <a:t>Cheng 2020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Possible ↑ cancer risk,</a:t>
                      </a:r>
                      <a:endParaRPr lang="en-US" sz="1500" dirty="0"/>
                    </a:p>
                    <a:p>
                      <a:pPr indent="0" marL="0">
                        <a:buNone/>
                      </a:pPr>
                      <a:r>
                        <a:rPr lang="en-US" sz="1500" dirty="0">
                          <a:solidFill>
                            <a:schemeClr val="tx1"/>
                          </a:solidFill>
                        </a:rPr>
                        <a:t>especially early after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Systemic 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Low efficacy in BOS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Weigh benefit and risk first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Lung transplant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Pan-European series</a:t>
                      </a:r>
                      <a:endParaRPr lang="en-US" sz="1500" dirty="0"/>
                    </a:p>
                    <a:p>
                      <a:pPr indent="0" marL="0">
                        <a:buNone/>
                      </a:pPr>
                      <a:r>
                        <a:rPr lang="en-US" sz="1500" dirty="0">
                          <a:solidFill>
                            <a:schemeClr val="tx1"/>
                          </a:solidFill>
                        </a:rPr>
                        <a:t>(Greer 2018)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End stage, GVHD inactive,</a:t>
                      </a:r>
                      <a:endParaRPr lang="en-US" sz="1500" dirty="0"/>
                    </a:p>
                    <a:p>
                      <a:pPr indent="0" marL="0">
                        <a:buNone/>
                      </a:pPr>
                      <a:r>
                        <a:rPr lang="en-US" sz="1500" dirty="0">
                          <a:solidFill>
                            <a:schemeClr val="tx1"/>
                          </a:solidFill>
                        </a:rPr>
                        <a:t>very low relapse risk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Supportive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Rehab, reflux, prophylaxis,</a:t>
                      </a:r>
                      <a:endParaRPr lang="en-US" sz="1500" dirty="0"/>
                    </a:p>
                    <a:p>
                      <a:pPr indent="0" marL="0">
                        <a:buNone/>
                      </a:pPr>
                      <a:r>
                        <a:rPr lang="en-US" sz="1500" dirty="0">
                          <a:solidFill>
                            <a:schemeClr val="tx1"/>
                          </a:solidFill>
                        </a:rPr>
                        <a:t>vaccines, IVIg if needed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LATE · ILD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ILD is diagnosed by CT; PPFE is the steroid-resistant pattern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6" name="Table 6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66744"/>
                <a:gridCol w="1463040"/>
                <a:gridCol w="5687568"/>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Value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Comment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3-year 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Any time after HCT; mostly dyspnoea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Organizing pneumonia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Inflammatory; usually steroid-sensitive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Undetermined (incl. NSIP)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Inflammatory; usually steroid-sensitive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PPFE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Years after HCT; no response to</a:t>
                      </a:r>
                      <a:endParaRPr lang="en-US" sz="1600" dirty="0"/>
                    </a:p>
                    <a:p>
                      <a:pPr indent="0" marL="0">
                        <a:buNone/>
                      </a:pPr>
                      <a:r>
                        <a:rPr lang="en-US" sz="1600" dirty="0">
                          <a:solidFill>
                            <a:schemeClr val="tx1"/>
                          </a:solidFill>
                        </a:rPr>
                        <a:t>immunosuppression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Diagnosed in ICU</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Acute, subacute or chronic onset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Combined with BOS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Mixed defect on full PFTs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Risk factors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Prior thoracic irradiation;</a:t>
                      </a:r>
                      <a:endParaRPr lang="en-US" sz="1600" dirty="0"/>
                    </a:p>
                    <a:p>
                      <a:pPr indent="0" marL="0">
                        <a:buNone/>
                      </a:pPr>
                      <a:r>
                        <a:rPr lang="en-US" sz="1600" dirty="0">
                          <a:solidFill>
                            <a:schemeClr val="tx1"/>
                          </a:solidFill>
                        </a:rPr>
                        <a:t>no IS at ILD onset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LATE · BOS VS ILD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BOS is diagnosed by PFTs and ILD by 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7" name="Table 68"/>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935224"/>
                <a:gridCol w="3941064"/>
                <a:gridCol w="3941064"/>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BOS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ILD</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Median onset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13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15 months (PPFE: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Extrathoracic cGVHD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90%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&gt; 75% (&lt; 50% in PPFE)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Diagnosis rests 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PFTs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Chest imaging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Bronchial changes, air trapping;</a:t>
                      </a:r>
                      <a:endParaRPr lang="en-US" sz="1500" dirty="0"/>
                    </a:p>
                    <a:p>
                      <a:pPr indent="0" marL="0">
                        <a:buNone/>
                      </a:pPr>
                      <a:r>
                        <a:rPr lang="en-US" sz="1500" dirty="0">
                          <a:solidFill>
                            <a:schemeClr val="tx1"/>
                          </a:solidFill>
                        </a:rPr>
                        <a:t>no parenchymal opacities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Alveolar and/or interstitial</a:t>
                      </a:r>
                      <a:endParaRPr lang="en-US" sz="1500" dirty="0"/>
                    </a:p>
                    <a:p>
                      <a:pPr indent="0" marL="0">
                        <a:buNone/>
                      </a:pPr>
                      <a:r>
                        <a:rPr lang="en-US" sz="1500" dirty="0">
                          <a:solidFill>
                            <a:schemeClr val="tx1"/>
                          </a:solidFill>
                        </a:rPr>
                        <a:t>opacities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PFT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FEV1/FVC &lt; 0.7, TLC &gt; 80%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TLC &lt; 80%, FEV1/FVC &gt; 0.7</a:t>
                      </a:r>
                      <a:endParaRPr lang="en-US" sz="1500" dirty="0"/>
                    </a:p>
                    <a:p>
                      <a:pPr indent="0" marL="0">
                        <a:buNone/>
                      </a:pPr>
                      <a:r>
                        <a:rPr lang="en-US" sz="1500" dirty="0">
                          <a:solidFill>
                            <a:schemeClr val="tx1"/>
                          </a:solidFill>
                        </a:rPr>
                        <a:t>(mixed if BOS); low DLCO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Limited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Usual response (not PPFE);</a:t>
                      </a:r>
                      <a:endParaRPr lang="en-US" sz="1500" dirty="0"/>
                    </a:p>
                    <a:p>
                      <a:pPr indent="0" marL="0">
                        <a:buNone/>
                      </a:pPr>
                      <a:r>
                        <a:rPr lang="en-US" sz="1500" dirty="0">
                          <a:solidFill>
                            <a:schemeClr val="tx1"/>
                          </a:solidFill>
                        </a:rPr>
                        <a:t>relapse on taper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Survival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3-y OS 79%; 5-y OS 74%</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3-y OS 81%; 5-y OS 71%</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bilateral infiltrates on day +45</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Text 6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42-year-old man with AML received MAC with TBI 12 Gy and MTX-based prophylaxis from an HLA-mismatched unrelated donor. On day +45, after engraftment, he has fever, dry cough, hypoxaemia and multilobar infiltrates. Echo, creatinine and weight are normal. BAL on day 2 is negative for bacteria, viruses, fungi and PJ; aliquots are not bloody. Best management?</a:t>
            </a:r>
            <a:endParaRPr lang="en-US" sz="1900" dirty="0"/>
          </a:p>
        </p:txBody>
      </p:sp>
      <p:sp>
        <p:nvSpPr>
          <p:cNvPr id="7" name="Text 7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Methylprednisolone 250–500 mg q6h for 5 days plus aminocaproic acid</a:t>
            </a:r>
            <a:endParaRPr lang="en-US" sz="1800" dirty="0"/>
          </a:p>
          <a:p>
            <a:pPr indent="0" marL="0">
              <a:spcAft>
                <a:spcPts val="800"/>
              </a:spcAft>
              <a:buNone/>
            </a:pPr>
            <a:r>
              <a:rPr lang="en-US" sz="1800" dirty="0">
                <a:solidFill>
                  <a:schemeClr val="tx1"/>
                </a:solidFill>
              </a:rPr>
              <a:t>B.  Methylprednisolone ≤ 2 mg/kg/day plus etanercept 0.4 mg/kg twice weekly</a:t>
            </a:r>
            <a:endParaRPr lang="en-US" sz="1800" dirty="0"/>
          </a:p>
          <a:p>
            <a:pPr indent="0" marL="0">
              <a:spcAft>
                <a:spcPts val="800"/>
              </a:spcAft>
              <a:buNone/>
            </a:pPr>
            <a:r>
              <a:rPr lang="en-US" sz="1800" dirty="0">
                <a:solidFill>
                  <a:schemeClr val="tx1"/>
                </a:solidFill>
              </a:rPr>
              <a:t>C.  Tocilizumab as standard first-line therapy</a:t>
            </a:r>
            <a:endParaRPr lang="en-US" sz="1800" dirty="0"/>
          </a:p>
          <a:p>
            <a:pPr indent="0" marL="0">
              <a:spcAft>
                <a:spcPts val="800"/>
              </a:spcAft>
              <a:buNone/>
            </a:pPr>
            <a:r>
              <a:rPr lang="en-US" sz="1800" dirty="0">
                <a:solidFill>
                  <a:schemeClr val="tx1"/>
                </a:solidFill>
              </a:rPr>
              <a:t>D.  Inhaled budesonide/formoterol</a:t>
            </a:r>
            <a:endParaRPr lang="en-US" sz="1800" dirty="0"/>
          </a:p>
          <a:p>
            <a:pPr indent="0" marL="0">
              <a:spcAft>
                <a:spcPts val="800"/>
              </a:spcAft>
              <a:buNone/>
            </a:pPr>
            <a:r>
              <a:rPr lang="en-US" sz="1800" dirty="0">
                <a:solidFill>
                  <a:schemeClr val="tx1"/>
                </a:solidFill>
              </a:rPr>
              <a:t>E.  Withhold specific therapy until a surgical lung biopsy is done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IPS, treated with steroids plus etanercept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Methylprednisolone ≤ 2 mg/kg/day plus etanercept 0.4 mg/kg twice weekly</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Alveolar injury, a negative BAL and no cardiac, renal or fluid cause fulfil all three IPS criteria; TBI ≥ 12 Gy, MAC, HLA disparity and MTX are risk factors. Treatment is methylprednisolone ≤ 2 mg/kg/day with etanercept 0.4 mg/kg twice weekly (≤ 8 doses). Option A is the DAH regimen; tocilizumab is investigational; biopsy is not encouraged.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hypoxaemia before engraftment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Text 7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30-year-old woman receives Cy/TBI myeloablative allo-HCT. On day +19, before engraftment, she develops hypoxaemia and diffuse infiltrates without haemoptysis. BAL from three segmental bronchi returns progressively bloodier aliquots; haemosiderin-laden macrophages are 5%. Cultures and PCR are negative. Which statement is correct?</a:t>
            </a:r>
            <a:endParaRPr lang="en-US" sz="1900" dirty="0"/>
          </a:p>
        </p:txBody>
      </p:sp>
      <p:sp>
        <p:nvSpPr>
          <p:cNvPr id="7" name="Text 7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The absence of haemoptysis argues against the diagnosis</a:t>
            </a:r>
            <a:endParaRPr lang="en-US" sz="1800" dirty="0"/>
          </a:p>
          <a:p>
            <a:pPr indent="0" marL="0">
              <a:spcAft>
                <a:spcPts val="800"/>
              </a:spcAft>
              <a:buNone/>
            </a:pPr>
            <a:r>
              <a:rPr lang="en-US" sz="1800" dirty="0">
                <a:solidFill>
                  <a:schemeClr val="tx1"/>
                </a:solidFill>
              </a:rPr>
              <a:t>B.  The diagnosis is excluded because macrophages are below 20%</a:t>
            </a:r>
            <a:endParaRPr lang="en-US" sz="1800" dirty="0"/>
          </a:p>
          <a:p>
            <a:pPr indent="0" marL="0">
              <a:spcAft>
                <a:spcPts val="800"/>
              </a:spcAft>
              <a:buNone/>
            </a:pPr>
            <a:r>
              <a:rPr lang="en-US" sz="1800" dirty="0">
                <a:solidFill>
                  <a:schemeClr val="tx1"/>
                </a:solidFill>
              </a:rPr>
              <a:t>C.  Most deaths in this condition are caused by the bleeding itself</a:t>
            </a:r>
            <a:endParaRPr lang="en-US" sz="1800" dirty="0"/>
          </a:p>
          <a:p>
            <a:pPr indent="0" marL="0">
              <a:spcAft>
                <a:spcPts val="800"/>
              </a:spcAft>
              <a:buNone/>
            </a:pPr>
            <a:r>
              <a:rPr lang="en-US" sz="1800" dirty="0">
                <a:solidFill>
                  <a:schemeClr val="tx1"/>
                </a:solidFill>
              </a:rPr>
              <a:t>D.  The same condition after auto-HCT has a better prognosis</a:t>
            </a:r>
            <a:endParaRPr lang="en-US" sz="1800" dirty="0"/>
          </a:p>
          <a:p>
            <a:pPr indent="0" marL="0">
              <a:spcAft>
                <a:spcPts val="800"/>
              </a:spcAft>
              <a:buNone/>
            </a:pPr>
            <a:r>
              <a:rPr lang="en-US" sz="1800" dirty="0">
                <a:solidFill>
                  <a:schemeClr val="tx1"/>
                </a:solidFill>
              </a:rPr>
              <a:t>E.  Noninfectious forms fall outside the IPS diagnostic umbrella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DAH carries a better prognosis after auto-HCT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The same condition after auto-HCT has a better prognosis</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Progressively bloodier BAL in ≥ 3 segmental bronchi diagnoses DAH; haemosiderin-laden macrophages can take 72 h to appear, and frank haemoptysis is rare. &lt; 15% die of the bleeding itself; MOF drives mortality. Noninfectious DAH is under the IPS umbrella. DAH after auto-HCT has a better prognosis.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breathlessness at 14 months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Text 77"/>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48-year-old woman with oral and skin chronic GVHD has progressive dyspnoea 14 months after allo-HCT. FEV1/VC 0.62, FEV1 58% of predicted (25% below baseline), RV 140%, no bronchodilator response. CT: mosaic attenuation and air trapping, no parenchymal opacity. BAL is negative. Which statement is correct?</a:t>
            </a:r>
            <a:endParaRPr lang="en-US" sz="1900" dirty="0"/>
          </a:p>
        </p:txBody>
      </p:sp>
      <p:sp>
        <p:nvSpPr>
          <p:cNvPr id="7" name="Text 78"/>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A lung biopsy is required to confirm the diagnosis</a:t>
            </a:r>
            <a:endParaRPr lang="en-US" sz="1800" dirty="0"/>
          </a:p>
          <a:p>
            <a:pPr indent="0" marL="0">
              <a:spcAft>
                <a:spcPts val="800"/>
              </a:spcAft>
              <a:buNone/>
            </a:pPr>
            <a:r>
              <a:rPr lang="en-US" sz="1800" dirty="0">
                <a:solidFill>
                  <a:schemeClr val="tx1"/>
                </a:solidFill>
              </a:rPr>
              <a:t>B.  Systemic steroids are highly effective for this condition</a:t>
            </a:r>
            <a:endParaRPr lang="en-US" sz="1800" dirty="0"/>
          </a:p>
          <a:p>
            <a:pPr indent="0" marL="0">
              <a:spcAft>
                <a:spcPts val="800"/>
              </a:spcAft>
              <a:buNone/>
            </a:pPr>
            <a:r>
              <a:rPr lang="en-US" sz="1800" dirty="0">
                <a:solidFill>
                  <a:schemeClr val="tx1"/>
                </a:solidFill>
              </a:rPr>
              <a:t>C.  Inhaled budesonide/formoterol improved FEV1 in a randomized trial</a:t>
            </a:r>
            <a:endParaRPr lang="en-US" sz="1800" dirty="0"/>
          </a:p>
          <a:p>
            <a:pPr indent="0" marL="0">
              <a:spcAft>
                <a:spcPts val="800"/>
              </a:spcAft>
              <a:buNone/>
            </a:pPr>
            <a:r>
              <a:rPr lang="en-US" sz="1800" dirty="0">
                <a:solidFill>
                  <a:schemeClr val="tx1"/>
                </a:solidFill>
              </a:rPr>
              <a:t>D.  The CT pattern indicates organizing pneumonia</a:t>
            </a:r>
            <a:endParaRPr lang="en-US" sz="1800" dirty="0"/>
          </a:p>
          <a:p>
            <a:pPr indent="0" marL="0">
              <a:spcAft>
                <a:spcPts val="800"/>
              </a:spcAft>
              <a:buNone/>
            </a:pPr>
            <a:r>
              <a:rPr lang="en-US" sz="1800" dirty="0">
                <a:solidFill>
                  <a:schemeClr val="tx1"/>
                </a:solidFill>
              </a:rPr>
              <a:t>E.  Early azithromycin is safe and lowers cancer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BOS, where only budesonide/formoterol has RCT data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7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Inhaled budesonide/formoterol improved FEV1 in a randomized trial</a:t>
            </a:r>
            <a:endParaRPr lang="en-US" sz="2000" dirty="0"/>
          </a:p>
        </p:txBody>
      </p:sp>
      <p:sp>
        <p:nvSpPr>
          <p:cNvPr id="7" name="Text 8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Obstruction (FEV1/VC &lt; 0.7, FEV1 &lt; 75% with ≥ 10% fall, RV &gt; 120%) plus cGVHD elsewhere meets NIH BOS criteria; biopsy is needed only when the lung is the sole cGVHD organ. Steroids have low efficacy in BOS. Organizing pneumonia is an ILD with parenchymal opacities. Azithromycin may raise cancer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Bergeron A, Cooke KR. Noninfectious pulmonary complications. In: Sureda A, Corbacioglu S, Greco R, Kröger N, Carreras E, editors. The EBMT Handbook: Hematopoietic Cell Transplantation and Cellular Therapies. 8th ed. Cham: Springer; 2024. p. 471–80. https://doi.org/10.1007/978-3-031-44080-9_52</a:t>
            </a:r>
            <a:endParaRPr lang="en-US" sz="1100" dirty="0"/>
          </a:p>
          <a:p>
            <a:pPr indent="0" marL="0">
              <a:spcAft>
                <a:spcPts val="700"/>
              </a:spcAft>
              <a:buNone/>
            </a:pPr>
            <a:r>
              <a:rPr lang="en-US" sz="1100" dirty="0">
                <a:solidFill>
                  <a:schemeClr val="tx1"/>
                </a:solidFill>
              </a:rPr>
              <a:t>2. Wolff D, Peric Z, Lawitschka A. Chronic graft-versus-host disease. In: Sureda A, Corbacioglu S, Greco R, Kröger N, Carreras E, editors. The EBMT Handbook: Hematopoietic Cell Transplantation and Cellular Therapies. 8th ed. Cham: Springer; 2024. p. 395–410. https://doi.org/10.1007/978-3-031-44080-9_44</a:t>
            </a:r>
            <a:endParaRPr lang="en-US" sz="1100" dirty="0"/>
          </a:p>
          <a:p>
            <a:pPr indent="0" marL="0">
              <a:spcAft>
                <a:spcPts val="700"/>
              </a:spcAft>
              <a:buNone/>
            </a:pPr>
            <a:r>
              <a:rPr lang="en-US" sz="1100" dirty="0">
                <a:solidFill>
                  <a:schemeClr val="tx1"/>
                </a:solidFill>
              </a:rPr>
              <a:t>3. Panoskaltsis-Mortari A, Griese M, Madtes DK, et al. An official American Thoracic Society research statement: non-infectious lung injury after hematopoietic stem cell transplantation: idiopathic pneumonia syndrome. Am J Respir Crit Care Med. 2011;183:1262–79.</a:t>
            </a:r>
            <a:endParaRPr lang="en-US" sz="1100" dirty="0"/>
          </a:p>
          <a:p>
            <a:pPr indent="0" marL="0">
              <a:spcAft>
                <a:spcPts val="700"/>
              </a:spcAft>
              <a:buNone/>
            </a:pPr>
            <a:r>
              <a:rPr lang="en-US" sz="1100" dirty="0">
                <a:solidFill>
                  <a:schemeClr val="tx1"/>
                </a:solidFill>
              </a:rPr>
              <a:t>4. Yanik GA, Grupp SA, Pulsipher MA, et al. TNF-receptor inhibitor therapy for the treatment of children with idiopathic pneumonia syndrome. A joint pediatric consortium and Children’s Oncology Group study (ASCT0521). Biol Blood Marrow Transplant. 2015;21:67–73.</a:t>
            </a:r>
            <a:endParaRPr lang="en-US" sz="1100" dirty="0"/>
          </a:p>
          <a:p>
            <a:pPr indent="0" marL="0">
              <a:spcAft>
                <a:spcPts val="700"/>
              </a:spcAft>
              <a:buNone/>
            </a:pPr>
            <a:r>
              <a:rPr lang="en-US" sz="1100" dirty="0">
                <a:solidFill>
                  <a:schemeClr val="tx1"/>
                </a:solidFill>
              </a:rPr>
              <a:t>5. Thompson J, Yin Z, D’Souza A, et al. Etanercept and corticosteroid therapy for the treatment of late-onset idiopathic pneumonia syndrome. Biol Blood Marrow Transplant. 2017;23:1955–60.</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6. Yanik GA, Horowitz MM, Weisdorf DJ, et al. Randomized, double-blind, placebo-controlled trial of soluble tumor necrosis factor receptor: Enbrel (etanercept) for the treatment of idiopathic pneumonia syndrome after allogeneic stem cell transplantation: blood and marrow. Biol Blood Marrow Transplant. 2014;20:858–64.</a:t>
            </a:r>
            <a:endParaRPr lang="en-US" sz="1100" dirty="0"/>
          </a:p>
          <a:p>
            <a:pPr indent="0" marL="0">
              <a:spcAft>
                <a:spcPts val="700"/>
              </a:spcAft>
              <a:buNone/>
            </a:pPr>
            <a:r>
              <a:rPr lang="en-US" sz="1100" dirty="0">
                <a:solidFill>
                  <a:schemeClr val="tx1"/>
                </a:solidFill>
              </a:rPr>
              <a:t>7. Varelias A, Gartlan KH, Kreijveld E, et al. Lung parenchyma-derived IL-6 promotes IL-17A-dependent acute lung injury after allogeneic stem cell transplantation. Blood. 2015;125:2435–44.</a:t>
            </a:r>
            <a:endParaRPr lang="en-US" sz="1100" dirty="0"/>
          </a:p>
          <a:p>
            <a:pPr indent="0" marL="0">
              <a:spcAft>
                <a:spcPts val="700"/>
              </a:spcAft>
              <a:buNone/>
            </a:pPr>
            <a:r>
              <a:rPr lang="en-US" sz="1100" dirty="0">
                <a:solidFill>
                  <a:schemeClr val="tx1"/>
                </a:solidFill>
              </a:rPr>
              <a:t>8. Wenger DS, Triplette M, Crothers K, et al. Incidence, risk factors, and outcomes of idiopathic pneumonia syndrome after allogeneic hematopoietic cell transplantation. Biol Blood Marrow Transplant. 2020;26:413–20.</a:t>
            </a:r>
            <a:endParaRPr lang="en-US" sz="1100" dirty="0"/>
          </a:p>
          <a:p>
            <a:pPr indent="0" marL="0">
              <a:spcAft>
                <a:spcPts val="700"/>
              </a:spcAft>
              <a:buNone/>
            </a:pPr>
            <a:r>
              <a:rPr lang="en-US" sz="1100" dirty="0">
                <a:solidFill>
                  <a:schemeClr val="tx1"/>
                </a:solidFill>
              </a:rPr>
              <a:t>9. Rathi NK, Tanner AR, Dinh A, et al. Low-, medium- and high-dose steroids with or without aminocaproic acid in adult hematopoietic SCT patients with diffuse alveolar hemorrhage. Bone Marrow Transplant. 2015;50:420–6.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8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Jagasia MH, Greinix HT, Arora M, et al. National Institutes of Health consensus development project on criteria for clinical trials in chronic graft-versus-host disease: I. The 2014 diagnosis and staging working group report. Biol Blood Marrow Transplant. 2015;21:389–401.</a:t>
            </a:r>
            <a:endParaRPr lang="en-US" sz="1100" dirty="0"/>
          </a:p>
          <a:p>
            <a:pPr indent="0" marL="0">
              <a:spcAft>
                <a:spcPts val="700"/>
              </a:spcAft>
              <a:buNone/>
            </a:pPr>
            <a:r>
              <a:rPr lang="en-US" sz="1100" dirty="0">
                <a:solidFill>
                  <a:schemeClr val="tx1"/>
                </a:solidFill>
              </a:rPr>
              <a:t>11. Bergeron A, Chevret S, Chagnon K, et al. Budesonide/formoterol for bronchiolitis obliterans after hematopoietic stem cell transplantation. Am J Respir Crit Care Med. 2015;191:1242–9.</a:t>
            </a:r>
            <a:endParaRPr lang="en-US" sz="1100" dirty="0"/>
          </a:p>
          <a:p>
            <a:pPr indent="0" marL="0">
              <a:spcAft>
                <a:spcPts val="700"/>
              </a:spcAft>
              <a:buNone/>
            </a:pPr>
            <a:r>
              <a:rPr lang="en-US" sz="1100" dirty="0">
                <a:solidFill>
                  <a:schemeClr val="tx1"/>
                </a:solidFill>
              </a:rPr>
              <a:t>12. Williams KM, Cheng GS, Pusic I, et al. Fluticasone, Azithromycin, and Montelukast treatment for new-onset bronchiolitis obliterans syndrome after hematopoietic cell transplantation. Biol Blood Marrow Transplant. 2016;22:710–6.</a:t>
            </a:r>
            <a:endParaRPr lang="en-US" sz="1100" dirty="0"/>
          </a:p>
          <a:p>
            <a:pPr indent="0" marL="0">
              <a:spcAft>
                <a:spcPts val="700"/>
              </a:spcAft>
              <a:buNone/>
            </a:pPr>
            <a:r>
              <a:rPr lang="en-US" sz="1100" dirty="0">
                <a:solidFill>
                  <a:schemeClr val="tx1"/>
                </a:solidFill>
              </a:rPr>
              <a:t>13. Bergeron A, Chevret S, Granata A, et al. Effect of azithromycin on airflow decline-free survival after allogeneic hematopoietic stem cell transplant: the ALLOZITHRO randomized clinical trial. JAMA. 2017;318:557–66.</a:t>
            </a:r>
            <a:endParaRPr lang="en-US" sz="1100" dirty="0"/>
          </a:p>
          <a:p>
            <a:pPr indent="0" marL="0">
              <a:spcAft>
                <a:spcPts val="700"/>
              </a:spcAft>
              <a:buNone/>
            </a:pPr>
            <a:r>
              <a:rPr lang="en-US" sz="1100" dirty="0">
                <a:solidFill>
                  <a:schemeClr val="tx1"/>
                </a:solidFill>
              </a:rPr>
              <a:t>14. Cheng GS, Bondeelle L, Gooley T, et al. Azithromycin use and increased cancer risk among patients with bronchiolitis obliterans after hematopoietic cell transplantation. Biol Blood Marrow Transplant. 2020;26:392–400.</a:t>
            </a:r>
            <a:endParaRPr lang="en-US" sz="1100" dirty="0"/>
          </a:p>
        </p:txBody>
      </p:sp>
      <p:sp>
        <p:nvSpPr>
          <p:cNvPr id="6" name="Text 8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Greer M, Berastegui C, Jaksch P, et al. Lung transplantation after allogeneic stem cell transplantation: a pan-European experience. Eur Respir J. 2018;51:1701330.</a:t>
            </a:r>
            <a:endParaRPr lang="en-US" sz="1100" dirty="0"/>
          </a:p>
          <a:p>
            <a:pPr indent="0" marL="0">
              <a:spcAft>
                <a:spcPts val="700"/>
              </a:spcAft>
              <a:buNone/>
            </a:pPr>
            <a:r>
              <a:rPr lang="en-US" sz="1100" dirty="0">
                <a:solidFill>
                  <a:schemeClr val="tx1"/>
                </a:solidFill>
              </a:rPr>
              <a:t>16. Archer G, Berger I, Bondeelle L, et al. Interstitial lung diseases after hematopoietic stem cell transplantation: new pattern of lung chronic graft-versus-host disease? Bone Marrow Transplant. 2023;58:87–93.</a:t>
            </a:r>
            <a:endParaRPr lang="en-US" sz="1100" dirty="0"/>
          </a:p>
          <a:p>
            <a:pPr indent="0" marL="0">
              <a:spcAft>
                <a:spcPts val="700"/>
              </a:spcAft>
              <a:buNone/>
            </a:pPr>
            <a:r>
              <a:rPr lang="en-US" sz="1100" dirty="0">
                <a:solidFill>
                  <a:schemeClr val="tx1"/>
                </a:solidFill>
              </a:rPr>
              <a:t>17. Seo S, Yu J, Jenkins IC, et al. Diagnostic and prognostic plasma biomarkers for idiopathic pneumonia syndrome after hematopoietic cell transplantation. Biol Blood Marrow Transplant. 2017;24:678–86.</a:t>
            </a:r>
            <a:endParaRPr lang="en-US" sz="1100" dirty="0"/>
          </a:p>
          <a:p>
            <a:pPr indent="0" marL="0">
              <a:spcAft>
                <a:spcPts val="700"/>
              </a:spcAft>
              <a:buNone/>
            </a:pPr>
            <a:r>
              <a:rPr lang="en-US" sz="1100" dirty="0">
                <a:solidFill>
                  <a:schemeClr val="tx1"/>
                </a:solidFill>
              </a:rPr>
              <a:t>18. Rowan CM, Smith L, Sharron MP, et al. A biomarker panel for risk of early respiratory failure following hematopoietic cell transplantation. Blood Adv. 2022;6:1866–78.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BOS · LUNG IN CHRONIC GVHD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Lung involvement raises the overall severity of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26" name="Table 8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44</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Mild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 organs, mild; lung must not be involved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Moderate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Mild–moderate organ involvement; lung only mild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Severe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Severe organ involvement, or lung moderate or severe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Mortality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Lung, GI and cholestatic liver involvement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PFT follow-up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Serial PFT, plethysmography from age 4–6, DLCO from 8–10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Abatacept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~45% response; best in lung and mucocutaneous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Imatinib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Efficacy mainly in sclerodermoid cGVHD and BO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Etanercept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May be used for pulmonary or GI manifestations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IPS · BIOMARKERS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Plasma biomarkers can flag IPS before symptoms appear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27" name="Table 8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35224"/>
                <a:gridCol w="7882128"/>
              </a:tblGrid>
              <a:tr h="0">
                <a:tc>
                  <a:txBody>
                    <a:bodyPr/>
                    <a:lstStyle/>
                    <a:p>
                      <a:pPr indent="0" marL="0">
                        <a:buNone/>
                      </a:pPr>
                      <a:r>
                        <a:rPr lang="en-US" sz="1700" b="1" dirty="0">
                          <a:solidFill>
                            <a:schemeClr val="tx1"/>
                          </a:solidFill>
                        </a:rPr>
                        <a:t>Finding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52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Elevated in IPS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sTNFR1, IL-6, MCP-1, Ang2, sCD14, IL-8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Seo 2017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sTNFR1, IL-6 and ST2 most predictive, even pre-symptoms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Rowan 2022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ST2, IL-6, sTNFR1 panel at day 7 predicts respiratory failure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Microbiome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Pulmonary metatranscriptome linked to post-HCT lung injury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Occult infection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Better pathogen detection has shrunk the IPS group</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BOS · LIMITS OF THE CRITERIA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Current BOS criteria detect late disease and miss some phenotypes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 · Wolff D, et al. EBMT Handbook 8th ed. 2024; Ch. 44</a:t>
            </a:r>
            <a:endParaRPr lang="en-US" sz="1000" dirty="0"/>
          </a:p>
        </p:txBody>
      </p:sp>
      <p:sp>
        <p:nvSpPr>
          <p:cNvPr id="6" name="Text 87"/>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BOS reflects various small-airway pathologies, not only constrictive bronchiolitis</a:t>
            </a:r>
            <a:endParaRPr lang="en-US" sz="2000" dirty="0"/>
          </a:p>
          <a:p>
            <a:pPr marL="342900" indent="-342900">
              <a:spcAft>
                <a:spcPts val="800"/>
              </a:spcAft>
              <a:buSzPct val="100000"/>
              <a:buChar char="•"/>
            </a:pPr>
            <a:r>
              <a:rPr lang="en-US" sz="2000" dirty="0">
                <a:solidFill>
                  <a:schemeClr val="tx1"/>
                </a:solidFill>
              </a:rPr>
              <a:t>Some BOS has a preserved FEV1/VC ratio and falls outside NIH criteria</a:t>
            </a:r>
            <a:endParaRPr lang="en-US" sz="2000" dirty="0"/>
          </a:p>
          <a:p>
            <a:pPr marL="342900" indent="-342900">
              <a:spcAft>
                <a:spcPts val="800"/>
              </a:spcAft>
              <a:buSzPct val="100000"/>
              <a:buChar char="•"/>
            </a:pPr>
            <a:r>
              <a:rPr lang="en-US" sz="2000" dirty="0">
                <a:solidFill>
                  <a:schemeClr val="tx1"/>
                </a:solidFill>
              </a:rPr>
              <a:t>&gt; 30% have air trapping on pre-HCT CT, limiting expiratory CT for diagnosis</a:t>
            </a:r>
            <a:endParaRPr lang="en-US" sz="2000" dirty="0"/>
          </a:p>
          <a:p>
            <a:pPr marL="342900" indent="-342900">
              <a:spcAft>
                <a:spcPts val="800"/>
              </a:spcAft>
              <a:buSzPct val="100000"/>
              <a:buChar char="•"/>
            </a:pPr>
            <a:r>
              <a:rPr lang="en-US" sz="2000" dirty="0">
                <a:solidFill>
                  <a:schemeClr val="tx1"/>
                </a:solidFill>
              </a:rPr>
              <a:t>FEV1 usually falls abruptly, then plateaus; later falls follow infections</a:t>
            </a:r>
            <a:endParaRPr lang="en-US" sz="2000" dirty="0"/>
          </a:p>
          <a:p>
            <a:pPr marL="342900" indent="-342900">
              <a:spcAft>
                <a:spcPts val="800"/>
              </a:spcAft>
              <a:buSzPct val="100000"/>
              <a:buChar char="•"/>
            </a:pPr>
            <a:r>
              <a:rPr lang="en-US" sz="2000" dirty="0">
                <a:solidFill>
                  <a:schemeClr val="tx1"/>
                </a:solidFill>
              </a:rPr>
              <a:t>Early biomarkers (PFT, imaging, biology) are being sought for earlier treatment</a:t>
            </a:r>
            <a:endParaRPr lang="en-US" sz="2000" dirty="0"/>
          </a:p>
          <a:p>
            <a:pPr marL="342900" indent="-342900">
              <a:spcAft>
                <a:spcPts val="800"/>
              </a:spcAft>
              <a:buSzPct val="100000"/>
              <a:buChar char="•"/>
            </a:pPr>
            <a:r>
              <a:rPr lang="en-US" sz="2000" dirty="0">
                <a:solidFill>
                  <a:schemeClr val="tx1"/>
                </a:solidFill>
              </a:rPr>
              <a:t>Children (Ch. 44): muscle weakness, sclerotic chest wall, TBI can add restriction</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Noninfectious pulmonary complications</dc:title>
  <dc:subject>PptxGenJS Presentation</dc:subject>
  <dc:creator>Hsieh-Ting Lin, MD</dc:creator>
  <cp:lastModifiedBy>Hsieh-Ting Lin, MD</cp:lastModifiedBy>
  <cp:revision>1</cp:revision>
  <dcterms:created xsi:type="dcterms:W3CDTF">2026-10-09T16:08:57Z</dcterms:created>
  <dcterms:modified xsi:type="dcterms:W3CDTF">2026-10-09T16:08:57Z</dcterms:modified>
</cp:coreProperties>
</file>