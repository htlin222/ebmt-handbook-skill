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787dfc-26b5-cc16-bc63-c68119666c6b}">
          <p14:sldIdLst>
            <p14:sldId id="256"/>
            <p14:sldId id="257"/>
          </p14:sldIdLst>
        </p14:section>
        <p14:section name="MDS" id="{3e84ab46-4e17-5d74-a141-d6779d875a3f}">
          <p14:sldIdLst>
            <p14:sldId id="258"/>
            <p14:sldId id="259"/>
            <p14:sldId id="260"/>
            <p14:sldId id="261"/>
            <p14:sldId id="262"/>
            <p14:sldId id="263"/>
            <p14:sldId id="264"/>
            <p14:sldId id="265"/>
          </p14:sldIdLst>
        </p14:section>
        <p14:section name="MDS/MPN" id="{5096424e-f03f-1c24-823c-bc92aa706090}">
          <p14:sldIdLst>
            <p14:sldId id="266"/>
            <p14:sldId id="267"/>
            <p14:sldId id="268"/>
            <p14:sldId id="269"/>
            <p14:sldId id="270"/>
            <p14:sldId id="271"/>
          </p14:sldIdLst>
        </p14:section>
        <p14:section name="Board questions" id="{19f1ce95-98bd-14ea-b2d9-e19c950560f0}">
          <p14:sldIdLst>
            <p14:sldId id="272"/>
            <p14:sldId id="273"/>
            <p14:sldId id="274"/>
            <p14:sldId id="275"/>
            <p14:sldId id="276"/>
            <p14:sldId id="277"/>
          </p14:sldIdLst>
        </p14:section>
        <p14:section name="References" id="{513a3a7e-541c-bf96-ce85-2d868fd9c486}">
          <p14:sldIdLst>
            <p14:sldId id="278"/>
            <p14:sldId id="279"/>
            <p14:sldId id="280"/>
            <p14:sldId id="281"/>
            <p14:sldId id="282"/>
          </p14:sldIdLst>
        </p14:section>
        <p14:section name="Backup" id="{351db643-c156-c94b-a4d8-f670e6a93ae3}">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a:p>
            <a:pPr>
              <a:spcAft>
                <a:spcPts val="600"/>
              </a:spcAft>
            </a:pPr>
            <a:r>
              <a:rPr lang="en-US" dirty="0"/>
              <a:t>MDS 和 MDS/MPN 的思路相同，先用疾病本身的風險分數決定該不該移植，再用病人的 fitness、comorbidity 和 donor 決定怎麼移植、什麼時候移植。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a:p>
            <a:pPr>
              <a:spcAft>
                <a:spcPts val="600"/>
              </a:spcAft>
            </a:pPr>
            <a:r>
              <a:rPr lang="en-US" dirty="0"/>
              <a:t>舉個例子，blast 6% 是 2 分，normal karyotype 是 1 分，Hb 9 屬於 moderate，1 分，總共 4 分，下一張會看到這落在 intermediate。WPSS 則是另一套把輸血依賴納入的系統，書上只提到它的存在。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a:p>
            <a:pPr>
              <a:spcAft>
                <a:spcPts val="600"/>
              </a:spcAft>
            </a:pPr>
            <a:r>
              <a:rPr lang="en-US" dirty="0"/>
              <a:t>移植量也在增加。EBMT registry 的 MDS 移植從 2006 年的 946 例增加到 2019 年的 2591 例，unrelated donor 的比例從 34% 增加到 43%。增加的部分主要來自老年病人和 alternative donor。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a:p>
            <a:pPr>
              <a:spcAft>
                <a:spcPts val="600"/>
              </a:spcAft>
            </a:pPr>
            <a:r>
              <a:rPr lang="en-US" dirty="0"/>
              <a:t>這張表在門診可以反過來用。Lower-risk 的病人每次回診都對照一次這幾列，只要有一項成立，就該開始做 HLA typing、找 donor，而不是等 blast 升高才轉介。同時也要記得 NRM 的代價，書上一再強調移植的好處要和 NRM 一起衡量。</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a:p>
            <a:pPr>
              <a:spcAft>
                <a:spcPts val="600"/>
              </a:spcAft>
            </a:pPr>
            <a:r>
              <a:rPr lang="en-US" dirty="0"/>
              <a:t>書上沒有細講非移植治療的內容，只說依照 ELN 和 NCCN 等國際 MDS 專家團體的最新建議。考試比較常考的是分流本身，也就是 fit 與否、有沒有 poor-risk feature、有沒有 donor。圖上 failure 的箭頭也值得注意，非移植治療失敗的 fit 病人，同樣回到移植這條路。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a:p>
            <a:pPr>
              <a:spcAft>
                <a:spcPts val="600"/>
              </a:spcAft>
            </a:pPr>
            <a:r>
              <a:rPr lang="en-US" dirty="0"/>
              <a:t>沒有 donor 的 higher-risk 病人先走非移植治療，但仍要持續找 unrelated 或 haplo donor。Key point 提到 alternative donor 已經讓更多 MDS 病人有機會移植，長期結果也令人滿意。</a:t>
            </a:r>
          </a:p>
          <a:p>
            <a:pPr>
              <a:spcAft>
                <a:spcPts val="600"/>
              </a:spcAft>
            </a:pPr>
            <a:r>
              <a:rPr lang="en-US" dirty="0"/>
              <a:t>至於 HMA 和化療要怎麼分配，書上說還需要更多研究。另外，Figure 74.2 的切點寫的是 10% 以上，內文寫的是超過 10%，剛好 10% 的病人落在邊界上，臨床上依整體狀況判斷。</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比較好。BMT CTN 裡 RIC 的復發較多，正好說明 conditioning 強度主要影響的是復發，而不是整體存活。</a:t>
            </a:r>
          </a:p>
          <a:p>
            <a:pPr>
              <a:spcAft>
                <a:spcPts val="600"/>
              </a:spcAft>
            </a:pPr>
            <a:r>
              <a:rPr lang="en-US" dirty="0"/>
              <a:t>讀這些 trial 時要注意族群。RICMAC 只收 MDS 和 secondary AML；BMT CTN 和 CIBMTR 則把 AML 和 MDS 合在一起分析，MDS 的結論來自 subgroup。對 high 和 very high DRI 的病人來說，提高 conditioning 強度並沒有換到更好的 DFS。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a:p>
            <a:pPr>
              <a:spcAft>
                <a:spcPts val="600"/>
              </a:spcAft>
            </a:pPr>
            <a:r>
              <a:rPr lang="en-US" dirty="0"/>
              <a:t>這些因子在移植前就能拿到，適合用來和病人討論預期結果。IPSS-M 加上移植相關因子的模型也在研究中。考試常見的組合是 biallelic TP53 加 complex karyotype，這類病人移植後的復發風險最高，下一張會談到他們的移植後策略。</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a:p>
            <a:pPr>
              <a:spcAft>
                <a:spcPts val="600"/>
              </a:spcAft>
            </a:pPr>
            <a:r>
              <a:rPr lang="en-US" dirty="0"/>
              <a:t>未來的方向包括 oral azacitidine，以及 venetoclax、enasidenib、eprenetapopt 這些標靶藥物，單用或合併，trial 都還在進行。病房上，移植後持續追蹤 MRD，越早發現 molecular relapse，可用的選擇越多。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a:p>
            <a:pPr>
              <a:spcAft>
                <a:spcPts val="600"/>
              </a:spcAft>
            </a:pPr>
            <a:r>
              <a:rPr lang="en-US" dirty="0"/>
              <a:t>還有兩個細節。Dysplasia 的定義是某個 lineage 至少 10% 的細胞有形態異常；blast 的計算包括 myeloblast、monoblast 和 promonocyte。周邊 monocyte subset 分布異常是新加入的 supporting criterion。其他三種 overlap 因為太少見，發生率都還不清楚。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a:p>
            <a:pPr>
              <a:spcAft>
                <a:spcPts val="600"/>
              </a:spcAft>
            </a:pPr>
            <a:r>
              <a:rPr lang="en-US" dirty="0"/>
              <a:t>實務上 CPSS-Mol 需要 NGS 的結果，報告出來之前，可以先用 CPSS 決定要不要找 donor。WBC 13 這個切點同時是 MD-CMML 和 MP-CMML 的分界，可以一起記。兩個模型同一組別的 median OS 不一樣，例如 high risk 一個是 5 個月、一個是 18 個月，背的時候不要混用。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a:p>
            <a:pPr>
              <a:spcAft>
                <a:spcPts val="600"/>
              </a:spcAft>
            </a:pPr>
            <a:r>
              <a:rPr lang="en-US" dirty="0"/>
              <a:t>MDS/MPN with neutrophilia 的分數只用年紀、Hb 和白血球三個臨床變數，不需要分子資料。SF3B1-T 的突變分布也可以知道一下，SF3B1 大約 85%，JAK2 V617F 大約 50%，TET2 約 25%，ASXL1 約 20%。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a:p>
            <a:pPr>
              <a:spcAft>
                <a:spcPts val="600"/>
              </a:spcAft>
            </a:pPr>
            <a:r>
              <a:rPr lang="en-US" dirty="0"/>
              <a:t>MDS/MPN with neutrophilia 在 65 歲以下非常少見，移植資料只有小型系列。EBMT 42 位移植病人的 5 年 OS 是 51%、RFS 36%，復發率 40%，年輕、EBMT risk score 低的人結果較好。75 歲這個上限出自 key point，前提是沒有重大 comorbidity。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a:p>
            <a:pPr>
              <a:spcAft>
                <a:spcPts val="600"/>
              </a:spcAft>
            </a:pPr>
            <a:r>
              <a:rPr lang="en-US" dirty="0"/>
              <a:t>新的組合還在試驗階段，包括 HMA 加 lenalidomide 或 venetoclax，以及 JAK2、MEK1/2、IDH1/2 inhibitor。Azacitidine 加 ruxolitinib 的 phase II 在 35 位 MDS/MPN 病人的反應率是 57%，但其中 4 位 atypical CML 的 median survival 只有 8 個月。MDS/MPN-NOS 也可以考慮 JAK inhibitor，單用或合併 HMA。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a:p>
            <a:pPr>
              <a:spcAft>
                <a:spcPts val="600"/>
              </a:spcAft>
            </a:pPr>
            <a:r>
              <a:rPr lang="en-US" dirty="0"/>
              <a:t>MDS/MPN with neutrophilia 最大的系列裡 76% 用 MAC，conditioning 強度同樣不影響結果。另有一份報告指出，advanced CMML 用 6 到 8 Gy 分次 TBI 加 FLU 結果較好，但只是單一報告。MAC 的切點是 60 歲和 HCT-CI 小於 3，和 MDS 依 fitness 選的原則一致，只是第 76 章給了具體數字。</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dirty="0"/>
              <a:t>他目前沒有 blast 增加，karyotype 也正常，所以題目只留下一個線索可以用。</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a:p>
            <a:pPr>
              <a:spcAft>
                <a:spcPts val="600"/>
              </a:spcAft>
            </a:pPr>
            <a:r>
              <a:rPr lang="en-US" dirty="0"/>
              <a:t>臨床上還要確認 sibling 的年紀和健康狀況，因為書上偏好年輕 donor。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dirty="0"/>
              <a:t>注意白血球和 monocyte 兩個數字都會用到。CPSS 有四個變數，karyotype 要先套 CMML-specific 的分類，再對應四個 risk group。</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a:p>
            <a:pPr>
              <a:spcAft>
                <a:spcPts val="600"/>
              </a:spcAft>
            </a:pPr>
            <a:r>
              <a:rPr lang="en-US" dirty="0"/>
              <a:t>另外，monocyte 4.0 遠超過 1.0，所以這個診斷不需要額外的 clonal 證據。</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dirty="0"/>
              <a:t>請同時考慮 blast 比例、年紀，以及 conditioning 強度的證據，前面兩張流程圖和 conditioning trial 那張表都用得到。</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a:p>
            <a:pPr>
              <a:spcAft>
                <a:spcPts val="600"/>
              </a:spcAft>
            </a:pPr>
            <a:r>
              <a:rPr lang="en-US" dirty="0"/>
              <a:t>移植後她屬於高復發風險，可以依 MRD 考慮 pre-emptive azacitidine 或 DLI。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500" b="1" dirty="0">
                          <a:solidFill>
                            <a:schemeClr val="tx1"/>
                          </a:solidFill>
                        </a:rPr>
                        <a:t>Variable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Categories and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3% [0]; 3–4% [1]; 5–10% [2]; &gt; 10%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good [0]; good [1]; int [2]; poor [3]; very poor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Cytopenia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None [0]; mild [0.5]; moderate [1]; severe anaemia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 del(11q)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Normal, del(5q), del(12p), del(20q), double incl. del(5q)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Intermediate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del(7q), −8, −19, i(17q), any other single or double clone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 inv(3)/t(3q)/del(3q), double incl. −7/del(7q), 3 abn.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poor karyotype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&gt; 3 abnormalities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detail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Poor-risk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or very poor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Persistent blast increase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Rise &gt; 50%, or &gt; 15% marrow blasts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Life-threatening cytopenias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Trigger for HCT in lower-risk 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transfusion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2 units per month for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adverse karyotype or blast rise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molecular testing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Robin 2015; Kröger 2021;</a:t>
                      </a:r>
                      <a:endParaRPr lang="en-US" sz="1600" dirty="0"/>
                    </a:p>
                    <a:p>
                      <a:pPr indent="0" marL="0">
                        <a:buNone/>
                      </a:pPr>
                      <a:r>
                        <a:rPr lang="en-US" sz="1600" dirty="0">
                          <a:solidFill>
                            <a:schemeClr val="tx1"/>
                          </a:solidFill>
                        </a:rPr>
                        <a:t>Nakamura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Donor-availability trials: HR-MDS</a:t>
                      </a:r>
                      <a:endParaRPr lang="en-US" sz="1600" dirty="0"/>
                    </a:p>
                    <a:p>
                      <a:pPr indent="0" marL="0">
                        <a:buNone/>
                      </a:pPr>
                      <a:r>
                        <a:rPr lang="en-US" sz="1600" dirty="0">
                          <a:solidFill>
                            <a:schemeClr val="tx1"/>
                          </a:solidFill>
                        </a:rPr>
                        <a:t>with a donor lives longer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Cutler 2004; Koreth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LR-MDS: no benefit from upfront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Witte 2017; DeFilipp 2023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for HR-MDS; LR-MDS with poor-risk</a:t>
                      </a:r>
                      <a:endParaRPr lang="en-US" sz="1600" dirty="0"/>
                    </a:p>
                    <a:p>
                      <a:pPr indent="0" marL="0">
                        <a:buNone/>
                      </a:pPr>
                      <a:r>
                        <a:rPr lang="en-US" sz="1600" dirty="0">
                          <a:solidFill>
                            <a:schemeClr val="tx1"/>
                          </a:solidFill>
                        </a:rPr>
                        <a:t>features or failed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RIC lower DFS (HR 1.19);</a:t>
                      </a:r>
                      <a:endParaRPr lang="en-US" sz="1700" dirty="0"/>
                    </a:p>
                    <a:p>
                      <a:pPr indent="0" marL="0">
                        <a:buNone/>
                      </a:pPr>
                      <a:r>
                        <a:rPr lang="en-US" sz="1700" dirty="0">
                          <a:solidFill>
                            <a:schemeClr val="tx1"/>
                          </a:solidFill>
                        </a:rPr>
                        <a:t>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Poor/very poor karyotype incl. monosomal; HR-MDS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Mutations (Lindsley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Biallelic TP53, ASXL1, RUNX1, RAS pathway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Patient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HCT-CI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score (Gagelmann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donor, PS, karyotype, recipient CMV,</a:t>
                      </a:r>
                      <a:endParaRPr lang="en-US" sz="1600" dirty="0"/>
                    </a:p>
                    <a:p>
                      <a:pPr indent="0" marL="0">
                        <a:buNone/>
                      </a:pPr>
                      <a:r>
                        <a:rPr lang="en-US" sz="1600" dirty="0">
                          <a:solidFill>
                            <a:schemeClr val="tx1"/>
                          </a:solidFill>
                        </a:rPr>
                        <a:t>blasts,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or MUD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Both suitable options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Promising, but excess NRM vs matched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used: low cell dose, slow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 (Kröger 2013;</a:t>
                      </a:r>
                      <a:endParaRPr lang="en-US" sz="1600" dirty="0"/>
                    </a:p>
                    <a:p>
                      <a:pPr indent="0" marL="0">
                        <a:buNone/>
                      </a:pPr>
                      <a:r>
                        <a:rPr lang="en-US" sz="1600" dirty="0">
                          <a:solidFill>
                            <a:schemeClr val="tx1"/>
                          </a:solidFill>
                        </a:rPr>
                        <a:t>Murthy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donors preferred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at relapse</a:t>
                      </a:r>
                      <a:endParaRPr lang="en-US" sz="1600" dirty="0"/>
                    </a:p>
                    <a:p>
                      <a:pPr indent="0" marL="0">
                        <a:buNone/>
                      </a:pPr>
                      <a:r>
                        <a:rPr lang="en-US" sz="1600" dirty="0">
                          <a:solidFill>
                            <a:schemeClr val="tx1"/>
                          </a:solidFill>
                        </a:rPr>
                        <a:t>(Craddock 2016, n = 181)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low blasts, relapse &gt; 6 months;</a:t>
                      </a:r>
                      <a:endParaRPr lang="en-US" sz="1600" dirty="0"/>
                    </a:p>
                    <a:p>
                      <a:pPr indent="0" marL="0">
                        <a:buNone/>
                      </a:pPr>
                      <a:r>
                        <a:rPr lang="en-US" sz="1600" dirty="0">
                          <a:solidFill>
                            <a:schemeClr val="tx1"/>
                          </a:solidFill>
                        </a:rPr>
                        <a:t>DLI added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or 2nd HCT</a:t>
                      </a:r>
                      <a:endParaRPr lang="en-US" sz="1600" dirty="0"/>
                    </a:p>
                    <a:p>
                      <a:pPr indent="0" marL="0">
                        <a:buNone/>
                      </a:pPr>
                      <a:r>
                        <a:rPr lang="en-US" sz="1600" dirty="0">
                          <a:solidFill>
                            <a:schemeClr val="tx1"/>
                          </a:solidFill>
                        </a:rPr>
                        <a:t>(Guièze 2016, n = 147)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Long-term survival 32% vs 6% with</a:t>
                      </a:r>
                      <a:endParaRPr lang="en-US" sz="1600" dirty="0"/>
                    </a:p>
                    <a:p>
                      <a:pPr indent="0" marL="0">
                        <a:buNone/>
                      </a:pPr>
                      <a:r>
                        <a:rPr lang="en-US" sz="1600" dirty="0">
                          <a:solidFill>
                            <a:schemeClr val="tx1"/>
                          </a:solidFill>
                        </a:rPr>
                        <a:t>chemotherapy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2nd allo-HCT</a:t>
                      </a:r>
                      <a:endParaRPr lang="en-US" sz="1600" dirty="0"/>
                    </a:p>
                    <a:p>
                      <a:pPr indent="0" marL="0">
                        <a:buNone/>
                      </a:pPr>
                      <a:r>
                        <a:rPr lang="en-US" sz="1600" dirty="0">
                          <a:solidFill>
                            <a:schemeClr val="tx1"/>
                          </a:solidFill>
                        </a:rPr>
                        <a:t>(Schmid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Rescues some in CR, without prior GVHD,</a:t>
                      </a:r>
                      <a:endParaRPr lang="en-US" sz="1600" dirty="0"/>
                    </a:p>
                    <a:p>
                      <a:pPr indent="0" marL="0">
                        <a:buNone/>
                      </a:pPr>
                      <a:r>
                        <a:rPr lang="en-US" sz="1600" dirty="0">
                          <a:solidFill>
                            <a:schemeClr val="tx1"/>
                          </a:solidFill>
                        </a:rPr>
                        <a:t>with a new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Pre-emptive AZA or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or MRD-guided: biallelic TP53,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HMA prophylaxis meta-analysis</a:t>
                      </a:r>
                      <a:endParaRPr lang="en-US" sz="1600" dirty="0"/>
                    </a:p>
                    <a:p>
                      <a:pPr indent="0" marL="0">
                        <a:buNone/>
                      </a:pPr>
                      <a:r>
                        <a:rPr lang="en-US" sz="1600" dirty="0">
                          <a:solidFill>
                            <a:schemeClr val="tx1"/>
                          </a:solidFill>
                        </a:rPr>
                        <a:t>(Kungwankiattichai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maintenance phase 3</a:t>
                      </a:r>
                      <a:endParaRPr lang="en-US" sz="1600" dirty="0"/>
                    </a:p>
                    <a:p>
                      <a:pPr indent="0" marL="0">
                        <a:buNone/>
                      </a:pPr>
                      <a:r>
                        <a:rPr lang="en-US" sz="1600" dirty="0">
                          <a:solidFill>
                            <a:schemeClr val="tx1"/>
                          </a:solidFill>
                        </a:rPr>
                        <a:t>(Oran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benefit over observation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marrow blasts ≥ 5% [1];</a:t>
                      </a:r>
                      <a:endParaRPr lang="en-US" sz="1600" dirty="0"/>
                    </a:p>
                    <a:p>
                      <a:pPr indent="0" marL="0">
                        <a:buNone/>
                      </a:pPr>
                      <a:r>
                        <a:rPr lang="en-US" sz="1600" dirty="0">
                          <a:solidFill>
                            <a:schemeClr val="tx1"/>
                          </a:solidFill>
                        </a:rPr>
                        <a:t>genetic risk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−Y alone; high: +8,</a:t>
                      </a:r>
                      <a:endParaRPr lang="en-US" sz="1600" dirty="0"/>
                    </a:p>
                    <a:p>
                      <a:pPr indent="0" marL="0">
                        <a:buNone/>
                      </a:pPr>
                      <a:r>
                        <a:rPr lang="en-US" sz="1600" dirty="0">
                          <a:solidFill>
                            <a:schemeClr val="tx1"/>
                          </a:solidFill>
                        </a:rPr>
                        <a:t>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600" b="1" dirty="0">
                          <a:solidFill>
                            <a:schemeClr val="tx1"/>
                          </a:solidFill>
                        </a:rPr>
                        <a:t>Entity · 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GFM</a:t>
                      </a:r>
                      <a:endParaRPr lang="en-US" sz="1600" dirty="0"/>
                    </a:p>
                    <a:p>
                      <a:pPr indent="0" marL="0">
                        <a:buNone/>
                      </a:pPr>
                      <a:r>
                        <a:rPr lang="en-US" sz="1600" dirty="0">
                          <a:solidFill>
                            <a:schemeClr val="tx1"/>
                          </a:solidFill>
                        </a:rPr>
                        <a:t>(Itzykson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age &gt; 65, PLT &lt; 100, anaemia, ASXL1;</a:t>
                      </a:r>
                      <a:endParaRPr lang="en-US" sz="1600" dirty="0"/>
                    </a:p>
                    <a:p>
                      <a:pPr indent="0" marL="0">
                        <a:buNone/>
                      </a:pPr>
                      <a:r>
                        <a:rPr lang="en-US" sz="1600" dirty="0">
                          <a:solidFill>
                            <a:schemeClr val="tx1"/>
                          </a:solidFill>
                        </a:rPr>
                        <a:t>[3]: WBC &gt; 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 4 (NR); int 5–7 (38.5);</a:t>
                      </a:r>
                      <a:endParaRPr lang="en-US" sz="1600" dirty="0"/>
                    </a:p>
                    <a:p>
                      <a:pPr indent="0" marL="0">
                        <a:buNone/>
                      </a:pPr>
                      <a:r>
                        <a:rPr lang="en-US" sz="1600" dirty="0">
                          <a:solidFill>
                            <a:schemeClr val="tx1"/>
                          </a:solidFill>
                        </a:rPr>
                        <a:t>high ≥ 8 (14.4)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MMM</a:t>
                      </a:r>
                      <a:endParaRPr lang="en-US" sz="1600" dirty="0"/>
                    </a:p>
                    <a:p>
                      <a:pPr indent="0" marL="0">
                        <a:buNone/>
                      </a:pPr>
                      <a:r>
                        <a:rPr lang="en-US" sz="1600" dirty="0">
                          <a:solidFill>
                            <a:schemeClr val="tx1"/>
                          </a:solidFill>
                        </a:rPr>
                        <a:t>(Patnaik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Hb &lt; 10, AMC &gt; 10, IMC &gt; 0%;</a:t>
                      </a:r>
                      <a:endParaRPr lang="en-US" sz="1600" dirty="0"/>
                    </a:p>
                    <a:p>
                      <a:pPr indent="0" marL="0">
                        <a:buNone/>
                      </a:pPr>
                      <a:r>
                        <a:rPr lang="en-US" sz="1600" dirty="0">
                          <a:solidFill>
                            <a:schemeClr val="tx1"/>
                          </a:solidFill>
                        </a:rPr>
                        <a:t>[1.5]: PLT &lt; 100, ASXL1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(97); I-1 1.5–2 (59);</a:t>
                      </a:r>
                      <a:endParaRPr lang="en-US" sz="1600" dirty="0"/>
                    </a:p>
                    <a:p>
                      <a:pPr indent="0" marL="0">
                        <a:buNone/>
                      </a:pPr>
                      <a:r>
                        <a:rPr lang="en-US" sz="1600" dirty="0">
                          <a:solidFill>
                            <a:schemeClr val="tx1"/>
                          </a:solidFill>
                        </a:rPr>
                        <a:t>I-2 2.5–4.5 (31); high ≥ 5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 MDACC</a:t>
                      </a:r>
                      <a:endParaRPr lang="en-US" sz="1600" dirty="0"/>
                    </a:p>
                    <a:p>
                      <a:pPr indent="0" marL="0">
                        <a:buNone/>
                      </a:pPr>
                      <a:r>
                        <a:rPr lang="en-US" sz="1600" dirty="0">
                          <a:solidFill>
                            <a:schemeClr val="tx1"/>
                          </a:solidFill>
                        </a:rPr>
                        <a:t>(Onida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65 [1]; Hb ≤ 10 [1];</a:t>
                      </a:r>
                      <a:endParaRPr lang="en-US" sz="1600" dirty="0"/>
                    </a:p>
                    <a:p>
                      <a:pPr indent="0" marL="0">
                        <a:buNone/>
                      </a:pPr>
                      <a:r>
                        <a:rPr lang="en-US" sz="1600" dirty="0">
                          <a:solidFill>
                            <a:schemeClr val="tx1"/>
                          </a:solidFill>
                        </a:rPr>
                        <a:t>WBC &gt; 50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0–1 (38); high 2–3 (9)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SF3B1-T · Mayo</a:t>
                      </a:r>
                      <a:endParaRPr lang="en-US" sz="1600" dirty="0"/>
                    </a:p>
                    <a:p>
                      <a:pPr indent="0" marL="0">
                        <a:buNone/>
                      </a:pPr>
                      <a:r>
                        <a:rPr lang="en-US" sz="1600" dirty="0">
                          <a:solidFill>
                            <a:schemeClr val="tx1"/>
                          </a:solidFill>
                        </a:rPr>
                        <a:t>(Patnaik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&lt; 10 [1]; abnormal karyotype [2];</a:t>
                      </a:r>
                      <a:endParaRPr lang="en-US" sz="1600" dirty="0"/>
                    </a:p>
                    <a:p>
                      <a:pPr indent="0" marL="0">
                        <a:buNone/>
                      </a:pPr>
                      <a:r>
                        <a:rPr lang="en-US" sz="1600" dirty="0">
                          <a:solidFill>
                            <a:schemeClr val="tx1"/>
                          </a:solidFill>
                        </a:rPr>
                        <a:t>ASXL1 [1]; SETBP1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(80); int 1 (42);</a:t>
                      </a:r>
                      <a:endParaRPr lang="en-US" sz="1600" dirty="0"/>
                    </a:p>
                    <a:p>
                      <a:pPr indent="0" marL="0">
                        <a:buNone/>
                      </a:pPr>
                      <a:r>
                        <a:rPr lang="en-US" sz="1600" dirty="0">
                          <a:solidFill>
                            <a:schemeClr val="tx1"/>
                          </a:solidFill>
                        </a:rPr>
                        <a:t>high ≥ 2 (11)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score or molecular marker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12.4–33 (4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&lt; 11 g/dL (M); I-1/I-2, intermediate-1/-2; counts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Bridge or control (Ch. 76)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 marrow blasts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Upfront allo-HCT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rising WBC or organ infiltration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Hydroxyurea is the drug of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CMML-2 or marrow blasts &gt;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HMA (ORR 40–50%) or AML-like 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leukocytosis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 or IFN-α; induction if high blasts or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mutations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ASXL1 43%, SETBP1 30%, ETNK1 16%; JAK2 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Lenalidomide for transfusions; antiplatelet, cytoreduction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HU/IFN-α if proliferative;</a:t>
                      </a:r>
                      <a:endParaRPr lang="en-US" sz="1600" dirty="0"/>
                    </a:p>
                    <a:p>
                      <a:pPr indent="0" marL="0">
                        <a:buNone/>
                      </a:pPr>
                      <a:r>
                        <a:rPr lang="en-US" sz="1600" dirty="0">
                          <a:solidFill>
                            <a:schemeClr val="tx1"/>
                          </a:solidFill>
                        </a:rPr>
                        <a:t>HMA or lenalidomide if cytopenic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Progression to AML (any entity)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Induction chemotherapy as a bridge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700" b="1" dirty="0">
                          <a:solidFill>
                            <a:schemeClr val="tx1"/>
                          </a:solidFill>
                        </a:rPr>
                        <a:t>Decision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guidance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60 and HCT-CI &lt; 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BU-CY, TBF, TTF or FB4; esp. proliferative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Older, comorbid or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BU/FLU, TREO10/FLU, reduced TBF/TTF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Largest CMML series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and RIC about equal; no outcome difference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CMML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Fractionated 6–8 Gy TBI/FLU: improved outcome</a:t>
                      </a:r>
                      <a:endParaRPr lang="en-US" sz="1700" dirty="0"/>
                    </a:p>
                    <a:p>
                      <a:pPr indent="0" marL="0">
                        <a:buNone/>
                      </a:pPr>
                      <a:r>
                        <a:rPr lang="en-US" sz="1700" dirty="0">
                          <a:solidFill>
                            <a:schemeClr val="tx1"/>
                          </a:solidFill>
                        </a:rPr>
                        <a:t>(one report)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Open; PBSC may cut graft failure and relapse,</a:t>
                      </a:r>
                      <a:endParaRPr lang="en-US" sz="1700" dirty="0"/>
                    </a:p>
                    <a:p>
                      <a:pPr indent="0" marL="0">
                        <a:buNone/>
                      </a:pPr>
                      <a:r>
                        <a:rPr lang="en-US" sz="1700" dirty="0">
                          <a:solidFill>
                            <a:schemeClr val="tx1"/>
                          </a:solidFill>
                        </a:rPr>
                        <a:t>esp. with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recommended: no polyclonal harvest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cGVHD: less relapse; DLI at low burden;</a:t>
                      </a:r>
                      <a:endParaRPr lang="en-US" sz="1700" dirty="0"/>
                    </a:p>
                    <a:p>
                      <a:pPr indent="0" marL="0">
                        <a:buNone/>
                      </a:pPr>
                      <a:r>
                        <a:rPr lang="en-US" sz="1700" dirty="0">
                          <a:solidFill>
                            <a:schemeClr val="tx1"/>
                          </a:solidFill>
                        </a:rPr>
                        <a:t>HMA ± DLI under study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29"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median 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MAC / RIC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relapse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Kröger 2002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52% / 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Symeonidis 2015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513; 53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249 / 226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41%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2017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209;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105 / 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28% / 52%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Itonaga 2018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159; 54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92 /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 /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Rovó 2023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1466; 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 64%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Onida 2017 (MDS/MPN-N)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40%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51%, RFS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0"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RCC with −7, del(7q) or ≥ 2 aberrations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Transplant early; MAC (TREO-based); OS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Hypocellular RCC, normal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TT/FLU OS 94% (Strahm 2017); now TREO/FLU;</a:t>
                      </a:r>
                      <a:endParaRPr lang="en-US" sz="1600" dirty="0"/>
                    </a:p>
                    <a:p>
                      <a:pPr indent="0" marL="0">
                        <a:buNone/>
                      </a:pPr>
                      <a:r>
                        <a:rPr lang="en-US" sz="1600" dirty="0">
                          <a:solidFill>
                            <a:schemeClr val="tx1"/>
                          </a:solidFill>
                        </a:rPr>
                        <a:t>BM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RCC, no −7, ANC &gt; 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Watch and observe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Primary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BU/CY/MEL: 5-y OS 63% (Strahm 2011)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UBTF-TD (~1/3 of de novo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response to AML-type chemo; worse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GATA2 or SAMD9/SAMD9L germline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outcome when stratified; screen family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Therapy-related MDS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 20% with complex karyotype or TP53;</a:t>
                      </a:r>
                      <a:endParaRPr lang="en-US" sz="1600" dirty="0"/>
                    </a:p>
                    <a:p>
                      <a:pPr indent="0" marL="0">
                        <a:buNone/>
                      </a:pPr>
                      <a:r>
                        <a:rPr lang="en-US" sz="1600" dirty="0">
                          <a:solidFill>
                            <a:schemeClr val="tx1"/>
                          </a:solidFill>
                        </a:rPr>
                        <a:t>~50% otherwise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600" b="1" dirty="0">
                          <a:solidFill>
                            <a:schemeClr val="tx1"/>
                          </a:solidFill>
                        </a:rPr>
                        <a:t>Subtype (share)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Features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PTPN11 (41%)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exclude Noonan syndrome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NF1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NF1; older, higher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NRAS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some regress spontaneously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Heterogeneous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High-risk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KRAS (14%)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age 0.9 y; monosomy 7 frequent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or int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some CR on AZA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CBL (12%)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vasculopathy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Generally low</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Rarely required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8"/>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risk: age ≥ 2 y, HbF ≥ 15%, secondary mutations, high DNA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2026-10-09T16:10:32Z</dcterms:created>
  <dcterms:modified xsi:type="dcterms:W3CDTF">2026-10-09T16:10:32Z</dcterms:modified>
</cp:coreProperties>
</file>