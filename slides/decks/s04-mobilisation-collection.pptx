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7584b6e-960f-2af6-74b6-7b9ae7af918f}">
          <p14:sldIdLst>
            <p14:sldId id="256"/>
            <p14:sldId id="257"/>
          </p14:sldIdLst>
        </p14:section>
        <p14:section name="Bone marrow harvest" id="{674c3892-1273-2998-12da-406a46a1d59d}">
          <p14:sldIdLst>
            <p14:sldId id="258"/>
            <p14:sldId id="259"/>
            <p14:sldId id="260"/>
            <p14:sldId id="261"/>
          </p14:sldIdLst>
        </p14:section>
        <p14:section name="Mobilisation and apheresis" id="{d8ee6e48-f29e-c620-4086-e1f4ee6cc375}">
          <p14:sldIdLst>
            <p14:sldId id="262"/>
            <p14:sldId id="263"/>
            <p14:sldId id="264"/>
            <p14:sldId id="265"/>
          </p14:sldIdLst>
        </p14:section>
        <p14:section name="Poor mobilisers, freezing and release" id="{7cb9fdd7-cac4-c937-7e57-c099cb796764}">
          <p14:sldIdLst>
            <p14:sldId id="266"/>
            <p14:sldId id="267"/>
            <p14:sldId id="268"/>
            <p14:sldId id="269"/>
            <p14:sldId id="270"/>
          </p14:sldIdLst>
        </p14:section>
        <p14:section name="Board questions" id="{8d87e6b2-64a6-79a1-9eaf-b2b095efafdc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References" id="{184c1a5c-7f65-d951-4de7-9262b2868a10}">
          <p14:sldIdLst>
            <p14:sldId id="277"/>
            <p14:sldId id="278"/>
          </p14:sldIdLst>
        </p14:section>
        <p14:section name="Backup" id="{85ca4f60-f5da-1644-c760-955d4446ddf8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各位好，第 4 堂談幹細胞怎麼收、怎麼處理。核心是 Handbook 第 16 章 mobilisation and collection，加上第 15 章 bone marrow harvest 和第 20 章 cryopreservation 與 quality control。這一堂幾乎全是數字，CD34 的門檻、plerixafor 的切點、冷凍和放行的條件，都是直接出題的地方。最後用三題收尾。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今天分四段。第一段是 bone marrow harvest，先比較 marrow 和 peripheral blood 兩種 graft，再講 harvest 的做法、要收多少細胞，以及捐贈者的風險。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第二段進入 mobilisation，比較只打 G-CSF 的 steady state 和化療加 G-CSF，接著是各種化療之後什麼時候開始打 G-CSF、什麼時候開始驗 CD34，還有 auto 和 allo 各自要收多少 CD34。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第三段處理收不到的人，也就是 poor mobiliser 和 plerixafor 的使用時機，然後是收到之後怎麼冷凍保存、什麼條件下這袋 graft 才能放行。最後三題，分別對應這三段。</a:t>
            </a:r>
          </a:p>
          <a:p>
            <a:pPr>
              <a:spcAft>
                <a:spcPts val="600"/>
              </a:spcAft>
            </a:pPr>
            <a:r>
              <a:rPr lang="en-US" dirty="0"/>
              <a:t>這三段剛好照著一袋 graft 的生命週期走，從捐贈者身上取出、收集、冷凍，到放行輸回病人。每一段的數字不多，但每一個都可能直接變成選項。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先看兩種 graft 的取捨。依 Passweg 2021 的 EBMT 資料，peripheral blood 已經占 haplo 大約 65%、allo 大約 90%、auto 幾乎 100%，bone marrow 現在是少數。</a:t>
            </a:r>
          </a:p>
          <a:p>
            <a:pPr>
              <a:spcAft>
                <a:spcPts val="600"/>
              </a:spcAft>
            </a:pPr>
            <a:r>
              <a:rPr lang="en-US" dirty="0"/>
              <a:t>Marrow 對病人的缺點是血球和免疫恢復比較慢，所以感染多、住院久。對捐贈者來說要全身麻醉、要住院，有時還要先存自體血。優點是 TRM 和 chronic GVHD 比較少，尤其是 extensive cGVHD，連帶晚期感染少、長期 IST 的副作用像骨質疏鬆和 aseptic necrosis 少，生活品質比較好。捐贈者也不必打 G-CSF。</a:t>
            </a:r>
          </a:p>
          <a:p>
            <a:pPr>
              <a:spcAft>
                <a:spcPts val="600"/>
              </a:spcAft>
            </a:pPr>
            <a:r>
              <a:rPr lang="en-US" dirty="0"/>
              <a:t>代價是 GVL 比較弱，惡性疾病的 relapse 風險比較高。所以第 15 章特別強調，像 severe aplastic anaemia 這種非腫瘤疾病，不需要 GVL、又最怕 GVHD，應該優先考慮 marrow。這個 SAA 選 marrow 的原則，考題很常出。</a:t>
            </a:r>
          </a:p>
          <a:p>
            <a:pPr>
              <a:spcAft>
                <a:spcPts val="600"/>
              </a:spcAft>
            </a:pPr>
            <a:r>
              <a:rPr lang="en-US" dirty="0"/>
              <a:t>第 16 章則提醒 peripheral blood 的好處，捐贈者比較不辛苦，engraftment 比較快。</a:t>
            </a:r>
          </a:p>
          <a:p>
            <a:pPr>
              <a:spcAft>
                <a:spcPts val="600"/>
              </a:spcAft>
            </a:pPr>
            <a:r>
              <a:rPr lang="en-US" dirty="0"/>
              <a:t>考試另一個角度是反過來問，惡性疾病選 marrow 的代價是什麼，就是 GVL 比較弱、relapse 風險比較高。捐贈者那一欄也要記，marrow 不用打 G-CSF；不過書上也註明，短期使用 G-CSF 的捐贈者，至今沒有證實長期血液疾病的風險增加。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3:00 至 4:30]</a:t>
            </a:r>
          </a:p>
          <a:p>
            <a:pPr>
              <a:spcAft>
                <a:spcPts val="600"/>
              </a:spcAft>
            </a:pPr>
            <a:r>
              <a:rPr lang="en-US" dirty="0"/>
              <a:t>Harvest 在無菌開刀房做，通常全身麻醉，建議用 laryngeal mask，減少插管後喉嚨不適；全身麻醉有禁忌時才用 spinal。捐贈者趴著，只穿刺兩側 posterior iliac crest，小孩可以翻身加抽 anterior crest。</a:t>
            </a:r>
          </a:p>
          <a:p>
            <a:pPr>
              <a:spcAft>
                <a:spcPts val="600"/>
              </a:spcAft>
            </a:pPr>
            <a:r>
              <a:rPr lang="en-US" dirty="0"/>
              <a:t>兩位醫師各站一邊，透過一到兩個皮膚穿刺點，改變方向和深度，總共做 100 到 200 次穿刺。每次只抽 4 到 5 mL，目的就是避免被周邊血稀釋；抽太大量，或用多孔針，收的其實多半是血。</a:t>
            </a:r>
          </a:p>
          <a:p>
            <a:pPr>
              <a:spcAft>
                <a:spcPts val="600"/>
              </a:spcAft>
            </a:pPr>
            <a:r>
              <a:rPr lang="en-US" dirty="0"/>
              <a:t>抽到 500 到 600 mL 時先驗一次細胞數，評估效率。總量上限是捐贈者每公斤 15 到 20 mL。之後經過 850、500、200 µm 三層 filter，分裝成兩到三袋，萬一運送時破一袋還有備份，再貼 ISBT 128 標籤以便追溯。</a:t>
            </a:r>
          </a:p>
          <a:p>
            <a:pPr>
              <a:spcAft>
                <a:spcPts val="600"/>
              </a:spcAft>
            </a:pPr>
            <a:r>
              <a:rPr lang="en-US" dirty="0"/>
              <a:t>抗凝劑多數中心用 heparin。若 marrow 要運送到別的中心或要冷凍，JACIE 和 AABB 都建議再加 10% ACD-A，避免結塊。</a:t>
            </a:r>
          </a:p>
          <a:p>
            <a:pPr>
              <a:spcAft>
                <a:spcPts val="600"/>
              </a:spcAft>
            </a:pPr>
            <a:r>
              <a:rPr lang="en-US" dirty="0"/>
              <a:t>多孔針雖然方便，但血液污染更多。每抽完一管，用含 heparin 的生理食鹽水沖洗針筒，收集袋要定期輕搖，避免凝塊。這些細節考得少，但說明了 harvest 的品質為什麼和操作者的經驗很有關係。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4:30 至 6:00]</a:t>
            </a:r>
          </a:p>
          <a:p>
            <a:pPr>
              <a:spcAft>
                <a:spcPts val="600"/>
              </a:spcAft>
            </a:pPr>
            <a:r>
              <a:rPr lang="en-US" dirty="0"/>
              <a:t>Marrow 的劑量看的是 total nucleated cell，不是 CD34。目標是受者每公斤 2 到 4 × 10⁸ 個 TNC，unrelated donor 建議收到 3 × 10⁸ 以上，key points 的說法是至少 3 × 10⁸，越多越好。</a:t>
            </a:r>
          </a:p>
          <a:p>
            <a:pPr>
              <a:spcAft>
                <a:spcPts val="600"/>
              </a:spcAft>
            </a:pPr>
            <a:r>
              <a:rPr lang="en-US" dirty="0"/>
              <a:t>能收多少，NMDP 用一個簡單的公式預估。抽取上限是捐贈者每公斤 15 到 20 mL，每 mL 預期有 0.22 × 10⁸ 個 TNC。表中間兩列是我自己算的例子，70 公斤的捐贈者抽 1400 mL，大約 3.1 × 10¹⁰ 個細胞，給 80 公斤的受者約 3.9 × 10⁸/kg。如果受者比捐贈者重很多，事先就要知道可能不夠。</a:t>
            </a:r>
          </a:p>
          <a:p>
            <a:pPr>
              <a:spcAft>
                <a:spcPts val="600"/>
              </a:spcAft>
            </a:pPr>
            <a:r>
              <a:rPr lang="en-US" dirty="0"/>
              <a:t>CD34 雖然會驗，但不是 marrow 的標準指標。近年 harvest 的細胞濃度在下降，原因是每年少於 6 例的中心經驗不足，以及為了縮短麻醉時間抽得太快太大量。冷凍會讓細胞流失，一般影響不大，但在 aplastic anaemia 有不利的報告，所以除非必要，marrow 不冷凍。</a:t>
            </a:r>
          </a:p>
          <a:p>
            <a:pPr>
              <a:spcAft>
                <a:spcPts val="600"/>
              </a:spcAft>
            </a:pPr>
            <a:r>
              <a:rPr lang="en-US" dirty="0"/>
              <a:t>COVID-19 期間，很多 unrelated donor 的 marrow 必須冷凍再運送，運送延遲和冷凍造成的細胞流失才又被重新重視。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6:00 至 7:30]</a:t>
            </a:r>
          </a:p>
          <a:p>
            <a:pPr>
              <a:spcAft>
                <a:spcPts val="600"/>
              </a:spcAft>
            </a:pPr>
            <a:r>
              <a:rPr lang="en-US" dirty="0"/>
              <a:t>捐贈者安全是 harvest 的另一半。NMDP 的 Pulsipher 2014 把併發症分四類。Major complication 只有 0.25%，例如合併 ECG 變化的嚴重低血壓、拔管後 laryngospasm、肺水腫、asystole，大多很快恢復。</a:t>
            </a:r>
          </a:p>
          <a:p>
            <a:pPr>
              <a:spcAft>
                <a:spcPts val="600"/>
              </a:spcAft>
            </a:pPr>
            <a:r>
              <a:rPr lang="en-US" dirty="0"/>
              <a:t>預期中但讓住院延長的 minor complication 是 1.4%，噁心、疼痛、發燒、昏厥和麻醉相關問題，一到兩天就好。非預期的 minor 是 0.2%。比較常被忽略的是慢性疼痛，臀部、背部或關節痛大約 5%，有些超過三個月。</a:t>
            </a:r>
          </a:p>
          <a:p>
            <a:pPr>
              <a:spcAft>
                <a:spcPts val="600"/>
              </a:spcAft>
            </a:pPr>
            <a:r>
              <a:rPr lang="en-US" dirty="0"/>
              <a:t>Halter 2009 分析 27,770 次 marrow donation，嚴重事件 12 例，也就是 0.04%，其中一例在捐贈後第 15 天死於大範圍肺栓塞，另有 4 例 cardiac arrest。</a:t>
            </a:r>
          </a:p>
          <a:p>
            <a:pPr>
              <a:spcAft>
                <a:spcPts val="600"/>
              </a:spcAft>
            </a:pPr>
            <a:r>
              <a:rPr lang="en-US" dirty="0"/>
              <a:t>輸血策略寫在下面。書上推薦不輸血、只補充液體，次選是兩到三週前先存的自體血，健康捐贈者絕對避免輸別人的血。術後一週止痛、口服鐵劑，七天內避免劇烈運動和提重物。</a:t>
            </a:r>
          </a:p>
          <a:p>
            <a:pPr>
              <a:spcAft>
                <a:spcPts val="600"/>
              </a:spcAft>
            </a:pPr>
            <a:r>
              <a:rPr lang="en-US" dirty="0"/>
              <a:t>慢性疼痛的 5%，反而是捐贈者最可能遇到的問題，做 donor counselling 時要特別說明。Major complication 雖然少，多半和麻醉有關，所以入院前的麻醉前評估是 harvest 流程的固定項目。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7:30 至 9:30]</a:t>
            </a:r>
          </a:p>
          <a:p>
            <a:pPr>
              <a:spcAft>
                <a:spcPts val="600"/>
              </a:spcAft>
            </a:pPr>
            <a:r>
              <a:rPr lang="en-US" dirty="0"/>
              <a:t>Mobilisation 的原理是 G-CSF 讓骨髓增生，並經由蛋白酶切斷 adhesion molecule，把平常只占周邊白血球不到 0.05% 的 CD34+ 細胞放到血中。策略有兩條路。</a:t>
            </a:r>
          </a:p>
          <a:p>
            <a:pPr>
              <a:spcAft>
                <a:spcPts val="600"/>
              </a:spcAft>
            </a:pPr>
            <a:r>
              <a:rPr lang="en-US" dirty="0"/>
              <a:t>左邊是 steady state，只打 G-CSF。核准劑量 filgrastim 每天 10 µg/kg 皮下五到七天，或 lenograstim 10 µg/kg 四到六天，biosimilar 效果相同。不論哪一種，apheresis 通常在第 5 天，第 4 到 5 天就要測周邊血 CD34。量不夠可以多打一到兩天，但第三次 apheresis 還收不到目標，大概就不會成功。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右邊是化療加 G-CSF。最常用 cyclophosphamide 2 g/m²；4 g/m² 毒性增加，在 myeloma 收集量也和 2 g/m² 差不多。也可以直接用疾病本身的化療，例如 lymphoma 的 salvage。這時核准劑量比較低，filgrastim 5 µg/kg、lenograstim 150 µg/m²，實務上常往上調。最早在化療結束後、最晚在白血球 nadir 開始打，多數 protocol 是化療結束後一到五天內，一直打到最後一次 apheresis。</a:t>
            </a:r>
          </a:p>
          <a:p>
            <a:pPr>
              <a:spcAft>
                <a:spcPts val="600"/>
              </a:spcAft>
            </a:pPr>
            <a:r>
              <a:rPr lang="en-US" dirty="0"/>
              <a:t>Steady state 可以門診做、時間好預測、便宜；化療加 G-CSF 收得多、apheresis 次數少，還能壓腫瘤，但要住院、傷骨髓、影響以後再收。兩者 relapse rate 相當。Myeloma 或穩定緩解用 steady state，還需要降腫瘤量的就一起化療。</a:t>
            </a:r>
          </a:p>
          <a:p>
            <a:pPr>
              <a:spcAft>
                <a:spcPts val="600"/>
              </a:spcAft>
            </a:pPr>
            <a:r>
              <a:rPr lang="en-US" dirty="0"/>
              <a:t>選擇的關鍵不在哪一種收得多，而是病人本來還需不需要化療。化療後什麼時候開始驗 CD34，下一張詳細列出。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9:30 至 11:00]</a:t>
            </a:r>
          </a:p>
          <a:p>
            <a:pPr>
              <a:spcAft>
                <a:spcPts val="600"/>
              </a:spcAft>
            </a:pPr>
            <a:r>
              <a:rPr lang="en-US" dirty="0"/>
              <a:t>化療後的 CD34 peak 很難準確預測，所以要每天驗周邊血 CD34。Table 16.1 整理常用 regimen 的時間表。Day 1 是化療第一天，不算 rituximab。</a:t>
            </a:r>
          </a:p>
          <a:p>
            <a:pPr>
              <a:spcAft>
                <a:spcPts val="600"/>
              </a:spcAft>
            </a:pPr>
            <a:r>
              <a:rPr lang="en-US" dirty="0"/>
              <a:t>CY 2 g/m² 是第 5 天開始 G-CSF、第 10 天開始驗 CD34。CAD 是第 9 天和第 13 天。(R)CHOP 或 CHOEP 是第 6 天和第 11 天。(R)DHAP 最晚，第 9 天開始 G-CSF、第 14 天驗。(R)ICE 是第 6 天和第 12 天，(R)AraC/TT 和 CY 一樣，第 5 天和第 10 天。</a:t>
            </a:r>
          </a:p>
          <a:p>
            <a:pPr>
              <a:spcAft>
                <a:spcPts val="600"/>
              </a:spcAft>
            </a:pPr>
            <a:r>
              <a:rPr lang="en-US" dirty="0"/>
              <a:t>大致上 G-CSF 在第 5 到 9 天之間開始，CD34 監測再晚 4 到 5 天。沒有 protocol 規定時，最晚在白血球從 aplasia 回升到 1000/µL 時開始驗；steady state 則是打 G-CSF 第 4 到 5 天驗。</a:t>
            </a:r>
          </a:p>
          <a:p>
            <a:pPr>
              <a:spcAft>
                <a:spcPts val="600"/>
              </a:spcAft>
            </a:pPr>
            <a:r>
              <a:rPr lang="en-US" dirty="0"/>
              <a:t>周邊血 CD34 超過 20/µL 就開始 apheresis。這個 20 是整個 mobilisation 最重要的數字，等一下 plerixafor 的流程也從這裡出發。</a:t>
            </a:r>
          </a:p>
          <a:p>
            <a:pPr>
              <a:spcAft>
                <a:spcPts val="600"/>
              </a:spcAft>
            </a:pPr>
            <a:r>
              <a:rPr lang="en-US" dirty="0"/>
              <a:t>不必死背每一格，記得骨髓抑制越深的 regimen 越晚開始，像 DHAP 和 CAD 都是第 9 天才開始 G-CSF，第 13 到 14 天才開始驗。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11:00 至 12:30]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這張的兩個數字一定要背。Autologous 每次移植最少 2 × 10⁶ CD34+/kg，allogeneic 最少 4 × 10⁶。CD34 劑量是 auto-HCT 後穩定 engraftment 唯一被認可的預測因子。Auto 收到 2.5 到 5 × 10⁶ 比較理想，血球恢復快、住院短、輸血和抗生素都少。</a:t>
            </a:r>
          </a:p>
          <a:p>
            <a:pPr>
              <a:spcAft>
                <a:spcPts val="600"/>
              </a:spcAft>
            </a:pPr>
            <a:r>
              <a:rPr lang="en-US" dirty="0"/>
              <a:t>Myeloma 可能要 tandem，每一次都要 2 × 10⁶，而且要在第一次 high-dose therapy 之前一次收齊，因為 high-dose 之後再 mobilise 很容易失敗。第 20 章補充，低於 2 × 10⁶ 的 graft，只有在不可能再收、而且移植是救命必要時才用。</a:t>
            </a:r>
          </a:p>
          <a:p>
            <a:pPr>
              <a:spcAft>
                <a:spcPts val="600"/>
              </a:spcAft>
            </a:pPr>
            <a:r>
              <a:rPr lang="en-US" dirty="0"/>
              <a:t>Allo 如果之後要做 T-cell depletion 或冷凍，要收到 8 × 10⁶ 甚至更多。但上限也要注意。Mohty 2003 在 HLA-identical sibling 的研究中，CD34 超過 8.3 × 10⁶/kg，四年 extensive cGVHD 是 62%，低於這個量是 34%。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41 章 graft failure 的表把 auto 最低值寫成 1 × 10⁶，跟這兩章不一致，考試以 2 × 10⁶ 為準。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 cGVHD 的資料來自 HLA-identical sibling 的 peripheral blood graft。考題如果問 allo 的 CD34 是不是越多越好，答案是否定的。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講者提醒（不念出來）：</a:t>
            </a:r>
          </a:p>
          <a:p>
            <a:pPr>
              <a:spcAft>
                <a:spcPts val="600"/>
              </a:spcAft>
            </a:pPr>
            <a:r>
              <a:rPr lang="en-US" dirty="0"/>
              <a:t>- Ch. 16 and Ch. 20 give 2 × 10⁶/kg as the autologous minimum; Ch. 41 Table 41.2 gives &gt; 1 × 10⁶ minimum and &gt; 2 × 10⁶ optimum. Present 2 × 10⁶ as the working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12:30 至 14:00]</a:t>
            </a:r>
          </a:p>
          <a:p>
            <a:pPr>
              <a:spcAft>
                <a:spcPts val="600"/>
              </a:spcAft>
            </a:pPr>
            <a:r>
              <a:rPr lang="en-US" dirty="0"/>
              <a:t>收集本身是 leukapheresis。血管通路優先用周邊靜脈，不行才放 central venous catheter。</a:t>
            </a:r>
          </a:p>
          <a:p>
            <a:pPr>
              <a:spcAft>
                <a:spcPts val="600"/>
              </a:spcAft>
            </a:pPr>
            <a:r>
              <a:rPr lang="en-US" dirty="0"/>
              <a:t>Allogeneic donor 的規則比較嚴，每次不超過 5 小時，最多連續兩次。Auto 病人也是每次約 5 小時，或不超過機器建議的最長時間，例如 Spectra Optia 是 480 分鐘；連續不超過三次，因為再多通常也是白做。</a:t>
            </a:r>
          </a:p>
          <a:p>
            <a:pPr>
              <a:spcAft>
                <a:spcPts val="600"/>
              </a:spcAft>
            </a:pPr>
            <a:r>
              <a:rPr lang="en-US" dirty="0"/>
              <a:t>有些中心對 auto 病人做 large-volume apheresis，處理病人總血量的 4.0 到 5.3 倍，對照一般的 2.7 到 3.5 倍。收到的 CD34 比較多，細胞 viability 沒有差別，對 CD34 偏低的病人特別有幫助。</a:t>
            </a:r>
          </a:p>
          <a:p>
            <a:pPr>
              <a:spcAft>
                <a:spcPts val="600"/>
              </a:spcAft>
            </a:pPr>
            <a:r>
              <a:rPr lang="en-US" dirty="0"/>
              <a:t>要跑多久，可以用周邊血 CD34 和 collection efficiency，也就是 CE2，代入演算法預估。實務上，前一天的 CD34 數值不只決定要不要收，也決定今天要跑幾倍血量。兩次、三次這兩個上限，也是判斷 mobilisation 失敗的時間點。</a:t>
            </a:r>
          </a:p>
          <a:p>
            <a:pPr>
              <a:spcAft>
                <a:spcPts val="600"/>
              </a:spcAft>
            </a:pPr>
            <a:r>
              <a:rPr lang="en-US" dirty="0"/>
              <a:t>Steady state 第三次 apheresis 還收不到目標就很難成功，和這裡連續三次的上限互相呼應。遇到這種情況，下一步不是再多跑幾次，而是回到 plerixafor 的決策，就是下一段的內容。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14:00 至 15:30]</a:t>
            </a:r>
          </a:p>
          <a:p>
            <a:pPr>
              <a:spcAft>
                <a:spcPts val="600"/>
              </a:spcAft>
            </a:pPr>
            <a:r>
              <a:rPr lang="en-US" dirty="0"/>
              <a:t>Plerixafor 是 bicyclam 分子，可逆地阻斷 CXCR4，讓它不能和 SDF-1 結合，幹細胞就被放到周邊血。要不要加，看周邊血 CD34。</a:t>
            </a:r>
          </a:p>
          <a:p>
            <a:pPr>
              <a:spcAft>
                <a:spcPts val="600"/>
              </a:spcAft>
            </a:pPr>
            <a:r>
              <a:rPr lang="en-US" dirty="0"/>
              <a:t>超過 20/µL 就開始收。但如果第一次 apheresis 收不到目標的三分之一，失敗風險很高，要用 plerixafor rescue。10 到 20 之間是灰色地帶，依疾病特性和之前的治療決定。低於 10/µL 就明確要加，劑量 0.24 mg/kg 皮下，83 公斤以下的成人可以直接給 20 mg。</a:t>
            </a:r>
          </a:p>
          <a:p>
            <a:pPr>
              <a:spcAft>
                <a:spcPts val="600"/>
              </a:spcAft>
            </a:pPr>
            <a:r>
              <a:rPr lang="en-US" dirty="0"/>
              <a:t>化療 mobilisation 的時間比較長。第 12 到 14 天 CD34 仍低於 10/µL，而白血球正在上升，也建議加。</a:t>
            </a:r>
          </a:p>
          <a:p>
            <a:pPr>
              <a:spcAft>
                <a:spcPts val="600"/>
              </a:spcAft>
            </a:pPr>
            <a:r>
              <a:rPr lang="en-US" dirty="0"/>
              <a:t>20、10 和三分之一這三個數字是這張的重點，考題常給第 5 天的 CD34 問下一步。加了 plerixafor，apheresis 時間短、處理血量少、第一次就收得多，總成本反而下降。2023 年 EMA 核准了第一個 plerixafor biosimilar。</a:t>
            </a:r>
          </a:p>
          <a:p>
            <a:pPr>
              <a:spcAft>
                <a:spcPts val="600"/>
              </a:spcAft>
            </a:pPr>
            <a:r>
              <a:rPr lang="en-US" dirty="0"/>
              <a:t>劑量依體重計算，0.24 mg/kg；固定 20 mg 只適用 83 公斤以下的成人。灰色地帶要考慮的疾病和治療史，就是下一張 Table 16.3 的危險因子。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15:30 至 17:00]</a:t>
            </a:r>
          </a:p>
          <a:p>
            <a:pPr>
              <a:spcAft>
                <a:spcPts val="600"/>
              </a:spcAft>
            </a:pPr>
            <a:r>
              <a:rPr lang="en-US" dirty="0"/>
              <a:t>Poor mobiliser 有明確定義，收不到 2 × 10⁶ CD34+/kg，或周邊血 CD34 不到 20/µL。大約占 auto 病人的 15%。分兩群，事前就能預測的 predicted poor mobiliser，和實際收過才證實的 proven poor mobiliser。</a:t>
            </a:r>
          </a:p>
          <a:p>
            <a:pPr>
              <a:spcAft>
                <a:spcPts val="600"/>
              </a:spcAft>
            </a:pPr>
            <a:r>
              <a:rPr lang="en-US" dirty="0"/>
              <a:t>左欄是 Table 16.3 的預測因子，年紀超過 60、疾病 refractory 或晚期、治療線數多、用過 fludarabine、melphalan、lenalidomide 或 daratumumab、mobilisation 前血小板低，以及 apheresis 前 CD34 低。最可靠的單一預測因子是 apheresis 前周邊血的 CD34。</a:t>
            </a:r>
          </a:p>
          <a:p>
            <a:pPr>
              <a:spcAft>
                <a:spcPts val="600"/>
              </a:spcAft>
            </a:pPr>
            <a:r>
              <a:rPr lang="en-US" dirty="0"/>
              <a:t>右欄是書中的補充。即使用了 plerixafor，血小板低於 140 × 10⁹/L、年紀超過 65 歲、以前做過放療，仍然預測失敗。現在 transplant-eligible myeloma 多半用 daratumumab 為基礎的 induction，這群病人需要 plerixafor 的比例明顯較高。</a:t>
            </a:r>
          </a:p>
          <a:p>
            <a:pPr>
              <a:spcAft>
                <a:spcPts val="600"/>
              </a:spcAft>
            </a:pPr>
            <a:r>
              <a:rPr lang="en-US" dirty="0"/>
              <a:t>有一個以上 risk factor 的病人，書上建議考慮 preemptive plerixafor，不要等到失敗才補救。注意表上寫 60 歲、內文寫 65 歲，是兩個不同的問題。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這張表也可以反過來用。病人如果有好幾個危險因子，例如年紀大、用過 lenalidomide、血小板偏低，即使第 5 天的 CD34 落在 10 到 20 的灰色地帶，也比較傾向直接加 plerixafor。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17:00 至 18:30]</a:t>
            </a:r>
          </a:p>
          <a:p>
            <a:pPr>
              <a:spcAft>
                <a:spcPts val="600"/>
              </a:spcAft>
            </a:pPr>
            <a:r>
              <a:rPr lang="en-US" dirty="0"/>
              <a:t>收失敗之後怎麼辦，分三個情況看。左邊是 auto 病人第一次 mobilisation 失敗，大約 15%。單用 G-CSF 再試一次，效果比較差、成功率比較低；改用 plerixafor 再 mobilise，德國 compassionate use program 的經驗顯示可能相當有效。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中間是健康的 allogeneic donor。只打 G-CSF 失敗的比例大約 5 到 10%。Plerixafor 沒有核准用在 donor，但 2011 年以後陸續有報告，對 G-CSF 收不夠的 donor 加上 plerixafor，CD34 大約增加三倍，Hölig 2021 是前瞻性 phase II。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右邊是很多人擔心的問題，poor mobiliser 收到的細胞品質會不會比較差。第 20 章的答案是不會，primitive 和 quiescent 的 CD34 亞群比例相同，移植後白血球和血小板恢復也沒有差別。加了 plerixafor 的 graft 會有比較多 primitive HSC 和淋巴球，包括 T、B、NK 細胞，但這些差異沒有轉化成臨床差別。</a:t>
            </a:r>
          </a:p>
          <a:p>
            <a:pPr>
              <a:spcAft>
                <a:spcPts val="600"/>
              </a:spcAft>
            </a:pPr>
            <a:r>
              <a:rPr lang="en-US" dirty="0"/>
              <a:t>第 16 章最後提到，除了 CD34，graft 裡的其他細胞亞群也可能影響免疫重建，mobilisation 的方式可能改變 graft 的免疫組成。這部分還在研究階段，目前 CD34 仍是最重要的品質指標。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18:30 至 20:30]</a:t>
            </a:r>
          </a:p>
          <a:p>
            <a:pPr>
              <a:spcAft>
                <a:spcPts val="600"/>
              </a:spcAft>
            </a:pPr>
            <a:r>
              <a:rPr lang="en-US" dirty="0"/>
              <a:t>Auto 的 graft 要冷凍到 high-dose therapy 之後才輸回。收集後可以放在 2 到 6 度最多 72 小時，但建議 48 小時內冷凍，細胞活性最好。如果要放超過 24 小時，細胞濃度不能超過 2 × 10⁸/mL。</a:t>
            </a:r>
          </a:p>
          <a:p>
            <a:pPr>
              <a:spcAft>
                <a:spcPts val="600"/>
              </a:spcAft>
            </a:pPr>
            <a:r>
              <a:rPr lang="en-US" dirty="0"/>
              <a:t>冷凍時 nucleated cell 濃度上限一般是 4 × 10⁸/mL，太濃可以用自體血漿、albumin 或商業溶液稀釋；反過來把體積濃縮可以少用幾袋，但不能超過這個上限。成品含 5 到 10% 的 DMSO 當 cryoprotectant，每 mL 加 0.05 到 0.25 mL 的 ACD-A。用 controlled-rate freezer 每分鐘降 1 到 2 度，存放在液態氮的氣相，溫度在負 140 度以下，同時要防止交叉污染。</a:t>
            </a:r>
          </a:p>
          <a:p>
            <a:pPr>
              <a:spcAft>
                <a:spcPts val="600"/>
              </a:spcAft>
            </a:pPr>
            <a:r>
              <a:rPr lang="en-US" dirty="0"/>
              <a:t>移植當天在病房床邊解凍，解凍後 20 分鐘內用標準輸血 filter 輸完，因為 DMSO 會傷害幹細胞。一般不先洗掉 DMSO，洗的過程細胞損失太多。</a:t>
            </a:r>
          </a:p>
          <a:p>
            <a:pPr>
              <a:spcAft>
                <a:spcPts val="600"/>
              </a:spcAft>
            </a:pPr>
            <a:r>
              <a:rPr lang="en-US" dirty="0"/>
              <a:t>在這種條件下，CD34 細胞可以存活到 19 年，冷凍多久也不影響血球恢復。72 小時、負 140 度、20 分鐘，這三個數字最常考。</a:t>
            </a:r>
          </a:p>
          <a:p>
            <a:pPr>
              <a:spcAft>
                <a:spcPts val="600"/>
              </a:spcAft>
            </a:pPr>
            <a:r>
              <a:rPr lang="en-US" dirty="0"/>
              <a:t>收集到冷凍的時間和細胞濃度是一組，放得越久，濃度上限越低，兩個數字要一起記。整個流程要依各國主管機關和歐盟 directive 等規範執行，各中心的 protocol 不完全相同，但上面這些是 Handbook 給的共通範圍。考題如果問保存溫度，記得是氣相液態氮、負 140 度以下，不是一般冷凍櫃的溫度。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20:30 至 22:30]</a:t>
            </a:r>
          </a:p>
          <a:p>
            <a:pPr>
              <a:spcAft>
                <a:spcPts val="600"/>
              </a:spcAft>
            </a:pPr>
            <a:r>
              <a:rPr lang="en-US" dirty="0"/>
              <a:t>這是多數歐洲中心放行 autologous graft 的強制標準。第一是 CD34 至少 2 × 10⁶/kg，收集完立刻用 flow cytometry 依 ISHAGE 規範計數，並建議參加外部 round robin 品管。</a:t>
            </a:r>
          </a:p>
          <a:p>
            <a:pPr>
              <a:spcAft>
                <a:spcPts val="600"/>
              </a:spcAft>
            </a:pPr>
            <a:r>
              <a:rPr lang="en-US" dirty="0"/>
              <a:t>接著是 nucleated cell 濃度不超過 4 × 10⁸/mL，紅血球含量每 mL graft 不超過 0.1 mL，冷凍前採的微生物培養要無菌生長。最後是解凍後的 nucleated cell viability 要超過 70%。</a:t>
            </a:r>
          </a:p>
          <a:p>
            <a:pPr>
              <a:spcAft>
                <a:spcPts val="600"/>
              </a:spcAft>
            </a:pPr>
            <a:r>
              <a:rPr lang="en-US" dirty="0"/>
              <a:t>Viability 怎麼驗，是用和 graft 同時、同條件冷凍的 reference sample，至少冷凍 24 小時以上再解凍，用 trypan blue、7-AAD 或 propidium iodide 染色。這個結果只在一段時間內有效，通常 2 到 5 年，依各地規範；過期要重驗，所以每個產品至少準備 3 支 reference sample。</a:t>
            </a:r>
          </a:p>
          <a:p>
            <a:pPr>
              <a:spcAft>
                <a:spcPts val="600"/>
              </a:spcAft>
            </a:pPr>
            <a:r>
              <a:rPr lang="en-US" dirty="0"/>
              <a:t>Colony-forming assay 可以評估造血潛能，但不是放行標準，只用在流程確效，或冷凍超過 5 年的 graft。除了 CD34 以外的細胞亞群和腫瘤污染，平常也不驗，只在臨床試驗做。70% 和 3 支這兩個數字，可以和前一張的冷凍條件一起記。</a:t>
            </a:r>
          </a:p>
          <a:p>
            <a:pPr>
              <a:spcAft>
                <a:spcPts val="600"/>
              </a:spcAft>
            </a:pPr>
            <a:r>
              <a:rPr lang="en-US" dirty="0"/>
              <a:t>這張最好和第 16 章的 CD34 門檻一起記，2 × 10⁶/kg 同時是收集目標和放行標準。時間欄也很重要，CD34、細胞數和紅血球是收集後馬上驗，培養在冷凍前採，viability 則是解凍後才驗，所以品質檢驗分散在流程的不同時間點完成。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22:30 至 23:15]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第一題。19 歲女性，severe aplastic anaemia，要做 allo-HCT，donor 是 HLA 全合的妹妹，健康、55 公斤。團隊要決定 graft 怎麼收、怎麼處理。</a:t>
            </a:r>
          </a:p>
          <a:p>
            <a:pPr>
              <a:spcAft>
                <a:spcPts val="600"/>
              </a:spcAft>
            </a:pPr>
            <a:r>
              <a:rPr lang="en-US" dirty="0"/>
              <a:t>五個選項，分別是 G-CSF mobilise 收周邊血、marrow 小量抽取且上限每公斤 20 mL、harvest 時給捐贈者輸別人的血、移植前先冷凍 marrow，以及用 CD34 判斷 harvest 夠不夠。</a:t>
            </a:r>
          </a:p>
          <a:p>
            <a:pPr>
              <a:spcAft>
                <a:spcPts val="600"/>
              </a:spcAft>
            </a:pPr>
            <a:r>
              <a:rPr lang="en-US" dirty="0"/>
              <a:t>提示一下，這題同時考 graft source 的選擇和 harvest 的技術細節，五個選項各對應一個觀念。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題目刻意給了妹妹的體重，可以順便算一下抽取量的上限。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23:15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正確是 B。SAA 不需要 GVL，最怕的是 GVHD，第 15 章明講這種非腫瘤疾病應優先考慮 marrow，所以 A 不對。Harvest 每次抽 4 到 5 mL，避免被周邊血稀釋，總量上限是捐贈者每公斤 15 到 20 mL，55 公斤最多 1100 mL，目標 TNC 超過 3 × 10⁸/kg。</a:t>
            </a:r>
          </a:p>
          <a:p>
            <a:pPr>
              <a:spcAft>
                <a:spcPts val="600"/>
              </a:spcAft>
            </a:pPr>
            <a:r>
              <a:rPr lang="en-US" dirty="0"/>
              <a:t>C 是常見陷阱，健康捐贈者絕對避免輸 allogeneic blood，首選只補液體，其次是事先存的自體血。D 也不對，冷凍會讓細胞流失，而 aplastic anaemia 正是冷凍 graft 有不利報告的情況。E 錯在 marrow 看的是 TNC，CD34 雖然會驗，但不是標準指標。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24:15 至 25:00]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第二題。58 歲男性 myeloma，daratumumab 為基礎的 induction 後達到 VGPR。單用 filgrastim 10 µg/kg mobilise，第 5 天 apheresis 前周邊血 CD34 只有 8/µL，目標是兩次 autograft 共 4 × 10⁶/kg。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選項有直接收、加 plerixafor、再打七天 G-CSF、一個月後用 G-CSF 重來，或放棄 auto 改找 allo donor。先看 CD34 落在哪一區。</a:t>
            </a:r>
          </a:p>
          <a:p>
            <a:pPr>
              <a:spcAft>
                <a:spcPts val="600"/>
              </a:spcAft>
            </a:pPr>
            <a:r>
              <a:rPr lang="en-US" dirty="0"/>
              <a:t>再想病人有沒有 predicted poor mobiliser 的因素，以及 G-CSF 還能延長多久。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題目特別寫出 induction 用了什麼藥，這個細節不是隨便放的。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25:00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正確是 B。單用 G-CSF 第 4 到 5 天，CD34 低於 10/µL，書上說這是明確要加 plerixafor 的情況。這位病人還接受過 daratumumab induction，本來就是 predicted poor mobiliser。劑量 0.24 mg/kg 皮下，之後再開始 apheresis。</a:t>
            </a:r>
          </a:p>
          <a:p>
            <a:pPr>
              <a:spcAft>
                <a:spcPts val="600"/>
              </a:spcAft>
            </a:pPr>
            <a:r>
              <a:rPr lang="en-US" dirty="0"/>
              <a:t>A 不對，8/µL 遠低於開始 apheresis 的 20/µL，直接收很可能連一次的量都不夠，而他需要兩次的量，還必須在第一次 high-dose therapy 前收齊。C 的問題是 G-CSF 只能多打一到兩天。D 單用 G-CSF 再試一次成功率更低。E 太早放棄，plerixafor 救回來的機會很高。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這題也提醒，plerixafor 越早在對的時間點加，apheresis 次數越少，總成本反而越低。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26:00 至 26:45]</a:t>
            </a:r>
          </a:p>
          <a:p>
            <a:pPr>
              <a:spcAft>
                <a:spcPts val="600"/>
              </a:spcAft>
            </a:pPr>
            <a:r>
              <a:rPr lang="en-US" dirty="0"/>
              <a:t>第三題。55 歲男性 relapsed DLBCL，用 R-DHAP 加 G-CSF mobilise，graft 在收集後 40 小時冷凍。放行檢驗的結果是 CD34 3.1 × 10⁶/kg、細胞濃度 3.5 × 10⁸/mL、紅血球每 mL 0.05 mL、培養無菌，reference sample 解凍後 viability 62%。</a:t>
            </a:r>
          </a:p>
          <a:p>
            <a:pPr>
              <a:spcAft>
                <a:spcPts val="600"/>
              </a:spcAft>
            </a:pPr>
            <a:r>
              <a:rPr lang="en-US" dirty="0"/>
              <a:t>請問哪一項讓這袋 graft 不能放行。</a:t>
            </a:r>
          </a:p>
          <a:p>
            <a:pPr>
              <a:spcAft>
                <a:spcPts val="600"/>
              </a:spcAft>
            </a:pPr>
            <a:r>
              <a:rPr lang="en-US" dirty="0"/>
              <a:t>五個數字都在剛才的表上，請逐一和放行標準對照，也注意冷凍前的等待時間有沒有超過上限。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這題的數字很多，但只有一個超出標準。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26:45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正確是 D。放行的五個標準是 CD34 至少 2 × 10⁶/kg、細胞濃度不超過 4 × 10⁸/mL、紅血球每 mL 不超過 0.1 mL、無微生物生長，以及解凍後 viability 超過 70%。62% 不到 70%，所以不能放行。</a:t>
            </a:r>
          </a:p>
          <a:p>
            <a:pPr>
              <a:spcAft>
                <a:spcPts val="600"/>
              </a:spcAft>
            </a:pPr>
            <a:r>
              <a:rPr lang="en-US" dirty="0"/>
              <a:t>最容易選錯的是 A。收集後最多可以放 72 小時再冷凍，建議 48 小時內，40 小時兩個條件都符合。B、C、E 都在標準內。實務上 viability 不足時，要回頭檢查冷凍流程，必要時重新收集。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這題的教學點是，CD34 數量夠不代表 graft 一定能用，冷凍後的活性一樣是硬性門檻，而這個 70% 是用同條件冷凍的 reference sample 驗出來的。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Fig. 15.1 的 ISBT 128 標籤範例，上面有 GRID 和 SEC 兩種代碼。JACIE 認證的單位必須用 ISBT 128；GRID 是 WMDA 2014 年推出、給 unrelated donor 的全球識別碼。標籤上也印著 Do Not Irradiate 和 Do Not Use Leukoreduction Filters。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Harvest 前後的細節。抗凝用 heparin，要運送或冷凍就加 10% ACD-A。術後壓迫包紮一晚、止痛一週、補鐵，七天內不提重物。歐盟新醫材法規之後商業 kit 退出，各中心改用並確效自製 kit。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sample 要和 graft 同時準備、同條件冷凍。放行用的 viability 要在冷凍超過 24 小時的 sample 上驗；colony assay 只用於確效或冷凍超過 5 年。運送要用經過確效、最好能連續記錄溫度的容器，最後由主治醫師確認 graft 完整和文件齊全。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Mobilisation, collection and processing of stem cells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04 · Ch. 16, 15, 20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SESSION 04 · 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the donor's marrow or blood to a released, frozen graft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 · Gorin NC, et al. Ch. 15 · Wuchter P. Ch. 20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Bone marrow harvest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Marrow versus blood; technique, cell target, donor safety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Mobilisation and apheresis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Steady state vs chemotherapy; timing; CD34+ targets; apheresis limits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6.5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Poor mobilisers, freezing and release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Plerixafor algorithm; risk factors; cryopreservation; release criteria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Board-style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vignettes: marrow harvest, plerixafor, autograft release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5.25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GRAFT SOURCE · MARROW VS BLOOD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Marrow grafts engraft more slowly but cause less chronic GVHD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 · Worel N, et al. Ch. 16</a:t>
            </a:r>
            <a:endParaRPr lang="en-US" sz="1000" dirty="0"/>
          </a:p>
        </p:txBody>
      </p:sp>
      <p:graphicFrame>
        <p:nvGraphicFramePr>
          <p:cNvPr id="4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120640"/>
                <a:gridCol w="3227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Bone marrow graft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For the patient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For the donor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Slower haematological and immune recovery: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more infections, longer hospital stay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General anaesthesia, admission,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autotransfusion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Less TRM and chronic GVHD: fewer late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infections, less IST toxicity, better QoL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 G-CSF exposure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Trade-off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Less GVL: higher relapse risk in malignancy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Prefer marrow when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Non-malignant disease, e.g. SAA:</a:t>
                      </a:r>
                      <a:endParaRPr lang="en-US" sz="1700" dirty="0"/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 GVL needed, GVHD must be avoided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Blood grafts now make up about 65% of haplo, 90% of allo and 100% of autologous HCT (Passweg 2021)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BONE MARROW · HARVEST TECHNIQUE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Marrow is aspirated from the posterior iliac crests in small draws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</a:t>
            </a:r>
            <a:endParaRPr lang="en-US" sz="1000" dirty="0"/>
          </a:p>
        </p:txBody>
      </p:sp>
      <p:sp>
        <p:nvSpPr>
          <p:cNvPr id="6" name="Box 22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General anaesthesia (laryngeal mask), prone position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3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100–200 punctures, 4–5 mL per aspirate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4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Count after 500–600 mL; stop at ≤ 20 mL/kg donor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5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Filter 850 → 500 → 200 µm; 2–3 bags; ISBT 128 label</a:t>
            </a:r>
            <a:endParaRPr lang="en-US" sz="1700" dirty="0"/>
          </a:p>
        </p:txBody>
      </p:sp>
      <p:sp>
        <p:nvSpPr>
          <p:cNvPr id="13" name="Text 2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Small aspirates limit dilution with blood. Anticoagulate with heparin; add 10% ACD-A if the marrow is shipped or cryopreserved. Spinal anaesthesia only if general anaesthesia is contraindicated.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BONE MARROW · CELL TARGET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marrow harvest aims for more than 3 × 10⁸ nucleated cells/kg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</a:t>
            </a:r>
            <a:endParaRPr lang="en-US" sz="1000" dirty="0"/>
          </a:p>
        </p:txBody>
      </p:sp>
      <p:graphicFrame>
        <p:nvGraphicFramePr>
          <p:cNvPr id="6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7461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Value (Ch. 15)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Target TNC dose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2–4 × 10⁸/kg recipient; &gt; 3 × 10⁸/kg for unrelated donors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Maximum harvest volume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15–20 mL/kg donor weight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NMDP expected yield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0.22 × 10⁸ TNC per mL aspirated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Example (speaker's arithmetic)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70 kg donor: 1400 mL × 0.22 × 10⁸ ≈ 3.1 × 10¹⁰ TNC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… for an 80 kg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3.1 × 10¹⁰ ÷ 80 ≈ 3.9 × 10⁸ TNC/kg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CD34+ count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Measured, but not the standard endpoint for marrow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Falling cellularity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Low-volume centres (&lt; 6 harvests/year), faster aspiration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Cryopreservation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Avoid unless needed; harm shown mainly in aplastic anaemia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BONE MARROW · DONOR SAFETY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Serious complications of marrow donation are rare but real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</a:t>
            </a:r>
            <a:endParaRPr lang="en-US" sz="1000" dirty="0"/>
          </a:p>
        </p:txBody>
      </p:sp>
      <p:graphicFrame>
        <p:nvGraphicFramePr>
          <p:cNvPr id="7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547872"/>
                <a:gridCol w="1865376"/>
                <a:gridCol w="5413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Category (NMDP; Pulsipher 2014)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Frequency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Major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Hypotension with ECG change, laryngospasm,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pulmonary oedema, asystole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Expected minor, prolongs stay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1.4%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Nausea, pain, fever, syncope, anaesthesia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problems; resolve in 1–2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Unexpected minor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0.2%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Infection, unusual pain, chest pain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Chronic or disabling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Hip, back or joint pain, some &gt; 3 months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Serious events (Halter 2009)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 / 27,770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(0.04%)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One death (pulmonary embolism, day 15);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cardiac arrests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9"/>
          <p:cNvSpPr txBox="1"/>
          <p:nvPr/>
        </p:nvSpPr>
        <p:spPr>
          <a:xfrm>
            <a:off x="685800" y="534924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Donor transfusion: fluids first, autologous blood second, never allogeneic blood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MOBILISATION · STRATEGIES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Steady-state G-CSF is simpler; chemo-mobilisation yields more CD34+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graphicFrame>
        <p:nvGraphicFramePr>
          <p:cNvPr id="8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4178808"/>
                <a:gridCol w="4553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Steady state (G-CSF only)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Chemotherapy + G-CSF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G-CSF dose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Filgrastim 10 µg/kg/d × 5–7 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Lenograstim 10 µg/kg/d × 4–6 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Filgrastim 5 (to 10) µg/kg/d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Lenograstim 150 (to 300) µg/m²/d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Timing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Apheresis usually day 5;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CD34+ check day 4–5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G-CSF 1–5 d after chemo, by nadir;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until last apheresis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Typical regimen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CY 2 g/m² (4 g/m² adds toxicity)</a:t>
                      </a:r>
                      <a:endParaRPr lang="en-US" sz="1500" dirty="0"/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or disease-specific salvage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Advantages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Outpatient, predictable, cheaper, less toxic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Tumour control; higher yield, fewer aphereses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Disadvantages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Variable failure rate, lower CD34+ yield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Toxicity, admission, marrow damage, cost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Best suited to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Myeloma; stable remission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Need for further tumour reduction</a:t>
                      </a:r>
                      <a:endParaRPr lang="en-US" sz="15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Relapse rates are comparable between the two strategies (Ch. 16)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MOBILISATION · TIMING AFTER CHEMOTHERAPY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chemotherapy regimen sets when G-CSF and CD34+ checks begin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graphicFrame>
        <p:nvGraphicFramePr>
          <p:cNvPr id="9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288536"/>
                <a:gridCol w="2798064"/>
                <a:gridCol w="3730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Mobilisation chemotherapy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Start G-CSF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Start CD34+ monitoring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CY 2 g/m²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10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13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(R)CHOP / CHOEP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11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(R)DHAP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14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(R)ICE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6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12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(R)AraC / TT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Day 10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3"/>
          <p:cNvSpPr txBox="1"/>
          <p:nvPr/>
        </p:nvSpPr>
        <p:spPr>
          <a:xfrm>
            <a:off x="685800" y="498348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Day 1 = first day of chemotherapy, rituximab excluded (Table 16.1, adapted from Kriegsmann 2018). Monitor at the latest when WBC recovers to 1000/µL; start apheresis when PB CD34+ &gt; 20/µL.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MOBILISATION · CELL DOSE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Collect at least 2 × 10⁶ CD34+/kg for an autograft and 4 × 10⁶ for allo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 · Wuchter P. Ch. 20</a:t>
            </a:r>
            <a:endParaRPr lang="en-US" sz="1000" dirty="0"/>
          </a:p>
        </p:txBody>
      </p:sp>
      <p:graphicFrame>
        <p:nvGraphicFramePr>
          <p:cNvPr id="10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80944"/>
                <a:gridCol w="3730752"/>
                <a:gridCol w="41056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CD34+ cells/kg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Autologous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Allogeneic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Minimum per transplant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2 × 10⁶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4 × 10⁶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Optimal per transplant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2.5–5 × 10⁶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5–8 × 10⁶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Higher target when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Tandem: ≥ 2 × 10⁶ each,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 collected before first HDT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T-cell depletion or cryopreservation: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up to 8 × 10⁶ or more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Below the minimum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Only if no further collection is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feasible and HCT is vital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Upper concern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8.3 × 10⁶: extensive cGVHD at 4 y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62% vs 34% (Mohty 2003)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5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CD34+ dose is the only recognised predictor of stable engraftment after auto-HCT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COLLECTION · LEUKAPHERESIS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Apheresis sessions are capped at about 5 hours and two or three days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graphicFrame>
        <p:nvGraphicFramePr>
          <p:cNvPr id="11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3355848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Allogeneic donor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Autologous patient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Session length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 5 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5 h (Spectra Optia max 480 min)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Consecutive sessions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 2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 3; more are futile in most cases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Volume processed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Large volume 4.0–5.3 × TBV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vs normal 2.7–3.5 × TBV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Large-volume effect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More CD34+ collected; viability unchanged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Venous access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Peripheral vein preferred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Peripheral vein; central catheter if needed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7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Session length can be planned from the PB CD34+ count and the collection efficiency (CE2)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POOR MOBILISERS · PLERIXAFOR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peripheral CD34+ count decides when to add plerixafor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sp>
        <p:nvSpPr>
          <p:cNvPr id="6" name="Box 38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PB CD34+ on G-CSF day 4–5 or in chemo recovery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9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&gt; 20/µL</a:t>
            </a:r>
            <a:endParaRPr lang="en-US" sz="1400" dirty="0"/>
          </a:p>
        </p:txBody>
      </p:sp>
      <p:sp>
        <p:nvSpPr>
          <p:cNvPr id="11" name="Box 40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 apheresis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41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Day 1 yield &lt; 1/3 of goal: rescue plerixafor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42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10–20/µL</a:t>
            </a:r>
            <a:endParaRPr lang="en-US" sz="1400" dirty="0"/>
          </a:p>
        </p:txBody>
      </p:sp>
      <p:sp>
        <p:nvSpPr>
          <p:cNvPr id="16" name="Box 43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Grey zone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44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Decide by disease and prior therapy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45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&lt; 10/µL</a:t>
            </a:r>
            <a:endParaRPr lang="en-US" sz="1400" dirty="0"/>
          </a:p>
        </p:txBody>
      </p:sp>
      <p:sp>
        <p:nvSpPr>
          <p:cNvPr id="21" name="Box 46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Add plerixafor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47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0.24 mg/kg SC (20 mg if ≤ 83 kg)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POOR MOBILISERS · RISK FACTORS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Poor mobilisers are predicted by age, prior therapy and low counts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graphicFrame>
        <p:nvGraphicFramePr>
          <p:cNvPr id="13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5971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Predictive factor (Table 16.3)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What the chapter adds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 &gt; 60 years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Age &gt; 65 predicts failure even with plerixafor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Refractory or advanced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Many prior treatment lines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Chemotherapy damage impairs later mobilisation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Fludarabine, melphalan, lenalidomide,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daratumumab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Daratumumab induction: plerixafor needed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significantly more often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 platelets before mobilisation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 140 × 10⁹/L predicts failure with plerixafor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Low CD34+ count before apheresis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most robust single predictor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9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poor mobiliser: &lt; 2 × 10⁶ CD34+/kg collected or &lt; 20 CD34+/µL in PB; about 15% of patients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POOR MOBILISERS · RESCUE AND GRAFT QUALITY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Plerixafor rescues failed mobilisation without harming graft quality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 · Wuchter P. Ch. 20</a:t>
            </a:r>
            <a:endParaRPr lang="en-US" sz="1000" dirty="0"/>
          </a:p>
        </p:txBody>
      </p:sp>
      <p:sp>
        <p:nvSpPr>
          <p:cNvPr id="6" name="Text 50"/>
          <p:cNvSpPr txBox="1"/>
          <p:nvPr/>
        </p:nvSpPr>
        <p:spPr>
          <a:xfrm>
            <a:off x="685800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Failed first attempt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About 15% of autologous patients fail. A second G-CSF-only attempt is less effective; plerixafor remobilisation may well work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Wuchter 2010; Hubel 2011</a:t>
            </a:r>
            <a:endParaRPr lang="en-US" sz="1800" dirty="0"/>
          </a:p>
        </p:txBody>
      </p:sp>
      <p:sp>
        <p:nvSpPr>
          <p:cNvPr id="7" name="Text 51"/>
          <p:cNvSpPr txBox="1"/>
          <p:nvPr/>
        </p:nvSpPr>
        <p:spPr>
          <a:xfrm>
            <a:off x="4443984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Healthy allogeneic donors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G-CSF fails in 5–10%. Plerixafor is not approved for donors, yet adding it gave roughly 3-fold more CD34+ cells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Ings 2006; Hölig 2021</a:t>
            </a:r>
            <a:endParaRPr lang="en-US" sz="1800" dirty="0"/>
          </a:p>
        </p:txBody>
      </p:sp>
      <p:sp>
        <p:nvSpPr>
          <p:cNvPr id="8" name="Text 52"/>
          <p:cNvSpPr txBox="1"/>
          <p:nvPr/>
        </p:nvSpPr>
        <p:spPr>
          <a:xfrm>
            <a:off x="8202168" y="2331720"/>
            <a:ext cx="33009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Graft from poor mobilisers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Primitive CD34+ subsets and blood recovery match good mobilisers; plerixafor adds lymphocytes, not clinical change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Ch. 20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PROCESSING · CRYOPRESERVATION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Autografts are frozen within 72 hours and infused within 20 minutes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Wuchter P. EBMT Handbook 8th ed. 2024; Ch. 20</a:t>
            </a:r>
            <a:endParaRPr lang="en-US" sz="1000" dirty="0"/>
          </a:p>
        </p:txBody>
      </p:sp>
      <p:sp>
        <p:nvSpPr>
          <p:cNvPr id="6" name="Box 53"/>
          <p:cNvSpPr txBox="1"/>
          <p:nvPr/>
        </p:nvSpPr>
        <p:spPr>
          <a:xfrm>
            <a:off x="685800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Hold ≤ 72 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 2–6 °C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179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54"/>
          <p:cNvSpPr txBox="1"/>
          <p:nvPr/>
        </p:nvSpPr>
        <p:spPr>
          <a:xfrm>
            <a:off x="2949854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NC ≤ 4 × 10⁸/mL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DMSO 5–10%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65853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55"/>
          <p:cNvSpPr txBox="1"/>
          <p:nvPr/>
        </p:nvSpPr>
        <p:spPr>
          <a:xfrm>
            <a:off x="5213909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Controlled rate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1–2 °C/min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029907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56"/>
          <p:cNvSpPr txBox="1"/>
          <p:nvPr/>
        </p:nvSpPr>
        <p:spPr>
          <a:xfrm>
            <a:off x="7477963" y="2606040"/>
            <a:ext cx="1761134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Vapour-phase N₂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≤ −140 °C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29396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Box 57"/>
          <p:cNvSpPr txBox="1"/>
          <p:nvPr/>
        </p:nvSpPr>
        <p:spPr>
          <a:xfrm>
            <a:off x="9742018" y="2606040"/>
            <a:ext cx="1761134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Thaw at bedside,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infuse ≤ 20 min</a:t>
            </a:r>
            <a:endParaRPr lang="en-US" sz="1500" dirty="0"/>
          </a:p>
        </p:txBody>
      </p:sp>
      <p:sp>
        <p:nvSpPr>
          <p:cNvPr id="15" name="Text 58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Freezing within 48 h is preferred; if held &gt; 24 h, NC ≤ 2 × 10⁸/mL. ACD-A 0.05–0.25 mL per mL. No routine DMSO washing. CD34+ cells stay viable up to 19 years; storage time does not affect recovery.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QUALITY CONTROL · RELEASE CRITERIA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autograft is released only when it meets all five criteria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Wuchter P. EBMT Handbook 8th ed. 2024; Ch. 20</a:t>
            </a:r>
            <a:endParaRPr lang="en-US" sz="1000" dirty="0"/>
          </a:p>
        </p:txBody>
      </p:sp>
      <p:graphicFrame>
        <p:nvGraphicFramePr>
          <p:cNvPr id="16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355848"/>
                <a:gridCol w="2980944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Release criterion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Threshold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When and how tested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CD34+ cell dose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 2 × 10⁶/kg bw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collection; flow cytometry</a:t>
                      </a:r>
                      <a:endParaRPr lang="en-US" sz="1600" dirty="0"/>
                    </a:p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(ISHAGE; Sutherland 1996)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Nucleated cell concentration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 4 × 10⁸/mL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collection, with volume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Red cell content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 0.1 mL per mL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collection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Sterility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microbial growth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Cultures shortly before freezing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NC viability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 70% after freeze–thaw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Reference sample cryostored &gt; 24 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60"/>
          <p:cNvSpPr txBox="1"/>
          <p:nvPr/>
        </p:nvSpPr>
        <p:spPr>
          <a:xfrm>
            <a:off x="685800" y="50749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Viability (trypan blue, 7-AAD or PI) holds for 2–5 years; keep ≥ 3 reference samples. Colony assay is for validation or storage &gt; 5 years, not release.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plan the graft for a young patient with SAA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</a:t>
            </a:r>
            <a:endParaRPr lang="en-US" sz="1000" dirty="0"/>
          </a:p>
        </p:txBody>
      </p:sp>
      <p:sp>
        <p:nvSpPr>
          <p:cNvPr id="6" name="Text 61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19-year-old woman with severe aplastic anaemia will undergo allogeneic HCT from her HLA-identical sister, who is healthy and weighs 55 kg. The team asks how the graft should be obtained and handled. Which plan follows the EBMT Handbook?</a:t>
            </a:r>
            <a:endParaRPr lang="en-US" sz="1900" dirty="0"/>
          </a:p>
        </p:txBody>
      </p:sp>
      <p:sp>
        <p:nvSpPr>
          <p:cNvPr id="7" name="Text 62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Mobilise the sister with G-CSF and collect blood stem cells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Harvest marrow in small aspirates, at most 20 mL/kg (1100 mL)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Give the sister allogeneic red cells during the harvest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Cryopreserve the marrow routinely before conditioning starts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Judge harvest adequacy by CD34+ count, the standard endpoint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marrow, small aspirates, at most 20 mL/kg donor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</a:t>
            </a:r>
            <a:endParaRPr lang="en-US" sz="1000" dirty="0"/>
          </a:p>
        </p:txBody>
      </p:sp>
      <p:sp>
        <p:nvSpPr>
          <p:cNvPr id="6" name="Box 63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Harvest marrow in small aspirates, at most 20 mL/kg (1100 mL)</a:t>
            </a:r>
            <a:endParaRPr lang="en-US" sz="2000" dirty="0"/>
          </a:p>
        </p:txBody>
      </p:sp>
      <p:sp>
        <p:nvSpPr>
          <p:cNvPr id="7" name="Text 64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SAA no GVL is needed and GVHD must be avoided, so marrow is preferred. Aspirate 4–5 mL at a time to avoid dilution, up to 15–20 mL/kg donor weight (≤ 1100 mL here), aiming for &gt; 3 × 10⁸ TNC/kg. Allogeneic transfusion must be avoided in healthy donors; marrow should not be cryopreserved without a reason, and TNC, not CD34+, is the marrow endpoint.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choose the next step in a poor mobiliser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sp>
        <p:nvSpPr>
          <p:cNvPr id="6" name="Text 65"/>
          <p:cNvSpPr txBox="1"/>
          <p:nvPr/>
        </p:nvSpPr>
        <p:spPr>
          <a:xfrm>
            <a:off x="685800" y="2194560"/>
            <a:ext cx="108173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58-year-old man with myeloma in VGPR after daratumumab-based induction starts mobilisation with filgrastim 10 µg/kg/day alone. On day 5, before apheresis, his blood CD34+ count is 8/µL. The goal is 4 × 10⁶ CD34+/kg for two autografts. What is the best next step?</a:t>
            </a:r>
            <a:endParaRPr lang="en-US" sz="1900" dirty="0"/>
          </a:p>
        </p:txBody>
      </p:sp>
      <p:sp>
        <p:nvSpPr>
          <p:cNvPr id="7" name="Text 66"/>
          <p:cNvSpPr txBox="1"/>
          <p:nvPr/>
        </p:nvSpPr>
        <p:spPr>
          <a:xfrm>
            <a:off x="960120" y="3593592"/>
            <a:ext cx="1054303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Start apheresis now and accept whatever is collected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Add plerixafor 0.24 mg/kg SC, then start apheresis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Continue filgrastim alone for 7 more days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Stop now and remobilise in a month with G-CSF alone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Abandon autologous HCT and search for an allogeneic donor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B: CD34+ below 10/µL on day 5 calls for plerixafor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Worel N, et al. EBMT Handbook 8th ed. 2024; Ch. 16</a:t>
            </a:r>
            <a:endParaRPr lang="en-US" sz="1000" dirty="0"/>
          </a:p>
        </p:txBody>
      </p:sp>
      <p:sp>
        <p:nvSpPr>
          <p:cNvPr id="6" name="Box 67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B.  Add plerixafor 0.24 mg/kg SC, then start apheresis</a:t>
            </a:r>
            <a:endParaRPr lang="en-US" sz="2000" dirty="0"/>
          </a:p>
        </p:txBody>
      </p:sp>
      <p:sp>
        <p:nvSpPr>
          <p:cNvPr id="7" name="Text 68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PB CD34+ &lt; 10/µL on day 4–5 of G-CSF alone is a clear indication for plerixafor; daratumumab induction predicts poor mobilisation. Apheresis normally starts above 20/µL. G-CSF may be extended only 1–2 days, and a second G-CSF-only attempt is less effective.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find the result that blocks release of an autograft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Wuchter P. EBMT Handbook 8th ed. 2024; Ch. 20</a:t>
            </a:r>
            <a:endParaRPr lang="en-US" sz="1000" dirty="0"/>
          </a:p>
        </p:txBody>
      </p:sp>
      <p:sp>
        <p:nvSpPr>
          <p:cNvPr id="6" name="Text 69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55-year-old man with relapsed DLBCL is mobilised with R-DHAP plus G-CSF. His autograft is frozen 40 h after collection. Release tests: CD34+ 3.1 × 10⁶/kg; NC 3.5 × 10⁸/mL; red cells 0.05 mL per mL; cultures sterile; post-thaw NC viability of the reference sample 62%. Which result blocks release?</a:t>
            </a:r>
            <a:endParaRPr lang="en-US" sz="1900" dirty="0"/>
          </a:p>
        </p:txBody>
      </p:sp>
      <p:sp>
        <p:nvSpPr>
          <p:cNvPr id="7" name="Text 70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Freezing 40 hours after collection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CD34+ 3.1 × 10⁶/kg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Nucleated cell concentration 3.5 × 10⁸/mL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Post-thaw nucleated cell viability 62%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Red cell content 0.05 mL per mL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D: post-thaw viability must exceed 70%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Wuchter P. EBMT Handbook 8th ed. 2024; Ch. 20</a:t>
            </a:r>
            <a:endParaRPr lang="en-US" sz="1000" dirty="0"/>
          </a:p>
        </p:txBody>
      </p:sp>
      <p:sp>
        <p:nvSpPr>
          <p:cNvPr id="6" name="Box 71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D.  Post-thaw nucleated cell viability 62%</a:t>
            </a:r>
            <a:endParaRPr lang="en-US" sz="2000" dirty="0"/>
          </a:p>
        </p:txBody>
      </p:sp>
      <p:sp>
        <p:nvSpPr>
          <p:cNvPr id="7" name="Text 72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Release needs CD34+ ≥ 2 × 10⁶/kg, NC ≤ 4 × 10⁸/mL, red cells ≤ 0.1 mL/mL, no microbial growth and NC viability &gt; 70% after freeze–thaw. Cells may be held up to 72 h before freezing; within 48 h is preferred, so 40 h is acceptable.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73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Worel N, Bilgin YM, Wuchter P. Mobilization and collection of HSC. In: The EBMT Handbook, 8th ed. Springer; 2024. pp. 151–157. doi:10.1007/978-3-031-44080-9_16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Gorin NC, Carreras E, Fernández-Sojo J, Villa J. Bone marrow harvesting for HCT. In: The EBMT Handbook, 8th ed. Springer; 2024. pp. 143–149. doi:10.1007/978-3-031-44080-9_15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Wuchter P. Processing, cryopreserving, and controlling the quality of HSC. In: The EBMT Handbook, 8th ed. Springer; 2024. pp. 179–182. doi:10.1007/978-3-031-44080-9_20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Passweg JR, Baldomero H, Chabannon C, et al. Hematopoietic cell transplantation and cellular therapy survey of the EBMT: monitoring of activities and trends over 30 years. Bone Marrow Transplant. 2021;56:1651–64.</a:t>
            </a:r>
            <a:endParaRPr lang="en-US" sz="1100" dirty="0"/>
          </a:p>
        </p:txBody>
      </p:sp>
      <p:sp>
        <p:nvSpPr>
          <p:cNvPr id="6" name="Text 74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Pulsipher MA, Chitphakdithai P, Logan BR, et al. Lower risk for serious adverse events and no increased risk for cancer after PBSC vs BM donation. Blood. 2014;123:3655–63.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Halter J, Kodera Y, Urbano-Ispizua A, et al. Severe events in donors after allogeneic hematopoietic stem cell donation. Haematologica. 2009;94:94–101.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Kriegsmann K, Schmitt A, Kriegsmann M, et al. Orchestration of chemomobilization and G-CSF administration for successful hematopoietic stem cell collection. Biol Blood Marrow Transplant. 2018;24:1281–8.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75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Mohty M, Bilger K, Jourdan E, et al. Higher doses of CD34+ peripheral blood stem cells are associated with increased mortality from chronic graft-versus-host disease after allogeneic HLA-identical sibling transplantation. Leukemia. 2003;17:869–75.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Wuchter P, Ran D, Bruckner T, et al. Poor mobilization of hematopoietic stem cells-definitions, incidence, risk factors, and impact on outcome of autologous transplantation. Biol Blood Marrow Transplant. 2010;16:490–9.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Hubel K, Fresen MM, Salwender H, et al. Plerixafor with and without chemotherapy in poor mobilizers: results from the German compassionate use program. Bone Marrow Transplant. 2011;46:1045–52.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Ings SJ, Balsa C, Leverett D, et al. Peripheral blood stem cell yield in 400 normal donors mobilised with granulocyte-colony-stimulating factor (G-CSF): impact of age, sex, donor weight and type of G-CSF used. Br J Haematol. 2006;134:517–25.</a:t>
            </a:r>
            <a:endParaRPr lang="en-US" sz="1100" dirty="0"/>
          </a:p>
        </p:txBody>
      </p:sp>
      <p:sp>
        <p:nvSpPr>
          <p:cNvPr id="6" name="Text 76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Hölig K, Schmidt H, Hütter G, et al. Salvage treatment with plerixafor in poor mobilizing allogeneic stem cell donors: results of a prospective phase II-trial. JBone Marrow Transplant. 2021;56(3):635–45.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Sutherland DR, Anderson L, Keeney M, Nayar R, Chin-Yee I. The ISHAGE guidelines for CD34+ cell determination by flow cytometry. International Society of Hematotherapy and Graft Engineering. J Hematother. 1996;5:213–26.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Neller JK, Ashford P, van Veen C, Humpe A. Global registration identifier for donors (GRID) of hematopoietic stem cells: road to automation and safety. Transfus Med Hemother. 2017;44:407–13.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BONE MARROW · LABELLING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ISBT 128 label carries GRID and SEC codes for traceability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 (Fig. 15.1)</a:t>
            </a:r>
            <a:endParaRPr lang="en-US" sz="1000" dirty="0"/>
          </a:p>
        </p:txBody>
      </p:sp>
      <p:pic>
        <p:nvPicPr>
          <p:cNvPr id="6" name="Figure ch15-fig1" descr="Example ISBT 128 label for an HPC, Marrow product with donation number, ABO/RhD, GRID barcode, collection and expiry times, intended recipient and the Single European Co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3613393" cy="3749040"/>
          </a:xfrm>
          <a:prstGeom prst="rect">
            <a:avLst/>
          </a:prstGeom>
        </p:spPr>
      </p:pic>
      <p:sp>
        <p:nvSpPr>
          <p:cNvPr id="7" name="Text 77"/>
          <p:cNvSpPr txBox="1"/>
          <p:nvPr/>
        </p:nvSpPr>
        <p:spPr>
          <a:xfrm>
            <a:off x="7825252" y="2240280"/>
            <a:ext cx="36779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Fig. 15.1 (adapted from Neller 2017). ISBT 128 is required by JACIE-accredited facilities. The SEC has been enforced in the EU since 2017. The WMDA GRID (2014) identifies unrelated donors and is now part of ISBT 128/SEC.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BONE MARROW · PERI-HARVEST CARE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Anticoagulation and aftercare of the marrow donor follow set rules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Gorin NC, et al. EBMT Handbook 8th ed. 2024; Ch. 15</a:t>
            </a:r>
            <a:endParaRPr lang="en-US" sz="1000" dirty="0"/>
          </a:p>
        </p:txBody>
      </p:sp>
      <p:graphicFrame>
        <p:nvGraphicFramePr>
          <p:cNvPr id="26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615184"/>
                <a:gridCol w="8202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Practice (Ch. 15)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Before harvest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Shave, preanaesthetic visit, consent; autologous unit 2–3 weeks before if needed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Anticoagulant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Heparin; add 10% ACD-A for shipping or cryopreservation (JACIE, AABB)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Iron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IV iron by pre-donation Hb, ferritin and volume; oral iron afterwards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harvest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Compressive bandage overnight; analgesia about 1 week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violent exercise or heavy lifting for 7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Collection kits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EU MDR 2017/745 removed commercial kits; validate in-house kits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Other uses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MSCs can be grown from 30–150 mL of donor marrow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QUALITY CONTROL · REFERENCE SAMPLES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 samples are frozen beside the graft under identical conditions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Wuchter P. EBMT Handbook 8th ed. 2024; Ch. 20</a:t>
            </a:r>
            <a:endParaRPr lang="en-US" sz="1000" dirty="0"/>
          </a:p>
        </p:txBody>
      </p:sp>
      <p:graphicFrame>
        <p:nvGraphicFramePr>
          <p:cNvPr id="27" name="Table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172968"/>
                <a:gridCol w="7644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Item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Rule (Ch. 20)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Prove sterility, purity and viability of the product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Allogeneic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Donor samples may be kept for retrospective serology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Release test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Viability on a sample cryostored &gt; 24 h, same conditions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Potency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Colony assay: process validation or storage &gt; 5 years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Cell subsets, tumour cells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routine; clinical trials only (EBMT position)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Transport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Validated shipper, ideally continuous temperature log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Final check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Treating physician verifies integrity and documents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Mobilisation, collection and processing of stem cells</dc:title>
  <dc:subject>PptxGenJS Presentation</dc:subject>
  <dc:creator>Hsieh-Ting Lin, MD</dc:creator>
  <cp:lastModifiedBy>Hsieh-Ting Lin, MD</cp:lastModifiedBy>
  <cp:revision>1</cp:revision>
  <dcterms:created xsi:type="dcterms:W3CDTF">2026-10-09T16:09:27Z</dcterms:created>
  <dcterms:modified xsi:type="dcterms:W3CDTF">2026-10-09T16:09:27Z</dcterms:modified>
</cp:coreProperties>
</file>