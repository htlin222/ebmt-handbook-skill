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0785a16-60be-33d8-5d13-2e609c8b1d35}">
          <p14:sldIdLst>
            <p14:sldId id="256"/>
            <p14:sldId id="257"/>
          </p14:sldIdLst>
        </p14:section>
        <p14:section name="CMV" id="{ac13f643-6ed6-bed6-8cdc-c9bc722ba936}">
          <p14:sldIdLst>
            <p14:sldId id="258"/>
            <p14:sldId id="259"/>
            <p14:sldId id="260"/>
            <p14:sldId id="261"/>
          </p14:sldIdLst>
        </p14:section>
        <p14:section name="Other viruses" id="{a5240a5f-0556-35ba-4e5c-151bc1ffbe22}">
          <p14:sldIdLst>
            <p14:sldId id="262"/>
            <p14:sldId id="263"/>
            <p14:sldId id="264"/>
            <p14:sldId id="265"/>
            <p14:sldId id="266"/>
          </p14:sldIdLst>
        </p14:section>
        <p14:section name="EBV and PTLD" id="{ac3d861e-6427-0f87-75f1-33b715100293}">
          <p14:sldIdLst>
            <p14:sldId id="267"/>
            <p14:sldId id="268"/>
            <p14:sldId id="269"/>
            <p14:sldId id="270"/>
          </p14:sldIdLst>
        </p14:section>
        <p14:section name="Other infections" id="{ebe6e288-c37f-1ba1-6332-b5c4b6e235c1}">
          <p14:sldIdLst>
            <p14:sldId id="271"/>
          </p14:sldIdLst>
        </p14:section>
        <p14:section name="Board questions" id="{17fb8a7a-d974-338a-6259-18c0a633fb45}">
          <p14:sldIdLst>
            <p14:sldId id="272"/>
            <p14:sldId id="273"/>
            <p14:sldId id="274"/>
            <p14:sldId id="275"/>
            <p14:sldId id="276"/>
            <p14:sldId id="277"/>
          </p14:sldIdLst>
        </p14:section>
        <p14:section name="References" id="{263f2812-026d-9789-6ecd-9d48d9879a6b}">
          <p14:sldIdLst>
            <p14:sldId id="278"/>
          </p14:sldIdLst>
        </p14:section>
        <p14:section name="Backup" id="{6543790f-bd16-0018-8e62-3b2e1a758340}">
          <p14:sldIdLst>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各位早安，第九週的主題是移植後的病毒感染和 PTLD，對應 EBMT Handbook 第 38 和 45 章；第 39 章其他少見但致命的感染，只挑考點。CMV 是這幾章考最多的，所以放在最前面、講最久；PTLD 則是 EBV 這條線的延伸，最後一樣用三題 board-style 題目收尾。三章的共同主軸，是免疫抑制越深，風險越高。</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今天的內容分四段。CMV 放最前面，從 serology、letermovir prophylaxis、preemptive therapy，一路講到 resistant 或 refractory 時的 maribavir，大約六分鐘。這段的每個數字都可能變成選項。</a:t>
            </a:r>
          </a:p>
          <a:p>
            <a:pPr>
              <a:spcAft>
                <a:spcPts val="600"/>
              </a:spcAft>
            </a:pPr>
            <a:r>
              <a:rPr lang="en-US" dirty="0"/>
              <a:t>接著是其他病毒，包括 HSV 和 VZV 的 acyclovir 劑量、HHV-6 腦炎、社區呼吸道病毒、COVID-19，以及 adenovirus 的 cidofovir。這段劑量多，表格會比較密，重點我會挑出來講。這些病毒的共通點是靠 qPCR 或 multiplex PCR 診斷。</a:t>
            </a:r>
          </a:p>
          <a:p>
            <a:pPr>
              <a:spcAft>
                <a:spcPts val="600"/>
              </a:spcAft>
            </a:pPr>
            <a:r>
              <a:rPr lang="en-US" dirty="0"/>
              <a:t>PTLD 那段講誰的風險高、probable 和 proven 怎麼分，以及 rituximab 為主的治療和反應率。最後用一張表帶過第 39 章的 toxoplasma、TB、NTM、Listeria 和 Nocardia，再做三題。時間上病毒佔了一半以上，這也大致反映考題的比重。</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1:30 至 2:30]</a:t>
            </a:r>
          </a:p>
          <a:p>
            <a:pPr>
              <a:spcAft>
                <a:spcPts val="600"/>
              </a:spcAft>
            </a:pPr>
            <a:r>
              <a:rPr lang="en-US" dirty="0"/>
              <a:t>CMV 的處理從移植前就開始。所有 allo-HCT 病人和 donor 都要先驗 CMV antibody。病人是 CMV 陰性時，盡量挑 CMV 陰性的 donor，血品也用 CMV-safe 的，目的是不要把病毒帶進來。</a:t>
            </a:r>
          </a:p>
          <a:p>
            <a:pPr>
              <a:spcAft>
                <a:spcPts val="600"/>
              </a:spcAft>
            </a:pPr>
            <a:r>
              <a:rPr lang="en-US" dirty="0"/>
              <a:t>CMV 陽性病人移植後給 letermovir 三個月。所有 allo-HCT 病人至少前三個月每週驗 qPCR；有 GVHD 或曾經 replication 的人要追更久，letermovir 停藥後也要繼續追。Auto-HCT 不需要例行監測，因為有症狀的感染少很多。監測用 qPCR。</a:t>
            </a:r>
          </a:p>
          <a:p>
            <a:pPr>
              <a:spcAft>
                <a:spcPts val="600"/>
              </a:spcAft>
            </a:pPr>
            <a:r>
              <a:rPr lang="en-US" dirty="0"/>
              <a:t>還有一個考點，MAC 移植時，CMV 陽性病人接受 CMV 陰性 donor，NRM 比較高、OS 比較差，所以 CMV 陽性病人選 donor 時，serostatus 也要放進考量。</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2:30 至 4:00]</a:t>
            </a:r>
          </a:p>
          <a:p>
            <a:pPr>
              <a:spcAft>
                <a:spcPts val="600"/>
              </a:spcAft>
            </a:pPr>
            <a:r>
              <a:rPr lang="en-US" dirty="0"/>
              <a:t>這張是預防。過去 CMV 陽性本身就和 allo-HCT 後較差的 OS 有關，CMV replication 也和 NRM 增加、OS 下降有關，有效的 antiviral prophylaxis 出現之後，這個局面才改變。</a:t>
            </a:r>
          </a:p>
          <a:p>
            <a:pPr>
              <a:spcAft>
                <a:spcPts val="600"/>
              </a:spcAft>
            </a:pPr>
            <a:r>
              <a:rPr lang="en-US" dirty="0"/>
              <a:t>Letermovir 的證據來自 Marty 2017，移植後給三個月，降低 clinically significant CMV infection，定義是需要 preemptive therapy 或發生 CMV disease。書上特別寫到，CMV 陽性病人的 all-cause mortality 也下降，這點常拿來和 ganciclovir 比較。所以 letermovir 的好處不只是少打幾次 ganciclovir，而是直接反映在存活上。</a:t>
            </a:r>
          </a:p>
          <a:p>
            <a:pPr>
              <a:spcAft>
                <a:spcPts val="600"/>
              </a:spcAft>
            </a:pPr>
            <a:r>
              <a:rPr lang="en-US" dirty="0"/>
              <a:t>高風險病人可以延長 letermovir。停藥之後再活化很常見，停了藥監測不能停，第一題就會考這個情境。Ganciclovir prophylaxis 可以降低 CMV disease，但毒性明顯，所以現在很少這樣用。Prophylactic immunoglobulin 的資料互相矛盾，不建議。Ganciclovir 和 letermovir 的差別，就在療效相近時誰的毒性低。</a:t>
            </a:r>
          </a:p>
          <a:p>
            <a:pPr>
              <a:spcAft>
                <a:spcPts val="600"/>
              </a:spcAft>
            </a:pPr>
            <a:r>
              <a:rPr lang="en-US" dirty="0"/>
              <a:t>劑量那一列書上沒有寫，括號裡的數字要對照仿單確認。Key points 另外提醒，letermovir 還沒有核准用在兒童，兒科病人仍然要靠監測加 preemptive therapy。</a:t>
            </a:r>
          </a:p>
          <a:p>
            <a:pPr>
              <a:spcAft>
                <a:spcPts val="600"/>
              </a:spcAft>
            </a:pPr>
            <a:r>
              <a:rPr lang="en-US" b="1" dirty="0"/>
              <a:t>講者提醒（不念出來）：</a:t>
            </a:r>
          </a:p>
          <a:p>
            <a:pPr>
              <a:spcAft>
                <a:spcPts val="600"/>
              </a:spcAft>
            </a:pPr>
            <a:r>
              <a:rPr lang="en-US" dirty="0"/>
              <a:t>- TO CONFIRM BEFORE PRESENTING: letermovir dose (480 mg once daily; 240 mg once daily with ciclosporin) is not in Ch. 38. Check the current product label and Taiwan label before quoting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4:00 至 5:30]</a:t>
            </a:r>
          </a:p>
          <a:p>
            <a:pPr>
              <a:spcAft>
                <a:spcPts val="600"/>
              </a:spcAft>
            </a:pPr>
            <a:r>
              <a:rPr lang="en-US" dirty="0"/>
              <a:t>CMV 在移植病人幾乎什麼器官都能侵犯，也可以只有發燒、倦怠或骨髓抑制。Allo-HCT 最重要的兩個 entity 是 pneumonia 和 gastroenteritis，而且 allo 比 auto 更容易出現症狀，這也是 auto 不需要例行監測的原因之一。</a:t>
            </a:r>
          </a:p>
          <a:p>
            <a:pPr>
              <a:spcAft>
                <a:spcPts val="600"/>
              </a:spcAft>
            </a:pPr>
            <a:r>
              <a:rPr lang="en-US" dirty="0"/>
              <a:t>診斷 CMV disease 的原則是症狀加上受侵犯的組織裡找到 CMV，方法有 histopathology、immunohistochemistry 和 DNA hybridization。目前最常用的檢驗是 qPCR，主要用於監測和啟動 preemptive therapy。CMV-specific T-cell 的檢測最近才出現，例行使用的價值還要再評估。</a:t>
            </a:r>
          </a:p>
          <a:p>
            <a:pPr>
              <a:spcAft>
                <a:spcPts val="600"/>
              </a:spcAft>
            </a:pPr>
            <a:r>
              <a:rPr lang="en-US" dirty="0"/>
              <a:t>Pneumonia 看 BAL，CMV DNA 很高時支持診斷，BAL 測不到則幾乎可以排除。Retinitis 是例外，眼底表現夠典型，vitreous 驗到 CMV 有幫助。Encephalitis 由 CSF PCR 支持。其他器官的 qPCR 角色還需要研究。</a:t>
            </a:r>
          </a:p>
          <a:p>
            <a:pPr>
              <a:spcAft>
                <a:spcPts val="600"/>
              </a:spcAft>
            </a:pPr>
            <a:r>
              <a:rPr lang="en-US" dirty="0"/>
              <a:t>病房最常見的情況是血中 CMV 陽性又拉肚子，要區分 CMV GI disease 和 GVHD，就得靠內視鏡切片，不能只看血中的數字。血中數字很高但組織沒有 CMV，診斷就仍然只是 infection。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5:30 至 7:30]</a:t>
            </a:r>
          </a:p>
          <a:p>
            <a:pPr>
              <a:spcAft>
                <a:spcPts val="600"/>
              </a:spcAft>
            </a:pPr>
            <a:r>
              <a:rPr lang="en-US" dirty="0"/>
              <a:t>治療分四個情境。血中測到 CMV 但沒有器官侵犯時，給 preemptive therapy。Ganciclovir、valganciclovir、foscarnet 三種預防 CMV disease 的效果相近，所以依副作用風險和實際考量挑選，例如能不能口服、需不需要住院打針。療程通常至少兩週，有時要更久。重複再活化不少見，三種藥都可以再用。</a:t>
            </a:r>
          </a:p>
          <a:p>
            <a:pPr>
              <a:spcAft>
                <a:spcPts val="600"/>
              </a:spcAft>
            </a:pPr>
            <a:r>
              <a:rPr lang="en-US" dirty="0"/>
              <a:t>開始 preemptive therapy 的 viral load，書上明白說無法給統一的 cutoff，因為取決於病人因素、檢體是 plasma 還是 whole blood，以及檢驗方法本身的表現。各家醫院的數字不同，看別院的報告時要特別注意。追蹤同一位病人時，最好固定用同一種檢體和同一家實驗室。</a:t>
            </a:r>
          </a:p>
          <a:p>
            <a:pPr>
              <a:spcAft>
                <a:spcPts val="600"/>
              </a:spcAft>
            </a:pPr>
            <a:r>
              <a:rPr lang="en-US" dirty="0"/>
              <a:t>CMV disease 主要用 ganciclovir 或 foscarnet，療程比 preemptive 長，個別決定，書上寫 6 到 8 週。CMV pneumonia 常合併 high-dose Ig，但支持的資料有限；其他 CMV disease 加 Ig 則完全沒有資料。</a:t>
            </a:r>
          </a:p>
          <a:p>
            <a:pPr>
              <a:spcAft>
                <a:spcPts val="600"/>
              </a:spcAft>
            </a:pPr>
            <a:r>
              <a:rPr lang="en-US" dirty="0"/>
              <a:t>Resistant 或 refractory 時，maribavir 在 Avery 2022 的隨機試驗中比其他選擇更有效，毒性也較少。其他藥都失敗時才用 cidofovir。CMV-specific T cells 在非對照研究裡用於 resistant 或 refractory 個案，來源可以是原 donor 或 third-party，但病人如果正在用 2 mg/kg 以上的 steroid，效果可能很差。</a:t>
            </a:r>
          </a:p>
          <a:p>
            <a:pPr>
              <a:spcAft>
                <a:spcPts val="600"/>
              </a:spcAft>
            </a:pPr>
            <a:r>
              <a:rPr lang="en-US" dirty="0"/>
              <a:t>這張最常考兩件事，preemptive 三種藥效果相等，以及 maribavir 的位置是在 refractory，不是第一線。</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7:30 至 9:30]</a:t>
            </a:r>
          </a:p>
          <a:p>
            <a:pPr>
              <a:spcAft>
                <a:spcPts val="600"/>
              </a:spcAft>
            </a:pPr>
            <a:r>
              <a:rPr lang="en-US" dirty="0"/>
              <a:t>HSV 和 VZV 的劑量是背誦題。移植前所有病人都要驗 HSV 和 VZV antibody。HSV 陽性的 allo-HCT 病人要給 prophylaxis，口服 acyclovir 每天 3 次 200 mg 到 2 次 800 mg，或 valaciclovir 500 mg 一天兩次，在 VZV 陰性的病人至少給四週。HSV 陰性的人原發感染少見，不需要 HSV prophylaxis，但可能還是要防 VZV。</a:t>
            </a:r>
          </a:p>
          <a:p>
            <a:pPr>
              <a:spcAft>
                <a:spcPts val="600"/>
              </a:spcAft>
            </a:pPr>
            <a:r>
              <a:rPr lang="en-US" dirty="0"/>
              <a:t>VZV 陽性病人的 prophylaxis 至少 12 個月，或到免疫抑制停止為止，用 acyclovir 800 mg 一天兩次，兒童 20 mg/kg 一天兩次，或 valaciclovir 500 mg 一天兩次。停藥後可以打 recombinant VZV vaccine 預防晚期再活化，不過 allo-HCT 的資料還有限。血清陰性的病人暴露 VZV 之後，要盡快開始 acyclovir 或 valaciclovir，一直給到暴露後第 21 天；VZIg 不建議。</a:t>
            </a:r>
          </a:p>
          <a:p>
            <a:pPr>
              <a:spcAft>
                <a:spcPts val="600"/>
              </a:spcAft>
            </a:pPr>
            <a:r>
              <a:rPr lang="en-US" dirty="0"/>
              <a:t>治療看嚴重度。嚴重黏膜或內臟 HSV，IV acyclovir 5 mg/kg q8h，7 到 10 天；HSV pneumonia 或腦炎劑量加倍，10 mg/kg q8h，至少 14 到 21 天。Varicella、disseminated zoster 和內臟侵犯，第一線是 IV acyclovir 500 mg/m² 一天三次；局部 zoster 可以口服 valaciclovir 1000 mg 一天三次，給到結痂。</a:t>
            </a:r>
          </a:p>
          <a:p>
            <a:pPr>
              <a:spcAft>
                <a:spcPts val="600"/>
              </a:spcAft>
            </a:pPr>
            <a:r>
              <a:rPr lang="en-US" dirty="0"/>
              <a:t>HSV 抗藥大約 5 到 15%，機轉是 thymidine kinase 突變，second line 用 foscarnet 或 cidofovir。VZV 內臟侵犯可以完全沒有皮疹，表現成嚴重腹痛或急性肝炎，這時要靠血中 PCR 診斷，這個 presentation 很適合出成題目。</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9:30 至 11:00]</a:t>
            </a:r>
          </a:p>
          <a:p>
            <a:pPr>
              <a:spcAft>
                <a:spcPts val="600"/>
              </a:spcAft>
            </a:pPr>
            <a:r>
              <a:rPr lang="en-US" dirty="0"/>
              <a:t>HHV-6B 的原發感染就是幼兒的 exanthema subitum，兩歲前幾乎每個人都感染過。移植後它是 allo-HCT 病毒性腦炎最主要的原因，cord blood 移植的風險更高。MRI 典型是 limbic encephalitis，但也有其他型態，CSF 通常 HHV-6 DNA 陽性。治療用 ganciclovir 或 foscarnet；其他疑似相關的表現，例如骨髓抑制、肺炎或 aGVHD，則沒有確立的治療。</a:t>
            </a:r>
          </a:p>
          <a:p>
            <a:pPr>
              <a:spcAft>
                <a:spcPts val="600"/>
              </a:spcAft>
            </a:pPr>
            <a:r>
              <a:rPr lang="en-US" dirty="0"/>
              <a:t>陷阱是 HHV-6 整合在 germline 的人。這些人 qPCR 會強陽性，但這不代表病毒在複製，不能只看數字就診斷。Serology 沒有用，例行監測的價值也還沒有確立，foscarnet 預防的效益同樣沒有確立。</a:t>
            </a:r>
          </a:p>
          <a:p>
            <a:pPr>
              <a:spcAft>
                <a:spcPts val="600"/>
              </a:spcAft>
            </a:pPr>
            <a:r>
              <a:rPr lang="en-US" dirty="0"/>
              <a:t>HHV-7 很少致病，不需要特別治療，可能是 CMV 再活化的 cofactor。HHV-8 造成 Kaposi sarcoma，移植後很少見，只侵犯皮膚時開刀或用 electrochemotherapy，內臟或廣泛時考慮 interferon alpha 或化療，抗病毒藥沒有幫助。</a:t>
            </a:r>
          </a:p>
          <a:p>
            <a:pPr>
              <a:spcAft>
                <a:spcPts val="600"/>
              </a:spcAft>
            </a:pPr>
            <a:r>
              <a:rPr lang="en-US" dirty="0"/>
              <a:t>EBV 再活化大多沒有症狀，抗病毒藥無效；另外 donor EBV 陽性會增加 acute leukemia 病人的 cGVHD 風險。PTLD 的部分留到後面。</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11:00 至 12:30]</a:t>
            </a:r>
          </a:p>
          <a:p>
            <a:pPr>
              <a:spcAft>
                <a:spcPts val="600"/>
              </a:spcAft>
            </a:pPr>
            <a:r>
              <a:rPr lang="en-US" dirty="0"/>
              <a:t>社區呼吸道病毒的流行季節和社區一致。大部分只有上呼吸道症狀，lower tract disease 佔 10 到 30%。LTD 的死亡率通常低於 5%，但在嚴重免疫抑制的病人可以超過 30%。多種病毒合併感染很常見，部分原因是排毒期長，最多兩成病人會持續 shedding，尤其是用 steroid 和嚴重 lymphopenia 的人。</a:t>
            </a:r>
          </a:p>
          <a:p>
            <a:pPr>
              <a:spcAft>
                <a:spcPts val="600"/>
              </a:spcAft>
            </a:pPr>
            <a:r>
              <a:rPr lang="en-US" dirty="0"/>
              <a:t>進展到 LTD 和死亡的危險因子，除了表上這些，還有離移植時間近和合併感染，細菌和黴菌的共同感染要主動排除。診斷上建議用 syndromic multiplex PCR 篩檢，因為目前看不出哪一種病毒的預後特別差。</a:t>
            </a:r>
          </a:p>
          <a:p>
            <a:pPr>
              <a:spcAft>
                <a:spcPts val="600"/>
              </a:spcAft>
            </a:pPr>
            <a:r>
              <a:rPr lang="en-US" dirty="0"/>
              <a:t>移植前有症狀的病人先照影像。有 LTD 就延後移植到痊癒；只有上呼吸道時一般也延後，但 rhinovirus 和一般 coronavirus 要權衡利弊。</a:t>
            </a:r>
          </a:p>
          <a:p>
            <a:pPr>
              <a:spcAft>
                <a:spcPts val="600"/>
              </a:spcAft>
            </a:pPr>
            <a:r>
              <a:rPr lang="en-US" dirty="0"/>
              <a:t>Influenza 每年打 inactivated vaccine，最好在移植後六個月，治療用 oseltamivir 或 zanamivir，而且五天常常不夠，因為病毒排出很久。RSV 可以用 ribavirin 吸入或全身給藥，加或不加 IVIG，書上認為沒有 monoclonal antibody prophylaxis 的適應症。Parainfluenza 以第三型最兇。</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12:30 至 14:00]</a:t>
            </a:r>
          </a:p>
          <a:p>
            <a:pPr>
              <a:spcAft>
                <a:spcPts val="600"/>
              </a:spcAft>
            </a:pPr>
            <a:r>
              <a:rPr lang="en-US" dirty="0"/>
              <a:t>COVID-19 在 HCT 病人的死亡率曾經是 12 到 25%，疫苗和 Omicron 出現之後明顯下降。診斷的標準是鼻咽檢體 RT-PCR，快篩可以替代但敏感度較低；抗體效價不能用來診斷。治療依病程分期，早期抑制病毒複製，後期壓制發炎反應。下呼吸道檢體只在要排除其他病因或合併感染時才需要。</a:t>
            </a:r>
          </a:p>
          <a:p>
            <a:pPr>
              <a:spcAft>
                <a:spcPts val="600"/>
              </a:spcAft>
            </a:pPr>
            <a:r>
              <a:rPr lang="en-US" dirty="0"/>
              <a:t>表上是 ECIL 9 的建議。高風險病人暴露前或暴露後，用 anti-spike monoclonal antibody，前提是對當時流行的變異株有效。輕到中度、不需要氧氣時，早期給 nirmatrelvir/ritonavir、remdesivir 或 molnupiravir。需要氧氣或重症時給 dexamethasone 和 remdesivir，惡化時再加 anti-IL-6、JAK inhibitor 或 anakinra。</a:t>
            </a:r>
          </a:p>
          <a:p>
            <a:pPr>
              <a:spcAft>
                <a:spcPts val="600"/>
              </a:spcAft>
            </a:pPr>
            <a:r>
              <a:rPr lang="en-US" dirty="0"/>
              <a:t>疫苗用 mRNA，移植後三到六個月開始打三劑，三到四個月後追加一劑。SARS-CoV-2 陽性的病人，HCT 或 CAR-T 要延到臨床和病毒學都轉陰；沒有症狀但持續 shedding 的人，個案評估。住院的 COVID 病人最好離開移植病房，住單人房，醫護人員戴 FFP2 等防護，以免院內群聚。</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14:00 至 15:30]</a:t>
            </a:r>
          </a:p>
          <a:p>
            <a:pPr>
              <a:spcAft>
                <a:spcPts val="600"/>
              </a:spcAft>
            </a:pPr>
            <a:r>
              <a:rPr lang="en-US" dirty="0"/>
              <a:t>Adenovirus 侵襲性感染在兒童是 6 到 42%，成人 3 到 15%，大多在移植後 100 天內，成人可能因為沒有例行監測而低估。危險因子是 haplo 或 unrelated donor、cord blood、T-cell depletion、grade III 到 IV GVHD、嚴重 lymphopenia，以及 ATG 或 alemtuzumab。兒童的侵襲性感染幾乎都先有病毒在腸道擴增。</a:t>
            </a:r>
          </a:p>
          <a:p>
            <a:pPr>
              <a:spcAft>
                <a:spcPts val="600"/>
              </a:spcAft>
            </a:pPr>
            <a:r>
              <a:rPr lang="en-US" dirty="0"/>
              <a:t>有至少一個危險因子時，移植後立即開始每週驗血中 qPCR，一直到 CD3 大於 300。兒科中心大多例行篩檢，成人中心通常有危險因子才驗。預防靠嚴格隔離和衛生，不建議用抗病毒藥預防。</a:t>
            </a:r>
          </a:p>
          <a:p>
            <a:pPr>
              <a:spcAft>
                <a:spcPts val="600"/>
              </a:spcAft>
            </a:pPr>
            <a:r>
              <a:rPr lang="en-US" dirty="0"/>
              <a:t>ADV 沒有核准的藥物。Viral load 上升又有危險因子時，preemptive cidofovir 3 到 5 mg/kg 每週一次，兩到三週後改隔週。Probable 或 proven disease 用 5 mg/kg 每週至少三劑，再改隔週，配合 hyperhydration 和 probenecid。能減免疫抑制就減。Ribavirin 一般不建議，只有 species C 可以考慮加；沒有反應的人用 donor 來源的 ADV-specific CTL。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15:30 至 17:00]</a:t>
            </a:r>
          </a:p>
          <a:p>
            <a:pPr>
              <a:spcAft>
                <a:spcPts val="600"/>
              </a:spcAft>
            </a:pPr>
            <a:r>
              <a:rPr lang="en-US" dirty="0"/>
              <a:t>PTLD 在 HCT 幾乎都是 EBV 驅動，一般人口 EBV 盛行率大約 82 到 84%，而且移植後的 PTLD 通常來自 donor。風險和 T-cell depletion 或 impairment 的程度成正比，這是最主要的危險因子，donor 和 conditioning 的種類只是次要。任何不分青紅皂白把 T cell 從 graft 拿掉的 GVHD 預防策略，都會增加 PTLD。</a:t>
            </a:r>
          </a:p>
          <a:p>
            <a:pPr>
              <a:spcAft>
                <a:spcPts val="600"/>
              </a:spcAft>
            </a:pPr>
            <a:r>
              <a:rPr lang="en-US" dirty="0"/>
              <a:t>ECIL-6 分三組。High risk 是 MUD、MMUD、包括 cord blood 在內的 alternative donor，以及帶有至少一個危險因子的 matched family donor，這些危險因子是 T-cell depletion、donor 和 recipient 的 EBV 血清不合，以及脾臟切除。Standard risk 是沒有危險因子的 MFD 和 haplo 加 PTCy。Low risk 是 auto-HCT。</a:t>
            </a:r>
          </a:p>
          <a:p>
            <a:pPr>
              <a:spcAft>
                <a:spcPts val="600"/>
              </a:spcAft>
            </a:pPr>
            <a:r>
              <a:rPr lang="en-US" dirty="0"/>
              <a:t>右欄是發生率，全部 allo 是 3.22%，MFD 1.16%，mismatched family 2.86%，MMUD 最高到 11.24%。EBV-DNA-emia 的中位發生率約 29%，haplo 加 PTCy 最低，沒有 PTCy 的 haplo 和 unrelated donor 最高。中位發生時間 2 到 4 個月，90% 在六個月內，五年以後才出現的比較像真正的 lymphoma。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17:00 至 18:30]</a:t>
            </a:r>
          </a:p>
          <a:p>
            <a:pPr>
              <a:spcAft>
                <a:spcPts val="600"/>
              </a:spcAft>
            </a:pPr>
            <a:r>
              <a:rPr lang="en-US" dirty="0"/>
              <a:t>EBV disease 分 probable 和 proven。Proven 要有器官的症狀或徵候，加上組織檢體 EBER in situ hybridization 陽性；EBV 蛋白的免疫染色特異性好，但敏感度較低。Probable 不需要切片，條件是明顯淋巴結腫大、肝脾腫大或其他器官表現，加上高的 EBV-DNA-emia，而且找不到其他原因。</a:t>
            </a:r>
          </a:p>
          <a:p>
            <a:pPr>
              <a:spcAft>
                <a:spcPts val="600"/>
              </a:spcAft>
            </a:pPr>
            <a:r>
              <a:rPr lang="en-US" dirty="0"/>
              <a:t>有危險因子的病人，在血球恢復後、最晚移植後四週開始驗 EBV DNA，陰性時每週一次，高風險至少追四個月；T-cell 恢復差、嚴重 GVHD、haplo、TCD、用過 ATG 或 alemtuzumab，以及早期就再活化的人要追更久。EBV 的 doubling time 可以短到 56 小時，數字上升就要驗得更密。書上強調沒有統一的 cutoff，各中心自訂，而且要看上升速度和病人的免疫功能。</a:t>
            </a:r>
          </a:p>
          <a:p>
            <a:pPr>
              <a:spcAft>
                <a:spcPts val="600"/>
              </a:spcAft>
            </a:pPr>
            <a:r>
              <a:rPr lang="en-US" dirty="0"/>
              <a:t>影像用 FDG-PET-CT，大部分 PTLD 是 FDG-avid；CNS 或 non-avid 則用 MRI。ECIL-6 依 Lugano 分期，stage I 到 II 是 limited，III 到 IV 是 advanced。Key points 也強調，確診要靠切片這類侵入性檢查，EBV DNA 和影像只是輔助。</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18:30 至 20:00]</a:t>
            </a:r>
          </a:p>
          <a:p>
            <a:pPr>
              <a:spcAft>
                <a:spcPts val="600"/>
              </a:spcAft>
            </a:pPr>
            <a:r>
              <a:rPr lang="en-US" dirty="0"/>
              <a:t>EBV 沒有有效的抗病毒藥，這是整張圖的前提，也是考題最愛放的錯誤選項。Prophylaxis 是給沒有 DNA-emia 的血清陽性病人，用 rituximab 或 EBV-CTL，實務上很少用。Prophylactic rituximab 雖然降低 EBV-DNA-emia，但和 preemptive 相比，PTLD 發生率、TRM 和 OS 都沒有差別。Prophylactic EBV-CTL 效果很好，問題是大多數中心拿不到。</a:t>
            </a:r>
          </a:p>
          <a:p>
            <a:pPr>
              <a:spcAft>
                <a:spcPts val="600"/>
              </a:spcAft>
            </a:pPr>
            <a:r>
              <a:rPr lang="en-US" dirty="0"/>
              <a:t>Preemptive therapy 針對有明顯 EBV-DNA-emia、還沒有症狀的高風險病人，主力是 rituximab 每週一次，用到 DNA-emia 轉陰，通常一到兩劑就夠，能的話合併 reduction of immunosuppression。RIS 的禁忌是嚴重、控制不住的 GVHD。目標是 PCR 轉陰或降到起始閾值以下，而且不復發。</a:t>
            </a:r>
          </a:p>
          <a:p>
            <a:pPr>
              <a:spcAft>
                <a:spcPts val="600"/>
              </a:spcAft>
            </a:pPr>
            <a:r>
              <a:rPr lang="en-US" dirty="0"/>
              <a:t>已經確立的 PTLD 要盡快治療，因為腫瘤長得快，EBV 也可能很快造成多器官衰竭。第一線是 rituximab 375 mg/m² 每週一次，加上 RIS，有的話用 donor 或 third-party EBV-CTL。PTLD 在診斷時就要當作全身性疾病看待。另外，PTCy 或 sirolimus 做 GVHD 預防時，EBV-DNA-emia 和 PTLD 的風險都低。</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20:00 至 21:30]</a:t>
            </a:r>
          </a:p>
          <a:p>
            <a:pPr>
              <a:spcAft>
                <a:spcPts val="600"/>
              </a:spcAft>
            </a:pPr>
            <a:r>
              <a:rPr lang="en-US" dirty="0"/>
              <a:t>這張是 Table 45.4 的反應率。Rituximab 在 preemptive 情境大約 90%，治療 established PTLD 是 65%，加上 RIS 升到 78%。EBV-CTL 最好，preemptive 94 到 100%，治療 71 到 75%。單用 RIS 是 68% 和 61%。</a:t>
            </a:r>
          </a:p>
          <a:p>
            <a:pPr>
              <a:spcAft>
                <a:spcPts val="600"/>
              </a:spcAft>
            </a:pPr>
            <a:r>
              <a:rPr lang="en-US" dirty="0"/>
              <a:t>下面三列是合併其他治療時的數字，DLI 58%，化療 26%，cidofovir 34%。Rituximab 失敗後的 second line 是 cellular therapy，包括非特異的 DLI 或 EBV-CTL，以及 chemotherapy 加減 rituximab。用 EBV 陽性 donor 的 unselected DLI，是為了恢復廣泛的 T-cell 反應。2022 年 EMA 核准 tabelecleucel，是 off-the-shelf 的 third-party EBV-specific T cells。</a:t>
            </a:r>
          </a:p>
          <a:p>
            <a:pPr>
              <a:spcAft>
                <a:spcPts val="600"/>
              </a:spcAft>
            </a:pPr>
            <a:r>
              <a:rPr lang="en-US" dirty="0"/>
              <a:t>早期反應的指標是 rituximab 第一週 EBV DNA 下降至少 1 log。Rituximab 預後較好的因素包括 30 歲以下、非惡性的原發疾病、沒有 grade II 以上 aGVHD，以及診斷時有做 RIS。IVIG、interferon 和抗病毒藥都不應該用來治療 PTLD，這句常被做成錯誤選項。確認反應時，FDG-avid 的病灶看 PET 是否陰轉，non-avid 或 CNS 病灶則看 CT 或 MRI。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21:30 至 23:30]</a:t>
            </a:r>
          </a:p>
          <a:p>
            <a:pPr>
              <a:spcAft>
                <a:spcPts val="600"/>
              </a:spcAft>
            </a:pPr>
            <a:r>
              <a:rPr lang="en-US" dirty="0"/>
              <a:t>第 39 章講少見但會致命的感染，共通點是嚴重的細胞免疫抑制，尤其是長期用 steroid 的 GVHD。Key points 的意思是，雖然少見，但只有先想到，才能早期診斷、把治療對準病原。</a:t>
            </a:r>
          </a:p>
          <a:p>
            <a:pPr>
              <a:spcAft>
                <a:spcPts val="600"/>
              </a:spcAft>
            </a:pPr>
            <a:r>
              <a:rPr lang="en-US" dirty="0"/>
              <a:t>Toxoplasma 主要是血清陽性 allo 病人的再活化，95% 在六個月內，aGVHD 和它的治療是主要危險因子。最常侵犯 CNS，肺和心肌也常見。診斷靠血、CSF 或 BAL 的 PCR，治療是 pyrimethamine 加 sulfadiazine 或 clindamycin，適當治療下最多六成病人改善。</a:t>
            </a:r>
          </a:p>
          <a:p>
            <a:pPr>
              <a:spcAft>
                <a:spcPts val="600"/>
              </a:spcAft>
            </a:pPr>
            <a:r>
              <a:rPr lang="en-US" dirty="0"/>
              <a:t>TB 的風險跟所在地區的盛行率成正比，allo 大約是一般人的 2 到 10 倍。書上的表也收了台灣的資料，allo 約為一般人的 7 到 13 倍。肺外以腦膜炎最常見。QuantiFERON 在移植病人因為 T-cell 缺陷而不可靠，診斷靠 PCR 和培養，一個 colony 就算確診，不會是 colonization。治療要立刻找感染科，依當地抗藥情形選藥；以前已經適當治療過的 TB 不需要預防。</a:t>
            </a:r>
          </a:p>
          <a:p>
            <a:pPr>
              <a:spcAft>
                <a:spcPts val="600"/>
              </a:spcAft>
            </a:pPr>
            <a:r>
              <a:rPr lang="en-US" dirty="0"/>
              <a:t>NTM 以 CVC 感染最多，導管應該拔除，等感染科意見時先給 macrolide 加 quinolone。Listeria 幾乎都是 sepsis，40 到 60% 有 CNS 侵犯，用高劑量 ampicillin 加 aminoglycoside 三週，CNS 六週。Nocardia 是晚期感染，九成有肺部結節，約三分之一一開始就有 CNS 侵犯，basal meningitis 造成的 SIADH 也常見，治療用高劑量 TMP/SMX 至少六個月。</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23:30 至 24:15]</a:t>
            </a:r>
          </a:p>
          <a:p>
            <a:pPr>
              <a:spcAft>
                <a:spcPts val="600"/>
              </a:spcAft>
            </a:pPr>
            <a:r>
              <a:rPr lang="en-US" dirty="0"/>
              <a:t>第一題是 CMV。48 歲女性，CMV 陽性，因為 AML 接受 matched unrelated donor 的 allo-HCT，letermovir 吃到 day 100。Day 128，每週驗的 plasma CMV qPCR 連續兩次上升。她沒有任何症狀，血球和腎功能都正常，也沒有 GVHD。問下一步最適當的處置。</a:t>
            </a:r>
          </a:p>
          <a:p>
            <a:pPr>
              <a:spcAft>
                <a:spcPts val="600"/>
              </a:spcAft>
            </a:pPr>
            <a:r>
              <a:rPr lang="en-US" dirty="0"/>
              <a:t>選項有停止監測、三種傳統藥之一做 preemptive、maribavir、單用 high-dose Ig，以及等切片證實再治療。先想清楚她現在是 infection 還是 disease。題目沒有給 viral load 的數字，這是刻意的。</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24:15 至 25:15]</a:t>
            </a:r>
          </a:p>
          <a:p>
            <a:pPr>
              <a:spcAft>
                <a:spcPts val="600"/>
              </a:spcAft>
            </a:pPr>
            <a:r>
              <a:rPr lang="en-US" dirty="0"/>
              <a:t>正確是 B。Letermovir 停藥後再活化很常見，所以 A 錯，監測必須繼續。她現在是沒有器官侵犯的 DNA-emia，屬於 preemptive therapy 的情境，ganciclovir、valganciclovir、foscarnet 效果相近，依副作用和方便性選，通常至少兩週。她血球和腎功能都正常，三種藥都可以用。如果反覆再活化，三種藥也都可以再用。</a:t>
            </a:r>
          </a:p>
          <a:p>
            <a:pPr>
              <a:spcAft>
                <a:spcPts val="600"/>
              </a:spcAft>
            </a:pPr>
            <a:r>
              <a:rPr lang="en-US" dirty="0"/>
              <a:t>最容易被選的是 C。Maribavir 的隨機試驗證據在 resistant 或 refractory CMV，不是第一線 preemptive。D 的 Ig 書上沒有資料支持，prophylactic Ig 也不建議。E 把 preemptive 的概念弄反了，它本來就是要在 disease 出現之前治療。這題的關鍵字是 asymptomatic 和兩次上升，兩個加起來就是 preemptive 的定義。</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25:15 至 26:00]</a:t>
            </a:r>
          </a:p>
          <a:p>
            <a:pPr>
              <a:spcAft>
                <a:spcPts val="600"/>
              </a:spcAft>
            </a:pPr>
            <a:r>
              <a:rPr lang="en-US" dirty="0"/>
              <a:t>第二題換 PTLD。34 歲男性，9/10 mismatched unrelated donor，conditioning 用了 ATG，現在移植後 day 75。發燒、頸部淋巴結腫大，血中 EBV DNA 兩週內快速上升。淋巴結切片是 monomorphic B-cell 病灶，EBER-ISH 陽性。他目前只有 stage 1 的皮膚 GVHD，用 tacrolimus 控制。問最適當的第一線治療。</a:t>
            </a:r>
          </a:p>
          <a:p>
            <a:pPr>
              <a:spcAft>
                <a:spcPts val="600"/>
              </a:spcAft>
            </a:pPr>
            <a:r>
              <a:rPr lang="en-US" dirty="0"/>
              <a:t>先判斷這是 probable 還是 proven，再想第一線包含哪兩個元素。題幹裡 MMUD 加 ATG，屬於 ECIL-6 的 high risk。也留意他的 GVHD 程度。</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26:00 至 27:00]</a:t>
            </a:r>
          </a:p>
          <a:p>
            <a:pPr>
              <a:spcAft>
                <a:spcPts val="600"/>
              </a:spcAft>
            </a:pPr>
            <a:r>
              <a:rPr lang="en-US" dirty="0"/>
              <a:t>正確是 B。症狀加上組織 EBER-ISH 陽性，就是 proven EBV-PTLD，要盡快治療。第一線是 rituximab 375 mg/m² 每週一次，加上 RIS；RIS 的禁忌是嚴重而且控制不住的 GVHD，這位只有 stage 1 皮膚，可以減。治療 PTLD 時 rituximab 單用 65%，加 RIS 78%。</a:t>
            </a:r>
          </a:p>
          <a:p>
            <a:pPr>
              <a:spcAft>
                <a:spcPts val="600"/>
              </a:spcAft>
            </a:pPr>
            <a:r>
              <a:rPr lang="en-US" dirty="0"/>
              <a:t>常被選的是 D。化療加減 rituximab 是 rituximab 失敗後的 second line，合併其他治療的反應率也只有 26%。A 和 C 都是書上明說不該用的，EBV 沒有有效的抗病毒藥。E 也不對，proven PTLD 可能很快惡化成多器官衰竭，不能觀察。如果這位病人有 EBV-CTL 可用，也是第一線的選項之一，但不會出現在大多數醫院的選擇裡。</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27:00 至 27:45]</a:t>
            </a:r>
          </a:p>
          <a:p>
            <a:pPr>
              <a:spcAft>
                <a:spcPts val="600"/>
              </a:spcAft>
            </a:pPr>
            <a:r>
              <a:rPr lang="en-US" dirty="0"/>
              <a:t>最後一題來自第 39 章。57 歲男性，移植後 14 個月，因為 steroid-dependent chronic GVHD 持續吃 prednisolone，TMP/SMX 一週只吃兩天。現在發燒咳嗽，CT 有兩顆空洞化的肺結節，BAL 看到分枝狀、acid-fast 的 gram-positive 桿菌。神經學檢查正常。除了高劑量 TMP/SMX，現在一定要做什麼。</a:t>
            </a:r>
          </a:p>
          <a:p>
            <a:pPr>
              <a:spcAft>
                <a:spcPts val="600"/>
              </a:spcAft>
            </a:pPr>
            <a:r>
              <a:rPr lang="en-US" dirty="0"/>
              <a:t>選項包括腦部影像、兩週後重做 BAL、加 voriconazole、四合一抗結核藥，以及總共三週的療程。注意題目問的是除了治療之外，一定要做的事。</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27:45 至 28:45]</a:t>
            </a:r>
          </a:p>
          <a:p>
            <a:pPr>
              <a:spcAft>
                <a:spcPts val="600"/>
              </a:spcAft>
            </a:pPr>
            <a:r>
              <a:rPr lang="en-US" dirty="0"/>
              <a:t>正確是 A。分枝狀、acid-fast 的 gram-positive 桿菌，加上晚期、steroid-dependent 的 cGVHD，就是 Nocardia。大約三分之一的病人一開始就有 CNS 侵犯，而且可以沒有症狀，所以肺部 nocardiosis 一律要照腦部 CT 或 MRI。如果是 single-strength 每週五到七天的預防，分離出的菌株通常對 TMP/SMX 敏感，高劑量治療反應也好。</a:t>
            </a:r>
          </a:p>
          <a:p>
            <a:pPr>
              <a:spcAft>
                <a:spcPts val="600"/>
              </a:spcAft>
            </a:pPr>
            <a:r>
              <a:rPr lang="en-US" dirty="0"/>
              <a:t>B 錯在 Nocardia 和結核菌一樣不會 colonize 呼吸道，培養到就是感染。C 的 mould 是最主要的鑑別診斷，但菌的型態已經給答案了。E 的三週是 Listeria 的療程，Nocardia 至少要六個月。題幹裡一週兩天的 TMP/SMX 也是線索，2 到 3 天的排程預防不了 Nocardia。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PML 的 definite 診斷要臨床、影像和 CSF JCV PCR 三者都有，沒有特定治療，靠恢復免疫。Norovirus 最怕被當成 GVHD 而加重免疫抑制；兩者切片都可見 crypt apoptosis，但 norovirus 只在小腸。Zika 和 West Nile 可以經由血品和造血幹細胞傳播，donor 要延後至少 28 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CNS PTLD 沒有標準治療，可用全身或 intrathecal rituximab、EBV-CTL、放療，或依 primary CNS lymphoma 的 high-dose methotrexate 方案。Rituximab 第一週 EBV DNA 降一個 log 以上代表有反應；CR 要症狀全消而且 EBV-DNA-emia 轉陰。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Toxoplasmosis 治療是 pyrimethamine 加 folinic acid，再配 sulfadiazine 或 clindamycin。TMP/SMX 預防要每天一顆 SS 或一週四天 DS，少於一週三天就可能 breakthrough。血清陽性又沒有吃 TMP/SMX 的病人，可以每週驗血中 qPCR，走 preemptive 路線。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Viral and other life-threatening infections, PTLD</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Week 9 · Ch. 38, 45 (support: Ch. 39)</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VIRAL INFECTIONS AND PTLD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parts, from CMV to rare killers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sp>
        <p:nvSpPr>
          <p:cNvPr id="6" name="Text 1"/>
          <p:cNvSpPr txBox="1"/>
          <p:nvPr/>
        </p:nvSpPr>
        <p:spPr>
          <a:xfrm>
            <a:off x="685800" y="2057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103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CMV: prevention, diagnosis and treatment</a:t>
            </a:r>
            <a:endParaRPr lang="en-US" sz="2000" dirty="0"/>
          </a:p>
        </p:txBody>
      </p:sp>
      <p:sp>
        <p:nvSpPr>
          <p:cNvPr id="8" name="Text 3"/>
          <p:cNvSpPr txBox="1"/>
          <p:nvPr/>
        </p:nvSpPr>
        <p:spPr>
          <a:xfrm>
            <a:off x="1463040" y="2496312"/>
            <a:ext cx="8412480" cy="320040"/>
          </a:xfrm>
          <a:prstGeom prst="rect">
            <a:avLst/>
          </a:prstGeom>
          <a:noFill/>
          <a:ln/>
        </p:spPr>
        <p:txBody>
          <a:bodyPr wrap="square" lIns="0" tIns="0" rIns="0" bIns="0" rtlCol="0" anchor="t"/>
          <a:lstStyle/>
          <a:p>
            <a:pPr indent="0" marL="0">
              <a:buNone/>
            </a:pPr>
            <a:r>
              <a:rPr lang="en-US" sz="1600" dirty="0">
                <a:solidFill>
                  <a:schemeClr val="tx1"/>
                </a:solidFill>
              </a:rPr>
              <a:t>Serostatus, letermovir, preemptive therapy, maribavir</a:t>
            </a:r>
            <a:endParaRPr lang="en-US" sz="1600" dirty="0"/>
          </a:p>
        </p:txBody>
      </p:sp>
      <p:sp>
        <p:nvSpPr>
          <p:cNvPr id="9" name="Text 4"/>
          <p:cNvSpPr txBox="1"/>
          <p:nvPr/>
        </p:nvSpPr>
        <p:spPr>
          <a:xfrm>
            <a:off x="10058400" y="2148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6 min</a:t>
            </a:r>
            <a:endParaRPr lang="en-US" sz="1200" dirty="0"/>
          </a:p>
        </p:txBody>
      </p:sp>
      <p:sp>
        <p:nvSpPr>
          <p:cNvPr id="10" name="Rule 5"/>
          <p:cNvSpPr/>
          <p:nvPr/>
        </p:nvSpPr>
        <p:spPr>
          <a:xfrm>
            <a:off x="685800" y="2871216"/>
            <a:ext cx="10817352" cy="0"/>
          </a:xfrm>
          <a:prstGeom prst="line">
            <a:avLst/>
          </a:prstGeom>
          <a:noFill/>
          <a:ln w="6350">
            <a:solidFill>
              <a:schemeClr val="tx1"/>
            </a:solidFill>
            <a:prstDash val="solid"/>
          </a:ln>
        </p:spPr>
      </p:sp>
      <p:sp>
        <p:nvSpPr>
          <p:cNvPr id="11" name="Text 6"/>
          <p:cNvSpPr txBox="1"/>
          <p:nvPr/>
        </p:nvSpPr>
        <p:spPr>
          <a:xfrm>
            <a:off x="685800" y="2971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017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Other herpes, respiratory viruses, adenovirus</a:t>
            </a:r>
            <a:endParaRPr lang="en-US" sz="2000" dirty="0"/>
          </a:p>
        </p:txBody>
      </p:sp>
      <p:sp>
        <p:nvSpPr>
          <p:cNvPr id="13" name="Text 8"/>
          <p:cNvSpPr txBox="1"/>
          <p:nvPr/>
        </p:nvSpPr>
        <p:spPr>
          <a:xfrm>
            <a:off x="1463040" y="3410712"/>
            <a:ext cx="8412480" cy="320040"/>
          </a:xfrm>
          <a:prstGeom prst="rect">
            <a:avLst/>
          </a:prstGeom>
          <a:noFill/>
          <a:ln/>
        </p:spPr>
        <p:txBody>
          <a:bodyPr wrap="square" lIns="0" tIns="0" rIns="0" bIns="0" rtlCol="0" anchor="t"/>
          <a:lstStyle/>
          <a:p>
            <a:pPr indent="0" marL="0">
              <a:buNone/>
            </a:pPr>
            <a:r>
              <a:rPr lang="en-US" sz="1600" dirty="0">
                <a:solidFill>
                  <a:schemeClr val="tx1"/>
                </a:solidFill>
              </a:rPr>
              <a:t>Acyclovir doses, HHV-6, CARV, COVID-19, cidofovir</a:t>
            </a:r>
            <a:endParaRPr lang="en-US" sz="1600" dirty="0"/>
          </a:p>
        </p:txBody>
      </p:sp>
      <p:sp>
        <p:nvSpPr>
          <p:cNvPr id="14" name="Text 9"/>
          <p:cNvSpPr txBox="1"/>
          <p:nvPr/>
        </p:nvSpPr>
        <p:spPr>
          <a:xfrm>
            <a:off x="10058400" y="3063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8 min</a:t>
            </a:r>
            <a:endParaRPr lang="en-US" sz="1200" dirty="0"/>
          </a:p>
        </p:txBody>
      </p:sp>
      <p:sp>
        <p:nvSpPr>
          <p:cNvPr id="15" name="Rule 10"/>
          <p:cNvSpPr/>
          <p:nvPr/>
        </p:nvSpPr>
        <p:spPr>
          <a:xfrm>
            <a:off x="685800" y="3785616"/>
            <a:ext cx="10817352" cy="0"/>
          </a:xfrm>
          <a:prstGeom prst="line">
            <a:avLst/>
          </a:prstGeom>
          <a:noFill/>
          <a:ln w="6350">
            <a:solidFill>
              <a:schemeClr val="tx1"/>
            </a:solidFill>
            <a:prstDash val="solid"/>
          </a:ln>
        </p:spPr>
      </p:sp>
      <p:sp>
        <p:nvSpPr>
          <p:cNvPr id="16" name="Text 11"/>
          <p:cNvSpPr txBox="1"/>
          <p:nvPr/>
        </p:nvSpPr>
        <p:spPr>
          <a:xfrm>
            <a:off x="685800" y="38862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39319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EBV and PTLD</a:t>
            </a:r>
            <a:endParaRPr lang="en-US" sz="2000" dirty="0"/>
          </a:p>
        </p:txBody>
      </p:sp>
      <p:sp>
        <p:nvSpPr>
          <p:cNvPr id="18" name="Text 13"/>
          <p:cNvSpPr txBox="1"/>
          <p:nvPr/>
        </p:nvSpPr>
        <p:spPr>
          <a:xfrm>
            <a:off x="1463040" y="4325112"/>
            <a:ext cx="8412480" cy="320040"/>
          </a:xfrm>
          <a:prstGeom prst="rect">
            <a:avLst/>
          </a:prstGeom>
          <a:noFill/>
          <a:ln/>
        </p:spPr>
        <p:txBody>
          <a:bodyPr wrap="square" lIns="0" tIns="0" rIns="0" bIns="0" rtlCol="0" anchor="t"/>
          <a:lstStyle/>
          <a:p>
            <a:pPr indent="0" marL="0">
              <a:buNone/>
            </a:pPr>
            <a:r>
              <a:rPr lang="en-US" sz="1600" dirty="0">
                <a:solidFill>
                  <a:schemeClr val="tx1"/>
                </a:solidFill>
              </a:rPr>
              <a:t>Risk by donor, probable vs proven, rituximab-based therapy</a:t>
            </a:r>
            <a:endParaRPr lang="en-US" sz="1600" dirty="0"/>
          </a:p>
        </p:txBody>
      </p:sp>
      <p:sp>
        <p:nvSpPr>
          <p:cNvPr id="19" name="Text 14"/>
          <p:cNvSpPr txBox="1"/>
          <p:nvPr/>
        </p:nvSpPr>
        <p:spPr>
          <a:xfrm>
            <a:off x="10058400" y="39776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6 min</a:t>
            </a:r>
            <a:endParaRPr lang="en-US" sz="1200" dirty="0"/>
          </a:p>
        </p:txBody>
      </p:sp>
      <p:sp>
        <p:nvSpPr>
          <p:cNvPr id="20" name="Rule 15"/>
          <p:cNvSpPr/>
          <p:nvPr/>
        </p:nvSpPr>
        <p:spPr>
          <a:xfrm>
            <a:off x="685800" y="4700016"/>
            <a:ext cx="10817352" cy="0"/>
          </a:xfrm>
          <a:prstGeom prst="line">
            <a:avLst/>
          </a:prstGeom>
          <a:noFill/>
          <a:ln w="6350">
            <a:solidFill>
              <a:schemeClr val="tx1"/>
            </a:solidFill>
            <a:prstDash val="solid"/>
          </a:ln>
        </p:spPr>
      </p:sp>
      <p:sp>
        <p:nvSpPr>
          <p:cNvPr id="21" name="Text 16"/>
          <p:cNvSpPr txBox="1"/>
          <p:nvPr/>
        </p:nvSpPr>
        <p:spPr>
          <a:xfrm>
            <a:off x="685800" y="4800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4846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Rare non-viral infections and board questions</a:t>
            </a:r>
            <a:endParaRPr lang="en-US" sz="2000" dirty="0"/>
          </a:p>
        </p:txBody>
      </p:sp>
      <p:sp>
        <p:nvSpPr>
          <p:cNvPr id="23" name="Text 18"/>
          <p:cNvSpPr txBox="1"/>
          <p:nvPr/>
        </p:nvSpPr>
        <p:spPr>
          <a:xfrm>
            <a:off x="1463040" y="5239512"/>
            <a:ext cx="8412480" cy="320040"/>
          </a:xfrm>
          <a:prstGeom prst="rect">
            <a:avLst/>
          </a:prstGeom>
          <a:noFill/>
          <a:ln/>
        </p:spPr>
        <p:txBody>
          <a:bodyPr wrap="square" lIns="0" tIns="0" rIns="0" bIns="0" rtlCol="0" anchor="t"/>
          <a:lstStyle/>
          <a:p>
            <a:pPr indent="0" marL="0">
              <a:buNone/>
            </a:pPr>
            <a:r>
              <a:rPr lang="en-US" sz="1600" dirty="0">
                <a:solidFill>
                  <a:schemeClr val="tx1"/>
                </a:solidFill>
              </a:rPr>
              <a:t>Toxoplasma, TB, NTM, Listeria, Nocardia; 3 MCQs</a:t>
            </a:r>
            <a:endParaRPr lang="en-US" sz="1600" dirty="0"/>
          </a:p>
        </p:txBody>
      </p:sp>
      <p:sp>
        <p:nvSpPr>
          <p:cNvPr id="24" name="Text 19"/>
          <p:cNvSpPr txBox="1"/>
          <p:nvPr/>
        </p:nvSpPr>
        <p:spPr>
          <a:xfrm>
            <a:off x="10058400" y="4892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7.25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CMV · PREVENTION PATHWAY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CMV control starts before the transplant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sp>
        <p:nvSpPr>
          <p:cNvPr id="6" name="Box 20"/>
          <p:cNvSpPr txBox="1"/>
          <p:nvPr/>
        </p:nvSpPr>
        <p:spPr>
          <a:xfrm>
            <a:off x="685800" y="21488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Serology: patient and donor</a:t>
            </a:r>
            <a:endParaRPr lang="en-US" sz="1500" dirty="0"/>
          </a:p>
        </p:txBody>
      </p:sp>
      <p:sp>
        <p:nvSpPr>
          <p:cNvPr id="7" name="Shape 4"/>
          <p:cNvSpPr/>
          <p:nvPr/>
        </p:nvSpPr>
        <p:spPr>
          <a:xfrm>
            <a:off x="2501798" y="3017520"/>
            <a:ext cx="393192" cy="0"/>
          </a:xfrm>
          <a:prstGeom prst="line">
            <a:avLst/>
          </a:prstGeom>
          <a:noFill/>
          <a:ln w="15875">
            <a:solidFill>
              <a:schemeClr val="tx1"/>
            </a:solidFill>
            <a:prstDash val="solid"/>
            <a:tailEnd type="triangle"/>
          </a:ln>
        </p:spPr>
      </p:sp>
      <p:sp>
        <p:nvSpPr>
          <p:cNvPr id="8" name="Box 21"/>
          <p:cNvSpPr txBox="1"/>
          <p:nvPr/>
        </p:nvSpPr>
        <p:spPr>
          <a:xfrm>
            <a:off x="2949854" y="21488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CMV− donor for CMV− patient</a:t>
            </a:r>
            <a:endParaRPr lang="en-US" sz="1500" dirty="0"/>
          </a:p>
        </p:txBody>
      </p:sp>
      <p:sp>
        <p:nvSpPr>
          <p:cNvPr id="9" name="Shape 6"/>
          <p:cNvSpPr/>
          <p:nvPr/>
        </p:nvSpPr>
        <p:spPr>
          <a:xfrm>
            <a:off x="4765853" y="3017520"/>
            <a:ext cx="393192" cy="0"/>
          </a:xfrm>
          <a:prstGeom prst="line">
            <a:avLst/>
          </a:prstGeom>
          <a:noFill/>
          <a:ln w="15875">
            <a:solidFill>
              <a:schemeClr val="tx1"/>
            </a:solidFill>
            <a:prstDash val="solid"/>
            <a:tailEnd type="triangle"/>
          </a:ln>
        </p:spPr>
      </p:sp>
      <p:sp>
        <p:nvSpPr>
          <p:cNvPr id="10" name="Box 22"/>
          <p:cNvSpPr txBox="1"/>
          <p:nvPr/>
        </p:nvSpPr>
        <p:spPr>
          <a:xfrm>
            <a:off x="5213909" y="2148840"/>
            <a:ext cx="1761134"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dirty="0">
                <a:solidFill>
                  <a:schemeClr val="bg1"/>
                </a:solidFill>
              </a:rPr>
              <a:t>Letermovir 3 months if CMV+</a:t>
            </a:r>
            <a:endParaRPr lang="en-US" sz="1500" dirty="0"/>
          </a:p>
        </p:txBody>
      </p:sp>
      <p:sp>
        <p:nvSpPr>
          <p:cNvPr id="11" name="Shape 8"/>
          <p:cNvSpPr/>
          <p:nvPr/>
        </p:nvSpPr>
        <p:spPr>
          <a:xfrm>
            <a:off x="7029907" y="3017520"/>
            <a:ext cx="393192" cy="0"/>
          </a:xfrm>
          <a:prstGeom prst="line">
            <a:avLst/>
          </a:prstGeom>
          <a:noFill/>
          <a:ln w="15875">
            <a:solidFill>
              <a:schemeClr val="tx1"/>
            </a:solidFill>
            <a:prstDash val="solid"/>
            <a:tailEnd type="triangle"/>
          </a:ln>
        </p:spPr>
      </p:sp>
      <p:sp>
        <p:nvSpPr>
          <p:cNvPr id="12" name="Box 23"/>
          <p:cNvSpPr txBox="1"/>
          <p:nvPr/>
        </p:nvSpPr>
        <p:spPr>
          <a:xfrm>
            <a:off x="7477963" y="21488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Weekly qPCR ≥ 3 months</a:t>
            </a:r>
            <a:endParaRPr lang="en-US" sz="1500" dirty="0"/>
          </a:p>
        </p:txBody>
      </p:sp>
      <p:sp>
        <p:nvSpPr>
          <p:cNvPr id="13" name="Shape 10"/>
          <p:cNvSpPr/>
          <p:nvPr/>
        </p:nvSpPr>
        <p:spPr>
          <a:xfrm>
            <a:off x="9293962" y="3017520"/>
            <a:ext cx="393192" cy="0"/>
          </a:xfrm>
          <a:prstGeom prst="line">
            <a:avLst/>
          </a:prstGeom>
          <a:noFill/>
          <a:ln w="15875">
            <a:solidFill>
              <a:schemeClr val="tx1"/>
            </a:solidFill>
            <a:prstDash val="solid"/>
            <a:tailEnd type="triangle"/>
          </a:ln>
        </p:spPr>
      </p:sp>
      <p:sp>
        <p:nvSpPr>
          <p:cNvPr id="14" name="Box 24"/>
          <p:cNvSpPr txBox="1"/>
          <p:nvPr/>
        </p:nvSpPr>
        <p:spPr>
          <a:xfrm>
            <a:off x="9742018" y="21488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Preemptive therapy on DNAemia</a:t>
            </a:r>
            <a:endParaRPr lang="en-US" sz="1500" dirty="0"/>
          </a:p>
        </p:txBody>
      </p:sp>
      <p:sp>
        <p:nvSpPr>
          <p:cNvPr id="15" name="Text 25"/>
          <p:cNvSpPr txBox="1"/>
          <p:nvPr/>
        </p:nvSpPr>
        <p:spPr>
          <a:xfrm>
            <a:off x="685800" y="4297680"/>
            <a:ext cx="10817352" cy="822960"/>
          </a:xfrm>
          <a:prstGeom prst="rect">
            <a:avLst/>
          </a:prstGeom>
          <a:noFill/>
          <a:ln/>
        </p:spPr>
        <p:txBody>
          <a:bodyPr wrap="square" lIns="0" tIns="0" rIns="0" bIns="0" rtlCol="0" anchor="t"/>
          <a:lstStyle/>
          <a:p>
            <a:pPr indent="0" marL="0">
              <a:buNone/>
            </a:pPr>
            <a:r>
              <a:rPr lang="en-US" sz="1700" dirty="0">
                <a:solidFill>
                  <a:schemeClr val="tx1"/>
                </a:solidFill>
              </a:rPr>
              <a:t>Speaker's summary of §38.1.1. Monitor longer with GVHD, prior replication or after letermovir stops. No routine CMV monitoring after auto-HCT.</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CMV · PROPHYLAXIS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Letermovir prophylaxis lowers CMV infection and all-cause mortality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graphicFrame>
        <p:nvGraphicFramePr>
          <p:cNvPr id="5" name="Table 2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483864"/>
                <a:gridCol w="7333488"/>
              </a:tblGrid>
              <a:tr h="0">
                <a:tc>
                  <a:txBody>
                    <a:bodyPr/>
                    <a:lstStyle/>
                    <a:p>
                      <a:pPr indent="0" marL="0">
                        <a:buNone/>
                      </a:pPr>
                      <a:r>
                        <a:rPr lang="en-US" sz="1700" b="1" dirty="0">
                          <a:solidFill>
                            <a:schemeClr val="tx1"/>
                          </a:solidFill>
                        </a:rPr>
                        <a:t>Measure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What Ch. 38 says</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Donor and blood products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CMV− donor for a CMV− patient if possible; CMV-safe blood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Letermovir for 3 months</a:t>
                      </a:r>
                      <a:endParaRPr lang="en-US" sz="1700" dirty="0"/>
                    </a:p>
                    <a:p>
                      <a:pPr indent="0" marL="0">
                        <a:buNone/>
                      </a:pPr>
                      <a:r>
                        <a:rPr lang="en-US" sz="1700" dirty="0">
                          <a:solidFill>
                            <a:schemeClr val="tx1"/>
                          </a:solidFill>
                        </a:rPr>
                        <a:t>(Marty 2017)</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Fewer csCMVi and lower all-cause mortality in CMV+ patients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Longer letermovir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High-risk patients; reactivation common after stopping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Letermovir dose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[verify: 480 mg/day; 240 mg/day with ciclosporin]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Ganciclovir prophylaxis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Reduces CMV disease, but significant toxicity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Prophylactic immunoglobulin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Conflicting data; not recommended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Children</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Letermovir not yet approved (Key Points)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CMV · DIAGNOSIS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CMV disease requires tissue proof</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graphicFrame>
        <p:nvGraphicFramePr>
          <p:cNvPr id="6" name="Table 27"/>
          <p:cNvGraphicFramePr>
            <a:graphicFrameLocks noGrp="1"/>
          </p:cNvGraphicFramePr>
          <p:nvPr>
            <p:extLst>
              <p:ext uri="{D42A27DB-BD31-4B8C-83A1-F6EECF244321}">
                <p14:modId xmlns:p14="http://schemas.microsoft.com/office/powerpoint/2010/main" val="1579011935"/>
              </p:ext>
            </p:extLst>
          </p:nvPr>
        </p:nvGraphicFramePr>
        <p:xfrm>
          <a:off x="685800" y="1783080"/>
          <a:ext cx="10817352" cy="914400"/>
        </p:xfrm>
        <a:graphic>
          <a:graphicData uri="http://schemas.openxmlformats.org/drawingml/2006/table">
            <a:tbl>
              <a:tblPr/>
              <a:tblGrid>
                <a:gridCol w="2752344"/>
                <a:gridCol w="4764024"/>
                <a:gridCol w="3300984"/>
              </a:tblGrid>
              <a:tr h="0">
                <a:tc>
                  <a:txBody>
                    <a:bodyPr/>
                    <a:lstStyle/>
                    <a:p>
                      <a:pPr indent="0" marL="0">
                        <a:buNone/>
                      </a:pPr>
                      <a:r>
                        <a:rPr lang="en-US" sz="1800" b="1" dirty="0">
                          <a:solidFill>
                            <a:schemeClr val="tx1"/>
                          </a:solidFill>
                        </a:rPr>
                        <a:t>Site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Diagnostic standard</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Note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Any organ (default)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Symptoms + CMV in tissue:</a:t>
                      </a:r>
                      <a:endParaRPr lang="en-US" sz="1800" dirty="0"/>
                    </a:p>
                    <a:p>
                      <a:pPr indent="0" marL="0">
                        <a:buNone/>
                      </a:pPr>
                      <a:r>
                        <a:rPr lang="en-US" sz="1800" dirty="0">
                          <a:solidFill>
                            <a:schemeClr val="tx1"/>
                          </a:solidFill>
                        </a:rPr>
                        <a:t>histology, IHC, DNA hybridization</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Blood qPCR is for monitoring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Pneumonia</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High CMV DNA in BAL</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Absence almost excludes it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Retinitis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Characteristic ophthalmologic findings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CMV in vitreous fluid helps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Encephalitis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CMV PCR in CSF supports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Other end-organ disease</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Role of qPCR needs more study</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8"/>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Key entities after allo-HCT: pneumonia and gastroenteritis (§38.1.1.1)</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CMV · TREATMENT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Preemptive and disease therapy differ in drug choice and length</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sp>
        <p:nvSpPr>
          <p:cNvPr id="6" name="Box 29"/>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CMV detected after allo-HCT</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1900809" y="3063240"/>
            <a:ext cx="8387334" cy="0"/>
          </a:xfrm>
          <a:prstGeom prst="line">
            <a:avLst/>
          </a:prstGeom>
          <a:noFill/>
          <a:ln w="15875">
            <a:solidFill>
              <a:schemeClr val="tx1"/>
            </a:solidFill>
            <a:prstDash val="solid"/>
          </a:ln>
        </p:spPr>
      </p:sp>
      <p:sp>
        <p:nvSpPr>
          <p:cNvPr id="9" name="Shape 6"/>
          <p:cNvSpPr/>
          <p:nvPr/>
        </p:nvSpPr>
        <p:spPr>
          <a:xfrm>
            <a:off x="1900809" y="3063240"/>
            <a:ext cx="0" cy="576072"/>
          </a:xfrm>
          <a:prstGeom prst="line">
            <a:avLst/>
          </a:prstGeom>
          <a:noFill/>
          <a:ln w="15875">
            <a:solidFill>
              <a:schemeClr val="tx1"/>
            </a:solidFill>
            <a:prstDash val="solid"/>
            <a:tailEnd type="triangle"/>
          </a:ln>
        </p:spPr>
      </p:sp>
      <p:sp>
        <p:nvSpPr>
          <p:cNvPr id="10" name="Text 30"/>
          <p:cNvSpPr txBox="1"/>
          <p:nvPr/>
        </p:nvSpPr>
        <p:spPr>
          <a:xfrm>
            <a:off x="685800"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DNAemia, no disease</a:t>
            </a:r>
            <a:endParaRPr lang="en-US" sz="1400" dirty="0"/>
          </a:p>
        </p:txBody>
      </p:sp>
      <p:sp>
        <p:nvSpPr>
          <p:cNvPr id="11" name="Box 31"/>
          <p:cNvSpPr txBox="1"/>
          <p:nvPr/>
        </p:nvSpPr>
        <p:spPr>
          <a:xfrm>
            <a:off x="685800" y="3657600"/>
            <a:ext cx="2430018"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b="1" dirty="0">
                <a:solidFill>
                  <a:schemeClr val="bg1"/>
                </a:solidFill>
              </a:rPr>
              <a:t>Preemptive GCV, VGCV or foscarnet</a:t>
            </a:r>
            <a:endParaRPr lang="en-US" sz="1500" dirty="0"/>
          </a:p>
        </p:txBody>
      </p:sp>
      <p:sp>
        <p:nvSpPr>
          <p:cNvPr id="12" name="Shape 9"/>
          <p:cNvSpPr/>
          <p:nvPr/>
        </p:nvSpPr>
        <p:spPr>
          <a:xfrm>
            <a:off x="1900809" y="4480560"/>
            <a:ext cx="0" cy="256032"/>
          </a:xfrm>
          <a:prstGeom prst="line">
            <a:avLst/>
          </a:prstGeom>
          <a:noFill/>
          <a:ln w="15875">
            <a:solidFill>
              <a:schemeClr val="tx1"/>
            </a:solidFill>
            <a:prstDash val="solid"/>
            <a:tailEnd type="triangle"/>
          </a:ln>
        </p:spPr>
      </p:sp>
      <p:sp>
        <p:nvSpPr>
          <p:cNvPr id="13" name="Box 32"/>
          <p:cNvSpPr txBox="1"/>
          <p:nvPr/>
        </p:nvSpPr>
        <p:spPr>
          <a:xfrm>
            <a:off x="685800"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 2 weeks;</a:t>
            </a:r>
            <a:endParaRPr lang="en-US" sz="1400" dirty="0"/>
          </a:p>
          <a:p>
            <a:pPr algn="ctr" indent="0" marL="0">
              <a:buNone/>
            </a:pPr>
            <a:r>
              <a:rPr lang="en-US" sz="1400" dirty="0">
                <a:solidFill>
                  <a:schemeClr val="tx1"/>
                </a:solidFill>
              </a:rPr>
              <a:t>choose by side effects</a:t>
            </a:r>
            <a:endParaRPr lang="en-US" sz="1400" dirty="0"/>
          </a:p>
        </p:txBody>
      </p:sp>
      <p:sp>
        <p:nvSpPr>
          <p:cNvPr id="14" name="Shape 11"/>
          <p:cNvSpPr/>
          <p:nvPr/>
        </p:nvSpPr>
        <p:spPr>
          <a:xfrm>
            <a:off x="4696587" y="3063240"/>
            <a:ext cx="0" cy="576072"/>
          </a:xfrm>
          <a:prstGeom prst="line">
            <a:avLst/>
          </a:prstGeom>
          <a:noFill/>
          <a:ln w="15875">
            <a:solidFill>
              <a:schemeClr val="tx1"/>
            </a:solidFill>
            <a:prstDash val="solid"/>
            <a:tailEnd type="triangle"/>
          </a:ln>
        </p:spPr>
      </p:sp>
      <p:sp>
        <p:nvSpPr>
          <p:cNvPr id="15" name="Text 33"/>
          <p:cNvSpPr txBox="1"/>
          <p:nvPr/>
        </p:nvSpPr>
        <p:spPr>
          <a:xfrm>
            <a:off x="3481578"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End-organ disease</a:t>
            </a:r>
            <a:endParaRPr lang="en-US" sz="1400" dirty="0"/>
          </a:p>
        </p:txBody>
      </p:sp>
      <p:sp>
        <p:nvSpPr>
          <p:cNvPr id="16" name="Box 34"/>
          <p:cNvSpPr txBox="1"/>
          <p:nvPr/>
        </p:nvSpPr>
        <p:spPr>
          <a:xfrm>
            <a:off x="3481578"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Ganciclovir or foscarnet</a:t>
            </a:r>
            <a:endParaRPr lang="en-US" sz="1500" dirty="0"/>
          </a:p>
        </p:txBody>
      </p:sp>
      <p:sp>
        <p:nvSpPr>
          <p:cNvPr id="17" name="Shape 14"/>
          <p:cNvSpPr/>
          <p:nvPr/>
        </p:nvSpPr>
        <p:spPr>
          <a:xfrm>
            <a:off x="4696587" y="4480560"/>
            <a:ext cx="0" cy="256032"/>
          </a:xfrm>
          <a:prstGeom prst="line">
            <a:avLst/>
          </a:prstGeom>
          <a:noFill/>
          <a:ln w="15875">
            <a:solidFill>
              <a:schemeClr val="tx1"/>
            </a:solidFill>
            <a:prstDash val="solid"/>
            <a:tailEnd type="triangle"/>
          </a:ln>
        </p:spPr>
      </p:sp>
      <p:sp>
        <p:nvSpPr>
          <p:cNvPr id="18" name="Box 35"/>
          <p:cNvSpPr txBox="1"/>
          <p:nvPr/>
        </p:nvSpPr>
        <p:spPr>
          <a:xfrm>
            <a:off x="3481578"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Longer (6–8 weeks);</a:t>
            </a:r>
            <a:endParaRPr lang="en-US" sz="1400" dirty="0"/>
          </a:p>
          <a:p>
            <a:pPr algn="ctr" indent="0" marL="0">
              <a:buNone/>
            </a:pPr>
            <a:r>
              <a:rPr lang="en-US" sz="1400" dirty="0">
                <a:solidFill>
                  <a:schemeClr val="tx1"/>
                </a:solidFill>
              </a:rPr>
              <a:t>± Ig for pneumonia</a:t>
            </a:r>
            <a:endParaRPr lang="en-US" sz="1400" dirty="0"/>
          </a:p>
        </p:txBody>
      </p:sp>
      <p:sp>
        <p:nvSpPr>
          <p:cNvPr id="19" name="Shape 16"/>
          <p:cNvSpPr/>
          <p:nvPr/>
        </p:nvSpPr>
        <p:spPr>
          <a:xfrm>
            <a:off x="7492365" y="3063240"/>
            <a:ext cx="0" cy="576072"/>
          </a:xfrm>
          <a:prstGeom prst="line">
            <a:avLst/>
          </a:prstGeom>
          <a:noFill/>
          <a:ln w="15875">
            <a:solidFill>
              <a:schemeClr val="tx1"/>
            </a:solidFill>
            <a:prstDash val="solid"/>
            <a:tailEnd type="triangle"/>
          </a:ln>
        </p:spPr>
      </p:sp>
      <p:sp>
        <p:nvSpPr>
          <p:cNvPr id="20" name="Text 36"/>
          <p:cNvSpPr txBox="1"/>
          <p:nvPr/>
        </p:nvSpPr>
        <p:spPr>
          <a:xfrm>
            <a:off x="6277356"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Resistant/refractory</a:t>
            </a:r>
            <a:endParaRPr lang="en-US" sz="1400" dirty="0"/>
          </a:p>
        </p:txBody>
      </p:sp>
      <p:sp>
        <p:nvSpPr>
          <p:cNvPr id="21" name="Box 37"/>
          <p:cNvSpPr txBox="1"/>
          <p:nvPr/>
        </p:nvSpPr>
        <p:spPr>
          <a:xfrm>
            <a:off x="6277356"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Maribavir (Avery 2022)</a:t>
            </a:r>
            <a:endParaRPr lang="en-US" sz="1500" dirty="0"/>
          </a:p>
        </p:txBody>
      </p:sp>
      <p:sp>
        <p:nvSpPr>
          <p:cNvPr id="22" name="Shape 19"/>
          <p:cNvSpPr/>
          <p:nvPr/>
        </p:nvSpPr>
        <p:spPr>
          <a:xfrm>
            <a:off x="7492365" y="4480560"/>
            <a:ext cx="0" cy="256032"/>
          </a:xfrm>
          <a:prstGeom prst="line">
            <a:avLst/>
          </a:prstGeom>
          <a:noFill/>
          <a:ln w="15875">
            <a:solidFill>
              <a:schemeClr val="tx1"/>
            </a:solidFill>
            <a:prstDash val="solid"/>
            <a:tailEnd type="triangle"/>
          </a:ln>
        </p:spPr>
      </p:sp>
      <p:sp>
        <p:nvSpPr>
          <p:cNvPr id="23" name="Box 38"/>
          <p:cNvSpPr txBox="1"/>
          <p:nvPr/>
        </p:nvSpPr>
        <p:spPr>
          <a:xfrm>
            <a:off x="6277356"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More effective, less toxic than others</a:t>
            </a:r>
            <a:endParaRPr lang="en-US" sz="1400" dirty="0"/>
          </a:p>
        </p:txBody>
      </p:sp>
      <p:sp>
        <p:nvSpPr>
          <p:cNvPr id="24" name="Shape 21"/>
          <p:cNvSpPr/>
          <p:nvPr/>
        </p:nvSpPr>
        <p:spPr>
          <a:xfrm>
            <a:off x="10288143" y="3063240"/>
            <a:ext cx="0" cy="576072"/>
          </a:xfrm>
          <a:prstGeom prst="line">
            <a:avLst/>
          </a:prstGeom>
          <a:noFill/>
          <a:ln w="15875">
            <a:solidFill>
              <a:schemeClr val="tx1"/>
            </a:solidFill>
            <a:prstDash val="solid"/>
            <a:tailEnd type="triangle"/>
          </a:ln>
        </p:spPr>
      </p:sp>
      <p:sp>
        <p:nvSpPr>
          <p:cNvPr id="25" name="Text 39"/>
          <p:cNvSpPr txBox="1"/>
          <p:nvPr/>
        </p:nvSpPr>
        <p:spPr>
          <a:xfrm>
            <a:off x="9073134"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Other drugs failed</a:t>
            </a:r>
            <a:endParaRPr lang="en-US" sz="1400" dirty="0"/>
          </a:p>
        </p:txBody>
      </p:sp>
      <p:sp>
        <p:nvSpPr>
          <p:cNvPr id="26" name="Box 40"/>
          <p:cNvSpPr txBox="1"/>
          <p:nvPr/>
        </p:nvSpPr>
        <p:spPr>
          <a:xfrm>
            <a:off x="9073134"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Cidofovir or</a:t>
            </a:r>
            <a:endParaRPr lang="en-US" sz="1500" dirty="0"/>
          </a:p>
          <a:p>
            <a:pPr algn="ctr" indent="0" marL="0">
              <a:buNone/>
            </a:pPr>
            <a:r>
              <a:rPr lang="en-US" sz="1500" b="1" dirty="0">
                <a:solidFill>
                  <a:schemeClr val="tx1"/>
                </a:solidFill>
              </a:rPr>
              <a:t>CMV-specific T cells</a:t>
            </a:r>
            <a:endParaRPr lang="en-US" sz="1500" dirty="0"/>
          </a:p>
        </p:txBody>
      </p:sp>
      <p:sp>
        <p:nvSpPr>
          <p:cNvPr id="27" name="Shape 24"/>
          <p:cNvSpPr/>
          <p:nvPr/>
        </p:nvSpPr>
        <p:spPr>
          <a:xfrm>
            <a:off x="10288143" y="4480560"/>
            <a:ext cx="0" cy="256032"/>
          </a:xfrm>
          <a:prstGeom prst="line">
            <a:avLst/>
          </a:prstGeom>
          <a:noFill/>
          <a:ln w="15875">
            <a:solidFill>
              <a:schemeClr val="tx1"/>
            </a:solidFill>
            <a:prstDash val="solid"/>
            <a:tailEnd type="triangle"/>
          </a:ln>
        </p:spPr>
      </p:sp>
      <p:sp>
        <p:nvSpPr>
          <p:cNvPr id="28" name="Box 41"/>
          <p:cNvSpPr txBox="1"/>
          <p:nvPr/>
        </p:nvSpPr>
        <p:spPr>
          <a:xfrm>
            <a:off x="9073134"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T cells weak on steroids ≥ 2 mg/kg</a:t>
            </a:r>
            <a:endParaRPr lang="en-US" sz="14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HSV · VZV</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Acyclovir dosing depends on the indication and on disease severity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graphicFrame>
        <p:nvGraphicFramePr>
          <p:cNvPr id="8" name="Table 4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941064"/>
                <a:gridCol w="4489704"/>
                <a:gridCol w="2386584"/>
              </a:tblGrid>
              <a:tr h="0">
                <a:tc>
                  <a:txBody>
                    <a:bodyPr/>
                    <a:lstStyle/>
                    <a:p>
                      <a:pPr indent="0" marL="0">
                        <a:buNone/>
                      </a:pPr>
                      <a:r>
                        <a:rPr lang="en-US" sz="1600" b="1" dirty="0">
                          <a:solidFill>
                            <a:schemeClr val="tx1"/>
                          </a:solidFill>
                        </a:rPr>
                        <a:t>Indication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Regimen (Ch. 38)</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Duration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HSV prophylaxis, HSV+ allo-HCT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Acyclovir 3×200 to 2×800 mg/d,</a:t>
                      </a:r>
                      <a:endParaRPr lang="en-US" sz="1600" dirty="0"/>
                    </a:p>
                    <a:p>
                      <a:pPr indent="0" marL="0">
                        <a:buNone/>
                      </a:pPr>
                      <a:r>
                        <a:rPr lang="en-US" sz="1600" dirty="0">
                          <a:solidFill>
                            <a:schemeClr val="tx1"/>
                          </a:solidFill>
                        </a:rPr>
                        <a:t>or valaciclovir 2×500 mg/d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4 weeks;</a:t>
                      </a:r>
                      <a:endParaRPr lang="en-US" sz="1600" dirty="0"/>
                    </a:p>
                    <a:p>
                      <a:pPr indent="0" marL="0">
                        <a:buNone/>
                      </a:pPr>
                      <a:r>
                        <a:rPr lang="en-US" sz="1600" dirty="0">
                          <a:solidFill>
                            <a:schemeClr val="tx1"/>
                          </a:solidFill>
                        </a:rPr>
                        <a:t>longer if VZV+</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VZV prophylaxis, VZV+</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Acyclovir 2×800 mg or valaciclovir 2×500 mg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12 months or end of 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VZV exposure, seronegative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Acyclovir or valaciclovir, start at once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To day 21 after exposure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Severe mucocutaneous/visceral HSV</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IV acyclovir 5 mg/kg (250 mg/m²) q8h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7–10 days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HSV pneumonia or encephalitis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IV acyclovir 10 mg/kg (500 mg/m²) q8h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14–21 days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Varicella; disseminated/visceral VZV</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IV acyclovir 3 × 500 mg/m²/day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Acyclovir-resistant HSV (5–15%)</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Foscarnet or cidofovir</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Second line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HHV-6 · HHV-7 · HHV-8 · EBV</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HHV-6B is the main cause of viral encephalitis after allo-HCT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graphicFrame>
        <p:nvGraphicFramePr>
          <p:cNvPr id="9" name="Table 4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203704"/>
                <a:gridCol w="5129784"/>
                <a:gridCol w="3483864"/>
              </a:tblGrid>
              <a:tr h="0">
                <a:tc>
                  <a:txBody>
                    <a:bodyPr/>
                    <a:lstStyle/>
                    <a:p>
                      <a:pPr indent="0" marL="0">
                        <a:buNone/>
                      </a:pPr>
                      <a:r>
                        <a:rPr lang="en-US" sz="1600" b="1" dirty="0">
                          <a:solidFill>
                            <a:schemeClr val="tx1"/>
                          </a:solidFill>
                        </a:rPr>
                        <a:t>Virus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Key clinical point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Management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HHV-6B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Leading viral encephalitis; CBT risk; limbic MRI pattern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Ganciclovir or foscarnet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Integrated HHV-6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Germline: strongly qPCR-positive,</a:t>
                      </a:r>
                      <a:endParaRPr lang="en-US" sz="1600" dirty="0"/>
                    </a:p>
                    <a:p>
                      <a:pPr indent="0" marL="0">
                        <a:buNone/>
                      </a:pPr>
                      <a:r>
                        <a:rPr lang="en-US" sz="1600" dirty="0">
                          <a:solidFill>
                            <a:schemeClr val="tx1"/>
                          </a:solidFill>
                        </a:rPr>
                        <a:t>not proof of replication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Serology not useful;</a:t>
                      </a:r>
                      <a:endParaRPr lang="en-US" sz="1600" dirty="0"/>
                    </a:p>
                    <a:p>
                      <a:pPr indent="0" marL="0">
                        <a:buNone/>
                      </a:pPr>
                      <a:r>
                        <a:rPr lang="en-US" sz="1600" dirty="0">
                          <a:solidFill>
                            <a:schemeClr val="tx1"/>
                          </a:solidFill>
                        </a:rPr>
                        <a:t>monitoring unproven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HHV-7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Rare CNS disease; possible CMV cofactor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specific treatment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HHV-8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Kaposi sarcoma, very rare; skin in adults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Excision or electrochemotherapy;</a:t>
                      </a:r>
                      <a:endParaRPr lang="en-US" sz="1600" dirty="0"/>
                    </a:p>
                    <a:p>
                      <a:pPr indent="0" marL="0">
                        <a:buNone/>
                      </a:pPr>
                      <a:r>
                        <a:rPr lang="en-US" sz="1600" dirty="0">
                          <a:solidFill>
                            <a:schemeClr val="tx1"/>
                          </a:solidFill>
                        </a:rPr>
                        <a:t>antivirals of no benefit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EBV</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PTLD or end-organ disease;</a:t>
                      </a:r>
                      <a:endParaRPr lang="en-US" sz="1600" dirty="0"/>
                    </a:p>
                    <a:p>
                      <a:pPr indent="0" marL="0">
                        <a:buNone/>
                      </a:pPr>
                      <a:r>
                        <a:rPr lang="en-US" sz="1600" dirty="0">
                          <a:solidFill>
                            <a:schemeClr val="tx1"/>
                          </a:solidFill>
                        </a:rPr>
                        <a:t>most reactivations subclinical</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Antivirals ineffective;</a:t>
                      </a:r>
                      <a:endParaRPr lang="en-US" sz="1600" dirty="0"/>
                    </a:p>
                    <a:p>
                      <a:pPr indent="0" marL="0">
                        <a:buNone/>
                      </a:pPr>
                      <a:r>
                        <a:rPr lang="en-US" sz="1600" dirty="0">
                          <a:solidFill>
                            <a:schemeClr val="tx1"/>
                          </a:solidFill>
                        </a:rPr>
                        <a:t>anti-CD20 preemptively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COMMUNITY-ACQUIRED RESPIRATORY VIRUSES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CARV lower-tract disease is uncommon but can be lethal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graphicFrame>
        <p:nvGraphicFramePr>
          <p:cNvPr id="10" name="Table 4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575304"/>
                <a:gridCol w="7242048"/>
              </a:tblGrid>
              <a:tr h="0">
                <a:tc>
                  <a:txBody>
                    <a:bodyPr/>
                    <a:lstStyle/>
                    <a:p>
                      <a:pPr indent="0" marL="0">
                        <a:buNone/>
                      </a:pPr>
                      <a:r>
                        <a:rPr lang="en-US" sz="1700" b="1" dirty="0">
                          <a:solidFill>
                            <a:schemeClr val="tx1"/>
                          </a:solidFill>
                        </a:rPr>
                        <a:t>Topic</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Ch. 38 position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Lower-tract disease (LTD)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10–30% of CARV; mortality &lt; 5%, &gt; 30% if profound 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Risk factors for LTD and death</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Lymphopenia, neutropenia, steroids, GVHD, older age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Before HCT: LTD present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Delay transplant until resolution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Before HCT: upper tract only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Delay; rhinovirus or common coronavirus: weigh risks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Influenza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Vaccine at 6 months; early oseltamivir, often &gt; 5 days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RSV</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Ribavirin inhaled or systemic ± IVIG; no mAb prophylaxis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Parainfluenza, metapneumovirus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hPIV-3 worst; no prophylaxis; ribavirin data weak</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SARS-COV-2</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COVID-19 therapy follows the phase of infection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graphicFrame>
        <p:nvGraphicFramePr>
          <p:cNvPr id="11" name="Table 4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575304"/>
                <a:gridCol w="7242048"/>
              </a:tblGrid>
              <a:tr h="0">
                <a:tc>
                  <a:txBody>
                    <a:bodyPr/>
                    <a:lstStyle/>
                    <a:p>
                      <a:pPr indent="0" marL="0">
                        <a:buNone/>
                      </a:pPr>
                      <a:r>
                        <a:rPr lang="en-US" sz="1800" b="1" dirty="0">
                          <a:solidFill>
                            <a:schemeClr val="tx1"/>
                          </a:solidFill>
                        </a:rPr>
                        <a:t>Situation</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ECIL 9 recommendation (Table 38.1)</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Pre- or post-exposure, high risk</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Anti-spike mAb, if active against circulating variant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Mild/moderate, no O₂</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Nirmatrelvir/r, remdesivir or molnupiravir; or mAb</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O₂ needed or severe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Dexamethasone ± anti-IL-6, JAKi or anakinra; remdesivir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Critical</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Dexamethasone ± anti-IL-6; remdesivir; mAb</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Vaccination</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mRNA × 3 from 3–6 months, booster 3–4 months later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Positive before HCT or CAR-T</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Defer until clinical and virological negativity</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ADENOVIRUS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Adenovirus is monitored by risk and treated preemptively with cidofovir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graphicFrame>
        <p:nvGraphicFramePr>
          <p:cNvPr id="12" name="Table 4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575304"/>
                <a:gridCol w="7242048"/>
              </a:tblGrid>
              <a:tr h="0">
                <a:tc>
                  <a:txBody>
                    <a:bodyPr/>
                    <a:lstStyle/>
                    <a:p>
                      <a:pPr indent="0" marL="0">
                        <a:buNone/>
                      </a:pPr>
                      <a:r>
                        <a:rPr lang="en-US" sz="1700" b="1" dirty="0">
                          <a:solidFill>
                            <a:schemeClr val="tx1"/>
                          </a:solidFill>
                        </a:rPr>
                        <a:t>Step</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Ch. 38 recommendation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Risk factors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Haplo/URD, CBT, TCD, grade III–IV GVHD, ATG or alemtuzumab</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Monitoring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Weekly blood qPCR if ≥ 1 risk factor, until CD3 &gt; 300/mm³</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Prevention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Strict isolation and hygiene; no antiviral prophylaxis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Preemptive (rising load + risk)</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Cidofovir 3–5 mg/kg weekly × 2–3, then every other week</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Probable or proven disease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Cidofovir 5 mg/kg weekly ≥ 3 doses, then q2w + probenecid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Non-responders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Taper IS; donor ADV-specific CTLs; ribavirin if species C</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7"/>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Invasive ADV: children 6–42%, adults 3–15%; most within 100 days of HCT</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PTLD · RISK</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PTLD risk tracks the depth of T-cell impairment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Styczynski J, Giebel S. EBMT Handbook 8th ed. 2024; Ch. 45</a:t>
            </a:r>
            <a:endParaRPr lang="en-US" sz="1000" dirty="0"/>
          </a:p>
        </p:txBody>
      </p:sp>
      <p:graphicFrame>
        <p:nvGraphicFramePr>
          <p:cNvPr id="13" name="Table 4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52344"/>
                <a:gridCol w="4946904"/>
                <a:gridCol w="3118104"/>
              </a:tblGrid>
              <a:tr h="0">
                <a:tc>
                  <a:txBody>
                    <a:bodyPr/>
                    <a:lstStyle/>
                    <a:p>
                      <a:pPr indent="0" marL="0">
                        <a:buNone/>
                      </a:pPr>
                      <a:r>
                        <a:rPr lang="en-US" sz="1700" b="1" dirty="0">
                          <a:solidFill>
                            <a:schemeClr val="tx1"/>
                          </a:solidFill>
                        </a:rPr>
                        <a:t>ECIL-6 risk group</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Patients</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PTLD incidence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High</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MUD / MMUD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3.97% / 11.24%</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High</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Alternative donors, including CBT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CBT 4.06%</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High</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MFD + ≥ 1 risk factor: TCD,</a:t>
                      </a:r>
                      <a:endParaRPr lang="en-US" sz="1700" dirty="0"/>
                    </a:p>
                    <a:p>
                      <a:pPr indent="0" marL="0">
                        <a:buNone/>
                      </a:pPr>
                      <a:r>
                        <a:rPr lang="en-US" sz="1700" dirty="0">
                          <a:solidFill>
                            <a:schemeClr val="tx1"/>
                          </a:solidFill>
                        </a:rPr>
                        <a:t>EBV mismatch, splenectomy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Standard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MFD without risk factors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MFD overall 1.16%</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Standard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Haplo-HCT with PTCy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Lowest EBV-DNA-emia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Low</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Auto-HCT</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Casuistic (no TCD)</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9"/>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All allo-HCT 3.22%. Median onset 2–4 months; 90% within 6 months (Tables 45.1, 45.3)</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PTLD · DIAGNOSIS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Proven PTLD needs EBER in tissue; probable does not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Styczynski J, Giebel S. EBMT Handbook 8th ed. 2024; Ch. 45</a:t>
            </a:r>
            <a:endParaRPr lang="en-US" sz="1000" dirty="0"/>
          </a:p>
        </p:txBody>
      </p:sp>
      <p:graphicFrame>
        <p:nvGraphicFramePr>
          <p:cNvPr id="14" name="Table 5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300984"/>
                <a:gridCol w="7516368"/>
              </a:tblGrid>
              <a:tr h="0">
                <a:tc>
                  <a:txBody>
                    <a:bodyPr/>
                    <a:lstStyle/>
                    <a:p>
                      <a:pPr indent="0" marL="0">
                        <a:buNone/>
                      </a:pPr>
                      <a:r>
                        <a:rPr lang="en-US" sz="1700" b="1" dirty="0">
                          <a:solidFill>
                            <a:schemeClr val="tx1"/>
                          </a:solidFill>
                        </a:rPr>
                        <a:t>Level or tool</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Requirement (Ch. 45)</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Proven EBV disease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Organ symptoms or signs + EBER-ISH in a tissue specimen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Probable EBV disease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Nodes, HSM or organ signs + high EBV DNA; no other cause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EBV-DNA monitoring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Start ≤ 4 weeks after HCT; weekly; ≥ 4 months if high risk</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Threshold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universal cutoff; centre-specific; doubling time 56 h</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Imaging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FDG-PET-CT (most PTLD avid); MRI for CNS or non-avid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Staging (ECIL-6, Lugano)</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Limited: stage I–II; advanced: stage III–IV</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PTLD · STRATEGY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EBV management moves from prophylaxis to preemption to treatment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Styczynski J, Giebel S. EBMT Handbook 8th ed. 2024; Ch. 45</a:t>
            </a:r>
            <a:endParaRPr lang="en-US" sz="1000" dirty="0"/>
          </a:p>
        </p:txBody>
      </p:sp>
      <p:sp>
        <p:nvSpPr>
          <p:cNvPr id="6" name="Box 51"/>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EBV after allo-HCT: no effective antiviral drug</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52"/>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Seropositive, no DNAemia</a:t>
            </a:r>
            <a:endParaRPr lang="en-US" sz="1400" dirty="0"/>
          </a:p>
        </p:txBody>
      </p:sp>
      <p:sp>
        <p:nvSpPr>
          <p:cNvPr id="11" name="Box 53"/>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Prophylaxis (rarely used)</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54"/>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Rituximab or EBV-CTL</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55"/>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DNAemia, no disease</a:t>
            </a:r>
            <a:endParaRPr lang="en-US" sz="1400" dirty="0"/>
          </a:p>
        </p:txBody>
      </p:sp>
      <p:sp>
        <p:nvSpPr>
          <p:cNvPr id="16" name="Box 56"/>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Preemptive therapy</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57"/>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Rituximab weekly,</a:t>
            </a:r>
            <a:endParaRPr lang="en-US" sz="1500" dirty="0"/>
          </a:p>
          <a:p>
            <a:pPr algn="ctr" indent="0" marL="0">
              <a:buNone/>
            </a:pPr>
            <a:r>
              <a:rPr lang="en-US" sz="1500" dirty="0">
                <a:solidFill>
                  <a:schemeClr val="tx1"/>
                </a:solidFill>
              </a:rPr>
              <a:t>1–2 doses, + RIS</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58"/>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Probable/proven PTLD</a:t>
            </a:r>
            <a:endParaRPr lang="en-US" sz="1400" dirty="0"/>
          </a:p>
        </p:txBody>
      </p:sp>
      <p:sp>
        <p:nvSpPr>
          <p:cNvPr id="21" name="Box 59"/>
          <p:cNvSpPr txBox="1"/>
          <p:nvPr/>
        </p:nvSpPr>
        <p:spPr>
          <a:xfrm>
            <a:off x="8141208"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First-line treatment</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60"/>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Rituximab 375 mg/m² weekly + RIS ± EBV-CTL</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PTLD · RESPONSE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Rituximab, RIS and EBV-specific T cells give the best responses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Styczynski J, Giebel S. EBMT Handbook 8th ed. 2024; Ch. 45</a:t>
            </a:r>
            <a:endParaRPr lang="en-US" sz="1000" dirty="0"/>
          </a:p>
        </p:txBody>
      </p:sp>
      <p:graphicFrame>
        <p:nvGraphicFramePr>
          <p:cNvPr id="16" name="Table 6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764024"/>
                <a:gridCol w="3026664"/>
                <a:gridCol w="3026664"/>
              </a:tblGrid>
              <a:tr h="0">
                <a:tc>
                  <a:txBody>
                    <a:bodyPr/>
                    <a:lstStyle/>
                    <a:p>
                      <a:pPr indent="0" marL="0">
                        <a:buNone/>
                      </a:pPr>
                      <a:r>
                        <a:rPr lang="en-US" sz="1600" b="1" dirty="0">
                          <a:solidFill>
                            <a:schemeClr val="tx1"/>
                          </a:solidFill>
                        </a:rPr>
                        <a:t>Strategy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Preemptive therapy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Treatment of PTLD</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Rituximab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90%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65%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Rituximab + RIS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78%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EBV-CTL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94–100%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71–75%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RIS alone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68%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61%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DLI (with other therapy)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Chemotherapy (with other therapy)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Cidofovir (with other therapy)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34%</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2"/>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After rituximab failure: DLI or EBV-CTL, or chemo ± rituximab; tabelecleucel (EMA 2022)</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CH. 39 · RARE NON-VIRAL INFECTIONS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Rare non-viral infections cluster in patients with GVHD on steroids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Martino R. EBMT Handbook 8th ed. 2024; Ch. 39</a:t>
            </a:r>
            <a:endParaRPr lang="en-US" sz="1000" dirty="0"/>
          </a:p>
        </p:txBody>
      </p:sp>
      <p:graphicFrame>
        <p:nvGraphicFramePr>
          <p:cNvPr id="17" name="Table 6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554480"/>
                <a:gridCol w="3209544"/>
                <a:gridCol w="3026664"/>
                <a:gridCol w="3026664"/>
              </a:tblGrid>
              <a:tr h="0">
                <a:tc>
                  <a:txBody>
                    <a:bodyPr/>
                    <a:lstStyle/>
                    <a:p>
                      <a:pPr indent="0" marL="0">
                        <a:buNone/>
                      </a:pPr>
                      <a:r>
                        <a:rPr lang="en-US" sz="1500" b="1" dirty="0">
                          <a:solidFill>
                            <a:schemeClr val="tx1"/>
                          </a:solidFill>
                        </a:rPr>
                        <a:t>Pathogen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Who and when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Diagnostic key</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Treatment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Toxoplasma</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Sero+ allo-HCT; 95% within</a:t>
                      </a:r>
                      <a:endParaRPr lang="en-US" sz="1500" dirty="0"/>
                    </a:p>
                    <a:p>
                      <a:pPr indent="0" marL="0">
                        <a:buNone/>
                      </a:pPr>
                      <a:r>
                        <a:rPr lang="en-US" sz="1500" dirty="0">
                          <a:solidFill>
                            <a:schemeClr val="tx1"/>
                          </a:solidFill>
                        </a:rPr>
                        <a:t>6 months; aGVHD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qPCR in blood, CSF or BAL;</a:t>
                      </a:r>
                      <a:endParaRPr lang="en-US" sz="1500" dirty="0"/>
                    </a:p>
                    <a:p>
                      <a:pPr indent="0" marL="0">
                        <a:buNone/>
                      </a:pPr>
                      <a:r>
                        <a:rPr lang="en-US" sz="1500" dirty="0">
                          <a:solidFill>
                            <a:schemeClr val="tx1"/>
                          </a:solidFill>
                        </a:rPr>
                        <a:t>CNS &gt; lung, heart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Pyrimethamine +</a:t>
                      </a:r>
                      <a:endParaRPr lang="en-US" sz="1500" dirty="0"/>
                    </a:p>
                    <a:p>
                      <a:pPr indent="0" marL="0">
                        <a:buNone/>
                      </a:pPr>
                      <a:r>
                        <a:rPr lang="en-US" sz="1500" dirty="0">
                          <a:solidFill>
                            <a:schemeClr val="tx1"/>
                          </a:solidFill>
                        </a:rPr>
                        <a:t>sulfadiazine or clindamycin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Tuberculosis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Allo 2–10× general population;</a:t>
                      </a:r>
                      <a:endParaRPr lang="en-US" sz="1500" dirty="0"/>
                    </a:p>
                    <a:p>
                      <a:pPr indent="0" marL="0">
                        <a:buNone/>
                      </a:pPr>
                      <a:r>
                        <a:rPr lang="en-US" sz="1500" dirty="0">
                          <a:solidFill>
                            <a:schemeClr val="tx1"/>
                          </a:solidFill>
                        </a:rPr>
                        <a:t>endemic areas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IGRA unreliable;</a:t>
                      </a:r>
                      <a:endParaRPr lang="en-US" sz="1500" dirty="0"/>
                    </a:p>
                    <a:p>
                      <a:pPr indent="0" marL="0">
                        <a:buNone/>
                      </a:pPr>
                      <a:r>
                        <a:rPr lang="en-US" sz="1500" dirty="0">
                          <a:solidFill>
                            <a:schemeClr val="tx1"/>
                          </a:solidFill>
                        </a:rPr>
                        <a:t>PCR, then culture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Call ID; regimen by</a:t>
                      </a:r>
                      <a:endParaRPr lang="en-US" sz="1500" dirty="0"/>
                    </a:p>
                    <a:p>
                      <a:pPr indent="0" marL="0">
                        <a:buNone/>
                      </a:pPr>
                      <a:r>
                        <a:rPr lang="en-US" sz="1500" dirty="0">
                          <a:solidFill>
                            <a:schemeClr val="tx1"/>
                          </a:solidFill>
                        </a:rPr>
                        <a:t>local resistance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NTM</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CVC 40%, skin 30%, lung 20%;</a:t>
                      </a:r>
                      <a:endParaRPr lang="en-US" sz="1500" dirty="0"/>
                    </a:p>
                    <a:p>
                      <a:pPr indent="0" marL="0">
                        <a:buNone/>
                      </a:pPr>
                      <a:r>
                        <a:rPr lang="en-US" sz="1500" dirty="0">
                          <a:solidFill>
                            <a:schemeClr val="tx1"/>
                          </a:solidFill>
                        </a:rPr>
                        <a:t>MAC in severe cGVHD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Isolate from affected organ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Remove CVC;</a:t>
                      </a:r>
                      <a:endParaRPr lang="en-US" sz="1500" dirty="0"/>
                    </a:p>
                    <a:p>
                      <a:pPr indent="0" marL="0">
                        <a:buNone/>
                      </a:pPr>
                      <a:r>
                        <a:rPr lang="en-US" sz="1500" dirty="0">
                          <a:solidFill>
                            <a:schemeClr val="tx1"/>
                          </a:solidFill>
                        </a:rPr>
                        <a:t>macrolide + quinolone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Listeria</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Severe cellular IS + food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Bacteraemia;</a:t>
                      </a:r>
                      <a:endParaRPr lang="en-US" sz="1500" dirty="0"/>
                    </a:p>
                    <a:p>
                      <a:pPr indent="0" marL="0">
                        <a:buNone/>
                      </a:pPr>
                      <a:r>
                        <a:rPr lang="en-US" sz="1500" dirty="0">
                          <a:solidFill>
                            <a:schemeClr val="tx1"/>
                          </a:solidFill>
                        </a:rPr>
                        <a:t>CNS in 40–60%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Ampicillin + aminoglycoside;</a:t>
                      </a:r>
                      <a:endParaRPr lang="en-US" sz="1500" dirty="0"/>
                    </a:p>
                    <a:p>
                      <a:pPr indent="0" marL="0">
                        <a:buNone/>
                      </a:pPr>
                      <a:r>
                        <a:rPr lang="en-US" sz="1500" dirty="0">
                          <a:solidFill>
                            <a:schemeClr val="tx1"/>
                          </a:solidFill>
                        </a:rPr>
                        <a:t>3 wk (CNS 6 wk)</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Nocardia</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Late; steroid-dependent cGVHD</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Cavitating nodules 90%;</a:t>
                      </a:r>
                      <a:endParaRPr lang="en-US" sz="1500" dirty="0"/>
                    </a:p>
                    <a:p>
                      <a:pPr indent="0" marL="0">
                        <a:buNone/>
                      </a:pPr>
                      <a:r>
                        <a:rPr lang="en-US" sz="1500" dirty="0">
                          <a:solidFill>
                            <a:schemeClr val="tx1"/>
                          </a:solidFill>
                        </a:rPr>
                        <a:t>CNS in ~1/3</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High-dose TMP/SMX</a:t>
                      </a:r>
                      <a:endParaRPr lang="en-US" sz="1500" dirty="0"/>
                    </a:p>
                    <a:p>
                      <a:pPr indent="0" marL="0">
                        <a:buNone/>
                      </a:pPr>
                      <a:r>
                        <a:rPr lang="en-US" sz="1500" dirty="0">
                          <a:solidFill>
                            <a:schemeClr val="tx1"/>
                          </a:solidFill>
                        </a:rPr>
                        <a:t>≥ 6 months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CMV DNAemia after letermovir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sp>
        <p:nvSpPr>
          <p:cNvPr id="6" name="Text 64"/>
          <p:cNvSpPr txBox="1"/>
          <p:nvPr/>
        </p:nvSpPr>
        <p:spPr>
          <a:xfrm>
            <a:off x="685800" y="17373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48-year-old CMV-seropositive woman had a matched unrelated donor allo-HCT for AML and took letermovir until day 100. On day 128, weekly plasma CMV qPCR has risen on two consecutive samples. She is asymptomatic, with normal counts and renal function and no GVHD. What is the most appropriate next step?</a:t>
            </a:r>
            <a:endParaRPr lang="en-US" sz="1900" dirty="0"/>
          </a:p>
        </p:txBody>
      </p:sp>
      <p:sp>
        <p:nvSpPr>
          <p:cNvPr id="7" name="Text 65"/>
          <p:cNvSpPr txBox="1"/>
          <p:nvPr/>
        </p:nvSpPr>
        <p:spPr>
          <a:xfrm>
            <a:off x="960120" y="3465576"/>
            <a:ext cx="10543032" cy="24323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Stop CMV monitoring, since prophylaxis has been completed</a:t>
            </a:r>
            <a:endParaRPr lang="en-US" sz="1800" dirty="0"/>
          </a:p>
          <a:p>
            <a:pPr indent="0" marL="0">
              <a:spcAft>
                <a:spcPts val="800"/>
              </a:spcAft>
              <a:buNone/>
            </a:pPr>
            <a:r>
              <a:rPr lang="en-US" sz="1800" dirty="0">
                <a:solidFill>
                  <a:schemeClr val="tx1"/>
                </a:solidFill>
              </a:rPr>
              <a:t>B.  Preemptive valganciclovir, ganciclovir or foscarnet for ≥ 2 weeks</a:t>
            </a:r>
            <a:endParaRPr lang="en-US" sz="1800" dirty="0"/>
          </a:p>
          <a:p>
            <a:pPr indent="0" marL="0">
              <a:spcAft>
                <a:spcPts val="800"/>
              </a:spcAft>
              <a:buNone/>
            </a:pPr>
            <a:r>
              <a:rPr lang="en-US" sz="1800" dirty="0">
                <a:solidFill>
                  <a:schemeClr val="tx1"/>
                </a:solidFill>
              </a:rPr>
              <a:t>C.  Maribavir as first-line preemptive therapy</a:t>
            </a:r>
            <a:endParaRPr lang="en-US" sz="1800" dirty="0"/>
          </a:p>
          <a:p>
            <a:pPr indent="0" marL="0">
              <a:spcAft>
                <a:spcPts val="800"/>
              </a:spcAft>
              <a:buNone/>
            </a:pPr>
            <a:r>
              <a:rPr lang="en-US" sz="1800" dirty="0">
                <a:solidFill>
                  <a:schemeClr val="tx1"/>
                </a:solidFill>
              </a:rPr>
              <a:t>D.  High-dose immunoglobulin alone</a:t>
            </a:r>
            <a:endParaRPr lang="en-US" sz="1800" dirty="0"/>
          </a:p>
          <a:p>
            <a:pPr indent="0" marL="0">
              <a:spcAft>
                <a:spcPts val="800"/>
              </a:spcAft>
              <a:buNone/>
            </a:pPr>
            <a:r>
              <a:rPr lang="en-US" sz="1800" dirty="0">
                <a:solidFill>
                  <a:schemeClr val="tx1"/>
                </a:solidFill>
              </a:rPr>
              <a:t>E.  Withhold treatment until a biopsy proves CMV disease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start preemptive therapy now</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sp>
        <p:nvSpPr>
          <p:cNvPr id="6" name="Box 66"/>
          <p:cNvSpPr txBox="1"/>
          <p:nvPr/>
        </p:nvSpPr>
        <p:spPr>
          <a:xfrm>
            <a:off x="685800" y="17830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Preemptive valganciclovir, ganciclovir or foscarnet for ≥ 2 weeks</a:t>
            </a:r>
            <a:endParaRPr lang="en-US" sz="2000" dirty="0"/>
          </a:p>
        </p:txBody>
      </p:sp>
      <p:sp>
        <p:nvSpPr>
          <p:cNvPr id="7" name="Text 67"/>
          <p:cNvSpPr txBox="1"/>
          <p:nvPr/>
        </p:nvSpPr>
        <p:spPr>
          <a:xfrm>
            <a:off x="685800" y="2788920"/>
            <a:ext cx="10817352" cy="3108960"/>
          </a:xfrm>
          <a:prstGeom prst="rect">
            <a:avLst/>
          </a:prstGeom>
          <a:noFill/>
          <a:ln/>
        </p:spPr>
        <p:txBody>
          <a:bodyPr wrap="square" lIns="0" tIns="0" rIns="0" bIns="0" rtlCol="0" anchor="t"/>
          <a:lstStyle/>
          <a:p>
            <a:pPr indent="0" marL="0">
              <a:buNone/>
            </a:pPr>
            <a:r>
              <a:rPr lang="en-US" sz="1800" dirty="0">
                <a:solidFill>
                  <a:schemeClr val="tx1"/>
                </a:solidFill>
              </a:rPr>
              <a:t>Reactivation is common after letermovir stops, so monitoring must continue. Ganciclovir, valganciclovir and foscarnet are similarly effective as preemptive therapy; choose by side effects and practicality, usually for ≥ 2 weeks. Maribavir is for resistant or refractory infection. Ig is not supported; preemptive therapy is given before disease.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first-line therapy for EBV-PTLD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Styczynski J, Giebel S. EBMT Handbook 8th ed. 2024; Ch. 45</a:t>
            </a:r>
            <a:endParaRPr lang="en-US" sz="1000" dirty="0"/>
          </a:p>
        </p:txBody>
      </p:sp>
      <p:sp>
        <p:nvSpPr>
          <p:cNvPr id="6" name="Text 68"/>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34-year-old man is 75 days after a 9/10 HLA-mismatched unrelated donor allo-HCT with ATG. He has fever and cervical lymphadenopathy; blood EBV DNA has risen sharply over 2 weeks. A node biopsy shows a monomorphic B-cell lesion positive for EBER-ISH. He has stage 1 skin GVHD on tacrolimus. Best first-line therapy?</a:t>
            </a:r>
            <a:endParaRPr lang="en-US" sz="1900" dirty="0"/>
          </a:p>
        </p:txBody>
      </p:sp>
      <p:sp>
        <p:nvSpPr>
          <p:cNvPr id="7" name="Text 69"/>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IV ganciclovir until EBV DNA is negative</a:t>
            </a:r>
            <a:endParaRPr lang="en-US" sz="1800" dirty="0"/>
          </a:p>
          <a:p>
            <a:pPr indent="0" marL="0">
              <a:spcAft>
                <a:spcPts val="800"/>
              </a:spcAft>
              <a:buNone/>
            </a:pPr>
            <a:r>
              <a:rPr lang="en-US" sz="1800" dirty="0">
                <a:solidFill>
                  <a:schemeClr val="tx1"/>
                </a:solidFill>
              </a:rPr>
              <a:t>B.  Rituximab 375 mg/m² weekly with reduction of immunosuppression</a:t>
            </a:r>
            <a:endParaRPr lang="en-US" sz="1800" dirty="0"/>
          </a:p>
          <a:p>
            <a:pPr indent="0" marL="0">
              <a:spcAft>
                <a:spcPts val="800"/>
              </a:spcAft>
              <a:buNone/>
            </a:pPr>
            <a:r>
              <a:rPr lang="en-US" sz="1800" dirty="0">
                <a:solidFill>
                  <a:schemeClr val="tx1"/>
                </a:solidFill>
              </a:rPr>
              <a:t>C.  IVIG plus interferon-α</a:t>
            </a:r>
            <a:endParaRPr lang="en-US" sz="1800" dirty="0"/>
          </a:p>
          <a:p>
            <a:pPr indent="0" marL="0">
              <a:spcAft>
                <a:spcPts val="800"/>
              </a:spcAft>
              <a:buNone/>
            </a:pPr>
            <a:r>
              <a:rPr lang="en-US" sz="1800" dirty="0">
                <a:solidFill>
                  <a:schemeClr val="tx1"/>
                </a:solidFill>
              </a:rPr>
              <a:t>D.  Immediate R-CHOP chemotherapy</a:t>
            </a:r>
            <a:endParaRPr lang="en-US" sz="1800" dirty="0"/>
          </a:p>
          <a:p>
            <a:pPr indent="0" marL="0">
              <a:spcAft>
                <a:spcPts val="800"/>
              </a:spcAft>
              <a:buNone/>
            </a:pPr>
            <a:r>
              <a:rPr lang="en-US" sz="1800" dirty="0">
                <a:solidFill>
                  <a:schemeClr val="tx1"/>
                </a:solidFill>
              </a:rPr>
              <a:t>E.  Observation with repeat EBV PCR in one week</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rituximab plus RIS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Styczynski J, Giebel S. EBMT Handbook 8th ed. 2024; Ch. 45</a:t>
            </a:r>
            <a:endParaRPr lang="en-US" sz="1000" dirty="0"/>
          </a:p>
        </p:txBody>
      </p:sp>
      <p:sp>
        <p:nvSpPr>
          <p:cNvPr id="6" name="Box 70"/>
          <p:cNvSpPr txBox="1"/>
          <p:nvPr/>
        </p:nvSpPr>
        <p:spPr>
          <a:xfrm>
            <a:off x="685800" y="17830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Rituximab 375 mg/m² weekly with reduction of immunosuppression</a:t>
            </a:r>
            <a:endParaRPr lang="en-US" sz="2000" dirty="0"/>
          </a:p>
        </p:txBody>
      </p:sp>
      <p:sp>
        <p:nvSpPr>
          <p:cNvPr id="7" name="Text 71"/>
          <p:cNvSpPr txBox="1"/>
          <p:nvPr/>
        </p:nvSpPr>
        <p:spPr>
          <a:xfrm>
            <a:off x="685800" y="2788920"/>
            <a:ext cx="10817352" cy="3108960"/>
          </a:xfrm>
          <a:prstGeom prst="rect">
            <a:avLst/>
          </a:prstGeom>
          <a:noFill/>
          <a:ln/>
        </p:spPr>
        <p:txBody>
          <a:bodyPr wrap="square" lIns="0" tIns="0" rIns="0" bIns="0" rtlCol="0" anchor="t"/>
          <a:lstStyle/>
          <a:p>
            <a:pPr indent="0" marL="0">
              <a:buNone/>
            </a:pPr>
            <a:r>
              <a:rPr lang="en-US" sz="1800" dirty="0">
                <a:solidFill>
                  <a:schemeClr val="tx1"/>
                </a:solidFill>
              </a:rPr>
              <a:t>Symptoms plus EBER-ISH in tissue = proven EBV-PTLD; treat at once. First line: rituximab 375 mg/m² weekly, with RIS unless GVHD is severe and uncontrolled, or EBV-CTL if available. Response: rituximab 65%, with RIS 78%. Chemotherapy ± rituximab is second line; antivirals, IVIG and interferon should not be used.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cavitating nodules in chronic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Martino R. EBMT Handbook 8th ed. 2024; Ch. 39</a:t>
            </a:r>
            <a:endParaRPr lang="en-US" sz="1000" dirty="0"/>
          </a:p>
        </p:txBody>
      </p:sp>
      <p:sp>
        <p:nvSpPr>
          <p:cNvPr id="6" name="Text 72"/>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57-year-old man is 14 months after allo-HCT and takes prednisolone for steroid-dependent chronic GVHD, with TMP/SMX twice weekly. He has fever and cough; CT shows two cavitating lung nodules. BAL shows branching, acid-fast, gram-positive rods. He is neurologically normal. Besides high-dose TMP/SMX, what is mandatory?</a:t>
            </a:r>
            <a:endParaRPr lang="en-US" sz="1900" dirty="0"/>
          </a:p>
        </p:txBody>
      </p:sp>
      <p:sp>
        <p:nvSpPr>
          <p:cNvPr id="7" name="Text 73"/>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Brain CT or MRI, even without neurological symptoms</a:t>
            </a:r>
            <a:endParaRPr lang="en-US" sz="1800" dirty="0"/>
          </a:p>
          <a:p>
            <a:pPr indent="0" marL="0">
              <a:spcAft>
                <a:spcPts val="800"/>
              </a:spcAft>
              <a:buNone/>
            </a:pPr>
            <a:r>
              <a:rPr lang="en-US" sz="1800" dirty="0">
                <a:solidFill>
                  <a:schemeClr val="tx1"/>
                </a:solidFill>
              </a:rPr>
              <a:t>B.  Repeat BAL in 2 weeks, as airway colonization is likely</a:t>
            </a:r>
            <a:endParaRPr lang="en-US" sz="1800" dirty="0"/>
          </a:p>
          <a:p>
            <a:pPr indent="0" marL="0">
              <a:spcAft>
                <a:spcPts val="800"/>
              </a:spcAft>
              <a:buNone/>
            </a:pPr>
            <a:r>
              <a:rPr lang="en-US" sz="1800" dirty="0">
                <a:solidFill>
                  <a:schemeClr val="tx1"/>
                </a:solidFill>
              </a:rPr>
              <a:t>C.  Add voriconazole for presumed mould infection</a:t>
            </a:r>
            <a:endParaRPr lang="en-US" sz="1800" dirty="0"/>
          </a:p>
          <a:p>
            <a:pPr indent="0" marL="0">
              <a:spcAft>
                <a:spcPts val="800"/>
              </a:spcAft>
              <a:buNone/>
            </a:pPr>
            <a:r>
              <a:rPr lang="en-US" sz="1800" dirty="0">
                <a:solidFill>
                  <a:schemeClr val="tx1"/>
                </a:solidFill>
              </a:rPr>
              <a:t>D.  Start isoniazid, rifampicin, pyrazinamide and ethambutol</a:t>
            </a:r>
            <a:endParaRPr lang="en-US" sz="1800" dirty="0"/>
          </a:p>
          <a:p>
            <a:pPr indent="0" marL="0">
              <a:spcAft>
                <a:spcPts val="800"/>
              </a:spcAft>
              <a:buNone/>
            </a:pPr>
            <a:r>
              <a:rPr lang="en-US" sz="1800" dirty="0">
                <a:solidFill>
                  <a:schemeClr val="tx1"/>
                </a:solidFill>
              </a:rPr>
              <a:t>E.  Plan a total of 3 weeks of antibiotics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A: always image the brain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Martino R. EBMT Handbook 8th ed. 2024; Ch. 39</a:t>
            </a:r>
            <a:endParaRPr lang="en-US" sz="1000" dirty="0"/>
          </a:p>
        </p:txBody>
      </p:sp>
      <p:sp>
        <p:nvSpPr>
          <p:cNvPr id="6" name="Box 74"/>
          <p:cNvSpPr txBox="1"/>
          <p:nvPr/>
        </p:nvSpPr>
        <p:spPr>
          <a:xfrm>
            <a:off x="685800" y="17830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A.  Brain CT or MRI, even without neurological symptoms</a:t>
            </a:r>
            <a:endParaRPr lang="en-US" sz="2000" dirty="0"/>
          </a:p>
        </p:txBody>
      </p:sp>
      <p:sp>
        <p:nvSpPr>
          <p:cNvPr id="7" name="Text 75"/>
          <p:cNvSpPr txBox="1"/>
          <p:nvPr/>
        </p:nvSpPr>
        <p:spPr>
          <a:xfrm>
            <a:off x="685800" y="2788920"/>
            <a:ext cx="10817352" cy="3108960"/>
          </a:xfrm>
          <a:prstGeom prst="rect">
            <a:avLst/>
          </a:prstGeom>
          <a:noFill/>
          <a:ln/>
        </p:spPr>
        <p:txBody>
          <a:bodyPr wrap="square" lIns="0" tIns="0" rIns="0" bIns="0" rtlCol="0" anchor="t"/>
          <a:lstStyle/>
          <a:p>
            <a:pPr indent="0" marL="0">
              <a:buNone/>
            </a:pPr>
            <a:r>
              <a:rPr lang="en-US" sz="1800" dirty="0">
                <a:solidFill>
                  <a:schemeClr val="tx1"/>
                </a:solidFill>
              </a:rPr>
              <a:t>Branching acid-fast rods in a late cGVHD patient mean Nocardia, which does not colonize airways. About 1/3 have CNS involvement at presentation, often silent, so brain CT or MRI is mandatory. Treat with high-dose TMP/SMX for at least 6 months; 2–3-day-per-week prophylaxis does not prevent nocardiosis.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a:t>
            </a:r>
            <a:endParaRPr lang="en-US" sz="3600" dirty="0"/>
          </a:p>
        </p:txBody>
      </p:sp>
      <p:sp>
        <p:nvSpPr>
          <p:cNvPr id="5" name="Text 76"/>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Ljungman P, Piñana JL, Cesaro S, de la Cámara R. Viral infections. In: The EBMT Handbook, 8th ed. Springer; 2024. pp. 331–343. doi:10.1007/978-3-031-44080-9_38</a:t>
            </a:r>
            <a:endParaRPr lang="en-US" sz="1100" dirty="0"/>
          </a:p>
          <a:p>
            <a:pPr indent="0" marL="0">
              <a:spcAft>
                <a:spcPts val="700"/>
              </a:spcAft>
              <a:buNone/>
            </a:pPr>
            <a:r>
              <a:rPr lang="en-US" sz="1100" dirty="0">
                <a:solidFill>
                  <a:schemeClr val="tx1"/>
                </a:solidFill>
              </a:rPr>
              <a:t>2. Styczynski J, Giebel S. Posttransplant lymphoproliferative syndromes. In: The EBMT Handbook, 8th ed. Springer; 2024. pp. 411–417. doi:10.1007/978-3-031-44080-9_45</a:t>
            </a:r>
            <a:endParaRPr lang="en-US" sz="1100" dirty="0"/>
          </a:p>
          <a:p>
            <a:pPr indent="0" marL="0">
              <a:spcAft>
                <a:spcPts val="700"/>
              </a:spcAft>
              <a:buNone/>
            </a:pPr>
            <a:r>
              <a:rPr lang="en-US" sz="1100" dirty="0">
                <a:solidFill>
                  <a:schemeClr val="tx1"/>
                </a:solidFill>
              </a:rPr>
              <a:t>3. Martino R. Other life-threatening infections. In: The EBMT Handbook, 8th ed. Springer; 2024. pp. 345–354. doi:10.1007/978-3-031-44080-9_39</a:t>
            </a:r>
            <a:endParaRPr lang="en-US" sz="1100" dirty="0"/>
          </a:p>
          <a:p>
            <a:pPr indent="0" marL="0">
              <a:spcAft>
                <a:spcPts val="700"/>
              </a:spcAft>
              <a:buNone/>
            </a:pPr>
            <a:r>
              <a:rPr lang="en-US" sz="1100" dirty="0">
                <a:solidFill>
                  <a:schemeClr val="tx1"/>
                </a:solidFill>
              </a:rPr>
              <a:t>4. Marty FM, Ljungman P, Chemaly RF, et al. Letermovir prophylaxis for cytomegalovirus in hematopoietic-cell transplantation. N Engl J Med. 2017;377(25):2433–44.</a:t>
            </a:r>
            <a:endParaRPr lang="en-US" sz="1100" dirty="0"/>
          </a:p>
        </p:txBody>
      </p:sp>
      <p:sp>
        <p:nvSpPr>
          <p:cNvPr id="6" name="Text 77"/>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5. Avery RK, Alain S, Alexander BD, et al. Maribavir for refractory cytomegalovirus infections with or without resistance post-transplant: results from a phase 3 randomized clinical trial. Clin Infect Dis. 2022;75(4):690–701.</a:t>
            </a:r>
            <a:endParaRPr lang="en-US" sz="1100" dirty="0"/>
          </a:p>
          <a:p>
            <a:pPr indent="0" marL="0">
              <a:spcAft>
                <a:spcPts val="700"/>
              </a:spcAft>
              <a:buNone/>
            </a:pPr>
            <a:r>
              <a:rPr lang="en-US" sz="1100" dirty="0">
                <a:solidFill>
                  <a:schemeClr val="tx1"/>
                </a:solidFill>
              </a:rPr>
              <a:t>6. Cesaro S, Ljungman P, Mikulska M, et al. Recommendations for the management of COVID-19 in patients with haematological malignancies or haematopoietic cell transplantation, from the 2021 European conference on infections in Leukaemia (ECIL 9). Leukemia. 2022;36:1467–80.</a:t>
            </a:r>
            <a:endParaRPr lang="en-US" sz="1100" dirty="0"/>
          </a:p>
          <a:p>
            <a:pPr indent="0" marL="0">
              <a:spcAft>
                <a:spcPts val="700"/>
              </a:spcAft>
              <a:buNone/>
            </a:pPr>
            <a:r>
              <a:rPr lang="en-US" sz="1100" dirty="0">
                <a:solidFill>
                  <a:schemeClr val="tx1"/>
                </a:solidFill>
              </a:rPr>
              <a:t>7. Styczynski J, van der Velden W, Fox CP, et al. Management of Epstein-Barr virus infections and post-transplant lymphoproliferative disorders in patients after allogeneic hematopoietic stem cell transplantation: sixth European conference on infections in leukemia (ECIL-6) guidelines. Haematologica. 2016b;101:803–11.</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RARE VIRUSES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PML, norovirus and donor-borne viruses need specific checks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graphicFrame>
        <p:nvGraphicFramePr>
          <p:cNvPr id="25" name="Table 7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203704"/>
                <a:gridCol w="5312664"/>
                <a:gridCol w="3300984"/>
              </a:tblGrid>
              <a:tr h="0">
                <a:tc>
                  <a:txBody>
                    <a:bodyPr/>
                    <a:lstStyle/>
                    <a:p>
                      <a:pPr indent="0" marL="0">
                        <a:buNone/>
                      </a:pPr>
                      <a:r>
                        <a:rPr lang="en-US" sz="1700" b="1" dirty="0">
                          <a:solidFill>
                            <a:schemeClr val="tx1"/>
                          </a:solidFill>
                        </a:rPr>
                        <a:t>Virus</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Key point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Action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JCV (PML)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Definite: clinical + imaging + CSF JCV PCR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specific therapy;</a:t>
                      </a:r>
                      <a:endParaRPr lang="en-US" sz="1700" dirty="0"/>
                    </a:p>
                    <a:p>
                      <a:pPr indent="0" marL="0">
                        <a:buNone/>
                      </a:pPr>
                      <a:r>
                        <a:rPr lang="en-US" sz="1700" dirty="0">
                          <a:solidFill>
                            <a:schemeClr val="tx1"/>
                          </a:solidFill>
                        </a:rPr>
                        <a:t>restore immunity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Norovirus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Mimics gut GVHD; crypt apoptosis,</a:t>
                      </a:r>
                      <a:endParaRPr lang="en-US" sz="1700" dirty="0"/>
                    </a:p>
                    <a:p>
                      <a:pPr indent="0" marL="0">
                        <a:buNone/>
                      </a:pPr>
                      <a:r>
                        <a:rPr lang="en-US" sz="1700" dirty="0">
                          <a:solidFill>
                            <a:schemeClr val="tx1"/>
                          </a:solidFill>
                        </a:rPr>
                        <a:t>but small bowel only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Stool RT-PCR before</a:t>
                      </a:r>
                      <a:endParaRPr lang="en-US" sz="1700" dirty="0"/>
                    </a:p>
                    <a:p>
                      <a:pPr indent="0" marL="0">
                        <a:buNone/>
                      </a:pPr>
                      <a:r>
                        <a:rPr lang="en-US" sz="1700" dirty="0">
                          <a:solidFill>
                            <a:schemeClr val="tx1"/>
                          </a:solidFill>
                        </a:rPr>
                        <a:t>escalating 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Zika, West Nile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Transmissible by blood and progenitor cells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Defer donor ≥ 28 days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HTLV-1</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ATLL; spread by blood and progenitors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Screen donors from</a:t>
                      </a:r>
                      <a:endParaRPr lang="en-US" sz="1700" dirty="0"/>
                    </a:p>
                    <a:p>
                      <a:pPr indent="0" marL="0">
                        <a:buNone/>
                      </a:pPr>
                      <a:r>
                        <a:rPr lang="en-US" sz="1700" dirty="0">
                          <a:solidFill>
                            <a:schemeClr val="tx1"/>
                          </a:solidFill>
                        </a:rPr>
                        <a:t>endemic regions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PTLD · CNS AND RESPONSE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CNS PTLD lacks a standard; response is judged by EBV DNA and imaging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Styczynski J, Giebel S. EBMT Handbook 8th ed. 2024; Ch. 45</a:t>
            </a:r>
            <a:endParaRPr lang="en-US" sz="1000" dirty="0"/>
          </a:p>
        </p:txBody>
      </p:sp>
      <p:graphicFrame>
        <p:nvGraphicFramePr>
          <p:cNvPr id="26" name="Table 7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483864"/>
                <a:gridCol w="7333488"/>
              </a:tblGrid>
              <a:tr h="0">
                <a:tc>
                  <a:txBody>
                    <a:bodyPr/>
                    <a:lstStyle/>
                    <a:p>
                      <a:pPr indent="0" marL="0">
                        <a:buNone/>
                      </a:pPr>
                      <a:r>
                        <a:rPr lang="en-US" sz="1700" b="1" dirty="0">
                          <a:solidFill>
                            <a:schemeClr val="tx1"/>
                          </a:solidFill>
                        </a:rPr>
                        <a:t>Topic</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Ch. 45</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CNS PTLD options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Rituximab IV or intrathecal (10–30 mg weekly); EBV-CTL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CNS PTLD, other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Radiotherapy; HD-MTX ± cytarabine ± rituximab</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Early response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 1 log fall in EBV DNA in the first week of rituximab</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Complete remission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All PTLD symptoms resolved and EBV-DNA-emia cleared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Partial response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 50% decrease of initial changes, including EBV DNA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Good prognosis with rituximab</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Age &lt; 30, nonmalignant disease, no aGVHD ≥ II, RIS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TOXOPLASMOSIS · DRUGS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TMP/SMX below 3 days a week lets toxoplasmosis break through</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Martino R. EBMT Handbook 8th ed. 2024; Ch. 39</a:t>
            </a:r>
            <a:endParaRPr lang="en-US" sz="1000" dirty="0"/>
          </a:p>
        </p:txBody>
      </p:sp>
      <p:graphicFrame>
        <p:nvGraphicFramePr>
          <p:cNvPr id="27" name="Table 8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483864"/>
                <a:gridCol w="7333488"/>
              </a:tblGrid>
              <a:tr h="0">
                <a:tc>
                  <a:txBody>
                    <a:bodyPr/>
                    <a:lstStyle/>
                    <a:p>
                      <a:pPr indent="0" marL="0">
                        <a:buNone/>
                      </a:pPr>
                      <a:r>
                        <a:rPr lang="en-US" sz="1700" b="1" dirty="0">
                          <a:solidFill>
                            <a:schemeClr val="tx1"/>
                          </a:solidFill>
                        </a:rPr>
                        <a:t>Use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Regimen (Table 39.2)</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Treatment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Pyrimethamine 200 mg load, then 50–75 mg/day + folinic acid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  plus one of</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Sulfadiazine 1–1.5 g q6–8h, or clindamycin 600 mg q6h</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Prophylaxis: TMP/SMX</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1 SS tablet daily, or 1 DS tablet 4 days/week</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Breakthrough risk</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TMP/SMX taken &lt; 3 days/week</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Alternatives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Dapsone 100 mg/day, atovaquone 1500 mg/day, fansidar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Monitoring</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Weekly blood qPCR in sero+ patients not on TMP/SMX</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8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Certainty: histology = definite, PCR = probable, CNS imaging = possible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Viral and other life-threatening infections, PTLD</dc:title>
  <dc:subject>PptxGenJS Presentation</dc:subject>
  <dc:creator>Hsieh-Ting Lin, MD</dc:creator>
  <cp:lastModifiedBy>Hsieh-Ting Lin, MD</cp:lastModifiedBy>
  <cp:revision>1</cp:revision>
  <dcterms:created xsi:type="dcterms:W3CDTF">2026-10-07T15:16:13Z</dcterms:created>
  <dcterms:modified xsi:type="dcterms:W3CDTF">2026-10-07T15:16:13Z</dcterms:modified>
</cp:coreProperties>
</file>