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2d444bd0-4648-2c92-c0de-4f948d477209}">
          <p14:sldIdLst>
            <p14:sldId id="256"/>
            <p14:sldId id="257"/>
          </p14:sldIdLst>
        </p14:section>
        <p14:section name="Epidemiology and risk" id="{33b21737-09e1-95b4-c53d-2cac9652c240}">
          <p14:sldIdLst>
            <p14:sldId id="258"/>
            <p14:sldId id="259"/>
          </p14:sldIdLst>
        </p14:section>
        <p14:section name="Diagnosis" id="{d5d3c9d9-df2e-c201-aea1-6281989c2fca}">
          <p14:sldIdLst>
            <p14:sldId id="260"/>
            <p14:sldId id="261"/>
            <p14:sldId id="262"/>
            <p14:sldId id="263"/>
          </p14:sldIdLst>
        </p14:section>
        <p14:section name="Prophylaxis" id="{615f8597-5db9-9b16-4b7d-f24b39376dd9}">
          <p14:sldIdLst>
            <p14:sldId id="264"/>
            <p14:sldId id="265"/>
          </p14:sldIdLst>
        </p14:section>
        <p14:section name="Treatment" id="{914d6914-9b8d-4b44-f568-c437b15d60dc}">
          <p14:sldIdLst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Board questions" id="{279fc595-8f16-d30f-692a-cd6bbc5b9883}">
          <p14:sldIdLst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References" id="{fea145ac-ada4-71ff-d8b9-cfd83afac3a8}">
          <p14:sldIdLst>
            <p14:sldId id="278"/>
            <p14:sldId id="279"/>
          </p14:sldIdLst>
        </p14:section>
        <p14:section name="Backup" id="{48e92cd0-2ec7-3d61-58cd-6d9c14584f5c}">
          <p14:sldIdLst>
            <p14:sldId id="280"/>
            <p14:sldId id="281"/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[0:30 本頁 · 0:00 至 0:30]</a:t>
            </a:r>
          </a:p>
          <a:p>
            <a:pPr>
              <a:spcAft>
                <a:spcPts val="600"/>
              </a:spcAft>
            </a:pPr>
            <a:r>
              <a:rPr lang="en-US" dirty="0"/>
              <a:t>各位早安，今天是第 11 堂，主題是 invasive fungal diseases，對應 EBMT Handbook 第 37 章。這次單獨一堂，會把 biomarker、分時期的預防和各菌種的首選藥講細一點；發燒的初步處置請參考第 10 堂。最後一樣有三題考題。</a:t>
            </a:r>
          </a:p>
          <a:p>
            <a:pPr>
              <a:spcAft>
                <a:spcPts val="600"/>
              </a:spcAft>
            </a:pPr>
            <a:r>
              <a:rPr lang="en-US" dirty="0"/>
              <a:t>第 10 堂講過的 Gram-negative 菌血症，和今天的 mould infection，是移植早期感染死亡的兩大來源。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[1:00 本頁 · 0:30 至 1:30]</a:t>
            </a:r>
          </a:p>
          <a:p>
            <a:pPr>
              <a:spcAft>
                <a:spcPts val="600"/>
              </a:spcAft>
            </a:pPr>
            <a:r>
              <a:rPr lang="en-US" dirty="0"/>
              <a:t>今天分成四段。第一段是流行病學，看哪一種移植的 IFD 風險最高，以及移植後三個風險時期，順帶提 CAR-T 病人。</a:t>
            </a:r>
          </a:p>
          <a:p>
            <a:pPr>
              <a:spcAft>
                <a:spcPts val="600"/>
              </a:spcAft>
            </a:pPr>
            <a:r>
              <a:rPr lang="en-US" dirty="0"/>
              <a:t>第二段是診斷，份量最重。Galactomannan 的 cutoff、GM 和 β-D-glucan 的偽陽性與偽陰性、PCR、Candida 和 PJP 的檢驗，以及 CT 上的徵象，都是常考題。</a:t>
            </a:r>
          </a:p>
          <a:p>
            <a:pPr>
              <a:spcAft>
                <a:spcPts val="600"/>
              </a:spcAft>
            </a:pPr>
            <a:r>
              <a:rPr lang="en-US" dirty="0"/>
              <a:t>第三段是預防。ECIL 的建議是分時期的，pre-engraftment 和有 GVHD 的時期用藥不同，再加上 PJP 預防。</a:t>
            </a:r>
          </a:p>
          <a:p>
            <a:pPr>
              <a:spcAft>
                <a:spcPts val="600"/>
              </a:spcAft>
            </a:pPr>
            <a:r>
              <a:rPr lang="en-US" dirty="0"/>
              <a:t>最後一段是治療，包括 empirical、pre-emptive 和 directed 三種策略，各菌種的首選藥，以及 azole 的 TDM 目標，再用三題考題收尾。</a:t>
            </a:r>
          </a:p>
          <a:p>
            <a:pPr>
              <a:spcAft>
                <a:spcPts val="600"/>
              </a:spcAft>
            </a:pPr>
            <a:r>
              <a:rPr lang="en-US" dirty="0"/>
              <a:t>每一段的最後，我會指出這一部分最常出題的地方。</a:t>
            </a:r>
          </a:p>
          <a:p>
            <a:pPr>
              <a:spcAft>
                <a:spcPts val="600"/>
              </a:spcAft>
            </a:pPr>
            <a:r>
              <a:rPr lang="en-US" dirty="0"/>
              <a:t>Haplo 和 cord blood 病人越來越多，這一堂的內容在病房天天用得到。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[1:30 本頁 · 1:30 至 3:00]</a:t>
            </a:r>
          </a:p>
          <a:p>
            <a:pPr>
              <a:spcAft>
                <a:spcPts val="600"/>
              </a:spcAft>
            </a:pPr>
            <a:r>
              <a:rPr lang="en-US" dirty="0"/>
              <a:t>先看發生率。12 個月的累積發生率，unrelated 或 mismatched 的 allo-HCT 大約 8 到 10%，matched related 約 6%，autologous 不到 2%。Haploidentical 和 cord blood 的報告最高可以到 17%。</a:t>
            </a:r>
          </a:p>
          <a:p>
            <a:pPr>
              <a:spcAft>
                <a:spcPts val="600"/>
              </a:spcAft>
            </a:pPr>
            <a:r>
              <a:rPr lang="en-US" dirty="0"/>
              <a:t>Candida 的部分，在還沒有預防的年代，18 到 20% 的移植病人會發生 Candida 感染。Fluconazole 預防普及之後大幅下降，EBMT 的研究顯示 day 100 前 candidemia 只剩 1.2%，但它仍然是 NRM 和 OS 的獨立危險因子。</a:t>
            </a:r>
          </a:p>
          <a:p>
            <a:pPr>
              <a:spcAft>
                <a:spcPts val="600"/>
              </a:spcAft>
            </a:pPr>
            <a:r>
              <a:rPr lang="en-US" dirty="0"/>
              <a:t>Mould infection 則越來越多，以 Aspergillus 為主，Mucorales 和 Fusarium 等 non-Aspergillus mould 少很多。Invasive mould disease 的 crude mortality 可以高到 60%。</a:t>
            </a:r>
          </a:p>
          <a:p>
            <a:pPr>
              <a:spcAft>
                <a:spcPts val="600"/>
              </a:spcAft>
            </a:pPr>
            <a:r>
              <a:rPr lang="en-US" dirty="0"/>
              <a:t>Proven 或 probable IFD 是 allo-HCT 後一年死亡的獨立預測因子。Aspergillus、Candida 和 Pneumocystis 加起來，佔移植後 IFD 將近 90%。</a:t>
            </a:r>
          </a:p>
          <a:p>
            <a:pPr>
              <a:spcAft>
                <a:spcPts val="600"/>
              </a:spcAft>
            </a:pPr>
            <a:r>
              <a:rPr lang="en-US" dirty="0"/>
              <a:t>這張表的考點有兩個。一是 donor 類型和 IFD 風險的排序，unrelated、mismatched、haplo、cord blood 高，autologous 很低；二是 fluconazole 預防之後 candidemia 雖然變少，一旦發生仍然影響 NRM 和 OS。臨床上，做 haplo 或 cord blood 的病人，抗黴菌預防和監測都要更積極。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[1:30 本頁 · 3:00 至 4:30]</a:t>
            </a:r>
          </a:p>
          <a:p>
            <a:pPr>
              <a:spcAft>
                <a:spcPts val="600"/>
              </a:spcAft>
            </a:pPr>
            <a:r>
              <a:rPr lang="en-US" dirty="0"/>
              <a:t>IFD 的風險分成三個時期。第一個是 pre-engraftment，neutropenia 和 mucosal damage 最嚴重，酵母菌從導管或腸道 translocation 進入血流，mould 則趁 neutrophil 缺乏時入侵。</a:t>
            </a:r>
          </a:p>
          <a:p>
            <a:pPr>
              <a:spcAft>
                <a:spcPts val="600"/>
              </a:spcAft>
            </a:pPr>
            <a:r>
              <a:rPr lang="en-US" dirty="0"/>
              <a:t>第二個是 early post-engraftment，大約 day 40 到 day 100。這時 neutrophil 已經回來，但 acute GVHD 和病毒再活化最常見，T-cell immunity 有缺陷，再加上 steroid。書上的 key point 提醒，大部分 IFD 其實是在 engraftment 之後、GVHD 發作期間診斷的，所以這一格用黑底標出來。</a:t>
            </a:r>
          </a:p>
          <a:p>
            <a:pPr>
              <a:spcAft>
                <a:spcPts val="600"/>
              </a:spcAft>
            </a:pPr>
            <a:r>
              <a:rPr lang="en-US" dirty="0"/>
              <a:t>第三個是 day 100 以後，chronic GVHD、免疫重建延遲，偶爾還有 secondary neutropenia。義大利 GITMO 也整理了各時期的危險因子。</a:t>
            </a:r>
          </a:p>
          <a:p>
            <a:pPr>
              <a:spcAft>
                <a:spcPts val="600"/>
              </a:spcAft>
            </a:pPr>
            <a:r>
              <a:rPr lang="en-US" dirty="0"/>
              <a:t>CAR-T 病人另外看。輸注後 60 天內，需要機械通氣、高級別 CRS 和長時間淋巴球低下是主要危險因子。不過在 CAR-T 病人，IFD 並不是一年內死亡的危險因子，這點和 allo-HCT 不同。</a:t>
            </a:r>
          </a:p>
          <a:p>
            <a:pPr>
              <a:spcAft>
                <a:spcPts val="600"/>
              </a:spcAft>
            </a:pPr>
            <a:r>
              <a:rPr lang="en-US" dirty="0"/>
              <a:t>這張圖的用處，是讓大家看到發燒的病人時，先想他在第幾個時期，再推測最可能的菌種和該用的預防藥。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[2:00 本頁 · 4:30 至 6:30]</a:t>
            </a:r>
          </a:p>
          <a:p>
            <a:pPr>
              <a:spcAft>
                <a:spcPts val="600"/>
              </a:spcAft>
            </a:pPr>
            <a:r>
              <a:rPr lang="en-US" dirty="0"/>
              <a:t>Mould infection 的診斷靠病理、影像和微生物檢查。病理雖然是 gold standard，但病人常有凝血問題，很少做切片，所以大多數 mould disease 只能歸為 probable 或 possible。培養又慢，血液培養對 mould 幾乎都是陰性，呼吸道檢體的 sensitivity 也只有低到中等。這就是 biomarker 這麼重要的原因。</a:t>
            </a:r>
          </a:p>
          <a:p>
            <a:pPr>
              <a:spcAft>
                <a:spcPts val="600"/>
              </a:spcAft>
            </a:pPr>
            <a:r>
              <a:rPr lang="en-US" dirty="0"/>
              <a:t>Galactomannan 是黴菌細胞壁的分子，生長時會釋放出來，用 Platelia EIA 測。早期研究用 1.5 當 cutoff，ECIL 現在的定義是單次 serum 或 plasma 0.7 以上，或連續兩次 0.5 以上。Cutoff 降低之後，可以在臨床症狀和影像出現之前就抓到感染，代價是 specificity 下降。這兩個數字是考試最愛考的。</a:t>
            </a:r>
          </a:p>
          <a:p>
            <a:pPr>
              <a:spcAft>
                <a:spcPts val="600"/>
              </a:spcAft>
            </a:pPr>
            <a:r>
              <a:rPr lang="en-US" dirty="0"/>
              <a:t>GM 也可以驗 BAL，建議 cutoff 是 1.0，但作者認為實際可能需要更高。懷疑 cerebral aspergillosis 時，CSF 也有人建議用 1.0。</a:t>
            </a:r>
          </a:p>
          <a:p>
            <a:pPr>
              <a:spcAft>
                <a:spcPts val="600"/>
              </a:spcAft>
            </a:pPr>
            <a:r>
              <a:rPr lang="en-US" dirty="0"/>
              <a:t>Lateral flow assay 可以快速測單一檢體，但各家抗體和判讀標準不同，有些幾乎沒有驗證資料，實驗室要自己做 verification。</a:t>
            </a:r>
          </a:p>
          <a:p>
            <a:pPr>
              <a:spcAft>
                <a:spcPts val="600"/>
              </a:spcAft>
            </a:pPr>
            <a:r>
              <a:rPr lang="en-US" dirty="0"/>
              <a:t>GM 會和 Fusarium、Penicillium、Histoplasma 等交叉反應，但偵測不到 Mucorales。GM 陰性不能排除 mucormycosis。</a:t>
            </a:r>
          </a:p>
          <a:p>
            <a:pPr>
              <a:spcAft>
                <a:spcPts val="600"/>
              </a:spcAft>
            </a:pPr>
            <a:r>
              <a:rPr lang="en-US" dirty="0"/>
              <a:t>病房裡，GM 單次 0.6 這種數字最常讓人猶豫。依 ECIL 的定義，單次 0.6 還不算陽性，要隔一兩天再驗一次，若仍在 0.5 以上，就符合連續兩次的定義。</a:t>
            </a:r>
          </a:p>
          <a:p>
            <a:pPr>
              <a:spcAft>
                <a:spcPts val="600"/>
              </a:spcAft>
            </a:pPr>
            <a:r>
              <a:rPr lang="en-US" dirty="0"/>
              <a:t>反過來，若病人 GM 一路陰性但 CT 有典型病灶，就要想到偽陰性或 Mucorales，下一張會整理。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[1:30 本頁 · 6:30 至 8:00]</a:t>
            </a:r>
          </a:p>
          <a:p>
            <a:pPr>
              <a:spcAft>
                <a:spcPts val="600"/>
              </a:spcAft>
            </a:pPr>
            <a:r>
              <a:rPr lang="en-US" dirty="0"/>
              <a:t>這張是 Table 37.1，兩種抗原檢驗的陷阱。Semi-synthetic β-lactam 兩者都會造成偽陽性，例如 amoxicillin-clavulanate 和 piperacillin/tazobactam，不過書上說這個問題現在比以前少很多。</a:t>
            </a:r>
          </a:p>
          <a:p>
            <a:pPr>
              <a:spcAft>
                <a:spcPts val="600"/>
              </a:spcAft>
            </a:pPr>
            <a:r>
              <a:rPr lang="en-US" dirty="0"/>
              <a:t>GM 的偽陽性還包括 Fresenius Kabi 血袋收集的血品、含 gluconate 的輸液或冰品、enteral nutrition，以及病人本身的 myeloma、嚴重 mucositis、腸道 GVHD 和腸道的 Bifidobacterium。BDG 的偽陽性則來自經 cellulose 過濾的 IVIg、albumin、plasma，cellulose 透析膜、紗布，以及 Pseudomonas 這類細菌菌血症。</a:t>
            </a:r>
          </a:p>
          <a:p>
            <a:pPr>
              <a:spcAft>
                <a:spcPts val="600"/>
              </a:spcAft>
            </a:pPr>
            <a:r>
              <a:rPr lang="en-US" dirty="0"/>
              <a:t>偽陰性方面，GM 在使用 mould-active 抗黴菌藥或 mucolytic 時會偏低，BDG 則是任何抗黴菌藥都會影響。病房最常遇到的是病人正在吃 posaconazole 預防，GM 一直陰性，這時陰性結果的意義有限。</a:t>
            </a:r>
          </a:p>
          <a:p>
            <a:pPr>
              <a:spcAft>
                <a:spcPts val="600"/>
              </a:spcAft>
            </a:pPr>
            <a:r>
              <a:rPr lang="en-US" dirty="0"/>
              <a:t>兩者都測不到 Mucorales，BDG 也測不到部分 Cryptococcus。</a:t>
            </a:r>
          </a:p>
          <a:p>
            <a:pPr>
              <a:spcAft>
                <a:spcPts val="600"/>
              </a:spcAft>
            </a:pPr>
            <a:r>
              <a:rPr lang="en-US" dirty="0"/>
              <a:t>考題常把這張表倒過來問，例如某位病人 GM 陽性但 CT 正常，下列哪一項可能造成偽陽性。答案通常就在 Fresenius Kabi 血品、gluconate 或腸道 GVHD 這幾項裡面。</a:t>
            </a:r>
          </a:p>
          <a:p>
            <a:pPr>
              <a:spcAft>
                <a:spcPts val="600"/>
              </a:spcAft>
            </a:pPr>
            <a:r>
              <a:rPr lang="en-US" dirty="0"/>
              <a:t>遇到這些情況，處理方式是重驗、送 BAL，並把 CT 結果一起判讀，不要單憑一個數值就開始或停止治療。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[2:00 本頁 · 8:00 至 10:00]</a:t>
            </a:r>
          </a:p>
          <a:p>
            <a:pPr>
              <a:spcAft>
                <a:spcPts val="600"/>
              </a:spcAft>
            </a:pPr>
            <a:r>
              <a:rPr lang="en-US" dirty="0"/>
              <a:t>β-D-glucan 是很多真菌細胞壁的成分，涵蓋 Candida、Aspergillus、Fusarium 和 Pneumocystis，例外是 Mucorales 和部分 Cryptococcus。Fungitell 是 FDA 核准的版本，WAKO 則是單一檢體的平台。BDG 的 sensitivity 不錯，但 specificity 和 PPV 很差，它真正的價值是陰性，negative predictive value 大約 80 到 90%。</a:t>
            </a:r>
          </a:p>
          <a:p>
            <a:pPr>
              <a:spcAft>
                <a:spcPts val="600"/>
              </a:spcAft>
            </a:pPr>
            <a:r>
              <a:rPr lang="en-US" dirty="0"/>
              <a:t>Aspergillus PCR 過去因為缺乏標準化而推不動，現在 EAPCRI 已經把 DNA 萃取和擴增流程標準化了。</a:t>
            </a:r>
          </a:p>
          <a:p>
            <a:pPr>
              <a:spcAft>
                <a:spcPts val="600"/>
              </a:spcAft>
            </a:pPr>
            <a:r>
              <a:rPr lang="en-US" dirty="0"/>
              <a:t>Candida 的 gold standard 還是血液培養，但要 2 到 5 天，對 chronic disseminated candidiasis 的 sensitivity 尤其低。T2Candida 直接驗全血，5 小時內就能鑑定菌種，在 candidemia 盛行率 5 到 10% 的族群，NPV 幾乎 100%，缺點是只測五種 Candida。懷疑 cryptococcal meningitis 時，cryptococcal antigen 非常敏感。</a:t>
            </a:r>
          </a:p>
          <a:p>
            <a:pPr>
              <a:spcAft>
                <a:spcPts val="600"/>
              </a:spcAft>
            </a:pPr>
            <a:r>
              <a:rPr lang="en-US" dirty="0"/>
              <a:t>PJP 的部分，immunofluorescence 是最敏感的顯微鏡方法。BAL 的 real-time PCR 陰性可以排除 PJP，陽性則可能只是 colonisation，要配合臨床。Serum BDG 陽性可以輔助診斷，但也有偽陰性，而且其他黴菌也會陽性。</a:t>
            </a:r>
          </a:p>
          <a:p>
            <a:pPr>
              <a:spcAft>
                <a:spcPts val="600"/>
              </a:spcAft>
            </a:pPr>
            <a:r>
              <a:rPr lang="en-US" dirty="0"/>
              <a:t>整理起來，BDG 和 PCR 的強項是陰性時幫忙排除，陽性時要配合影像和臨床。Candida 靠培養和 T2Candida，Cryptococcus 靠抗原，PJP 則靠 BAL 的 immunofluorescence 和 PCR。考題常問的是哪一項檢查陰性可以排除 PJP，答案是 BAL 的 real-time PCR。</a:t>
            </a:r>
          </a:p>
          <a:p>
            <a:pPr>
              <a:spcAft>
                <a:spcPts val="600"/>
              </a:spcAft>
            </a:pPr>
            <a:r>
              <a:rPr lang="en-US" dirty="0"/>
              <a:t>T2Candida 的 NPV 接近 100%，前提是盛行率在 5 到 10% 之間，題目若換成盛行率很高的族群，這個數字就不能直接套用。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[1:30 本頁 · 10:00 至 11:30]</a:t>
            </a:r>
          </a:p>
          <a:p>
            <a:pPr>
              <a:spcAft>
                <a:spcPts val="600"/>
              </a:spcAft>
            </a:pPr>
            <a:r>
              <a:rPr lang="en-US" dirty="0"/>
              <a:t>傳統 X 光的 sensitivity 和 specificity 都太低，無法診斷也無法排除黴菌感染。現在首選是 thin-section multislice CT，CT pulmonary angiography 也越來越常用。Key point 也提醒，除了胸部，sinus CT 一樣重要。</a:t>
            </a:r>
          </a:p>
          <a:p>
            <a:pPr>
              <a:spcAft>
                <a:spcPts val="600"/>
              </a:spcAft>
            </a:pPr>
            <a:r>
              <a:rPr lang="en-US" dirty="0"/>
              <a:t>Nodule 不論有沒有 halo sign，都提示 invasive mould disease。Halo sign 出現在感染早期，之後病灶就變得不具特異性，所以 CT 要早做。Neutrophil 恢復之後可能出現 air crescent sign，通常代表預後好，不是惡化。</a:t>
            </a:r>
          </a:p>
          <a:p>
            <a:pPr>
              <a:spcAft>
                <a:spcPts val="600"/>
              </a:spcAft>
            </a:pPr>
            <a:r>
              <a:rPr lang="en-US" dirty="0"/>
              <a:t>Reversed halo sign，書上寫作 inversed halo，比較傾向 mucormycosis。這一點很重要，因為 voriconazole 對 Mucorales 無效，而 GM 也測不到 Mucorales，影像常常是唯一的線索。</a:t>
            </a:r>
          </a:p>
          <a:p>
            <a:pPr>
              <a:spcAft>
                <a:spcPts val="600"/>
              </a:spcAft>
            </a:pPr>
            <a:r>
              <a:rPr lang="en-US" dirty="0"/>
              <a:t>FDG PET/CT 在複雜感染的診斷和追蹤上，角色也越來越多。</a:t>
            </a:r>
          </a:p>
          <a:p>
            <a:pPr>
              <a:spcAft>
                <a:spcPts val="600"/>
              </a:spcAft>
            </a:pPr>
            <a:r>
              <a:rPr lang="en-US" dirty="0"/>
              <a:t>Air crescent 這一點容易被誤解。它常在 neutrophil 回升時出現，影像看起來像空洞變大，但代表的是宿主免疫恢復，不是治療失敗。這個觀念和下一段提到的第一週病灶變大，可以一起記。</a:t>
            </a:r>
          </a:p>
          <a:p>
            <a:pPr>
              <a:spcAft>
                <a:spcPts val="600"/>
              </a:spcAft>
            </a:pPr>
            <a:r>
              <a:rPr lang="en-US" dirty="0"/>
              <a:t>Halo sign 消失得快，所以高風險病人發燒持續，就應該盡早安排 CT，而不是等胸部 X 光有變化。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[2:00 本頁 · 11:30 至 13:30]</a:t>
            </a:r>
          </a:p>
          <a:p>
            <a:pPr>
              <a:spcAft>
                <a:spcPts val="600"/>
              </a:spcAft>
            </a:pPr>
            <a:r>
              <a:rPr lang="en-US" dirty="0"/>
              <a:t>ECIL 的預防建議分時期。Pre-engraftment 的 neutropenic phase，fluconazole 400 mg/day 仍可使用，但只限 mould infection 發生率低於 5% 的中心，而且一定要搭配 mould-directed 的策略，也就是 biomarker 或 CT 監測，或 empirical therapy。發生率較高的中心要改用其他藥。</a:t>
            </a:r>
          </a:p>
          <a:p>
            <a:pPr>
              <a:spcAft>
                <a:spcPts val="600"/>
              </a:spcAft>
            </a:pPr>
            <a:r>
              <a:rPr lang="en-US" dirty="0"/>
              <a:t>Itraconazole 先 IV 200 mg 每天一次，再改 oral solution 200 mg 每 12 小時，對 mould 的保護比 fluconazole 好，但毒性和耐受性限制了它。Voriconazole 400 mg/day 對比 fluconazole，fungal-free survival、OS、IFD 都沒有差別；對比 itraconazole 雖然 composite endpoint 較好，但主要是因為能吃比較久，不是效果更好。兩者都是 B-I。</a:t>
            </a:r>
          </a:p>
          <a:p>
            <a:pPr>
              <a:spcAft>
                <a:spcPts val="600"/>
              </a:spcAft>
            </a:pPr>
            <a:r>
              <a:rPr lang="en-US" dirty="0"/>
              <a:t>Micafungin 50 mg 在低 mould 發生率的中心是 B-I，高發生率是 C-I，因為那個試驗低風險病人太多，也沒有預先規定的診斷流程。Posaconazole 在這個時期沒有直接研究，是從 AML/MDS 的資料推論來的，B-II。劑量要記，oral solution 200 mg 每 8 小時，tablet 或 IV 300 mg 每天一次，第一天先 300 mg 每 12 小時 loading。</a:t>
            </a:r>
          </a:p>
          <a:p>
            <a:pPr>
              <a:spcAft>
                <a:spcPts val="600"/>
              </a:spcAft>
            </a:pPr>
            <a:r>
              <a:rPr lang="en-US" dirty="0"/>
              <a:t>Aerosolised liposomal amphotericin B 加 fluconazole，在高風險中心是 B-II，IV liposomal amphotericin B 則是 C-II。</a:t>
            </a:r>
          </a:p>
          <a:p>
            <a:pPr>
              <a:spcAft>
                <a:spcPts val="600"/>
              </a:spcAft>
            </a:pPr>
            <a:r>
              <a:rPr lang="en-US" dirty="0"/>
              <a:t>考試常問的是條件，fluconazole 不是不能用，而是只能用在低 mould 發生率、而且有 mould-directed 監測的中心。</a:t>
            </a:r>
          </a:p>
          <a:p>
            <a:pPr>
              <a:spcAft>
                <a:spcPts val="600"/>
              </a:spcAft>
            </a:pPr>
            <a:r>
              <a:rPr lang="en-US" dirty="0"/>
              <a:t>這張表的劑量裡，posaconazole 的 loading 和 micafungin 的 50 mg 最常被考，fluconazole 的 5% 門檻也要記住。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[1:30 本頁 · 13:30 至 15:00]</a:t>
            </a:r>
          </a:p>
          <a:p>
            <a:pPr>
              <a:spcAft>
                <a:spcPts val="600"/>
              </a:spcAft>
            </a:pPr>
            <a:r>
              <a:rPr lang="en-US" dirty="0"/>
              <a:t>Engraftment 之後，有 GVHD 的病人 mould infection 的風險和死亡率都明顯上升。ECIL 強烈反對在 high-risk GVHD 的病人用 fluconazole 預防。首選是 posaconazole，oral solution 或 tablet、IV 都可以，等級 A-I，證據來自一個大型 double-blind 研究。不過在 chronic GVHD 這個次族群，研究沒有看到差別。</a:t>
            </a:r>
          </a:p>
          <a:p>
            <a:pPr>
              <a:spcAft>
                <a:spcPts val="600"/>
              </a:spcAft>
            </a:pPr>
            <a:r>
              <a:rPr lang="en-US" dirty="0"/>
              <a:t>考試最常見的情境，就是 acute GVHD 開始用高劑量 steroid，病人卻還停在 fluconazole，正確答案是換成 posaconazole。</a:t>
            </a:r>
          </a:p>
          <a:p>
            <a:pPr>
              <a:spcAft>
                <a:spcPts val="600"/>
              </a:spcAft>
            </a:pPr>
            <a:r>
              <a:rPr lang="en-US" dirty="0"/>
              <a:t>PJP 預防首選 oral TMP/SMX，一週兩到三次，從 engraftment 開始至少到 6 個月，只要免疫抑制還在就繼續。Pentamidine，不論吸入或靜脈，以及 atovaquone、dapsone，都是 TMP/SMX 不能用時的二線選擇。</a:t>
            </a:r>
          </a:p>
          <a:p>
            <a:pPr>
              <a:spcAft>
                <a:spcPts val="600"/>
              </a:spcAft>
            </a:pPr>
            <a:r>
              <a:rPr lang="en-US" dirty="0"/>
              <a:t>HEPA 病房可以減少院內吸入孢子，但很多 IFD 發生在出院後的門診期間，這時環境措施就幫不上忙。</a:t>
            </a:r>
          </a:p>
          <a:p>
            <a:pPr>
              <a:spcAft>
                <a:spcPts val="600"/>
              </a:spcAft>
            </a:pPr>
            <a:r>
              <a:rPr lang="en-US" dirty="0"/>
              <a:t>二線藥物只在 TMP/SMX 不耐受或有禁忌時才用，不要一開始就選。真正要記住的是，PJP 預防的時間取決於免疫抑制何時停止，而不是固定日數。</a:t>
            </a:r>
          </a:p>
          <a:p>
            <a:pPr>
              <a:spcAft>
                <a:spcPts val="600"/>
              </a:spcAft>
            </a:pPr>
            <a:r>
              <a:rPr lang="en-US" dirty="0"/>
              <a:t>Posaconazole 的 A-I 是整章唯一一個 A-I 的預防建議，這也是它常被拿來出題的原因。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[1:30 本頁 · 15:00 至 16:30]</a:t>
            </a:r>
          </a:p>
          <a:p>
            <a:pPr>
              <a:spcAft>
                <a:spcPts val="600"/>
              </a:spcAft>
            </a:pPr>
            <a:r>
              <a:rPr lang="en-US" dirty="0"/>
              <a:t>除了預防，治療有三種策略。Empirical 是傳統做法，profound、prolonged neutropenia 在適當抗細菌治療 5 到 7 天後仍持續或再度發燒，就開廣效抗黴菌藥。這個做法從來沒有強力證據，會造成過度治療、毒性和花費，但在沒有影像和黴菌檢驗的中心仍是依靠。若採用，ECIL 建議 caspofungin 第一天 70 mg、之後每天 50 mg，或 liposomal amphotericin B 3 mg/kg，兩者都是 A-I。</a:t>
            </a:r>
          </a:p>
          <a:p>
            <a:pPr>
              <a:spcAft>
                <a:spcPts val="600"/>
              </a:spcAft>
            </a:pPr>
            <a:r>
              <a:rPr lang="en-US" dirty="0"/>
              <a:t>Pre-emptive，也叫 diagnostic-driven，只有在 GM、BDG、PCR 篩檢陽性，或影像出現可疑病灶時才治療。EORTC 的 randomized trial，Maertens 2023，比較兩種策略，day 42 全死因死亡率和黴菌感染率沒有差別，但 pre-emptive 組抗黴菌藥的使用明顯減少。前提是中心每週做兩次 non-culture-based testing，而且隨時排得到 CT。</a:t>
            </a:r>
          </a:p>
          <a:p>
            <a:pPr>
              <a:spcAft>
                <a:spcPts val="600"/>
              </a:spcAft>
            </a:pPr>
            <a:r>
              <a:rPr lang="en-US" dirty="0"/>
              <a:t>Directed therapy 則用在 proven 或 probable IFD，藥物依菌種決定，接下來幾張一一整理。</a:t>
            </a:r>
          </a:p>
          <a:p>
            <a:pPr>
              <a:spcAft>
                <a:spcPts val="600"/>
              </a:spcAft>
            </a:pPr>
            <a:r>
              <a:rPr lang="en-US" dirty="0"/>
              <a:t>三種策略的差別，在於啟動治療的扳機是發燒、biomarker 或影像，還是確定診斷。</a:t>
            </a:r>
          </a:p>
          <a:p>
            <a:pPr>
              <a:spcAft>
                <a:spcPts val="600"/>
              </a:spcAft>
            </a:pPr>
            <a:r>
              <a:rPr lang="en-US" dirty="0"/>
              <a:t>各醫院能做到的檢驗頻率不同，自己的醫院能不能每週兩次驗 biomarker、隨時排到 CT，決定了比較適合哪一種策略。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[2:00 本頁 · 16:30 至 18:30]</a:t>
            </a:r>
          </a:p>
          <a:p>
            <a:pPr>
              <a:spcAft>
                <a:spcPts val="600"/>
              </a:spcAft>
            </a:pPr>
            <a:r>
              <a:rPr lang="en-US" dirty="0"/>
              <a:t>Invasive aspergillosis 的 first-line 是 voriconazole 或 isavuconazole，cerebral aspergillosis 也包括在內，ECIL-6 都是 A-I。Voriconazole 第一天 6 mg/kg 一天兩次，之後 4 mg/kg 一天兩次，要做 TDM，也要查 drug interaction。Isavuconazole 是 200 mg 一天三次共兩天，之後每天 200 mg。</a:t>
            </a:r>
          </a:p>
          <a:p>
            <a:pPr>
              <a:spcAft>
                <a:spcPts val="600"/>
              </a:spcAft>
            </a:pPr>
            <a:r>
              <a:rPr lang="en-US" dirty="0"/>
              <a:t>SECURE trial 比較這兩個藥，效果相同，day 42 all-cause mortality 都在 20% 左右，isavuconazole 的肝毒性較少，drug interaction 也少一些。2021 年 posaconazole 對比 voriconazole 的試驗，效果相當、安全性較好，所以 posaconazole 現在也是首選之一，只是 CNS 穿透有限，腦部感染不適合。</a:t>
            </a:r>
          </a:p>
          <a:p>
            <a:pPr>
              <a:spcAft>
                <a:spcPts val="600"/>
              </a:spcAft>
            </a:pPr>
            <a:r>
              <a:rPr lang="en-US" dirty="0"/>
              <a:t>Upfront 合併 azole 加 echinocandin，Marr 2015 的試驗沒有證實優於單藥，所以不建議。不能用 azole 的時候，liposomal amphotericin B 3 mg/kg 是替代的 primary therapy，理由包括不耐受、drug interaction、之前用過廣效 azole 預防，或證實 azole resistance。Azole resistance 在部分歐洲中心正在增加。</a:t>
            </a:r>
          </a:p>
          <a:p>
            <a:pPr>
              <a:spcAft>
                <a:spcPts val="600"/>
              </a:spcAft>
            </a:pPr>
            <a:r>
              <a:rPr lang="en-US" dirty="0"/>
              <a:t>Conventional amphotericin B deoxycholate 是 A-I 反對使用，效果較差、毒性較高。</a:t>
            </a:r>
          </a:p>
          <a:p>
            <a:pPr>
              <a:spcAft>
                <a:spcPts val="600"/>
              </a:spcAft>
            </a:pPr>
            <a:r>
              <a:rPr lang="en-US" dirty="0"/>
              <a:t>臨床上選藥時，先看病人正在用的預防藥。若已經在 posaconazole 或 voriconazole 預防下突破感染，就要考慮 liposomal amphotericin B，並檢查濃度和藥敏。若是腦部病灶，選 voriconazole 或 isavuconazole，避開 CNS 穿透差的 posaconazole。考題通常給一個情境，要你從這幾點去判斷。</a:t>
            </a:r>
          </a:p>
          <a:p>
            <a:pPr>
              <a:spcAft>
                <a:spcPts val="600"/>
              </a:spcAft>
            </a:pPr>
            <a:r>
              <a:rPr lang="en-US" dirty="0"/>
              <a:t>Isavuconazole 不必依體重計算劑量，這一點從表上的劑量寫法就看得出來。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[1:00 本頁 · 18:30 至 19:30]</a:t>
            </a:r>
          </a:p>
          <a:p>
            <a:pPr>
              <a:spcAft>
                <a:spcPts val="600"/>
              </a:spcAft>
            </a:pPr>
            <a:r>
              <a:rPr lang="en-US" dirty="0"/>
              <a:t>治療開始後的第一週，CT 上的肺部病灶常常會變大，這是疾病本身的動力學，和預後不好沒有關係，不要因此判定失敗而換藥。</a:t>
            </a:r>
          </a:p>
          <a:p>
            <a:pPr>
              <a:spcAft>
                <a:spcPts val="600"/>
              </a:spcAft>
            </a:pPr>
            <a:r>
              <a:rPr lang="en-US" dirty="0"/>
              <a:t>如果基線 serum GM 是升高的，GM 下降和治療反應相關，可以拿來追蹤。療程通常 6 到 12 週，結束時若仍在用免疫抑制，要接 secondary prophylaxis。</a:t>
            </a:r>
          </a:p>
          <a:p>
            <a:pPr>
              <a:spcAft>
                <a:spcPts val="600"/>
              </a:spcAft>
            </a:pPr>
            <a:r>
              <a:rPr lang="en-US" dirty="0"/>
              <a:t>Salvage therapy 不論用哪一種藥，global response 只有 40% 左右，所以第一線就選對藥最重要。</a:t>
            </a:r>
          </a:p>
          <a:p>
            <a:pPr>
              <a:spcAft>
                <a:spcPts val="600"/>
              </a:spcAft>
            </a:pPr>
            <a:r>
              <a:rPr lang="en-US" dirty="0"/>
              <a:t>換藥時機目前有專家共識可以參考，原則是不要只憑第一週的影像就判定失敗，要合併臨床、GM 趨勢和藥物濃度一起看。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[1:30 本頁 · 19:30 至 21:00]</a:t>
            </a:r>
          </a:p>
          <a:p>
            <a:pPr>
              <a:spcAft>
                <a:spcPts val="600"/>
              </a:spcAft>
            </a:pPr>
            <a:r>
              <a:rPr lang="en-US" dirty="0"/>
              <a:t>Mucormycosis 的治療有三個部分，控制基礎疾病、外科清創，以及抗黴菌藥。清創往往是破壞性的。第一線是 lipid-based amphotericin B，正文寫 5 到 10 mg/kg，ECIL-6 表格的 liposomal amphotericin B 寫 5 mg/kg，B-II，有 CNS 感染或腎衰竭時優先選它。病情穩定之後，可以改口服 posaconazole 或 isavuconazole 在門診繼續，最好依藥敏結果。Posaconazole 當第一線是 C-III，沒有資料支持。</a:t>
            </a:r>
          </a:p>
          <a:p>
            <a:pPr>
              <a:spcAft>
                <a:spcPts val="600"/>
              </a:spcAft>
            </a:pPr>
            <a:r>
              <a:rPr lang="en-US" dirty="0"/>
              <a:t>Hyalohyphomycosis 是一群異質的黴菌。Fusariosis 第一線用 voriconazole，能清創就清創，posaconazole 當 salvage。Scedosporium 也用 voriconazole，但 Lomentospora prolificans 目前沒有標準治療。Acremonium 和 Scopulariopsis 的最佳治療還沒有定論。新藥 olorofim 對這些難治的黴菌活性很好，包括 Lomentospora，正在後期試驗。</a:t>
            </a:r>
          </a:p>
          <a:p>
            <a:pPr>
              <a:spcAft>
                <a:spcPts val="600"/>
              </a:spcAft>
            </a:pPr>
            <a:r>
              <a:rPr lang="en-US" dirty="0"/>
              <a:t>Mucormycosis 的考點是兩件事，第一線是 lipid amphotericin B 加清創，而 posaconazole、isavuconazole 是穩定後的口服接續，不是起始治療。Fusariosis 則是 voriconazole。</a:t>
            </a:r>
          </a:p>
          <a:p>
            <a:pPr>
              <a:spcAft>
                <a:spcPts val="600"/>
              </a:spcAft>
            </a:pPr>
            <a:r>
              <a:rPr lang="en-US" dirty="0"/>
              <a:t>也要注意，GM 測不到 Mucorales，所以 mucormycosis 的診斷常要靠影像和組織，臨床懷疑時不要因為抗原陰性就延誤治療。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[1:30 本頁 · 21:00 至 22:30]</a:t>
            </a:r>
          </a:p>
          <a:p>
            <a:pPr>
              <a:spcAft>
                <a:spcPts val="600"/>
              </a:spcAft>
            </a:pPr>
            <a:r>
              <a:rPr lang="en-US" dirty="0"/>
              <a:t>Invasive candidiasis 和 candidemia 的第一線是 echinocandin，拿到菌種和藥敏之後，臨床穩定就可以 step-down。強烈建議拔除中心靜脈導管，療程是最後一次陽性血液培養之後 14 天，不是退燒後，也不是第一次陰性後。</a:t>
            </a:r>
          </a:p>
          <a:p>
            <a:pPr>
              <a:spcAft>
                <a:spcPts val="600"/>
              </a:spcAft>
            </a:pPr>
            <a:r>
              <a:rPr lang="en-US" dirty="0"/>
              <a:t>Fluconazole 預防改變了菌種分布，從對 fluconazole 敏感的 C. albicans，轉為抗藥的 non-albicans，例如 Nakaseomyces glabrata，舊名 C. glabrata，以及 C. krusei。地區差異也要知道，C. parapsilosis 在南歐、亞洲和南美比較多。Candida auris 會多重甚至全抗藥，常被誤鑑定，所以藥敏試驗非常重要。</a:t>
            </a:r>
          </a:p>
          <a:p>
            <a:pPr>
              <a:spcAft>
                <a:spcPts val="600"/>
              </a:spcAft>
            </a:pPr>
            <a:r>
              <a:rPr lang="en-US" dirty="0"/>
              <a:t>PJP 的治療是高劑量 TMP/SMX 三週，替代是 primaquine 加 clindamycin，治療完要接 secondary prophylaxis。要不要加類固醇，書上說個案決定。</a:t>
            </a:r>
          </a:p>
          <a:p>
            <a:pPr>
              <a:spcAft>
                <a:spcPts val="600"/>
              </a:spcAft>
            </a:pPr>
            <a:r>
              <a:rPr lang="en-US" dirty="0"/>
              <a:t>病房裡常見的錯誤，是 candidemia 的病人退燒後就停藥，或者導管捨不得拔。書上在拔管的建議裡，特別點名 C. parapsilosis 菌血症。在台灣這類亞洲中心，C. parapsilosis 本來就比較常見，這一點對我們特別實用。</a:t>
            </a:r>
          </a:p>
          <a:p>
            <a:pPr>
              <a:spcAft>
                <a:spcPts val="600"/>
              </a:spcAft>
            </a:pPr>
            <a:r>
              <a:rPr lang="en-US" dirty="0"/>
              <a:t>Step-down 的前提有兩個，病人臨床穩定，並且已經拿到菌種鑑定和藥敏結果，兩者缺一不可。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[1:00 本頁 · 22:30 至 23:30]</a:t>
            </a:r>
          </a:p>
          <a:p>
            <a:pPr>
              <a:spcAft>
                <a:spcPts val="600"/>
              </a:spcAft>
            </a:pPr>
            <a:r>
              <a:rPr lang="en-US" dirty="0"/>
              <a:t>使用 azole 時，血中濃度和藥物交互作用都很難預測，所以 ECIL-6 建議做 therapeutic drug monitoring。</a:t>
            </a:r>
          </a:p>
          <a:p>
            <a:pPr>
              <a:spcAft>
                <a:spcPts val="600"/>
              </a:spcAft>
            </a:pPr>
            <a:r>
              <a:rPr lang="en-US" dirty="0"/>
              <a:t>Voriconazole 不論預防或治療，目標都是 1 到 6 mg/L。Isavuconazole 是 2 到 4。Posaconazole 分兩個目標，預防大於 0.7，治療大於 1 mg/L。</a:t>
            </a:r>
          </a:p>
          <a:p>
            <a:pPr>
              <a:spcAft>
                <a:spcPts val="600"/>
              </a:spcAft>
            </a:pPr>
            <a:r>
              <a:rPr lang="en-US" dirty="0"/>
              <a:t>這三組數字很容易出成選擇題。病房裡病人在 posaconazole 預防下突破感染時，先查濃度，再判斷是藥物失敗還是吸收不足。</a:t>
            </a:r>
          </a:p>
          <a:p>
            <a:pPr>
              <a:spcAft>
                <a:spcPts val="600"/>
              </a:spcAft>
            </a:pPr>
            <a:r>
              <a:rPr lang="en-US" dirty="0"/>
              <a:t>記法上，voriconazole 範圍最寬，1 到 6；isavuconazole 窄一點，2 到 4；posaconazole 看用途，治療的目標比預防高。</a:t>
            </a:r>
          </a:p>
          <a:p>
            <a:pPr>
              <a:spcAft>
                <a:spcPts val="600"/>
              </a:spcAft>
            </a:pPr>
            <a:r>
              <a:rPr lang="en-US" dirty="0"/>
              <a:t>在 GVHD 加上 posaconazole 預防的病人，若出現突破性感染，先確認濃度是否大於 0.7 mg/L，再決定下一步。Voriconazole 則要讓濃度落在 1 到 6 之間，太低或太高都需要調整劑量。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[0:45 本頁 · 23:30 至 24:15]</a:t>
            </a:r>
          </a:p>
          <a:p>
            <a:pPr>
              <a:spcAft>
                <a:spcPts val="600"/>
              </a:spcAft>
            </a:pPr>
            <a:r>
              <a:rPr lang="en-US" dirty="0"/>
              <a:t>第一題。42 歲女性，AML，matched unrelated donor allo-HCT 後 day 38，day 18 engraft，一直用 fluconazole 400 mg 預防。現在出現皮膚和腸道的 grade III acute GVHD，開始高劑量 steroid。接下來抗黴菌預防該怎麼做？</a:t>
            </a:r>
          </a:p>
          <a:p>
            <a:pPr>
              <a:spcAft>
                <a:spcPts val="600"/>
              </a:spcAft>
            </a:pPr>
            <a:r>
              <a:rPr lang="en-US" dirty="0"/>
              <a:t>選項有繼續 fluconazole 加每週驗 GM、換 posaconazole、換 micafungin、加吸入型 liposomal amphotericin B，以及停預防改 empirical。</a:t>
            </a:r>
          </a:p>
          <a:p>
            <a:pPr>
              <a:spcAft>
                <a:spcPts val="600"/>
              </a:spcAft>
            </a:pPr>
            <a:r>
              <a:rPr lang="en-US" b="1" dirty="0"/>
              <a:t>[Pause for answers.]</a:t>
            </a:r>
          </a:p>
          <a:p>
            <a:pPr>
              <a:spcAft>
                <a:spcPts val="600"/>
              </a:spcAft>
            </a:pPr>
            <a:r>
              <a:rPr lang="en-US" dirty="0"/>
              <a:t>請先判斷她現在處在哪一個風險時期，再想 ECIL 在這個時期的建議。給大家半分鐘。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[1:00 本頁 · 24:15 至 25:15]</a:t>
            </a:r>
          </a:p>
          <a:p>
            <a:pPr>
              <a:spcAft>
                <a:spcPts val="600"/>
              </a:spcAft>
            </a:pPr>
            <a:r>
              <a:rPr lang="en-US" dirty="0"/>
              <a:t>答案是 B。這位病人已經 engraft，正處在 GVHD 加 steroid 的時期，mould infection 的風險和死亡率都很高。ECIL 強烈反對這時繼續用 fluconazole，首選是 posaconazole，A-I，證據來自大型 double-blind 試驗。預防的濃度目標是大於 0.7 mg/L。</a:t>
            </a:r>
          </a:p>
          <a:p>
            <a:pPr>
              <a:spcAft>
                <a:spcPts val="600"/>
              </a:spcAft>
            </a:pPr>
            <a:r>
              <a:rPr lang="en-US" dirty="0"/>
              <a:t>A 是主要陷阱。加驗 GM 的 mould-directed 策略，是給 pre-engraftment、低 mould 發生率的中心用的，不適用於 high-risk GVHD。C 和 D 的資料都來自 pre-engraftment 時期，micafungin 在高 mould 中心只有 C-I。E 停掉預防更不對，ECIL 對這個時期是強烈建議預防。</a:t>
            </a:r>
          </a:p>
          <a:p>
            <a:pPr>
              <a:spcAft>
                <a:spcPts val="600"/>
              </a:spcAft>
            </a:pPr>
            <a:r>
              <a:rPr lang="en-US" dirty="0"/>
              <a:t>這題的關鍵是時間點，同樣是 fluconazole，在 day 10 和 day 38 合併 GVHD 時，答案完全不同。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[0:45 本頁 · 25:15 至 26:00]</a:t>
            </a:r>
          </a:p>
          <a:p>
            <a:pPr>
              <a:spcAft>
                <a:spcPts val="600"/>
              </a:spcAft>
            </a:pPr>
            <a:r>
              <a:rPr lang="en-US" dirty="0"/>
              <a:t>第二題。57 歲男性，haploidentical HCT 後 day 120，因 GVHD 在用 steroid，預防用 voriconazole。現在發燒、臉部疼痛，胸部 CT 有 reversed halo sign，鼻竇 CT 顯示上頜竇混濁合併骨頭侵蝕。兩次 serum GM 都低於 0.5，BDG 也是陰性。</a:t>
            </a:r>
          </a:p>
          <a:p>
            <a:pPr>
              <a:spcAft>
                <a:spcPts val="600"/>
              </a:spcAft>
            </a:pPr>
            <a:r>
              <a:rPr lang="en-US" dirty="0"/>
              <a:t>選項有換 isavuconazole、lipid amphotericin B 加清創、caspofungin、繼續 voriconazole，以及加上 anidulafungin。</a:t>
            </a:r>
          </a:p>
          <a:p>
            <a:pPr>
              <a:spcAft>
                <a:spcPts val="600"/>
              </a:spcAft>
            </a:pPr>
            <a:r>
              <a:rPr lang="en-US" b="1" dirty="0"/>
              <a:t>[Pause for answers.]</a:t>
            </a:r>
          </a:p>
          <a:p>
            <a:pPr>
              <a:spcAft>
                <a:spcPts val="600"/>
              </a:spcAft>
            </a:pPr>
            <a:r>
              <a:rPr lang="en-US" dirty="0"/>
              <a:t>請注意影像上的特徵，以及兩種抗原陰性代表什麼意義，再決定第一線治療。這題也牽涉到 voriconazole 預防下的突破感染，想一下哪一類黴菌不受影響。給大家半分鐘。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[1:00 本頁 · 26:00 至 27:00]</a:t>
            </a:r>
          </a:p>
          <a:p>
            <a:pPr>
              <a:spcAft>
                <a:spcPts val="600"/>
              </a:spcAft>
            </a:pPr>
            <a:r>
              <a:rPr lang="en-US" dirty="0"/>
              <a:t>答案是 B。Reversed halo sign 比較傾向 mucormycosis，而 GM 和 BDG 都偵測不到 Mucorales，所以抗原陰性一點也不能排除，D 錯。</a:t>
            </a:r>
          </a:p>
          <a:p>
            <a:pPr>
              <a:spcAft>
                <a:spcPts val="600"/>
              </a:spcAft>
            </a:pPr>
            <a:r>
              <a:rPr lang="en-US" dirty="0"/>
              <a:t>Mucormycosis 的第一線是 lipid-based amphotericin B，5 到 10 mg/kg，加上外科清創和控制基礎疾病。A 是主要陷阱，isavuconazole 和 posaconazole 只在病情穩定後當口服的後續治療，不是第一線。C 和 E 的 echinocandin 都不是 mucormycosis 的治療。</a:t>
            </a:r>
          </a:p>
          <a:p>
            <a:pPr>
              <a:spcAft>
                <a:spcPts val="600"/>
              </a:spcAft>
            </a:pPr>
            <a:r>
              <a:rPr lang="en-US" dirty="0"/>
              <a:t>這個病人是在 voriconazole 預防下突破感染，影像又是 reversed halo，抗原全陰性，三個線索都指向 Mucorales。臨床上遇到這種組合，除了開 lipid amphotericin B，也要盡快會診耳鼻喉科或外科評估清創，並且盡量取組織做病理和培養，才能確定診斷和做藥敏。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[0:45 本頁 · 27:00 至 27:45]</a:t>
            </a:r>
          </a:p>
          <a:p>
            <a:pPr>
              <a:spcAft>
                <a:spcPts val="600"/>
              </a:spcAft>
            </a:pPr>
            <a:r>
              <a:rPr lang="en-US" dirty="0"/>
              <a:t>第三題。35 歲女性，ALL，myeloablative allo-HCT 後 day 9，仍在 neutropenia，用 fluconazole 預防，身上有 tunnelled CVC。Day 9 抽的血液培養長出酵母菌，鑑定為 Nakaseomyces glabrata，也就是舊稱的 Candida glabrata，day 11 之後的培養都是陰性。</a:t>
            </a:r>
          </a:p>
          <a:p>
            <a:pPr>
              <a:spcAft>
                <a:spcPts val="600"/>
              </a:spcAft>
            </a:pPr>
            <a:r>
              <a:rPr lang="en-US" dirty="0"/>
              <a:t>選項包括 fluconazole 加量、echinocandin 加拔管、echinocandin 留管、liposomal amphotericin B 七天，以及 voriconazole 治療 6 到 12 週。</a:t>
            </a:r>
          </a:p>
          <a:p>
            <a:pPr>
              <a:spcAft>
                <a:spcPts val="600"/>
              </a:spcAft>
            </a:pPr>
            <a:r>
              <a:rPr lang="en-US" b="1" dirty="0"/>
              <a:t>[Pause for answers.]</a:t>
            </a:r>
          </a:p>
          <a:p>
            <a:pPr>
              <a:spcAft>
                <a:spcPts val="600"/>
              </a:spcAft>
            </a:pPr>
            <a:r>
              <a:rPr lang="en-US" dirty="0"/>
              <a:t>請想一下藥物選擇、導管處理和療程長度三件事。給大家半分鐘。</a:t>
            </a:r>
          </a:p>
          <a:p>
            <a:pPr>
              <a:spcAft>
                <a:spcPts val="600"/>
              </a:spcAft>
            </a:pPr>
            <a:r>
              <a:rPr lang="en-US" dirty="0"/>
              <a:t>也留意菌種，不是 C. albicans。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[1:00 本頁 · 27:45 至 28:45]</a:t>
            </a:r>
          </a:p>
          <a:p>
            <a:pPr>
              <a:spcAft>
                <a:spcPts val="600"/>
              </a:spcAft>
            </a:pPr>
            <a:r>
              <a:rPr lang="en-US" dirty="0"/>
              <a:t>答案是 B。Candidemia 的第一線是 echinocandin，強烈建議拔除導管，療程是最後一次陽性血液培養之後 14 天。最後一次陽性是 day 9，所以大約治療到 day 23，這是我自己的推算。</a:t>
            </a:r>
          </a:p>
          <a:p>
            <a:pPr>
              <a:spcAft>
                <a:spcPts val="600"/>
              </a:spcAft>
            </a:pPr>
            <a:r>
              <a:rPr lang="en-US" dirty="0"/>
              <a:t>A 不對，N. glabrata 常常對 fluconazole 抗藥，而且病人就是在 fluconazole 預防下突破感染的。C 是主要陷阱，留著導管、用 neutrophil 恢復決定停藥，都不符合書上的建議。D 的劑量是 empirical 的做法，不是 documented candidemia 的治療。E 的 6 到 12 週是 aspergillosis 的療程。</a:t>
            </a:r>
          </a:p>
          <a:p>
            <a:pPr>
              <a:spcAft>
                <a:spcPts val="600"/>
              </a:spcAft>
            </a:pPr>
            <a:r>
              <a:rPr lang="en-US" dirty="0"/>
              <a:t>拿到藥敏之後，若菌株敏感、病人臨床穩定，可以依書上的 step-down 原則改成口服藥。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各頁頁尾短式引用的完整文獻，不講。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各頁頁尾短式引用的完整文獻，不講。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dirty="0"/>
              <a:t>這是 Table 37.2 中 voriconazole、isavuconazole 以外的部分。Aspergillosis 用 liposomal amphotericin B 3 mg/kg 是 B-I，mucormycosis 則是 5 mg/kg，B-II。</a:t>
            </a:r>
          </a:p>
          <a:p>
            <a:pPr>
              <a:spcAft>
                <a:spcPts val="600"/>
              </a:spcAft>
            </a:pPr>
            <a:r>
              <a:rPr lang="en-US" dirty="0"/>
              <a:t>Posaconazole 治療 aspergillosis 是 2021 年試驗之後才加入的，所以不在 ECIL-6 表內。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這張補充 pre-engraftment 預防各藥等級背後的試驗。Voriconazole 對 itraconazole 的優勢來自能用得比較久，不是效果較好；micafungin 的試驗低風險病人太多，所以高 mould 中心只給 C-I。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書上 key point 列出三個新藥。Rezafungin 是長效 echinocandin，研究用在預防；olorofim 用於治療選擇有限的 mould，但不含 Mucorales；opelconazole 是吸入型 azole，當 salvage 的輔助。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685800"/>
            <a:ext cx="10817352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spc="300" kern="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1600200"/>
            <a:ext cx="10332720" cy="2331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4023360"/>
            <a:ext cx="103327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85800" y="5257800"/>
            <a:ext cx="1033272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685800" y="5715000"/>
            <a:ext cx="1033272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spc="300" kern="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spc="300" kern="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1737360"/>
            <a:ext cx="10817352" cy="2286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4297680"/>
            <a:ext cx="1081735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685800"/>
            <a:ext cx="10817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300" kern="0" dirty="0">
                <a:solidFill>
                  <a:schemeClr val="tx1"/>
                </a:solidFill>
              </a:rPr>
              <a:t>EBMT HANDBOOK BOARD REVIEW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1600200"/>
            <a:ext cx="103327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Invasive fungal diseases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40233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Session 11 · Ch. 37</a:t>
            </a:r>
            <a:endParaRPr lang="en-US" sz="2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85800" y="525780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Hsieh-Ting Lin, MD</a:t>
            </a:r>
            <a:endParaRPr lang="en-US" sz="20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685800" y="57150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Department of Medical Oncology, Koo Foundation Sun Yat-Sen Cancer Center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OUTLINE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Four parts, from who is at risk to which drug to give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Maertens JA. EBMT Handbook 8th ed. 2024; Ch. 37</a:t>
            </a:r>
            <a:endParaRPr lang="en-US" sz="1000" dirty="0"/>
          </a:p>
        </p:txBody>
      </p:sp>
      <p:sp>
        <p:nvSpPr>
          <p:cNvPr id="6" name="Text 1"/>
          <p:cNvSpPr txBox="1"/>
          <p:nvPr/>
        </p:nvSpPr>
        <p:spPr>
          <a:xfrm>
            <a:off x="685800" y="251460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3200" dirty="0"/>
          </a:p>
        </p:txBody>
      </p:sp>
      <p:sp>
        <p:nvSpPr>
          <p:cNvPr id="7" name="Text 2"/>
          <p:cNvSpPr txBox="1"/>
          <p:nvPr/>
        </p:nvSpPr>
        <p:spPr>
          <a:xfrm>
            <a:off x="1463040" y="2560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Epidemiology and risk periods</a:t>
            </a:r>
            <a:endParaRPr lang="en-US" sz="2000" dirty="0"/>
          </a:p>
        </p:txBody>
      </p:sp>
      <p:sp>
        <p:nvSpPr>
          <p:cNvPr id="8" name="Text 3"/>
          <p:cNvSpPr txBox="1"/>
          <p:nvPr/>
        </p:nvSpPr>
        <p:spPr>
          <a:xfrm>
            <a:off x="1463040" y="295351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Incidence by donor type, three risk windows, CAR-T recipients</a:t>
            </a:r>
            <a:endParaRPr lang="en-US" sz="1600" dirty="0"/>
          </a:p>
        </p:txBody>
      </p:sp>
      <p:sp>
        <p:nvSpPr>
          <p:cNvPr id="9" name="Text 4"/>
          <p:cNvSpPr txBox="1"/>
          <p:nvPr/>
        </p:nvSpPr>
        <p:spPr>
          <a:xfrm>
            <a:off x="10058400" y="2606040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3 min</a:t>
            </a:r>
            <a:endParaRPr lang="en-US" sz="1200" dirty="0"/>
          </a:p>
        </p:txBody>
      </p:sp>
      <p:sp>
        <p:nvSpPr>
          <p:cNvPr id="10" name="Rule 5"/>
          <p:cNvSpPr/>
          <p:nvPr/>
        </p:nvSpPr>
        <p:spPr>
          <a:xfrm>
            <a:off x="685800" y="3328416"/>
            <a:ext cx="10817352" cy="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685800" y="342900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3200" dirty="0"/>
          </a:p>
        </p:txBody>
      </p:sp>
      <p:sp>
        <p:nvSpPr>
          <p:cNvPr id="12" name="Text 7"/>
          <p:cNvSpPr txBox="1"/>
          <p:nvPr/>
        </p:nvSpPr>
        <p:spPr>
          <a:xfrm>
            <a:off x="1463040" y="34747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Diagnosis</a:t>
            </a:r>
            <a:endParaRPr lang="en-US" sz="2000" dirty="0"/>
          </a:p>
        </p:txBody>
      </p:sp>
      <p:sp>
        <p:nvSpPr>
          <p:cNvPr id="13" name="Text 8"/>
          <p:cNvSpPr txBox="1"/>
          <p:nvPr/>
        </p:nvSpPr>
        <p:spPr>
          <a:xfrm>
            <a:off x="1463040" y="386791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GM cut-offs, false results, BDG, PCR, yeast and PJP tests, CT signs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10058400" y="3520440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7 min</a:t>
            </a:r>
            <a:endParaRPr lang="en-US" sz="1200" dirty="0"/>
          </a:p>
        </p:txBody>
      </p:sp>
      <p:sp>
        <p:nvSpPr>
          <p:cNvPr id="15" name="Rule 10"/>
          <p:cNvSpPr/>
          <p:nvPr/>
        </p:nvSpPr>
        <p:spPr>
          <a:xfrm>
            <a:off x="685800" y="4242816"/>
            <a:ext cx="10817352" cy="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685800" y="434340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3200" dirty="0"/>
          </a:p>
        </p:txBody>
      </p:sp>
      <p:sp>
        <p:nvSpPr>
          <p:cNvPr id="17" name="Text 12"/>
          <p:cNvSpPr txBox="1"/>
          <p:nvPr/>
        </p:nvSpPr>
        <p:spPr>
          <a:xfrm>
            <a:off x="1463040" y="43891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Prophylaxis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1463040" y="478231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Phase-specific ECIL grades, GVHD, PJP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10058400" y="4434840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3.5 min</a:t>
            </a:r>
            <a:endParaRPr lang="en-US" sz="1200" dirty="0"/>
          </a:p>
        </p:txBody>
      </p:sp>
      <p:sp>
        <p:nvSpPr>
          <p:cNvPr id="20" name="Rule 15"/>
          <p:cNvSpPr/>
          <p:nvPr/>
        </p:nvSpPr>
        <p:spPr>
          <a:xfrm>
            <a:off x="685800" y="5157216"/>
            <a:ext cx="10817352" cy="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685800" y="525780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3200" dirty="0"/>
          </a:p>
        </p:txBody>
      </p:sp>
      <p:sp>
        <p:nvSpPr>
          <p:cNvPr id="22" name="Text 17"/>
          <p:cNvSpPr txBox="1"/>
          <p:nvPr/>
        </p:nvSpPr>
        <p:spPr>
          <a:xfrm>
            <a:off x="1463040" y="53035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Treatment and three board questions</a:t>
            </a:r>
            <a:endParaRPr lang="en-US" sz="2000" dirty="0"/>
          </a:p>
        </p:txBody>
      </p:sp>
      <p:sp>
        <p:nvSpPr>
          <p:cNvPr id="23" name="Text 18"/>
          <p:cNvSpPr txBox="1"/>
          <p:nvPr/>
        </p:nvSpPr>
        <p:spPr>
          <a:xfrm>
            <a:off x="1463040" y="569671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Strategies, aspergillosis, mucormycosis, Candida, PJP, TDM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10058400" y="5349240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14 min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IFD · EPIDEMIOLOGY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IFD is most frequent after unrelated, mismatched, haplo and cord HCT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Maertens JA. EBMT Handbook 8th ed. 2024; Ch. 37</a:t>
            </a:r>
            <a:endParaRPr lang="en-US" sz="1000" dirty="0"/>
          </a:p>
        </p:txBody>
      </p:sp>
      <p:graphicFrame>
        <p:nvGraphicFramePr>
          <p:cNvPr id="4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17352" cy="914400"/>
        </p:xfrm>
        <a:graphic>
          <a:graphicData uri="http://schemas.openxmlformats.org/drawingml/2006/table">
            <a:tbl>
              <a:tblPr/>
              <a:tblGrid>
                <a:gridCol w="4956048"/>
                <a:gridCol w="586130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Setting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Incidence or outcome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Unrelated or mismatched allo-HCT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8–10% at 12 months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Matched related allo-HCT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6% at 12 months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Autologous HCT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&lt; 2% at 12 months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Haploidentical HCT, cord blood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Up to 17%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Candidaemia by day +100 (EBMT, Cesaro 2018)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1.2%; independent risk factor for NRM and OS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Invasive mould disease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Crude mortality up to 60%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21"/>
          <p:cNvSpPr txBox="1"/>
          <p:nvPr/>
        </p:nvSpPr>
        <p:spPr>
          <a:xfrm>
            <a:off x="685800" y="548640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Proven or probable IFD independently predicts 1-year mortality after allo-HCT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IFD · RISK PERIODS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IFD risk follows three periods after allogeneic HCT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Maertens JA. EBMT Handbook 8th ed. 2024; Ch. 37</a:t>
            </a:r>
            <a:endParaRPr lang="en-US" sz="1000" dirty="0"/>
          </a:p>
        </p:txBody>
      </p:sp>
      <p:sp>
        <p:nvSpPr>
          <p:cNvPr id="6" name="Box 22"/>
          <p:cNvSpPr txBox="1"/>
          <p:nvPr/>
        </p:nvSpPr>
        <p:spPr>
          <a:xfrm>
            <a:off x="685800" y="2606040"/>
            <a:ext cx="3270504" cy="17373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Pre-engraftment: neutropenia, mucosal damage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4011168" y="3474720"/>
            <a:ext cx="393192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8" name="Box 23"/>
          <p:cNvSpPr txBox="1"/>
          <p:nvPr/>
        </p:nvSpPr>
        <p:spPr>
          <a:xfrm>
            <a:off x="4459224" y="2606040"/>
            <a:ext cx="3270504" cy="173736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Day +40 to +100: aGVHD, viral reactivation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7784592" y="3474720"/>
            <a:ext cx="393192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0" name="Box 24"/>
          <p:cNvSpPr txBox="1"/>
          <p:nvPr/>
        </p:nvSpPr>
        <p:spPr>
          <a:xfrm>
            <a:off x="8232648" y="2606040"/>
            <a:ext cx="3270504" cy="17373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Beyond day +100: cGVHD, slow immune recovery</a:t>
            </a:r>
            <a:endParaRPr lang="en-US" sz="1700" dirty="0"/>
          </a:p>
        </p:txBody>
      </p:sp>
      <p:sp>
        <p:nvSpPr>
          <p:cNvPr id="11" name="Text 25"/>
          <p:cNvSpPr txBox="1"/>
          <p:nvPr/>
        </p:nvSpPr>
        <p:spPr>
          <a:xfrm>
            <a:off x="685800" y="4754880"/>
            <a:ext cx="10817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After CAR-T (Yang 2022): mechanical ventilation, high-grade CRS and prolonged lymphocyte deficiency within 60 days raise IFD risk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DIAGNOSIS · GALACTOMANNAN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Serum GM is positive at ≥0.7 once or ≥0.5 on consecutive samples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Maertens JA. EBMT Handbook 8th ed. 2024; Ch. 37</a:t>
            </a:r>
            <a:endParaRPr lang="en-US" sz="1000" dirty="0"/>
          </a:p>
        </p:txBody>
      </p:sp>
      <p:graphicFrame>
        <p:nvGraphicFramePr>
          <p:cNvPr id="6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26496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3904488"/>
                <a:gridCol w="390448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Specimen or assay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Positivity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Comment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Serum or plasma GM, early studies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Index ≥ 1.5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Older, less sensitive cut-off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Serum or plasma GM, ECIL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Single ≥ 0.7 or consecutive ≥ 0.5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Earlier detection, lower specificity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BAL fluid GM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Index 1.0 recommended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Higher threshold probably needed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CSF GM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Index 1.0 suggested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Suspected cerebral aspergillosis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Lateral flow assays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Rapid single-sample, blood or BAL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Each assay differs; verify locally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Cross-reactivity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Fusarium, Penicillium, Acremonium,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Alternaria, Histoplasma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Mucorales are not detected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DIAGNOSIS · TABLE 37.1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GM and BDG have predictable false-positive and false-negative results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Maertens JA. EBMT Handbook 8th ed. 2024; Ch. 37</a:t>
            </a:r>
            <a:endParaRPr lang="en-US" sz="1000" dirty="0"/>
          </a:p>
        </p:txBody>
      </p:sp>
      <p:graphicFrame>
        <p:nvGraphicFramePr>
          <p:cNvPr id="7" name="Table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17352" cy="914400"/>
        </p:xfrm>
        <a:graphic>
          <a:graphicData uri="http://schemas.openxmlformats.org/drawingml/2006/table">
            <a:tbl>
              <a:tblPr/>
              <a:tblGrid>
                <a:gridCol w="2660904"/>
                <a:gridCol w="4078224"/>
                <a:gridCol w="407822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Galactomannan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β-D-glucan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False positive · drugs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Semi-synthetic β-lactams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(much less often now)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Semi-synthetic β-lactams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False positive · products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Fresenius Kabi bag blood products;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gluconate expanders; enteral feeds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Cellulose-filtered IVIg, albumin, plasma;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dialysis membranes; gauze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False positive · patient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Myeloma; severe mucositis or gut GVHD;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Bifidobacterium in the gut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Bacteraemia, e.g. Pseudomonas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aeruginosa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False negative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Mould-active antifungals;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mucolytic agents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Concomitant antifungal agents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Not detected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Mucorales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Mucorales, some Cryptococcus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DIAGNOSIS · OTHER TESTS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BDG, PCR and yeast tests each fill a different diagnostic gap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Maertens JA. EBMT Handbook 8th ed. 2024; Ch. 37</a:t>
            </a:r>
            <a:endParaRPr lang="en-US" sz="1000" dirty="0"/>
          </a:p>
        </p:txBody>
      </p:sp>
      <p:graphicFrame>
        <p:nvGraphicFramePr>
          <p:cNvPr id="8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173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078224"/>
                <a:gridCol w="381304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Test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Strength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Limitation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β-D-glucan (Fungitell; WAKO)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Broad: Candida, Aspergillus, Fusarium,</a:t>
                      </a:r>
                      <a:endParaRPr lang="en-US" sz="1400" dirty="0"/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PJP; NPV around 80–90%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Poor specificity and PPV;</a:t>
                      </a:r>
                      <a:endParaRPr lang="en-US" sz="1400" dirty="0"/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misses Mucorales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Aspergillus PCR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Protocols standardised by EAPCRI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Long held back by lack of</a:t>
                      </a:r>
                      <a:endParaRPr lang="en-US" sz="1400" dirty="0"/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standardisation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Blood culture for Candida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Gold standard; species and</a:t>
                      </a:r>
                      <a:endParaRPr lang="en-US" sz="1400" dirty="0"/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susceptibility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2–5 days; low sensitivity in</a:t>
                      </a:r>
                      <a:endParaRPr lang="en-US" sz="1400" dirty="0"/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chronic disseminated candidiasis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T2Candida panel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Species in &lt; 5 h; NPV ≈ 100% at</a:t>
                      </a:r>
                      <a:endParaRPr lang="en-US" sz="1400" dirty="0"/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5–10% prevalence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Detects only five Candida species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Cryptococcal antigen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Very sensitive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Use when meningitis is suspected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PJP: immunofluorescence;</a:t>
                      </a:r>
                      <a:endParaRPr lang="en-US" sz="1400" dirty="0"/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BAL real-time PCR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Most sensitive microscopy;</a:t>
                      </a:r>
                      <a:endParaRPr lang="en-US" sz="1400" dirty="0"/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negative PCR rules out PJP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Positive PCR may be colonisation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PJP: serum BDG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Supports the diagnosis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False negatives occur;</a:t>
                      </a:r>
                      <a:endParaRPr lang="en-US" sz="1400" dirty="0"/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other fungi also positive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DIAGNOSIS · IMAGING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CT signs change over time and can point to Mucorales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Maertens JA. EBMT Handbook 8th ed. 2024; Ch. 37</a:t>
            </a:r>
            <a:endParaRPr lang="en-US" sz="1000" dirty="0"/>
          </a:p>
        </p:txBody>
      </p:sp>
      <p:sp>
        <p:nvSpPr>
          <p:cNvPr id="6" name="Box 29"/>
          <p:cNvSpPr txBox="1"/>
          <p:nvPr/>
        </p:nvSpPr>
        <p:spPr>
          <a:xfrm>
            <a:off x="2665476" y="2148840"/>
            <a:ext cx="6858000" cy="685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Thin-section multislice CT (or CT pulmonary angiography)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094476" y="2834640"/>
            <a:ext cx="0" cy="22860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366772" y="3063240"/>
            <a:ext cx="7455408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366772" y="3063240"/>
            <a:ext cx="0" cy="57607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0" name="Text 30"/>
          <p:cNvSpPr txBox="1"/>
          <p:nvPr/>
        </p:nvSpPr>
        <p:spPr>
          <a:xfrm>
            <a:off x="685800" y="3136392"/>
            <a:ext cx="3361944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Early infection</a:t>
            </a:r>
            <a:endParaRPr lang="en-US" sz="1400" dirty="0"/>
          </a:p>
        </p:txBody>
      </p:sp>
      <p:sp>
        <p:nvSpPr>
          <p:cNvPr id="11" name="Box 31"/>
          <p:cNvSpPr txBox="1"/>
          <p:nvPr/>
        </p:nvSpPr>
        <p:spPr>
          <a:xfrm>
            <a:off x="685800" y="3657600"/>
            <a:ext cx="3361944" cy="8229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Nodule with or without halo sign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366772" y="4480560"/>
            <a:ext cx="0" cy="25603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3" name="Box 32"/>
          <p:cNvSpPr txBox="1"/>
          <p:nvPr/>
        </p:nvSpPr>
        <p:spPr>
          <a:xfrm>
            <a:off x="685800" y="4754880"/>
            <a:ext cx="3361944" cy="914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Suggests invasive mould disease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094476" y="3063240"/>
            <a:ext cx="0" cy="57607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5" name="Text 33"/>
          <p:cNvSpPr txBox="1"/>
          <p:nvPr/>
        </p:nvSpPr>
        <p:spPr>
          <a:xfrm>
            <a:off x="4413504" y="3136392"/>
            <a:ext cx="3361944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Neutrophil recovery</a:t>
            </a:r>
            <a:endParaRPr lang="en-US" sz="1400" dirty="0"/>
          </a:p>
        </p:txBody>
      </p:sp>
      <p:sp>
        <p:nvSpPr>
          <p:cNvPr id="16" name="Box 34"/>
          <p:cNvSpPr txBox="1"/>
          <p:nvPr/>
        </p:nvSpPr>
        <p:spPr>
          <a:xfrm>
            <a:off x="4413504" y="3657600"/>
            <a:ext cx="3361944" cy="8229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Air crescent sign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094476" y="4480560"/>
            <a:ext cx="0" cy="25603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8" name="Box 35"/>
          <p:cNvSpPr txBox="1"/>
          <p:nvPr/>
        </p:nvSpPr>
        <p:spPr>
          <a:xfrm>
            <a:off x="4413504" y="4754880"/>
            <a:ext cx="3361944" cy="914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Usually a good outcome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822180" y="3063240"/>
            <a:ext cx="0" cy="57607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0" name="Text 36"/>
          <p:cNvSpPr txBox="1"/>
          <p:nvPr/>
        </p:nvSpPr>
        <p:spPr>
          <a:xfrm>
            <a:off x="8141208" y="3136392"/>
            <a:ext cx="3361944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Mucorales clue</a:t>
            </a:r>
            <a:endParaRPr lang="en-US" sz="1400" dirty="0"/>
          </a:p>
        </p:txBody>
      </p:sp>
      <p:sp>
        <p:nvSpPr>
          <p:cNvPr id="21" name="Box 37"/>
          <p:cNvSpPr txBox="1"/>
          <p:nvPr/>
        </p:nvSpPr>
        <p:spPr>
          <a:xfrm>
            <a:off x="8141208" y="3657600"/>
            <a:ext cx="3361944" cy="82296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Reversed (inversed) halo sign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9822180" y="4480560"/>
            <a:ext cx="0" cy="25603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3" name="Box 38"/>
          <p:cNvSpPr txBox="1"/>
          <p:nvPr/>
        </p:nvSpPr>
        <p:spPr>
          <a:xfrm>
            <a:off x="8141208" y="4754880"/>
            <a:ext cx="3361944" cy="914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More suggestive of mucormycosis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PROPHYLAXIS · PRE-ENGRAFTMENT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Pre-engraftment prophylaxis depends on the centre's mould incidence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Maertens JA. EBMT Handbook 8th ed. 2024; Ch. 37</a:t>
            </a:r>
            <a:endParaRPr lang="en-US" sz="1000" dirty="0"/>
          </a:p>
        </p:txBody>
      </p:sp>
      <p:graphicFrame>
        <p:nvGraphicFramePr>
          <p:cNvPr id="10" name="Table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1735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904488"/>
                <a:gridCol w="407822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Agent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Dose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ECIL grade or condition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Fluconazole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400 mg/day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Only if mould rate &lt; 5% plus</a:t>
                      </a:r>
                      <a:endParaRPr lang="en-US" sz="1400" dirty="0"/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mould-directed work-up or therapy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Itraconazole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200 mg IV q24h, then oral</a:t>
                      </a:r>
                      <a:endParaRPr lang="en-US" sz="1400" dirty="0"/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solution 200 mg q12h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B-I; better mould protection,</a:t>
                      </a:r>
                      <a:endParaRPr lang="en-US" sz="1400" dirty="0"/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limited by toxicity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Voriconazole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400 mg/day after loading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B-I; no FFS, OS or IFD gain</a:t>
                      </a:r>
                      <a:endParaRPr lang="en-US" sz="1400" dirty="0"/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over fluconazole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Micafungin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50 mg IV q24h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B-I if mould rate low;</a:t>
                      </a:r>
                      <a:endParaRPr lang="en-US" sz="1400" dirty="0"/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C-I if high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Posaconazole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Solution 200 mg q8h, or tablet/IV</a:t>
                      </a:r>
                      <a:endParaRPr lang="en-US" sz="1400" dirty="0"/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300 mg q24h after 300 mg q12h day 1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B-II; inferred from AML/MDS</a:t>
                      </a:r>
                      <a:endParaRPr lang="en-US" sz="1400" dirty="0"/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neutropenia data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Aerosolised L-AmB + fluconazole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Not for low-incidence centres;</a:t>
                      </a:r>
                      <a:endParaRPr lang="en-US" sz="1400" dirty="0"/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B-II in higher-risk centres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IV liposomal AmB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C-II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PROPHYLAXIS · GVHD AND PJP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Posaconazole covers GVHD and TMP/SMX covers PJP while IST lasts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Maertens JA. EBMT Handbook 8th ed. 2024; Ch. 37</a:t>
            </a:r>
            <a:endParaRPr lang="en-US" sz="1000" dirty="0"/>
          </a:p>
        </p:txBody>
      </p:sp>
      <p:graphicFrame>
        <p:nvGraphicFramePr>
          <p:cNvPr id="11" name="Table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17352" cy="914400"/>
        </p:xfrm>
        <a:graphic>
          <a:graphicData uri="http://schemas.openxmlformats.org/drawingml/2006/table">
            <a:tbl>
              <a:tblPr/>
              <a:tblGrid>
                <a:gridCol w="3191256"/>
                <a:gridCol w="3904488"/>
                <a:gridCol w="372160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Situation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Recommendation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Note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High-risk GVHD, post-engraftment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Posaconazole (A-I)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Large double-blind trial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High-risk GVHD, post-engraftment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Fluconazole strongly discouraged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High mould risk and mortality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Chronic GVHD subgroup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Posaconazole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No difference shown in the trial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PJP, primary prophylaxis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Oral TMP/SMX 2–3 times weekly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Engraftment to ≥ 6 months and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while IST continues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PJP, TMP/SMX not tolerated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Pentamidine, atovaquone, dapsone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Second-line alternatives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Environment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HEPA rooms or portable HEPA filters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No cover in the outpatient period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TREATMENT · STRATEGY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Diagnostic-driven therapy cuts antifungal use without raising mortality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Maertens JA. EBMT Handbook 8th ed. 2024; Ch. 37</a:t>
            </a:r>
            <a:endParaRPr lang="en-US" sz="1000" dirty="0"/>
          </a:p>
        </p:txBody>
      </p:sp>
      <p:sp>
        <p:nvSpPr>
          <p:cNvPr id="6" name="Box 41"/>
          <p:cNvSpPr txBox="1"/>
          <p:nvPr/>
        </p:nvSpPr>
        <p:spPr>
          <a:xfrm>
            <a:off x="2665476" y="2148840"/>
            <a:ext cx="6858000" cy="685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High-risk neutropenia with fever on antibacterials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094476" y="2834640"/>
            <a:ext cx="0" cy="22860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366772" y="3063240"/>
            <a:ext cx="7455408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366772" y="3063240"/>
            <a:ext cx="0" cy="57607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0" name="Text 42"/>
          <p:cNvSpPr txBox="1"/>
          <p:nvPr/>
        </p:nvSpPr>
        <p:spPr>
          <a:xfrm>
            <a:off x="685800" y="3136392"/>
            <a:ext cx="3361944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Empirical</a:t>
            </a:r>
            <a:endParaRPr lang="en-US" sz="1400" dirty="0"/>
          </a:p>
        </p:txBody>
      </p:sp>
      <p:sp>
        <p:nvSpPr>
          <p:cNvPr id="11" name="Box 43"/>
          <p:cNvSpPr txBox="1"/>
          <p:nvPr/>
        </p:nvSpPr>
        <p:spPr>
          <a:xfrm>
            <a:off x="685800" y="3657600"/>
            <a:ext cx="3361944" cy="8229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Fever after 5–7 days of antibiotics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366772" y="4480560"/>
            <a:ext cx="0" cy="25603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3" name="Box 44"/>
          <p:cNvSpPr txBox="1"/>
          <p:nvPr/>
        </p:nvSpPr>
        <p:spPr>
          <a:xfrm>
            <a:off x="685800" y="4754880"/>
            <a:ext cx="3361944" cy="914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Caspofungin 70→50 mg or L-AmB 3 mg/kg (A-I)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094476" y="3063240"/>
            <a:ext cx="0" cy="57607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5" name="Text 45"/>
          <p:cNvSpPr txBox="1"/>
          <p:nvPr/>
        </p:nvSpPr>
        <p:spPr>
          <a:xfrm>
            <a:off x="4413504" y="3136392"/>
            <a:ext cx="3361944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Pre-emptive</a:t>
            </a:r>
            <a:endParaRPr lang="en-US" sz="1400" dirty="0"/>
          </a:p>
        </p:txBody>
      </p:sp>
      <p:sp>
        <p:nvSpPr>
          <p:cNvPr id="16" name="Box 46"/>
          <p:cNvSpPr txBox="1"/>
          <p:nvPr/>
        </p:nvSpPr>
        <p:spPr>
          <a:xfrm>
            <a:off x="4413504" y="3657600"/>
            <a:ext cx="3361944" cy="82296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Positive GM, BDG, PCR or CT lesion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094476" y="4480560"/>
            <a:ext cx="0" cy="25603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8" name="Box 47"/>
          <p:cNvSpPr txBox="1"/>
          <p:nvPr/>
        </p:nvSpPr>
        <p:spPr>
          <a:xfrm>
            <a:off x="4413504" y="4754880"/>
            <a:ext cx="3361944" cy="914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Same day-42 mortality, less antifungal use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822180" y="3063240"/>
            <a:ext cx="0" cy="57607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0" name="Text 48"/>
          <p:cNvSpPr txBox="1"/>
          <p:nvPr/>
        </p:nvSpPr>
        <p:spPr>
          <a:xfrm>
            <a:off x="8141208" y="3136392"/>
            <a:ext cx="3361944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Directed</a:t>
            </a:r>
            <a:endParaRPr lang="en-US" sz="1400" dirty="0"/>
          </a:p>
        </p:txBody>
      </p:sp>
      <p:sp>
        <p:nvSpPr>
          <p:cNvPr id="21" name="Box 49"/>
          <p:cNvSpPr txBox="1"/>
          <p:nvPr/>
        </p:nvSpPr>
        <p:spPr>
          <a:xfrm>
            <a:off x="8141208" y="3657600"/>
            <a:ext cx="3361944" cy="8229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Proven or probable IFD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9822180" y="4480560"/>
            <a:ext cx="0" cy="25603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3" name="Box 50"/>
          <p:cNvSpPr txBox="1"/>
          <p:nvPr/>
        </p:nvSpPr>
        <p:spPr>
          <a:xfrm>
            <a:off x="8141208" y="4754880"/>
            <a:ext cx="3361944" cy="914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Drug chosen by the pathogen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TREATMENT · ASPERGILLOSIS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Voriconazole, isavuconazole or posaconazole is first line for aspergillosis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Maertens JA. EBMT Handbook 8th ed. 2024; Ch. 37</a:t>
            </a:r>
            <a:endParaRPr lang="en-US" sz="1000" dirty="0"/>
          </a:p>
        </p:txBody>
      </p:sp>
      <p:graphicFrame>
        <p:nvGraphicFramePr>
          <p:cNvPr id="13" name="Table 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173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078224"/>
                <a:gridCol w="381304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Option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Dose or evidence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Point to remember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Voriconazole (A-I)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 mg/kg twice on day 1,</a:t>
                      </a:r>
                      <a:endParaRPr lang="en-US" sz="1400" dirty="0"/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then 4 mg/kg twice daily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TDM; check drug–drug interactions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Isavuconazole (A-I)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200 mg t.i.d. for 2 days,</a:t>
                      </a:r>
                      <a:endParaRPr lang="en-US" sz="1400" dirty="0"/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then 200 mg daily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SECURE: as effective as voriconazole,</a:t>
                      </a:r>
                      <a:endParaRPr lang="en-US" sz="1400" dirty="0"/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day-42 mortality ≈ 20%; better tolerated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Posaconazole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Maertens 2021: as effective as</a:t>
                      </a:r>
                      <a:endParaRPr lang="en-US" sz="1400" dirty="0"/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voriconazole, safer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Now a drug of choice;</a:t>
                      </a:r>
                      <a:endParaRPr lang="en-US" sz="1400" dirty="0"/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limited CNS penetration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Azole + echinocandin upfront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Marr 2015: not superior</a:t>
                      </a:r>
                      <a:endParaRPr lang="en-US" sz="1400" dirty="0"/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to monotherapy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Not recommended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Liposomal AmB 3 mg/kg (B-I)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Alternative primary therapy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Azole intolerance, interactions,</a:t>
                      </a:r>
                      <a:endParaRPr lang="en-US" sz="1400" dirty="0"/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prior azole, azole resistance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AmB deoxycholate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A-I against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Less effective and more toxic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TREATMENT · ASPERGILLOSIS COURSE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Aspergillosis therapy lasts 6–12 weeks, and early CT growth is expected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Maertens JA. EBMT Handbook 8th ed. 2024; Ch. 37</a:t>
            </a:r>
            <a:endParaRPr lang="en-US" sz="1000" dirty="0"/>
          </a:p>
        </p:txBody>
      </p:sp>
      <p:sp>
        <p:nvSpPr>
          <p:cNvPr id="6" name="Box 52"/>
          <p:cNvSpPr txBox="1"/>
          <p:nvPr/>
        </p:nvSpPr>
        <p:spPr>
          <a:xfrm>
            <a:off x="685800" y="2606040"/>
            <a:ext cx="2327148" cy="173736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Week 1: lesions may grow; not failure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3067812" y="3474720"/>
            <a:ext cx="393192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8" name="Box 53"/>
          <p:cNvSpPr txBox="1"/>
          <p:nvPr/>
        </p:nvSpPr>
        <p:spPr>
          <a:xfrm>
            <a:off x="3515868" y="2606040"/>
            <a:ext cx="2327148" cy="17373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Falling serum GM tracks response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897880" y="3474720"/>
            <a:ext cx="393192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0" name="Box 54"/>
          <p:cNvSpPr txBox="1"/>
          <p:nvPr/>
        </p:nvSpPr>
        <p:spPr>
          <a:xfrm>
            <a:off x="6345936" y="2606040"/>
            <a:ext cx="2327148" cy="17373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Treat for 6–12 weeks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8727948" y="3474720"/>
            <a:ext cx="393192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2" name="Box 55"/>
          <p:cNvSpPr txBox="1"/>
          <p:nvPr/>
        </p:nvSpPr>
        <p:spPr>
          <a:xfrm>
            <a:off x="9176004" y="2606040"/>
            <a:ext cx="2327148" cy="17373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Secondary prophylaxis while IST continues</a:t>
            </a:r>
            <a:endParaRPr lang="en-US" sz="1700" dirty="0"/>
          </a:p>
        </p:txBody>
      </p:sp>
      <p:sp>
        <p:nvSpPr>
          <p:cNvPr id="13" name="Text 56"/>
          <p:cNvSpPr txBox="1"/>
          <p:nvPr/>
        </p:nvSpPr>
        <p:spPr>
          <a:xfrm>
            <a:off x="685800" y="4754880"/>
            <a:ext cx="10817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Salvage therapy: global response about 40%, whatever the drug. Expert guidance on when to switch: Slavin 2021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TREATMENT · NON-ASPERGILLUS MOULDS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Mucormycosis needs lipid amphotericin B; fusariosis needs voriconazole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Maertens JA. EBMT Handbook 8th ed. 2024; Ch. 37</a:t>
            </a:r>
            <a:endParaRPr lang="en-US" sz="1000" dirty="0"/>
          </a:p>
        </p:txBody>
      </p:sp>
      <p:graphicFrame>
        <p:nvGraphicFramePr>
          <p:cNvPr id="15" name="Table 5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17352" cy="914400"/>
        </p:xfrm>
        <a:graphic>
          <a:graphicData uri="http://schemas.openxmlformats.org/drawingml/2006/table">
            <a:tbl>
              <a:tblPr/>
              <a:tblGrid>
                <a:gridCol w="2660904"/>
                <a:gridCol w="4169664"/>
                <a:gridCol w="398678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Mould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First line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Afterwards or alternative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Mucorales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Lipid AmB 5–10 mg/kg + surgical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debridement + control of host factors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Oral posaconazole or isavuconazole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once stable, guided by susceptibility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Mucorales (ECIL-6 table)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L-AmB 5 mg/kg (B-II); preferred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in CNS infection or renal failure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Posaconazole first line C-III: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no supporting data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Fusarium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Voriconazole + surgical debridement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Posaconazole as salvage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Scedosporium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Voriconazole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Lomentospora prolificans: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no standard treatment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Acremonium, Scopulariopsis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No established optimal therapy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Olorofim in late-stage development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TREATMENT · CANDIDA AND PJP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Echinocandins treat candidaemia; high-dose TMP/SMX treats PJP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Maertens JA. EBMT Handbook 8th ed. 2024; Ch. 37</a:t>
            </a:r>
            <a:endParaRPr lang="en-US" sz="1000" dirty="0"/>
          </a:p>
        </p:txBody>
      </p:sp>
      <p:graphicFrame>
        <p:nvGraphicFramePr>
          <p:cNvPr id="16" name="Table 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08208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986784"/>
                <a:gridCol w="398678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Topic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Recommendation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Details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Candidaemia, invasive candidiasis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Echinocandin first line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Step down when stable, after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species and susceptibility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Candidaemia: catheter and duration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Remove the CVC (strongly advised)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14 days after the last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positive blood culture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Fluconazole-era species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N. glabrata, C. krusei: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fluconazole-resistant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C. parapsilosis predominates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in southern Europe, Asia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Candida auris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Multidrug or pandrug resistance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Misidentified; susceptibility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testing is vital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PJP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High-dose TMP/SMX for 3 weeks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Alternative: primaquine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+ clindamycin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PJP: after treatment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Secondary prophylaxis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Glucocorticoids case by case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TREATMENT · DRUG MONITORING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Azole TDM targets are 1–6, 2–4, and above 0.7 or 1 mg/L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Maertens JA. EBMT Handbook 8th ed. 2024; Ch. 37</a:t>
            </a:r>
            <a:endParaRPr lang="en-US" sz="1000" dirty="0"/>
          </a:p>
        </p:txBody>
      </p:sp>
      <p:sp>
        <p:nvSpPr>
          <p:cNvPr id="6" name="Text 59"/>
          <p:cNvSpPr txBox="1"/>
          <p:nvPr/>
        </p:nvSpPr>
        <p:spPr>
          <a:xfrm>
            <a:off x="685800" y="2423160"/>
            <a:ext cx="33009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1–6</a:t>
            </a:r>
            <a:endParaRPr lang="en-US" sz="6000" dirty="0"/>
          </a:p>
        </p:txBody>
      </p:sp>
      <p:sp>
        <p:nvSpPr>
          <p:cNvPr id="7" name="Text 60"/>
          <p:cNvSpPr txBox="1"/>
          <p:nvPr/>
        </p:nvSpPr>
        <p:spPr>
          <a:xfrm>
            <a:off x="685800" y="3337560"/>
            <a:ext cx="33009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Voriconazole plasma target, mg/L (prophylaxis and treatment)</a:t>
            </a:r>
            <a:endParaRPr lang="en-US" sz="1800" dirty="0"/>
          </a:p>
        </p:txBody>
      </p:sp>
      <p:sp>
        <p:nvSpPr>
          <p:cNvPr id="8" name="Text 61"/>
          <p:cNvSpPr txBox="1"/>
          <p:nvPr/>
        </p:nvSpPr>
        <p:spPr>
          <a:xfrm>
            <a:off x="4443984" y="2423160"/>
            <a:ext cx="33009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2–4</a:t>
            </a:r>
            <a:endParaRPr lang="en-US" sz="6000" dirty="0"/>
          </a:p>
        </p:txBody>
      </p:sp>
      <p:sp>
        <p:nvSpPr>
          <p:cNvPr id="9" name="Text 62"/>
          <p:cNvSpPr txBox="1"/>
          <p:nvPr/>
        </p:nvSpPr>
        <p:spPr>
          <a:xfrm>
            <a:off x="4443984" y="3337560"/>
            <a:ext cx="33009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Isavuconazole target, mg/L</a:t>
            </a:r>
            <a:endParaRPr lang="en-US" sz="1800" dirty="0"/>
          </a:p>
        </p:txBody>
      </p:sp>
      <p:sp>
        <p:nvSpPr>
          <p:cNvPr id="10" name="Text 63"/>
          <p:cNvSpPr txBox="1"/>
          <p:nvPr/>
        </p:nvSpPr>
        <p:spPr>
          <a:xfrm>
            <a:off x="8202168" y="2423160"/>
            <a:ext cx="33009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&gt;0.7/&gt;1</a:t>
            </a:r>
            <a:endParaRPr lang="en-US" sz="6000" dirty="0"/>
          </a:p>
        </p:txBody>
      </p:sp>
      <p:sp>
        <p:nvSpPr>
          <p:cNvPr id="11" name="Text 64"/>
          <p:cNvSpPr txBox="1"/>
          <p:nvPr/>
        </p:nvSpPr>
        <p:spPr>
          <a:xfrm>
            <a:off x="8202168" y="3337560"/>
            <a:ext cx="33009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Posaconazole plasma target, mg/L: prophylaxis / treatment</a:t>
            </a:r>
            <a:endParaRPr lang="en-US" sz="1800" dirty="0"/>
          </a:p>
        </p:txBody>
      </p:sp>
      <p:sp>
        <p:nvSpPr>
          <p:cNvPr id="12" name="Rule 65"/>
          <p:cNvSpPr/>
          <p:nvPr/>
        </p:nvSpPr>
        <p:spPr>
          <a:xfrm>
            <a:off x="685800" y="4800600"/>
            <a:ext cx="10817352" cy="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</p:sp>
      <p:sp>
        <p:nvSpPr>
          <p:cNvPr id="13" name="Text 66"/>
          <p:cNvSpPr txBox="1"/>
          <p:nvPr/>
        </p:nvSpPr>
        <p:spPr>
          <a:xfrm>
            <a:off x="685800" y="4983480"/>
            <a:ext cx="10817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ECIL-6 recommends TDM because azole exposure and drug interactions are unpredictable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BOARD-STYLE QUESTION 1 OF 3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Question 1: prophylaxis once GVHD appears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Maertens JA. EBMT Handbook 8th ed. 2024; Ch. 37</a:t>
            </a:r>
            <a:endParaRPr lang="en-US" sz="1000" dirty="0"/>
          </a:p>
        </p:txBody>
      </p:sp>
      <p:sp>
        <p:nvSpPr>
          <p:cNvPr id="6" name="Text 67"/>
          <p:cNvSpPr txBox="1"/>
          <p:nvPr/>
        </p:nvSpPr>
        <p:spPr>
          <a:xfrm>
            <a:off x="685800" y="2194560"/>
            <a:ext cx="10817352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A 42-year-old woman with AML is on day +38 after matched unrelated donor allo-HCT. She engrafted on day +18 and has received fluconazole 400 mg/day as antifungal prophylaxis. She now has grade III acute GVHD of the skin and gut and starts high-dose corticosteroids. What is the best antifungal prophylaxis from now on?</a:t>
            </a:r>
            <a:endParaRPr lang="en-US" sz="1900" dirty="0"/>
          </a:p>
        </p:txBody>
      </p:sp>
      <p:sp>
        <p:nvSpPr>
          <p:cNvPr id="7" name="Text 68"/>
          <p:cNvSpPr txBox="1"/>
          <p:nvPr/>
        </p:nvSpPr>
        <p:spPr>
          <a:xfrm>
            <a:off x="960120" y="3922776"/>
            <a:ext cx="10543032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A.  Continue fluconazole 400 mg/day with weekly serum galactomannan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B.  Switch to posaconazole, with a plasma target above 0.7 mg/L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C.  Switch to micafungin 50 mg IV daily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D.  Add aerosolised liposomal amphotericin B to fluconazole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E.  Stop prophylaxis and start empirical therapy if fever recurs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BOARD-STYLE QUESTION 1 OF 3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Answer B: switch to posaconazole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Maertens JA. EBMT Handbook 8th ed. 2024; Ch. 37</a:t>
            </a:r>
            <a:endParaRPr lang="en-US" sz="1000" dirty="0"/>
          </a:p>
        </p:txBody>
      </p:sp>
      <p:sp>
        <p:nvSpPr>
          <p:cNvPr id="6" name="Box 69"/>
          <p:cNvSpPr txBox="1"/>
          <p:nvPr/>
        </p:nvSpPr>
        <p:spPr>
          <a:xfrm>
            <a:off x="685800" y="1783080"/>
            <a:ext cx="10817352" cy="73152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B.  Switch to posaconazole, with a plasma target above 0.7 mg/L</a:t>
            </a:r>
            <a:endParaRPr lang="en-US" sz="2000" dirty="0"/>
          </a:p>
        </p:txBody>
      </p:sp>
      <p:sp>
        <p:nvSpPr>
          <p:cNvPr id="7" name="Text 70"/>
          <p:cNvSpPr txBox="1"/>
          <p:nvPr/>
        </p:nvSpPr>
        <p:spPr>
          <a:xfrm>
            <a:off x="685800" y="2788920"/>
            <a:ext cx="1081735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In high-risk GVHD, ECIL strongly advises against fluconazole; posaconazole is the drug of choice (A-I, large double-blind trial). The prophylactic posaconazole target is &gt; 0.7 mg/L. Micafungin and aerosolised L-AmB data come from the pre-engraftment phase.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BOARD-STYLE QUESTION 2 OF 3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Question 2: a lung lesion with negative antigens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Maertens JA. EBMT Handbook 8th ed. 2024; Ch. 37</a:t>
            </a:r>
            <a:endParaRPr lang="en-US" sz="1000" dirty="0"/>
          </a:p>
        </p:txBody>
      </p:sp>
      <p:sp>
        <p:nvSpPr>
          <p:cNvPr id="6" name="Text 71"/>
          <p:cNvSpPr txBox="1"/>
          <p:nvPr/>
        </p:nvSpPr>
        <p:spPr>
          <a:xfrm>
            <a:off x="685800" y="2194560"/>
            <a:ext cx="10817352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A 57-year-old man on day +120 after haploidentical HCT receives corticosteroids for GVHD and voriconazole prophylaxis. He develops fever and facial pain. Chest CT shows a reversed halo sign; sinus CT shows maxillary opacification with bone erosion. Serum galactomannan is &lt; 0.5 on two samples and β-D-glucan is negative. What is the most appropriate management?</a:t>
            </a:r>
            <a:endParaRPr lang="en-US" sz="1900" dirty="0"/>
          </a:p>
        </p:txBody>
      </p:sp>
      <p:sp>
        <p:nvSpPr>
          <p:cNvPr id="7" name="Text 72"/>
          <p:cNvSpPr txBox="1"/>
          <p:nvPr/>
        </p:nvSpPr>
        <p:spPr>
          <a:xfrm>
            <a:off x="960120" y="3922776"/>
            <a:ext cx="10543032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A.  Switch to isavuconazole 200 mg t.i.d. for 2 days, then daily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B.  Lipid amphotericin B 5–10 mg/kg plus surgical debridement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C.  Caspofungin 70 mg on day 1, then 50 mg daily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D.  Continue voriconazole; negative GM and BDG exclude mould disease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E.  Add anidulafungin to voriconazole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BOARD-STYLE QUESTION 2 OF 3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Answer B: lipid amphotericin and surgery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Maertens JA. EBMT Handbook 8th ed. 2024; Ch. 37</a:t>
            </a:r>
            <a:endParaRPr lang="en-US" sz="1000" dirty="0"/>
          </a:p>
        </p:txBody>
      </p:sp>
      <p:sp>
        <p:nvSpPr>
          <p:cNvPr id="6" name="Box 73"/>
          <p:cNvSpPr txBox="1"/>
          <p:nvPr/>
        </p:nvSpPr>
        <p:spPr>
          <a:xfrm>
            <a:off x="685800" y="1783080"/>
            <a:ext cx="10817352" cy="73152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B.  Lipid amphotericin B 5–10 mg/kg plus surgical debridement</a:t>
            </a:r>
            <a:endParaRPr lang="en-US" sz="2000" dirty="0"/>
          </a:p>
        </p:txBody>
      </p:sp>
      <p:sp>
        <p:nvSpPr>
          <p:cNvPr id="7" name="Text 74"/>
          <p:cNvSpPr txBox="1"/>
          <p:nvPr/>
        </p:nvSpPr>
        <p:spPr>
          <a:xfrm>
            <a:off x="685800" y="2788920"/>
            <a:ext cx="1081735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 reversed halo sign suggests mucormycosis, which GM and BDG do not detect. Lipid amphotericin B 5–10 mg/kg with surgical debridement and control of the underlying condition is first line. Posaconazole or isavuconazole is used orally only after stabilisation.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BOARD-STYLE QUESTION 3 OF 3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Question 3: yeast in the blood during neutropenia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Maertens JA. EBMT Handbook 8th ed. 2024; Ch. 37</a:t>
            </a:r>
            <a:endParaRPr lang="en-US" sz="1000" dirty="0"/>
          </a:p>
        </p:txBody>
      </p:sp>
      <p:sp>
        <p:nvSpPr>
          <p:cNvPr id="6" name="Text 75"/>
          <p:cNvSpPr txBox="1"/>
          <p:nvPr/>
        </p:nvSpPr>
        <p:spPr>
          <a:xfrm>
            <a:off x="685800" y="2194560"/>
            <a:ext cx="10817352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A 35-year-old woman with ALL is neutropenic on day +9 after myeloablative allo-HCT, on fluconazole prophylaxis, with a tunnelled central venous catheter. Blood cultures drawn on day +9 grow a yeast identified as Nakaseomyces (Candida) glabrata; cultures from day +11 onward are negative. Which management is most appropriate?</a:t>
            </a:r>
            <a:endParaRPr lang="en-US" sz="1900" dirty="0"/>
          </a:p>
        </p:txBody>
      </p:sp>
      <p:sp>
        <p:nvSpPr>
          <p:cNvPr id="7" name="Text 76"/>
          <p:cNvSpPr txBox="1"/>
          <p:nvPr/>
        </p:nvSpPr>
        <p:spPr>
          <a:xfrm>
            <a:off x="960120" y="3922776"/>
            <a:ext cx="10543032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A.  Increase fluconazole to 800 mg/day and keep the catheter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B.  Echinocandin, remove the catheter, treat 14 days after the last positive culture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C.  Echinocandin, keep the catheter, stop at neutrophil recovery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D.  Liposomal amphotericin B 3 mg/kg empirically for 7 days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E.  Voriconazole, remove the catheter, treat for 6–12 weeks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BOARD-STYLE QUESTION 3 OF 3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Answer B: echinocandin, remove the line, 14 days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Maertens JA. EBMT Handbook 8th ed. 2024; Ch. 37</a:t>
            </a:r>
            <a:endParaRPr lang="en-US" sz="1000" dirty="0"/>
          </a:p>
        </p:txBody>
      </p:sp>
      <p:sp>
        <p:nvSpPr>
          <p:cNvPr id="6" name="Box 77"/>
          <p:cNvSpPr txBox="1"/>
          <p:nvPr/>
        </p:nvSpPr>
        <p:spPr>
          <a:xfrm>
            <a:off x="685800" y="2240280"/>
            <a:ext cx="10817352" cy="73152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B.  Echinocandin, remove the catheter, treat 14 days after the last positive culture</a:t>
            </a:r>
            <a:endParaRPr lang="en-US" sz="2000" dirty="0"/>
          </a:p>
        </p:txBody>
      </p:sp>
      <p:sp>
        <p:nvSpPr>
          <p:cNvPr id="7" name="Text 78"/>
          <p:cNvSpPr txBox="1"/>
          <p:nvPr/>
        </p:nvSpPr>
        <p:spPr>
          <a:xfrm>
            <a:off x="685800" y="3246120"/>
            <a:ext cx="1081735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Echinocandins are first line for candidaemia, with step-down once stable and susceptibilities known. N. glabrata is often fluconazole-resistant. Catheter removal is strongly recommended. Treat 14 days after the last positive blood culture (here to about day +23; speaker's arithmetic).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REFERENCES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References, part 1 of 2</a:t>
            </a:r>
            <a:endParaRPr lang="en-US" sz="3600" dirty="0"/>
          </a:p>
        </p:txBody>
      </p:sp>
      <p:sp>
        <p:nvSpPr>
          <p:cNvPr id="5" name="Text 79"/>
          <p:cNvSpPr txBox="1"/>
          <p:nvPr/>
        </p:nvSpPr>
        <p:spPr>
          <a:xfrm>
            <a:off x="685800" y="2103120"/>
            <a:ext cx="51206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1. Maertens JA. Invasive fungal diseases. In: Sureda A, Corbacioglu S, Greco R, Kröger N, Carreras E, editors. The EBMT Handbook: Hematopoietic Cell Transplantation and Cellular Therapies. 8th ed. Cham: Springer; 2024. p. 321–9. https://doi.org/10.1007/978-3-031-44080-9_37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2. Cesaro S, Tridello G, Blijlevens NS, et al. Incidence, risk factors and long-term outcome of acute Leukemia patients with early candidemia after allogeneic stem cell transplantation. a study by the acute Leukemia and infectious diseases working parties of EBMT. Clin Infect Dis 2018. https://doi.org/10.1093/cid/ciy150. [Epub ahead of print].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3. Yang J, Zhang J, Wei J, et al. Prolonged duration of lymphocyte deficiency, high-grade CRS, and ventilation are linked to fungal breakthrough in patients with hematologic malignancies 60 days after CAR-T infusion: a single center case-control study. J Infect Public Health. 2022;12:1521–30.</a:t>
            </a:r>
            <a:endParaRPr lang="en-US" sz="1100" dirty="0"/>
          </a:p>
        </p:txBody>
      </p:sp>
      <p:sp>
        <p:nvSpPr>
          <p:cNvPr id="6" name="Text 80"/>
          <p:cNvSpPr txBox="1"/>
          <p:nvPr/>
        </p:nvSpPr>
        <p:spPr>
          <a:xfrm>
            <a:off x="6400800" y="2103120"/>
            <a:ext cx="51206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4. White PL, Barnes RA, Springer JS, et al. Clinical performance of aspergillus PCR for testing serum and plasma: a study by the European aspergillus PCR initiative. J Clin Microbiol. 2015;53:2832–7.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5. Mylonakis E, Clancy CJ, Ostrosky-Zeichner L, et al. T2 magnetic resonance assay for the rapid diagnosis of candidemia in whole blood: a clinical trial. Clin Infect Dis. 2015;60:892–9.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6. Maertens J, Lodewyck T, Donnelly JP, et al. Empiric vs preemptive antifungal strategy in high-risk neutropenic patients on fluconazole prophylaxis: a randomized trial of the European Organization for Research and Treatment of Cancer. Clin Infect Dis. 2023;76(4):674–82.</a:t>
            </a:r>
            <a:endParaRPr lang="en-US" sz="1100" dirty="0"/>
          </a:p>
        </p:txBody>
      </p:sp>
      <p:sp>
        <p:nvSpPr>
          <p:cNvPr id="7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REFERENCES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References, part 2 of 2</a:t>
            </a:r>
            <a:endParaRPr lang="en-US" sz="3600" dirty="0"/>
          </a:p>
        </p:txBody>
      </p:sp>
      <p:sp>
        <p:nvSpPr>
          <p:cNvPr id="5" name="Text 81"/>
          <p:cNvSpPr txBox="1"/>
          <p:nvPr/>
        </p:nvSpPr>
        <p:spPr>
          <a:xfrm>
            <a:off x="685800" y="2103120"/>
            <a:ext cx="51206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7. Tissot F, Agrawal S, Pagano L, et al. ECIL-6 guidelines for the treatment of invasive candidiasis, aspergillosis and mucormycosis in leukemia and hematopoietic stem cell transplant patients. Haematologica. 2017;102:433–44.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8. Maertens JA, Raad II, Marr KA, et al. Isavuconazole versus voriconazole for primary treatment of invasive mould disease caused by aspergillus and other filamentous fungi (SECURE): a phase 3, randomised-controlled, non-inferiority trial. Lancet. 2016c;387:760–9.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9. Maertens JA, Rahav G, Lee DG, et al. Posaconazole versus voriconazole for primary treatment of invasive aspergillosis: a phase 3, randomised, controlled, non-inferiority trial. Lancet. 2021;397(10273):499–509.</a:t>
            </a:r>
            <a:endParaRPr lang="en-US" sz="1100" dirty="0"/>
          </a:p>
        </p:txBody>
      </p:sp>
      <p:sp>
        <p:nvSpPr>
          <p:cNvPr id="6" name="Text 82"/>
          <p:cNvSpPr txBox="1"/>
          <p:nvPr/>
        </p:nvSpPr>
        <p:spPr>
          <a:xfrm>
            <a:off x="6400800" y="2103120"/>
            <a:ext cx="51206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10. Marr KA, Schlamm HT, Herbrecht R, et al. Combination antifungal therapy for invasive aspergillosis: a randomized trial. Ann Intern Med. 2015;162:81–9.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11. Andes DR, Safdar N, Baddley JW, et al. Impact of treatment strategy on outcomes in patients with candidemia and other forms of invasive candidiasis: a patient-level quantitative review of randomized trials. Clin Infect Dis. 2012;54:1110–22.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12. Maschmeyer G, Helweg-Larsen J, Pagano L, et al. ECIL guidelines for treatment of pneumocystis jirovecii pneumonia in non-HIV-infected haematology patients. J Antimicrob Chemother. 2016;71:2405–13.</a:t>
            </a:r>
            <a:endParaRPr lang="en-US" sz="1100" dirty="0"/>
          </a:p>
        </p:txBody>
      </p:sp>
      <p:sp>
        <p:nvSpPr>
          <p:cNvPr id="7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BACKUP · BACKUP · TABLE 37.2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ECIL-6 grades the polyenes and second-line options for both moulds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Maertens JA. EBMT Handbook 8th ed. 2024; Ch. 37</a:t>
            </a:r>
            <a:endParaRPr lang="en-US" sz="1000" dirty="0"/>
          </a:p>
        </p:txBody>
      </p:sp>
      <p:graphicFrame>
        <p:nvGraphicFramePr>
          <p:cNvPr id="26" name="Table 8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26496" cy="914400"/>
        </p:xfrm>
        <a:graphic>
          <a:graphicData uri="http://schemas.openxmlformats.org/drawingml/2006/table">
            <a:tbl>
              <a:tblPr/>
              <a:tblGrid>
                <a:gridCol w="3547872"/>
                <a:gridCol w="3639312"/>
                <a:gridCol w="36393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Drug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Invasive aspergillosis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Mucormycosis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Liposomal AmB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B-I; 3 mg/kg/day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B-II; 5 mg/kg/day; preferred in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CNS infection or renal failure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AmB lipid complex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B-II; 5 mg/kg/day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B-II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AmB colloidal dispersion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C-I; less nephrotoxic, not more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effective than deoxycholate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C-II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AmB deoxycholate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A-I against: less effective,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more toxic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C-II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Posaconazole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Not in ECIL-6 table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C-III: no data for first line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Caspofungin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C-II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Itraconazole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C-III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Combinations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Anidulafungin + voriconazole C-I;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others C-III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C-III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BACKUP · BACKUP · PROPHYLAXIS TRIALS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Each pre-engraftment prophylaxis grade rests on a specific trial flaw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Maertens JA. EBMT Handbook 8th ed. 2024; Ch. 37</a:t>
            </a:r>
            <a:endParaRPr lang="en-US" sz="1000" dirty="0"/>
          </a:p>
        </p:txBody>
      </p:sp>
      <p:graphicFrame>
        <p:nvGraphicFramePr>
          <p:cNvPr id="27" name="Table 8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17352" cy="914400"/>
        </p:xfrm>
        <a:graphic>
          <a:graphicData uri="http://schemas.openxmlformats.org/drawingml/2006/table">
            <a:tbl>
              <a:tblPr/>
              <a:tblGrid>
                <a:gridCol w="3191256"/>
                <a:gridCol w="3904488"/>
                <a:gridCol w="372160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Comparison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Result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Why the grade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Voriconazole vs fluconazole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No difference in FFS, OS, IFD,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IA, empirical use or toxicity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B-I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Voriconazole vs itraconazole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oral solution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Better composite end point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Driven by longer tolerated use,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not efficacy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Itraconazole vs fluconazole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Better protection against moulds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B-I; toxicity and tolerability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Micafungin vs fluconazole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Favoured micafungin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Low-risk population; no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pre-defined IFD work-up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Posaconazole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No pre-engraftment HCT study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B-II; AML/MDS data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BACKUP · BACKUP · NOVEL AGENTS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Three novel antifungals are in clinical evaluation for HCT patients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Maertens JA. EBMT Handbook 8th ed. 2024; Ch. 37</a:t>
            </a:r>
            <a:endParaRPr lang="en-US" sz="1000" dirty="0"/>
          </a:p>
        </p:txBody>
      </p:sp>
      <p:sp>
        <p:nvSpPr>
          <p:cNvPr id="6" name="Text 85"/>
          <p:cNvSpPr txBox="1"/>
          <p:nvPr/>
        </p:nvSpPr>
        <p:spPr>
          <a:xfrm>
            <a:off x="685800" y="2240280"/>
            <a:ext cx="1081735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Rezafungin: long-acting echinocandin, studied as prophylaxis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Olorofim: first-in-class orotomide for moulds with few options; not Mucorales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Olorofim is active against Lomentospora prolificans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Opelconazole: azole for inhalation, adjunct to salvage therapy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Azole resistance in Aspergillus is emerging in some European centres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nochrome">
  <a:themeElements>
    <a:clrScheme name="Monochrom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00000"/>
      </a:accent1>
      <a:accent2>
        <a:srgbClr val="000000"/>
      </a:accent2>
      <a:accent3>
        <a:srgbClr val="000000"/>
      </a:accent3>
      <a:accent4>
        <a:srgbClr val="000000"/>
      </a:accent4>
      <a:accent5>
        <a:srgbClr val="000000"/>
      </a:accent5>
      <a:accent6>
        <a:srgbClr val="000000"/>
      </a:accent6>
      <a:hlink>
        <a:srgbClr val="000000"/>
      </a:hlink>
      <a:folHlink>
        <a:srgbClr val="000000"/>
      </a:folHlink>
    </a:clrScheme>
    <a:fontScheme name="Monochrom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Invasive fungal diseases</dc:title>
  <dc:subject>PptxGenJS Presentation</dc:subject>
  <dc:creator>Hsieh-Ting Lin, MD</dc:creator>
  <cp:lastModifiedBy>Hsieh-Ting Lin, MD</cp:lastModifiedBy>
  <cp:revision>1</cp:revision>
  <dcterms:created xsi:type="dcterms:W3CDTF">2026-10-09T16:08:57Z</dcterms:created>
  <dcterms:modified xsi:type="dcterms:W3CDTF">2026-10-09T16:08:57Z</dcterms:modified>
</cp:coreProperties>
</file>