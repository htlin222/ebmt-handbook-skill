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63315ec-73fc-e920-5860-de87361df3d5}">
          <p14:sldIdLst>
            <p14:sldId id="256"/>
            <p14:sldId id="257"/>
          </p14:sldIdLst>
        </p14:section>
        <p14:section name="SOS/VOD" id="{fc04d6e8-dd45-bcb1-2dab-5a1ed27dfc74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ndothelial syndromes" id="{78b90bf9-3bb0-54f8-44cb-89a05b406da3}">
          <p14:sldIdLst>
            <p14:sldId id="265"/>
            <p14:sldId id="266"/>
          </p14:sldIdLst>
        </p14:section>
        <p14:section name="TA-TMA and PRES" id="{31c4f476-8ecd-0776-027f-444319e92fea}">
          <p14:sldIdLst>
            <p14:sldId id="267"/>
            <p14:sldId id="268"/>
            <p14:sldId id="269"/>
          </p14:sldIdLst>
        </p14:section>
        <p14:section name="Board questions" id="{64090f2c-3b34-d7c9-7edd-5f4739f6f77e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References" id="{41762e36-1634-1625-5a15-c6c513d52359}">
          <p14:sldIdLst>
            <p14:sldId id="276"/>
            <p14:sldId id="277"/>
          </p14:sldIdLst>
        </p14:section>
        <p14:section name="Backup" id="{2386be17-cb86-e439-8e3f-82937b3015af}">
          <p14:sldIdLst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[0:30 本頁 · 0:00 至 0:30]</a:t>
            </a:r>
          </a:p>
          <a:p>
            <a:pPr>
              <a:spcAft>
                <a:spcPts val="600"/>
              </a:spcAft>
            </a:pPr>
            <a:r>
              <a:rPr lang="en-US" dirty="0"/>
              <a:t>各位早安。今天是第 13 堂，主題是 SOS/VOD，以及移植早期一群源自血管內皮的併發症。</a:t>
            </a:r>
          </a:p>
          <a:p>
            <a:pPr>
              <a:spcAft>
                <a:spcPts val="600"/>
              </a:spcAft>
            </a:pPr>
            <a:r>
              <a:rPr lang="en-US" dirty="0"/>
              <a:t>內容來自 EBMT Handbook 第八版第 49 章的肝臟併發症，和第 42 章的 early complications of endothelial origin。這兩章的作者群重疊，觀點一致，最後留三題 board-style 題目給大家練習。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0:30 至 1:30]</a:t>
            </a:r>
          </a:p>
          <a:p>
            <a:pPr>
              <a:spcAft>
                <a:spcPts val="600"/>
              </a:spcAft>
            </a:pPr>
            <a:r>
              <a:rPr lang="en-US" dirty="0"/>
              <a:t>今天分成四段。第一段是成人的 SOS/VOD，從機轉和 risk factors 講起，接著是 EBMT 2023 的診斷分類、嚴重度分級，以及 defibrotide 什麼時候開始用。這一段份量最重，大約十分鐘。</a:t>
            </a:r>
          </a:p>
          <a:p>
            <a:pPr>
              <a:spcAft>
                <a:spcPts val="600"/>
              </a:spcAft>
            </a:pPr>
            <a:r>
              <a:rPr lang="en-US" dirty="0"/>
              <a:t>第二段是兒童。兒童的 SOS/VOD 常常沒有黃疸，所以有自己的一套 pEBMT criteria；預防性 defibrotide 在兒童還有爭議，也會一併帶到。</a:t>
            </a:r>
          </a:p>
          <a:p>
            <a:pPr>
              <a:spcAft>
                <a:spcPts val="600"/>
              </a:spcAft>
            </a:pPr>
            <a:r>
              <a:rPr lang="en-US" dirty="0"/>
              <a:t>第三段是 fluid overload、capillary leak、engraftment syndrome 和 pre-engraftment syndrome，這四個在病房很容易混在一起，重點放在怎麼分辨。</a:t>
            </a:r>
          </a:p>
          <a:p>
            <a:pPr>
              <a:spcAft>
                <a:spcPts val="600"/>
              </a:spcAft>
            </a:pPr>
            <a:r>
              <a:rPr lang="en-US" dirty="0"/>
              <a:t>最後是 TA-TMA 和 PRES，再用三題考題收尾。B 型肝炎預防等內容放在 backup。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章的 EASIX 和 biomarker 不另開一段，會穿插在 SOS/VOD 和其他內皮症候群裡面。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1:30 至 3:00]</a:t>
            </a:r>
          </a:p>
          <a:p>
            <a:pPr>
              <a:spcAft>
                <a:spcPts val="600"/>
              </a:spcAft>
            </a:pPr>
            <a:r>
              <a:rPr lang="en-US" dirty="0"/>
              <a:t>先從機轉開始。SOS/VOD 的起點在肝臟 zone 3 的 sinusoidal endothelial cells。Conditioning 產生的 toxic metabolites，一邊傷害肝細胞，一邊活化 sinusoidal 內皮。</a:t>
            </a:r>
          </a:p>
          <a:p>
            <a:pPr>
              <a:spcAft>
                <a:spcPts val="600"/>
              </a:spcAft>
            </a:pPr>
            <a:r>
              <a:rPr lang="en-US" dirty="0"/>
              <a:t>活化的內皮細胞會腫起來，細胞之間出現縫隙。紅血球、白血球和細胞碎片從縫隙鑽進 space of Disse，把內皮層剝離。靜脈管腔越來越窄，血流出不去，最後形成 postsinusoidal portal hypertension。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章引用的動物模型也顯示，最早的形態變化就出現在肝竇內皮細胞，所以 SOS/VOD 被視為最典型的內皮症候群，後面講的 FOS、CLS、ES、TA-TMA 都屬於同一個家族。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臨床表現都能從這裡推出來，包括肝腫大、肝區疼痛、腹水、體重增加、黃疸，還有輸血也拉不上來的 refractory thrombocytopenia。</a:t>
            </a:r>
          </a:p>
          <a:p>
            <a:pPr>
              <a:spcAft>
                <a:spcPts val="600"/>
              </a:spcAft>
            </a:pPr>
            <a:r>
              <a:rPr lang="en-US" dirty="0"/>
              <a:t>成人發生率大約 5 到 15%，實際數字要看 risk factors 多寡和 conditioning 強度。大多數病人幾週內慢慢緩解，但 severe 的死亡率超過 80%。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章提到的 EASIX 在 day 0 測量，可以找出 SOS/VOD 的高風險族群，只是還需要更多研究才能放進常規。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3:00 至 5:00]</a:t>
            </a:r>
          </a:p>
          <a:p>
            <a:pPr>
              <a:spcAft>
                <a:spcPts val="600"/>
              </a:spcAft>
            </a:pPr>
            <a:r>
              <a:rPr lang="en-US" dirty="0"/>
              <a:t>這張表把 risk factors 分成三欄，分類的用意在於哪些可以事先避開。</a:t>
            </a:r>
          </a:p>
          <a:p>
            <a:pPr>
              <a:spcAft>
                <a:spcPts val="600"/>
              </a:spcAft>
            </a:pPr>
            <a:r>
              <a:rPr lang="en-US" dirty="0"/>
              <a:t>左邊是書上標粗體、relative risk 最高的五項。年紀大；女性正在使用 norethisterone；之前用過 gemtuzumab 或 inotuzumab ozogamicin；移植前 bilirubin 超過 26 μmol/L；以及原本就有肝病，像 fibrosis、cirrhosis 或 active viral hepatitis。</a:t>
            </a:r>
          </a:p>
          <a:p>
            <a:pPr>
              <a:spcAft>
                <a:spcPts val="600"/>
              </a:spcAft>
            </a:pPr>
            <a:r>
              <a:rPr lang="en-US" dirty="0"/>
              <a:t>中間是其他無法改變的因子。Second HCT、疾病超過第二次 CR 或在復發、Karnofsky 低於 90%、metabolic syndrome、ferritin 超過 1,000 的 iron overload、transaminase 超過上限 2.5 倍、hepatotoxic drugs，以及腹部或肝臟照射。</a:t>
            </a:r>
          </a:p>
          <a:p>
            <a:pPr>
              <a:spcAft>
                <a:spcPts val="600"/>
              </a:spcAft>
            </a:pPr>
            <a:r>
              <a:rPr lang="en-US" dirty="0"/>
              <a:t>右邊是可以調整的，也是預防的重點。MAC、口服或高劑量 busulfan、高劑量 treosulfan 或 TBI；unrelated 或 HLA-mismatched donor；sirolimus 加 MTX 加 tacrolimus，或 MTX 加 CNI 的 GVHD prophylaxis；還有 parenteral nutrition。</a:t>
            </a:r>
          </a:p>
          <a:p>
            <a:pPr>
              <a:spcAft>
                <a:spcPts val="600"/>
              </a:spcAft>
            </a:pPr>
            <a:r>
              <a:rPr lang="en-US" dirty="0"/>
              <a:t>Ozogamicin 這一項考試很常出。兒童在嬰兒期以外，風險最高的就是先用過 ozogamicin、再接 MAC 移植的病人。兒童還要加上兩歲以下、HLH、osteopetrosis、JMML、neuroblastoma，以及之前發生過 SOS/VOD。</a:t>
            </a:r>
          </a:p>
          <a:p>
            <a:pPr>
              <a:spcAft>
                <a:spcPts val="600"/>
              </a:spcAft>
            </a:pPr>
            <a:r>
              <a:rPr lang="en-US" dirty="0"/>
              <a:t>兒童的 iron overload 多見於長期輸血的 thalassemia、sickle cell 和 aplastic anemia；如果積極排鐵後鐵量仍降不下來，建議做肝切片看發炎程度，只有輕度發炎時風險相對有限。Busulfan 不論血中濃度如何都算 risk factor，treosulfan 對內皮的傷害則比較小。</a:t>
            </a:r>
          </a:p>
          <a:p>
            <a:pPr>
              <a:spcAft>
                <a:spcPts val="600"/>
              </a:spcAft>
            </a:pPr>
            <a:r>
              <a:rPr lang="en-US" dirty="0"/>
              <a:t>Risk factor 的數目也會影響分級，兩個以上，mild 和 moderate 就往上升一級。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5:00 至 7:00]</a:t>
            </a:r>
          </a:p>
          <a:p>
            <a:pPr>
              <a:spcAft>
                <a:spcPts val="600"/>
              </a:spcAft>
            </a:pPr>
            <a:r>
              <a:rPr lang="en-US" dirty="0"/>
              <a:t>成人診斷原本有兩套標準並存，1984 年的 Seattle 和 1987 年的 Baltimore。差別在 bilirubin，Baltimore 規定至少 2 mg/dL，Seattle 沒有。兩套都不適合早期診斷，也會漏掉 late-onset，所以 EBMT 2016 年提出修訂版，classical SOS/VOD 保留 Baltimore 的 bilirubin 門檻。</a:t>
            </a:r>
          </a:p>
          <a:p>
            <a:pPr>
              <a:spcAft>
                <a:spcPts val="600"/>
              </a:spcAft>
            </a:pPr>
            <a:r>
              <a:rPr lang="en-US" dirty="0"/>
              <a:t>可是有些病人還沒湊齊條件就已經很嚴重，治療因此延誤，所以 EBMT 2023 再加上 probable 這一類。</a:t>
            </a:r>
          </a:p>
          <a:p>
            <a:pPr>
              <a:spcAft>
                <a:spcPts val="600"/>
              </a:spcAft>
            </a:pPr>
            <a:r>
              <a:rPr lang="en-US" dirty="0"/>
              <a:t>Probable 是五項裡任兩項，包括 bilirubin ≥2、painful hepatomegaly、體重增加超過 5%、腹水，以及超音波或 elastography 符合。Clinical 一定要有 bilirubin ≥2，再加後三項中的兩項。Proven 是病理證實，或 HVPG ≥10 mmHg。</a:t>
            </a:r>
          </a:p>
          <a:p>
            <a:pPr>
              <a:spcAft>
                <a:spcPts val="600"/>
              </a:spcAft>
            </a:pPr>
            <a:r>
              <a:rPr lang="en-US" dirty="0"/>
              <a:t>Day 21 以內叫 classical，day 21 以後叫 late-onset，條件相同，只差時間。所有表現都要先排除其他原因。</a:t>
            </a:r>
          </a:p>
          <a:p>
            <a:pPr>
              <a:spcAft>
                <a:spcPts val="600"/>
              </a:spcAft>
            </a:pPr>
            <a:r>
              <a:rPr lang="en-US" dirty="0"/>
              <a:t>經頸靜脈測 HVPG 最準確，但它是侵入性檢查，多數中心無法常規做。Elastography 測 liver stiffness，敏感度和特異度都很好，治療有效後數值也會下降，所以被放進診斷標準。CT 和 MRI 則沒有特異發現。</a:t>
            </a:r>
          </a:p>
          <a:p>
            <a:pPr>
              <a:spcAft>
                <a:spcPts val="600"/>
              </a:spcAft>
            </a:pPr>
            <a:r>
              <a:rPr lang="en-US" dirty="0"/>
              <a:t>超音波可以看到肝脾腫大、膽囊壁增厚、腹水和門脈血流異常。門脈血流變慢或逆流比較特異，但不一定出現，而且通常很晚。Nishida 提出的 HokUS-10 是十項超音波評分，在 106 位病人中敏感度 100%、特異度 95.8%，還需要更大的驗證。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7:00 至 9:00]</a:t>
            </a:r>
          </a:p>
          <a:p>
            <a:pPr>
              <a:spcAft>
                <a:spcPts val="600"/>
              </a:spcAft>
            </a:pPr>
            <a:r>
              <a:rPr lang="en-US" dirty="0"/>
              <a:t>確診之後要馬上分級，因為分級直接決定什麼時候開始治療。EBMT 把成人 SOS/VOD 分成 mild、moderate、severe、very severe 四級，看五個參數，包括症狀出現多久、bilirubin 的數值和上升速度、transaminase、體重增加，以及和移植時相比的腎功能。</a:t>
            </a:r>
          </a:p>
          <a:p>
            <a:pPr>
              <a:spcAft>
                <a:spcPts val="600"/>
              </a:spcAft>
            </a:pPr>
            <a:r>
              <a:rPr lang="en-US" dirty="0"/>
              <a:t>某一欄符合兩項以上，就歸到那一級；兩欄都符合時，取比較嚴重的那一級。有兩個以上 risk factors 的病人，mild 和 moderate 要往上升一級。出現 multiple organ dysfunction 一律算 very severe，2023 年版把 MOD 定義為 SOFA score 兩個以上器官達 2 分以上。</a:t>
            </a:r>
          </a:p>
          <a:p>
            <a:pPr>
              <a:spcAft>
                <a:spcPts val="600"/>
              </a:spcAft>
            </a:pPr>
            <a:r>
              <a:rPr lang="en-US" dirty="0"/>
              <a:t>這些切點值得背起來。Bilirubin 是 2、3、5、8；48 小時內 doubling 算 severe；症狀出現四天以內算 severe；體重增加 5% 是 severe，10% 是 very severe；肌酸酐兩倍以上算 very severe。</a:t>
            </a:r>
          </a:p>
          <a:p>
            <a:pPr>
              <a:spcAft>
                <a:spcPts val="600"/>
              </a:spcAft>
            </a:pPr>
            <a:r>
              <a:rPr lang="en-US" dirty="0"/>
              <a:t>Yoon 2019 用 203 位病人驗證這套分級。Very severe 的 day 100 TRM 是 36.7%，其他三級都在 8.3% 以下。報告時也要寫明用的是診斷當下的分級，還是病程中最高的分級。</a:t>
            </a:r>
          </a:p>
          <a:p>
            <a:pPr>
              <a:spcAft>
                <a:spcPts val="600"/>
              </a:spcAft>
            </a:pPr>
            <a:r>
              <a:rPr lang="en-US" dirty="0"/>
              <a:t>分級要在確診之後使用，probable、clinical、proven 都適用。舉個例子，症狀第三天、體重增加 6%、bilirubin 4，severe 這一欄已經有兩項，即使 bilirubin 只到 moderate，也要歸在 severe。同一個研究裡，very severe 的 OS 是 58.6%，其他組是 89.3%。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9:00 至 10:30]</a:t>
            </a:r>
          </a:p>
          <a:p>
            <a:pPr>
              <a:spcAft>
                <a:spcPts val="600"/>
              </a:spcAft>
            </a:pPr>
            <a:r>
              <a:rPr lang="en-US" dirty="0"/>
              <a:t>分級之後，治療就很清楚。Defibrotide 是書上唯一用來治療 severe SOS/VOD 的藥，severe 和 very severe 一確診就要盡快開始。</a:t>
            </a:r>
          </a:p>
          <a:p>
            <a:pPr>
              <a:spcAft>
                <a:spcPts val="600"/>
              </a:spcAft>
            </a:pPr>
            <a:r>
              <a:rPr lang="en-US" dirty="0"/>
              <a:t>Moderate 也建議早點用。越早開始 day 100 OS 越好，而且 moderate 本身就有不小的死亡率。Mild 先做 supportive care，密切追蹤嚴重度指標，一旦變差就立刻開始 defibrotide。</a:t>
            </a:r>
          </a:p>
          <a:p>
            <a:pPr>
              <a:spcAft>
                <a:spcPts val="600"/>
              </a:spcAft>
            </a:pPr>
            <a:r>
              <a:rPr lang="en-US" dirty="0"/>
              <a:t>Supportive care 包括平衡體液、避免 prerenal failure，避開 hepatotoxic drugs，並小心處理凝血。Moderate 要早治療的依據是 Kernan 2018 的 treatment-IND 研究，越早開始 defibrotide，day 100 存活越好，在多重器官衰竭的次族群也是如此。</a:t>
            </a:r>
          </a:p>
          <a:p>
            <a:pPr>
              <a:spcAft>
                <a:spcPts val="600"/>
              </a:spcAft>
            </a:pPr>
            <a:r>
              <a:rPr lang="en-US" dirty="0"/>
              <a:t>開始的依據是嚴重度，和診斷屬於 probable、clinical 或 proven 無關。實務上，不必等到 HVPG 或切片證實才給藥。</a:t>
            </a:r>
          </a:p>
          <a:p>
            <a:pPr>
              <a:spcAft>
                <a:spcPts val="600"/>
              </a:spcAft>
            </a:pPr>
            <a:r>
              <a:rPr lang="en-US" dirty="0"/>
              <a:t>劑量是每天 25 mg/kg，至少 14 到 21 天，一直用到所有症狀緩解為止。劑量和療程都是常見考點。</a:t>
            </a:r>
          </a:p>
          <a:p>
            <a:pPr>
              <a:spcAft>
                <a:spcPts val="600"/>
              </a:spcAft>
            </a:pPr>
            <a:r>
              <a:rPr lang="en-US" dirty="0"/>
              <a:t>兒科章節也提到，defibrotide 是唯一被核准專門治療 SOS/VOD 的藥物，兒童和成人的用法差別不大。</a:t>
            </a:r>
          </a:p>
          <a:p>
            <a:pPr>
              <a:spcAft>
                <a:spcPts val="600"/>
              </a:spcAft>
            </a:pPr>
            <a:r>
              <a:rPr lang="en-US" dirty="0"/>
              <a:t>這套做法來自 EBMT 2020 年的建議，書中認為到現在仍然適用。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10:30 至 12:00]</a:t>
            </a:r>
          </a:p>
          <a:p>
            <a:pPr>
              <a:spcAft>
                <a:spcPts val="600"/>
              </a:spcAft>
            </a:pPr>
            <a:r>
              <a:rPr lang="en-US" dirty="0"/>
              <a:t>預防分兩層。非藥物的部分，是盡量減少前面那張表右欄的可調整因子，例如 conditioning 強度、donor 選擇、GVHD prophylaxis 組合和 parenteral nutrition。</a:t>
            </a:r>
          </a:p>
          <a:p>
            <a:pPr>
              <a:spcAft>
                <a:spcPts val="600"/>
              </a:spcAft>
            </a:pPr>
            <a:r>
              <a:rPr lang="en-US" dirty="0"/>
              <a:t>藥物方面，成人建議從 conditioning 開始給 ursodeoxycholic acid，一直到 day +90，依據是 Ruutu 2014 隨機試驗的長期追蹤。</a:t>
            </a:r>
          </a:p>
          <a:p>
            <a:pPr>
              <a:spcAft>
                <a:spcPts val="600"/>
              </a:spcAft>
            </a:pPr>
            <a:r>
              <a:rPr lang="en-US" dirty="0"/>
              <a:t>兒童試驗的 per-protocol 分析 p 值是 0.022，結果比 intention-to-treat 更明顯。</a:t>
            </a:r>
          </a:p>
          <a:p>
            <a:pPr>
              <a:spcAft>
                <a:spcPts val="600"/>
              </a:spcAft>
            </a:pPr>
            <a:r>
              <a:rPr lang="en-US" dirty="0"/>
              <a:t>Defibrotide 預防有兩個結果相反的 RCT。2012 年的兒童試驗收 360 位高風險病童，發生率從 20% 降到 12%，p 值 0.049。HARMONY 收 372 人，一半是成人，day +30 SOS/VOD-free survival 是 67% 對 73%，p 值 0.85，沒有差異，不良事件也相同。</a:t>
            </a:r>
          </a:p>
          <a:p>
            <a:pPr>
              <a:spcAft>
                <a:spcPts val="600"/>
              </a:spcAft>
            </a:pPr>
            <a:r>
              <a:rPr lang="en-US" dirty="0"/>
              <a:t>兒科作者認為 HARMONY 的樣本數計算、endpoint 和設計都有問題。高風險兒童需不需要預防，書上的結論是仍然沒有定論。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另外，HCV RNA 陽性且有明顯纖維化的病人，第 49 章建議考慮 SOS-sparing regimen；poorly compensated cirrhosis 則是移植的禁忌症，因為 MAC 之後 SOS 風險非常高。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12:00 至 14:00]</a:t>
            </a:r>
          </a:p>
          <a:p>
            <a:pPr>
              <a:spcAft>
                <a:spcPts val="600"/>
              </a:spcAft>
            </a:pPr>
            <a:r>
              <a:rPr lang="en-US" dirty="0"/>
              <a:t>兒童的 SOS/VOD 和成人差很多，主要原因是嬰幼兒肝臟還不成熟。發生率大約是成人的兩倍，一般估 15%，高風險族群可到 60%。高峰在 day 12，八成在 21 天內出現。</a:t>
            </a:r>
          </a:p>
          <a:p>
            <a:pPr>
              <a:spcAft>
                <a:spcPts val="600"/>
              </a:spcAft>
            </a:pPr>
            <a:r>
              <a:rPr lang="en-US" dirty="0"/>
              <a:t>最大的差別在黃疸。兒童 anicteric SOS/VOD 約佔 30%，是成人的兩倍；bilirubin 上升又常常很晚，一到 2 mg/dL，day 100 存活就變差。所以 2018 年的 pEBMT criteria 拿掉 bilirubin 門檻，也沒有時間限制，五項裡兩項就成立。</a:t>
            </a:r>
          </a:p>
          <a:p>
            <a:pPr>
              <a:spcAft>
                <a:spcPts val="600"/>
              </a:spcAft>
            </a:pPr>
            <a:r>
              <a:rPr lang="en-US" dirty="0"/>
              <a:t>體重和 bilirubin 改看連續三天的變化，不再用固定的 3% 或 5%。肝大和腹水要跟移植前 baseline 比，因為 HLH、osteopetrosis、thalassemia 的小孩本來就常有，所以移植前要先做超音波。右上腹痛在嬰兒很難評估，沒有列入。</a:t>
            </a:r>
          </a:p>
          <a:p>
            <a:pPr>
              <a:spcAft>
                <a:spcPts val="600"/>
              </a:spcAft>
            </a:pPr>
            <a:r>
              <a:rPr lang="en-US" dirty="0"/>
              <a:t>最敏感、也最早出現的是 refractory thrombocytopenia，定義是每天至少一次依體重計算的血小板輸注。Szmit 2020 發現，用 modified Seattle 會比 pEBMT 晚診斷，中位數 3 天，最多 11 天；用 pEBMT 觸發治療，TRM 低了五倍，住院中位數少 12 天。</a:t>
            </a:r>
          </a:p>
          <a:p>
            <a:pPr>
              <a:spcAft>
                <a:spcPts val="600"/>
              </a:spcAft>
            </a:pPr>
            <a:r>
              <a:rPr lang="en-US" dirty="0"/>
              <a:t>診斷標準本身也會改變發生率。從 Baltimore 換成 Seattle，發生率加倍甚至四倍，從 Seattle 換成 pEBMT 再多大約 5%。另外，嚴重 anicteric 合併多重器官衰竭的比例，兒童是 74%，成人是 59%。幼兒有腹水時，要考慮早一點做 paracentesis，避免往胸腔擠壓影響呼吸。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14:00 至 16:00]</a:t>
            </a:r>
          </a:p>
          <a:p>
            <a:pPr>
              <a:spcAft>
                <a:spcPts val="600"/>
              </a:spcAft>
            </a:pPr>
            <a:r>
              <a:rPr lang="en-US" dirty="0"/>
              <a:t>第 42 章把這些併發症歸成 vascular endothelial syndromes，都在 day 100 內出現，靠一組重疊的症狀診斷，沒處理好可能走向 MOF。</a:t>
            </a:r>
          </a:p>
          <a:p>
            <a:pPr>
              <a:spcAft>
                <a:spcPts val="600"/>
              </a:spcAft>
            </a:pPr>
            <a:r>
              <a:rPr lang="en-US" dirty="0"/>
              <a:t>FOS 非常常見，day 0 前後最多六成，甚至在輸注幹細胞前就出現。體重增加、輕度喘、CVP 上升，但沒有心衰或腎衰。用 diuretics 處理，不影響 TRM。</a:t>
            </a:r>
          </a:p>
          <a:p>
            <a:pPr>
              <a:spcAft>
                <a:spcPts val="600"/>
              </a:spcAft>
            </a:pPr>
            <a:r>
              <a:rPr lang="en-US" dirty="0"/>
              <a:t>FOS 的病人聽診兩側基底有濕囉音，胸部 X 光心胸比變大、有瀰漫性浸潤，day 0 的 EASIX 偏高可以預測它。</a:t>
            </a:r>
          </a:p>
          <a:p>
            <a:pPr>
              <a:spcAft>
                <a:spcPts val="600"/>
              </a:spcAft>
            </a:pPr>
            <a:r>
              <a:rPr lang="en-US" dirty="0"/>
              <a:t>CLS 要符合三點，24 小時體重增加超過 3%、全身水腫，以及 furosemide 至少 1 mg/kg 給 24 小時沒有反應。主要見於兒童，最大宗報告是 5.4%。治療只有支持性的，立刻停 G-CSF、給 steroid、做血行動力學支持。</a:t>
            </a:r>
          </a:p>
          <a:p>
            <a:pPr>
              <a:spcAft>
                <a:spcPts val="600"/>
              </a:spcAft>
            </a:pPr>
            <a:r>
              <a:rPr lang="en-US" dirty="0"/>
              <a:t>CLS 雖然沒有明確的 risk factor，但病人的 TRM 和 aGVHD 都比較高。ES 過去也被叫做 autologous GVHD 或 aseptic septic shock，延誤治療可能進展到 MOF。pES 則和較低的 graft failure、較多 GVHD 和早期細菌感染有關，TRM 和存活沒有差別。</a:t>
            </a:r>
          </a:p>
          <a:p>
            <a:pPr>
              <a:spcAft>
                <a:spcPts val="600"/>
              </a:spcAft>
            </a:pPr>
            <a:r>
              <a:rPr lang="en-US" dirty="0"/>
              <a:t>ES 在 engraftment 前後出現，非感染性發燒、皮疹、缺氧。發燒時 CRP 大於 6 mg/dL，陽性和陰性預測值都是 90%。先停 G-CSF、抽培養、上廣效抗生素，48 小時後不停抗生素，加 methylprednisolone 1 mg/kg q12h 三天，一週內減完，超過九成很快緩解。</a:t>
            </a:r>
          </a:p>
          <a:p>
            <a:pPr>
              <a:spcAft>
                <a:spcPts val="600"/>
              </a:spcAft>
            </a:pPr>
            <a:r>
              <a:rPr lang="en-US" dirty="0"/>
              <a:t>pES 主要見於 cord blood 移植，約 day 7，比 engraftment 早 10 到 11 天，治療同 ES。下方的 EASIX 在 day 0 可以預測 SOS 和早期水分滯留。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[1:30 本頁 · 16:00 至 17:30]</a:t>
            </a:r>
          </a:p>
          <a:p>
            <a:pPr>
              <a:spcAft>
                <a:spcPts val="600"/>
              </a:spcAft>
            </a:pPr>
            <a:r>
              <a:rPr lang="en-US" dirty="0"/>
              <a:t>ES 目前有三套診斷標準，所以文獻上的發生率差很多，auto-HCT 從 7% 到 59%，allo-HCT 是 10% 到 25%。</a:t>
            </a:r>
          </a:p>
          <a:p>
            <a:pPr>
              <a:spcAft>
                <a:spcPts val="600"/>
              </a:spcAft>
            </a:pPr>
            <a:r>
              <a:rPr lang="en-US" dirty="0"/>
              <a:t>三套都把非感染性發燒列為 major。Spitzer 最嚴格，要三個 major，或兩個 major 加一個 minor，而且皮疹不能有 aGVHD 的病理證據。Maiolino 最寬鬆，一個 major 加一個 minor 就夠。Grant 2020 介於兩者之間。</a:t>
            </a:r>
          </a:p>
          <a:p>
            <a:pPr>
              <a:spcAft>
                <a:spcPts val="600"/>
              </a:spcAft>
            </a:pPr>
            <a:r>
              <a:rPr lang="en-US" dirty="0"/>
              <a:t>臨床上的選擇很固定。Auto-HCT 用 Maiolino，診斷單純、可以快速治療，改用 Spitzer 會漏掉多達一半。Allo-HCT 要和早期 aGVHD、感染、CNI 毒性鑑別，所以用比較嚴格的 Spitzer。</a:t>
            </a:r>
          </a:p>
          <a:p>
            <a:pPr>
              <a:spcAft>
                <a:spcPts val="600"/>
              </a:spcAft>
            </a:pPr>
            <a:r>
              <a:rPr lang="en-US" dirty="0"/>
              <a:t>考題常給一個 auto-HCT 後第十天發燒、皮疹、CRP 升高、培養陰性的病人，問下一步。答案就是在抗生素之外加上 steroid，而不是一直換抗生素。</a:t>
            </a:r>
          </a:p>
          <a:p>
            <a:pPr>
              <a:spcAft>
                <a:spcPts val="600"/>
              </a:spcAft>
            </a:pPr>
            <a:r>
              <a:rPr lang="en-US" dirty="0"/>
              <a:t>Risk factors 方面，過去懷疑和 PB 幹細胞、G-CSF、DMSO 有關，但證據不足；比較明確的是和先前治療的強度有關。</a:t>
            </a:r>
          </a:p>
          <a:p>
            <a:pPr>
              <a:spcAft>
                <a:spcPts val="600"/>
              </a:spcAft>
            </a:pPr>
            <a:r>
              <a:rPr lang="en-US" dirty="0"/>
              <a:t>ES 治療時，CRP 是很好的反應指標。用了 steroid 沒有快速改善，就要回頭想其他診斷；停 steroid 後偶爾會復發。</a:t>
            </a:r>
          </a:p>
          <a:p>
            <a:pPr>
              <a:spcAft>
                <a:spcPts val="600"/>
              </a:spcAft>
            </a:pPr>
            <a:r>
              <a:rPr lang="en-US" dirty="0"/>
              <a:t>Allo-HCT 的 ES 不包括 cord blood 移植，那一群要歸到 pre-engraftment syndrome 去看。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17:30 至 19:30]</a:t>
            </a:r>
          </a:p>
          <a:p>
            <a:pPr>
              <a:spcAft>
                <a:spcPts val="600"/>
              </a:spcAft>
            </a:pPr>
            <a:r>
              <a:rPr lang="en-US" dirty="0"/>
              <a:t>接下來是 TA-TMA，特徵是 microangiopathic hemolytic anemia 加上血小板低下，微血管裡的血小板聚集造成器官缺血。除了內皮受損，complement 失調也扮演重要角色。</a:t>
            </a:r>
          </a:p>
          <a:p>
            <a:pPr>
              <a:spcAft>
                <a:spcPts val="600"/>
              </a:spcAft>
            </a:pPr>
            <a:r>
              <a:rPr lang="en-US" dirty="0"/>
              <a:t>Dvorak 2019 提出 three-hit hypothesis。第一擊是先天的 complement 易感性或原有的內皮傷害，第二擊是 conditioning 的毒性，第三擊是藥物、alloreactivity、感染或抗體。Risk factors 包括 CNI、sirolimus 合併 CNI、CMV、ADV、BK virus 或黴菌感染、active GVHD，以及 unrelated 或 mismatched 移植。</a:t>
            </a:r>
          </a:p>
          <a:p>
            <a:pPr>
              <a:spcAft>
                <a:spcPts val="600"/>
              </a:spcAft>
            </a:pPr>
            <a:r>
              <a:rPr lang="en-US" dirty="0"/>
              <a:t>黃金標準是器官切片，但這些病人幾乎拿不到檢體，所以實務上是臨床診斷。2023 年 ASTCT、CIBMTR、APBMT 和 EBMT 共同提出這張表的 harmonized criteria。</a:t>
            </a:r>
          </a:p>
          <a:p>
            <a:pPr>
              <a:spcAft>
                <a:spcPts val="600"/>
              </a:spcAft>
            </a:pPr>
            <a:r>
              <a:rPr lang="en-US" dirty="0"/>
              <a:t>七項裡，14 天內、連續兩個時間點符合四項就成立。前四項是溶血的表現，包括貧血、血小板低下、LDH 超過正常上限、schistocytes。後三項反映內皮和腎臟，成人血壓 140/90 以上，未滿 18 歲看第 99 百分位；sC5b-9 超過上限；rUPCR 至少 1 mg/mg。</a:t>
            </a:r>
          </a:p>
          <a:p>
            <a:pPr>
              <a:spcAft>
                <a:spcPts val="600"/>
              </a:spcAft>
            </a:pPr>
            <a:r>
              <a:rPr lang="en-US" dirty="0"/>
              <a:t>貧血和血小板的定義包含輸血需求或無法 engraft，所以要先排除 AIHA、PRCA 等其他原因。</a:t>
            </a:r>
          </a:p>
          <a:p>
            <a:pPr>
              <a:spcAft>
                <a:spcPts val="600"/>
              </a:spcAft>
            </a:pPr>
            <a:r>
              <a:rPr lang="en-US" dirty="0"/>
              <a:t>發病中位數在 day 32 到 40，超過 92% 在 day 100 以前。兒童 allo-HCT 的前瞻性研究發生率是 19%，成人大中心約 12 到 15%。</a:t>
            </a:r>
          </a:p>
          <a:p>
            <a:pPr>
              <a:spcAft>
                <a:spcPts val="600"/>
              </a:spcAft>
            </a:pPr>
            <a:r>
              <a:rPr lang="en-US" dirty="0"/>
              <a:t>要注意很多 TA-TMA 的器官表現不在診斷標準裡，例如肺高壓、腸胃道出血、沒有全身水腫的多發性漿膜腔積液，臨床上要主動去找。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[2:00 本頁 · 19:30 至 21:30]</a:t>
            </a:r>
          </a:p>
          <a:p>
            <a:pPr>
              <a:spcAft>
                <a:spcPts val="600"/>
              </a:spcAft>
            </a:pPr>
            <a:r>
              <a:rPr lang="en-US" dirty="0"/>
              <a:t>診斷之後要分成 standard risk 和 high risk，只要有一項 high-risk feature，就歸 high risk。</a:t>
            </a:r>
          </a:p>
          <a:p>
            <a:pPr>
              <a:spcAft>
                <a:spcPts val="600"/>
              </a:spcAft>
            </a:pPr>
            <a:r>
              <a:rPr lang="en-US" dirty="0"/>
              <a:t>High risk 包括 LDH 高峰達正常上限兩倍、rUPCR 至少 1 mg/mg、KDIGO stage I 以外的任何器官功能異常、sC5b-9 上升。2023 年的共識又加了兩項，合併 grade II 到 IV 的 aGVHD，以及全身性細菌或病毒感染。</a:t>
            </a:r>
          </a:p>
          <a:p>
            <a:pPr>
              <a:spcAft>
                <a:spcPts val="600"/>
              </a:spcAft>
            </a:pPr>
            <a:r>
              <a:rPr lang="en-US" dirty="0"/>
              <a:t>High risk 要考慮 complement blockade。Eculizumab 是目前最有希望的藥，高風險病人存活率提高到 70%，存活者器官功能也能恢復。Narsoplimab 是 MASP2 抑制劑，經驗主要在成人，day 100 存活 68%。Standard risk 密切追蹤，血球低下持續時再由醫師決定是否治療。</a:t>
            </a:r>
          </a:p>
          <a:p>
            <a:pPr>
              <a:spcAft>
                <a:spcPts val="600"/>
              </a:spcAft>
            </a:pPr>
            <a:r>
              <a:rPr lang="en-US" dirty="0"/>
              <a:t>其他治療選擇放在 backup，包括 TPE、rituximab 和 defibrotide，證據都只有小型系列。</a:t>
            </a:r>
          </a:p>
          <a:p>
            <a:pPr>
              <a:spcAft>
                <a:spcPts val="600"/>
              </a:spcAft>
            </a:pPr>
            <a:r>
              <a:rPr lang="en-US" dirty="0"/>
              <a:t>兩組都要積極處理 GVHD 和感染這些 trigger，控制血壓；調整免疫抑制劑時要小心，避免誘發 aGVHD。</a:t>
            </a:r>
          </a:p>
          <a:p>
            <a:pPr>
              <a:spcAft>
                <a:spcPts val="600"/>
              </a:spcAft>
            </a:pPr>
            <a:r>
              <a:rPr lang="en-US" dirty="0"/>
              <a:t>篩檢對象是所有 allo-HCT，以及做 auto-HCT 的 neuroblastoma 病童，篩到 day 100。即使緩解，之後慢性腎病、高血壓和 TRM 的相對風險仍然上升。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Work-up 的流程是這樣，篩檢超過三項異常、或出現器官表現時，就做完整檢查。拿不到 sC5b-9 的中心，繼續追蹤尿液和器官功能，符合 high risk 就治療。預後方面，TA-TMA 緩解後，慢性腎病的相對風險是 4.3，高血壓是 9，TRM 是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21:30 至 22:30]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最後一個是 PRES。Allo-HCT 大約 8%，haplo-HCT 只有 1%，sickle cell 移植高達 25%。相關因素有高血壓、CNI、fludarabine、低血鎂和 aGVHD。</a:t>
            </a:r>
          </a:p>
          <a:p>
            <a:pPr>
              <a:spcAft>
                <a:spcPts val="600"/>
              </a:spcAft>
            </a:pPr>
            <a:r>
              <a:rPr lang="en-US" dirty="0"/>
              <a:t>機轉有兩種假說，一種認為是血壓快速上升，但約 30% 的病人血壓正常或只是輕微上升；另一種認為是內皮功能失調造成滲漏。EEG 可以抓到 nonconvulsive seizure，用來評估腦病變。</a:t>
            </a:r>
          </a:p>
          <a:p>
            <a:pPr>
              <a:spcAft>
                <a:spcPts val="600"/>
              </a:spcAft>
            </a:pPr>
            <a:r>
              <a:rPr lang="en-US" dirty="0"/>
              <a:t>表現是意識改變、癲癇、視覺異常和頭痛。MRI 看到雙側頂枕葉 vasogenic edema，T2 或 FLAIR 最明顯；CSF 正常。</a:t>
            </a:r>
          </a:p>
          <a:p>
            <a:pPr>
              <a:spcAft>
                <a:spcPts val="600"/>
              </a:spcAft>
            </a:pPr>
            <a:r>
              <a:rPr lang="en-US" dirty="0"/>
              <a:t>治療是症狀性的，控制血壓、抗癲癇、補鎂。停 CNI 傳統上被認為最有效，但少數比較研究中，停用、換藥或繼續使用，病程並沒有不同。八成以上很快恢復，死亡多半是其他原因，PRES 本身不影響 TRM 和存活。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22:30 至 23:15]</a:t>
            </a:r>
          </a:p>
          <a:p>
            <a:pPr>
              <a:spcAft>
                <a:spcPts val="600"/>
              </a:spcAft>
            </a:pPr>
            <a:r>
              <a:rPr lang="en-US" dirty="0"/>
              <a:t>第一題。四十八歲女性，relapsed ALL，移植前用過 inotuzumab ozogamicin，接著做 busulfan-based 的 myeloablative allo-HCT。Day 14 出現疼痛的肝腫大、腹水、體重增加 7%，bilirubin 4.2 mg/dL，症狀是三天前開始的，肌酸酐是 baseline 的 1.6 倍。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選項有先做 HVPG 確認、等 bilirubin 到 8 再治療、單用 UDCA、五天固定療程，以及現在就開始 defibrotide。請先判斷診斷類別和嚴重度，再選最適當的處置。</a:t>
            </a:r>
          </a:p>
          <a:p>
            <a:pPr>
              <a:spcAft>
                <a:spcPts val="600"/>
              </a:spcAft>
            </a:pPr>
            <a:r>
              <a:rPr lang="en-US" dirty="0"/>
              <a:t>題目裡藏了兩個 risk factor，留意一下。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23:15 至 24:15]</a:t>
            </a:r>
          </a:p>
          <a:p>
            <a:pPr>
              <a:spcAft>
                <a:spcPts val="600"/>
              </a:spcAft>
            </a:pPr>
            <a:r>
              <a:rPr lang="en-US" dirty="0"/>
              <a:t>選 E，立刻開始 defibrotide。先看診斷，bilirubin ≥2 加上疼痛肝大、腹水、體重增加三項，符合 clinical SOS/VOD。</a:t>
            </a:r>
          </a:p>
          <a:p>
            <a:pPr>
              <a:spcAft>
                <a:spcPts val="600"/>
              </a:spcAft>
            </a:pPr>
            <a:r>
              <a:rPr lang="en-US" dirty="0"/>
              <a:t>再看分級。症狀四天內、體重增加 ≥5%、肌酸酐在 1.5 到 2 倍之間，severe 這一欄符合三項；bilirubin 4.2 雖然只落在 moderate，仍以最嚴重、且符合兩項以上的那一欄為準，所以是 severe。</a:t>
            </a:r>
          </a:p>
          <a:p>
            <a:pPr>
              <a:spcAft>
                <a:spcPts val="600"/>
              </a:spcAft>
            </a:pPr>
            <a:r>
              <a:rPr lang="en-US" dirty="0"/>
              <a:t>Defibrotide 依嚴重度一確診就給，不必先做 HVPG，所以 A 不對。B 等到 bilirubin 8 才治療，會錯過黃金時間。UDCA 是預防用藥，不是治療。D 的療程太短，書上寫至少 14 到 21 天，直到症狀緩解。</a:t>
            </a:r>
          </a:p>
          <a:p>
            <a:pPr>
              <a:spcAft>
                <a:spcPts val="600"/>
              </a:spcAft>
            </a:pPr>
            <a:r>
              <a:rPr lang="en-US" dirty="0"/>
              <a:t>這題同時考了 risk factor，inotuzumab 加 busulfan MAC，本身就是高風險組合。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24:15 至 25:00]</a:t>
            </a:r>
          </a:p>
          <a:p>
            <a:pPr>
              <a:spcAft>
                <a:spcPts val="600"/>
              </a:spcAft>
            </a:pPr>
            <a:r>
              <a:rPr lang="en-US" dirty="0"/>
              <a:t>第二題是兒科。十個月大的男嬰，診斷 HLH，接受 busulfan-based MAC。移植前的超音波已經看到肝腫大和少量腹水。Day 9 開始，每天都需要至少一次依體重計算的血小板輸注，沒有出血；連續三天體重上升，用了 furosemide 也沒有改善。Bilirubin 只有 1.1 mg/dL。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選項包括 bilirubin 不到 2 無法診斷、需要右上腹痛、符合 pEBMT、先前肝大可以排除，以及 day 21 後才能診斷。哪個敘述正確。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25:00 至 26:00]</a:t>
            </a:r>
          </a:p>
          <a:p>
            <a:pPr>
              <a:spcAft>
                <a:spcPts val="600"/>
              </a:spcAft>
            </a:pPr>
            <a:r>
              <a:rPr lang="en-US" dirty="0"/>
              <a:t>正確的是 C。pEBMT 五項中兩項即成立，沒有 bilirubin 門檻，也沒有時間限制。這個小孩有 refractory thrombocytopenia，加上連續三天體重增加，已經符合。</a:t>
            </a:r>
          </a:p>
          <a:p>
            <a:pPr>
              <a:spcAft>
                <a:spcPts val="600"/>
              </a:spcAft>
            </a:pPr>
            <a:r>
              <a:rPr lang="en-US" dirty="0"/>
              <a:t>A 是 Baltimore 和成人 EBMT 的邏輯，套在兒童會漏掉約三成的 anicteric SOS/VOD，而且 bilirubin 到 2 時預後已經變差。B 的右上腹痛在嬰兒無法評估，pEBMT 沒有列入。D 也不對，移植前已有肝大，只是拿來當 baseline，往上增加才算數。E 混淆了 late-onset 的定義，那只是分類，不是診斷的前提。</a:t>
            </a:r>
          </a:p>
          <a:p>
            <a:pPr>
              <a:spcAft>
                <a:spcPts val="600"/>
              </a:spcAft>
            </a:pPr>
            <a:r>
              <a:rPr lang="en-US" dirty="0"/>
              <a:t>這個個案也提醒，嬰兒、HLH 加上 busulfan MAC，本身就是兒童的高風險組合，refractory thrombocytopenia 往往是第一個訊號。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[0:45 本頁 · 26:00 至 26:45]</a:t>
            </a:r>
          </a:p>
          <a:p>
            <a:pPr>
              <a:spcAft>
                <a:spcPts val="600"/>
              </a:spcAft>
            </a:pPr>
            <a:r>
              <a:rPr lang="en-US" dirty="0"/>
              <a:t>最後一題。三十五歲男性，matched unrelated donor 移植後 day 45，GVHD prophylaxis 是 tacrolimus 加 sirolimus，目前有 grade III 腸胃道 aGVHD。血紅素掉了 2 g/dL、血小板持續下降、LDH 是正常上限的 2.5 倍、周邊血有 schistocytes、血壓 150/95、rUPCR 1.4 mg/mg、sC5b-9 上升。</a:t>
            </a:r>
          </a:p>
          <a:p>
            <a:pPr>
              <a:spcAft>
                <a:spcPts val="600"/>
              </a:spcAft>
            </a:pPr>
            <a:r>
              <a:rPr lang="en-US" dirty="0"/>
              <a:t>選項有 TPE 當第一線、觀察、complement blockade、停掉所有免疫抑制劑，以及停止輸血。下一步最好的處置是哪一個。</a:t>
            </a:r>
          </a:p>
          <a:p>
            <a:pPr>
              <a:spcAft>
                <a:spcPts val="600"/>
              </a:spcAft>
            </a:pPr>
            <a:r>
              <a:rPr lang="en-US" dirty="0"/>
              <a:t>請先數診斷標準，再看有沒有 high-risk feature。</a:t>
            </a:r>
          </a:p>
          <a:p>
            <a:pPr>
              <a:spcAft>
                <a:spcPts val="600"/>
              </a:spcAft>
            </a:pPr>
            <a:r>
              <a:rPr lang="en-US" b="1" dirty="0"/>
              <a:t>[Pause for answers.]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[1:00 本頁 · 26:45 至 27:45]</a:t>
            </a:r>
          </a:p>
          <a:p>
            <a:pPr>
              <a:spcAft>
                <a:spcPts val="600"/>
              </a:spcAft>
            </a:pPr>
            <a:r>
              <a:rPr lang="en-US" dirty="0"/>
              <a:t>選 C。先數診斷標準，貧血、血小板低下、LDH、schistocytes、高血壓、sC5b-9、蛋白尿，七項全部符合，TA-TMA 診斷成立。</a:t>
            </a:r>
          </a:p>
          <a:p>
            <a:pPr>
              <a:spcAft>
                <a:spcPts val="600"/>
              </a:spcAft>
            </a:pPr>
            <a:r>
              <a:rPr lang="en-US" dirty="0"/>
              <a:t>再看風險。LDH 兩倍以上、rUPCR ≥1、sC5b-9 上升、合併 aGVHD grade III，任何一項就歸 high risk，所以應考慮 complement blockade，同時積極治療 GVHD 這個 trigger。</a:t>
            </a:r>
          </a:p>
          <a:p>
            <a:pPr>
              <a:spcAft>
                <a:spcPts val="600"/>
              </a:spcAft>
            </a:pPr>
            <a:r>
              <a:rPr lang="en-US" dirty="0"/>
              <a:t>A 的 TPE 是拿不到 complement blocker 時的替代選擇，不是首選。B 錯在分層，這位病人有四個 high-risk feature。D 直接停掉所有免疫抑制劑，可能讓 aGVHD 更嚴重。E 也不對，紅血球和血小板輸注本來就是 supportive care 的一部分。</a:t>
            </a:r>
          </a:p>
          <a:p>
            <a:pPr>
              <a:spcAft>
                <a:spcPts val="600"/>
              </a:spcAft>
            </a:pPr>
            <a:r>
              <a:rPr lang="en-US" dirty="0"/>
              <a:t>另外，tacrolimus 加 sirolimus 正是 TA-TMA 的 risk factor 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各頁頁尾短式引用的完整文獻，不講。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這張是第 49 章 Table 49.4 的兒童與成人比較。兒童發生率約為成人兩倍，late-onset 約 20%，anicteric 約 30%。</a:t>
            </a:r>
          </a:p>
          <a:p>
            <a:pPr>
              <a:spcAft>
                <a:spcPts val="600"/>
              </a:spcAft>
            </a:pPr>
            <a:r>
              <a:rPr lang="en-US" dirty="0"/>
              <a:t>成人發生率書中正文寫 5 到 15%，表格寫 5 到 10%，引用時要註明出處。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HBsAg 或 HBV-DNA 陽性的病人，要在 conditioning 前開始 entecavir 或 tenofovir，至少一年，有 GVHD 或還在免疫抑制就更久；lamivudine 不建議。</a:t>
            </a:r>
          </a:p>
          <a:p>
            <a:pPr>
              <a:spcAft>
                <a:spcPts val="600"/>
              </a:spcAft>
            </a:pPr>
            <a:r>
              <a:rPr lang="en-US" dirty="0"/>
              <a:t>只有 anti-HBc 陽性時，ECIL 建議全部預防，EASL 只在風險超過 10% 時預防，其餘做 pre-emptive monitoring。HAV viremia 時不要移植，因為 SOS/VOD 風險增加。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如果被問到 eculizumab 以外的選擇，TPE 是拿不到 complement blocker 時的替代，有 anti-factor H 抗體時可合併 rituximab，報告 15 位中 12 位有反應。</a:t>
            </a:r>
          </a:p>
          <a:p>
            <a:pPr>
              <a:spcAft>
                <a:spcPts val="600"/>
              </a:spcAft>
            </a:pPr>
            <a:r>
              <a:rPr lang="en-US" dirty="0"/>
              <a:t>預防方面，N-acetylcysteine 有一個隨機試驗，statin-based endothelial prophylaxis 在成人可減少 GVHD 和 TA-TMA。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肝臟 GVHD 和自體免疫肝炎的病理生理和表現幾乎一樣。最有幫助的鑑別是其他器官有沒有 GVHD、GGT 明顯上升，以及 type 2 自體抗體。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spc="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737360"/>
            <a:ext cx="10817352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297680"/>
            <a:ext cx="108173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8580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chemeClr val="tx1"/>
                </a:solidFill>
              </a:rPr>
              <a:t>EBMT HANDBOOK BOARD REVIEW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1600200"/>
            <a:ext cx="10332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SOS/VOD and early endothelial complications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Session 13 · EBMT Handbook Ch. 49 and Ch. 42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Hsieh-Ting Lin, MD</a:t>
            </a: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Department of Medical Oncology, Koo Foundation Sun Yat-Sen Cancer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OUTLINE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parts, from the liver to the whole endothelium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 · Carreras E, et al. EBMT Handbook 8th ed. 2024; Ch. 42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25146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2"/>
          <p:cNvSpPr txBox="1"/>
          <p:nvPr/>
        </p:nvSpPr>
        <p:spPr>
          <a:xfrm>
            <a:off x="1463040" y="2560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SOS/VOD in adults</a:t>
            </a:r>
            <a:endParaRPr lang="en-US" sz="2000" dirty="0"/>
          </a:p>
        </p:txBody>
      </p:sp>
      <p:sp>
        <p:nvSpPr>
          <p:cNvPr id="8" name="Text 3"/>
          <p:cNvSpPr txBox="1"/>
          <p:nvPr/>
        </p:nvSpPr>
        <p:spPr>
          <a:xfrm>
            <a:off x="1463040" y="29535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Mechanism, risk factors, EBMT 2023 criteria, severity grading, defibrotide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10058400" y="26060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10.5 min</a:t>
            </a:r>
            <a:endParaRPr lang="en-US" sz="1200" dirty="0"/>
          </a:p>
        </p:txBody>
      </p:sp>
      <p:sp>
        <p:nvSpPr>
          <p:cNvPr id="10" name="Rule 5"/>
          <p:cNvSpPr/>
          <p:nvPr/>
        </p:nvSpPr>
        <p:spPr>
          <a:xfrm>
            <a:off x="685800" y="33284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85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7"/>
          <p:cNvSpPr txBox="1"/>
          <p:nvPr/>
        </p:nvSpPr>
        <p:spPr>
          <a:xfrm>
            <a:off x="1463040" y="3474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SOS/VOD in children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3867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Pediatric EBMT criteria, refractory thrombocytopenia, prophylaxis debate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5204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min</a:t>
            </a:r>
            <a:endParaRPr lang="en-US" sz="1200" dirty="0"/>
          </a:p>
        </p:txBody>
      </p:sp>
      <p:sp>
        <p:nvSpPr>
          <p:cNvPr id="15" name="Rule 10"/>
          <p:cNvSpPr/>
          <p:nvPr/>
        </p:nvSpPr>
        <p:spPr>
          <a:xfrm>
            <a:off x="685800" y="42428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43434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3891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FOS, CLS, engraftment and pre-engraftment syndrome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Timing, triggers, diagnostic criteria, treatment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0" y="44348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3.5 min</a:t>
            </a:r>
            <a:endParaRPr lang="en-US" sz="1200" dirty="0"/>
          </a:p>
        </p:txBody>
      </p:sp>
      <p:sp>
        <p:nvSpPr>
          <p:cNvPr id="20" name="Rule 15"/>
          <p:cNvSpPr/>
          <p:nvPr/>
        </p:nvSpPr>
        <p:spPr>
          <a:xfrm>
            <a:off x="685800" y="5157216"/>
            <a:ext cx="10817352" cy="0"/>
          </a:xfrm>
          <a:prstGeom prst="line">
            <a:avLst/>
          </a:prstGeom>
          <a:noFill/>
          <a:ln w="6350">
            <a:solidFill>
              <a:schemeClr val="tx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5800" y="5257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200" dirty="0"/>
          </a:p>
        </p:txBody>
      </p:sp>
      <p:sp>
        <p:nvSpPr>
          <p:cNvPr id="22" name="Text 17"/>
          <p:cNvSpPr txBox="1"/>
          <p:nvPr/>
        </p:nvSpPr>
        <p:spPr>
          <a:xfrm>
            <a:off x="1463040" y="53035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TA-TMA, PRES and three board questions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463040" y="56967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Harmonized criteria, risk strata, complement blockade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min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PATHOPHYSIOLOGY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SOS/VOD begins with injury to zone 3 sinusoidal endothelial cells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20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Conditioning generates toxic metabolites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21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Zone 3 sinusoidal cells swell and leave gaps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22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Blood cells and debris enter space of Disse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23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Narrowed outflow, postsinusoidal portal HTN</a:t>
            </a:r>
            <a:endParaRPr lang="en-US" sz="1700" dirty="0"/>
          </a:p>
        </p:txBody>
      </p:sp>
      <p:sp>
        <p:nvSpPr>
          <p:cNvPr id="13" name="Text 24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Adults: incidence about 5–15%. Most cases resolve within weeks, but severe SOS/VOD carries a mortality above 80%. Day-0 EASIX is a promising marker of high risk.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RISK FACTORS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Five factors carry the highest SOS/VOD risk; many others are modifiable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5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3602736"/>
                <a:gridCol w="3602736"/>
                <a:gridCol w="36027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Highest relative risk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Other unmodifiable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Modifiable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Older patient age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Second HCT; disease beyond CR2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Myeloablative conditioning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Female receiving norethisterone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Karnofsky &lt;90%; metabolic syndrome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Oral or high-dose busulfan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Prior gemtuzumab or inotuzumab ozogamicin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Iron overload (&gt;1,000 ng/mL)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High-dose treosulfan or TBI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Serum bilirubin &gt;26 μmol/L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Transaminases &gt;2.5× ULN; hepatotoxic drugs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Unrelated or HLA-mismatched donor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Fibrosis, cirrhosis, active viral hepatitis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Abdominal or hepatic irradiation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Sirolimus or MTX with a CNI; parenteral nutrition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6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Children add: age &lt;2 years, HLH, osteopetrosis, JMML, neuroblastoma, prior SOS/VOD.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DIAGNOSIS IN ADULTS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EBMT 2023 adds a probable category so that treatment is not delayed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6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4178808"/>
                <a:gridCol w="2084832"/>
                <a:gridCol w="2468880"/>
                <a:gridCol w="2084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Finding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Probable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Clinical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Proven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 ≥2 mg/dL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Mandatory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Painful hepatomegaly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Weight gain &gt;5%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Ascites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Ultrasound or elastography suggestive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Counts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Histology, or HVPG ≥10 mmHg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Sufficient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2 of 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 + 2 of 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Either one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8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Onset ≤ day 21 = classical; &gt; day 21 = late-onset. Same criteria; exclude other causes.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SEVERITY IN ADULTS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Grade by the worst category with ≥2 criteria; ≥2 risk factors upgrade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7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916936"/>
                <a:gridCol w="1664208"/>
                <a:gridCol w="1828800"/>
                <a:gridCol w="2075688"/>
                <a:gridCol w="2331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Parameter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Mild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Moderate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Severe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Very severe (MOD)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 since symptoms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&gt;7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5–7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≤4 days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time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Bilirubin, mg/dL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 and &lt;3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≥3 and &lt;5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≥5 and &lt;8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≥8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 kinetics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Doubling in 48 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Transaminases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≤2×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&gt;2–5×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&gt;5–8×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&gt;8×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Weight increase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Creatinine vs baseline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Baseline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&lt;1.5×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≥1.5 and &lt;2×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≥2× or MOD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0"/>
          <p:cNvSpPr txBox="1"/>
          <p:nvPr/>
        </p:nvSpPr>
        <p:spPr>
          <a:xfrm>
            <a:off x="685800" y="5029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 (n=203, Yoon 2019): day +100 TRM 36.7% if very severe vs 2.7–8.3% in other grades.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TREATMENT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Defibrotide is started early from moderate SOS/VOD upward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31"/>
          <p:cNvSpPr txBox="1"/>
          <p:nvPr/>
        </p:nvSpPr>
        <p:spPr>
          <a:xfrm>
            <a:off x="2665476" y="2148840"/>
            <a:ext cx="685800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SOS/VOD diagnosed: probable, clinical or proven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94476" y="28346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66772" y="3063240"/>
            <a:ext cx="7455408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66772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Text 32"/>
          <p:cNvSpPr txBox="1"/>
          <p:nvPr/>
        </p:nvSpPr>
        <p:spPr>
          <a:xfrm>
            <a:off x="685800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Mild</a:t>
            </a:r>
            <a:endParaRPr lang="en-US" sz="1400" dirty="0"/>
          </a:p>
        </p:txBody>
      </p:sp>
      <p:sp>
        <p:nvSpPr>
          <p:cNvPr id="11" name="Box 33"/>
          <p:cNvSpPr txBox="1"/>
          <p:nvPr/>
        </p:nvSpPr>
        <p:spPr>
          <a:xfrm>
            <a:off x="685800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Supportive care, close monitoring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6772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Box 34"/>
          <p:cNvSpPr txBox="1"/>
          <p:nvPr/>
        </p:nvSpPr>
        <p:spPr>
          <a:xfrm>
            <a:off x="685800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Defibrotide at once if it worsens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4476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Text 35"/>
          <p:cNvSpPr txBox="1"/>
          <p:nvPr/>
        </p:nvSpPr>
        <p:spPr>
          <a:xfrm>
            <a:off x="4413504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Moderate</a:t>
            </a:r>
            <a:endParaRPr lang="en-US" sz="1400" dirty="0"/>
          </a:p>
        </p:txBody>
      </p:sp>
      <p:sp>
        <p:nvSpPr>
          <p:cNvPr id="16" name="Box 36"/>
          <p:cNvSpPr txBox="1"/>
          <p:nvPr/>
        </p:nvSpPr>
        <p:spPr>
          <a:xfrm>
            <a:off x="4413504" y="3657600"/>
            <a:ext cx="3361944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Early defibrotide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94476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Box 37"/>
          <p:cNvSpPr txBox="1"/>
          <p:nvPr/>
        </p:nvSpPr>
        <p:spPr>
          <a:xfrm>
            <a:off x="4413504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Earlier start, higher day +100 OS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22180" y="3063240"/>
            <a:ext cx="0" cy="57607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38"/>
          <p:cNvSpPr txBox="1"/>
          <p:nvPr/>
        </p:nvSpPr>
        <p:spPr>
          <a:xfrm>
            <a:off x="8141208" y="3136392"/>
            <a:ext cx="3361944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Severe or very severe</a:t>
            </a:r>
            <a:endParaRPr lang="en-US" sz="1400" dirty="0"/>
          </a:p>
        </p:txBody>
      </p:sp>
      <p:sp>
        <p:nvSpPr>
          <p:cNvPr id="21" name="Box 39"/>
          <p:cNvSpPr txBox="1"/>
          <p:nvPr/>
        </p:nvSpPr>
        <p:spPr>
          <a:xfrm>
            <a:off x="8141208" y="3657600"/>
            <a:ext cx="3361944" cy="8229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Defibrotide as soon as possible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822180" y="4480560"/>
            <a:ext cx="0" cy="256032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Box 40"/>
          <p:cNvSpPr txBox="1"/>
          <p:nvPr/>
        </p:nvSpPr>
        <p:spPr>
          <a:xfrm>
            <a:off x="8141208" y="4754880"/>
            <a:ext cx="336194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 mg/kg/day for ≥14–21 days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PROPHYLAXIS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UDCA is the recommended prophylaxis; defibrotide prophylaxis is disputed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9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578608"/>
                <a:gridCol w="5751576"/>
                <a:gridCol w="24780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Measure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 in the chapter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Position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Avoid modifiable risk factors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Conditioning, donor, GVHD prophylaxis, nutrition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Crucial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Ursodeoxycholic acid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From conditioning to day +90 (Ruutu 2014)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Recommended (adults)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Defibrotide, pediatric RCT (2012)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360 high-risk children: 20% vs 12%, p=0.049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Effective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Defibrotide, HARMONY (Grupp 2021)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372, half adults: SOS-free survival 67% vs 73%, p=0.85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Not effective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Children, high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pEBMT criteria already allow earlier defibrotide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Open question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SOS/VOD · CHILDREN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Children need pEBMT criteria: no bilirubin threshold and no time limit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10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5989320"/>
                <a:gridCol w="4828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pEBMT criterion (any 2 of 5)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Why it differs from adults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Weight gain on 3 days despite diuretics, or &gt;5% in 72 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Replaces fixed 3% or 5% cut-offs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Rising bilirubin on 3 days, or ≥2 mg/dL within 72 h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About 30% of pediatric SOS/VOD is anicteric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Hepatomegaly above baseline, best on imaging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Baseline ultrasound before HCT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Ascites above baseline, best on imaging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Often preexistent in HLH, osteopetrosis, TDT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Unexplained transfusion-refractory thrombocytopenia*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Earliest and most sensitive sign</a:t>
                      </a:r>
                      <a:endParaRPr lang="en-US" sz="18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3"/>
          <p:cNvSpPr txBox="1"/>
          <p:nvPr/>
        </p:nvSpPr>
        <p:spPr>
          <a:xfrm>
            <a:off x="685800" y="48463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*≥1 weight-adjusted platelet transfusion/day. Szmit 2020: diagnosis 3 days earlier than Seattle.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ENDOTHELIAL SYNDROMES · 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FOS, CLS, ES and pES overlap; timing and trigger separate them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1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2505456"/>
                <a:gridCol w="3630168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Syndrome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When and who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Defining features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Management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Around day 0; up to 60%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 gain, dyspnoea, high CVP; no cardiac or renal failure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Diuretics; no impact on TRM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Mainly children; 5.4%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 &gt;3%/24 h, edema, no response to furosemide ≥1 mg/kg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 G-CSF; steroids; hemodynamic support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Peri-engraftment; auto 7–59%, allo 10–25%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Noninfectious fever, rash, hypoxia; CRP &gt;6 mg/dL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Stop G-CSF, antibiotics; then methyl-PDN 1 mg/kg q12h × 3 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Cord blood (MAC); about day +7; 20–70%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Like ES, 10–11 days before engraftment; more fluid retention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as 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5"/>
          <p:cNvSpPr txBox="1"/>
          <p:nvPr/>
        </p:nvSpPr>
        <p:spPr>
          <a:xfrm>
            <a:off x="685800" y="50292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EASIX = LDH × creatinine / platelets. At day 0 it predicts SOS/VOD and early fluid retention.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ENDOTHELIAL SYNDROMES · ES CRITERIA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Use Maiolino criteria after auto-HCT and Spitzer criteria after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2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26496" cy="914400"/>
        </p:xfrm>
        <a:graphic>
          <a:graphicData uri="http://schemas.openxmlformats.org/drawingml/2006/table">
            <a:tbl>
              <a:tblPr/>
              <a:tblGrid>
                <a:gridCol w="3995928"/>
                <a:gridCol w="2276856"/>
                <a:gridCol w="2276856"/>
                <a:gridCol w="22768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Criterion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Spitzer 2001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Maiolino 2003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Grant 2020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Required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M, or 2 M + ≥1 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M + 1 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M, or 1 M + ≥2 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Window around engraftment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 h before to 96 h after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 h before, any time after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96 h before to 24 h after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Noninfectious fever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Rash &gt;25% of body surface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Pulmonary edema or hypoxia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Weight gain &gt;2.5% (Maiolino &gt;3%)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Hepatic/renal dysfunction; encephalopathy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Diarrhea, ≥2 episodes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4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7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 = major, m = minor. With Spitzer, up to 50% of ES after auto-HCT is missed.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TA-TMA · DIAGNOSIS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TA-TMA is diagnosed by biopsy or by ≥4 of 7 criteria at two time points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3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706624"/>
                <a:gridCol w="81107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Criterion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Definition (harmonized criteria, Schoettler 2023)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Anemia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 fall of 1 g/dL, or new or persistent RBC transfusion need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Thrombocytopenia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 platelet engraftment, refractoriness, or 50% fall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Elevated LDH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 the upper limit of normal for age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Schistocytes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Present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Hypertension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≥140/90 mmHg in adults; &gt;99th percentile if &lt;18 years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Elevated sC5b-9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 the upper limit of 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Proteinuria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Random urine protein/creatinine ratio ≥1 mg/mg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9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Clinical diagnosis: ≥4 of 7 within 14 days, at two consecutive time points.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TA-TMA · RISK AND TREATMENT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Any high-risk feature makes TA-TMA a candidate for complement blockade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14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2871216"/>
                <a:gridCol w="3529584"/>
                <a:gridCol w="4416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Standard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High risk (any one)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Peak LDH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&lt;2× ULN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≥2× ULN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rUPCR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&lt;1 mg/mg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≥1 mg/mg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Organ injury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KDIGO stage I AKI 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Any other organ dysfunction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Soluble C5b-9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Above ULN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Concurrent aGVHD or infection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aGVHD II–IV, or systemic infection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Management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Monitor closely; treat if cytopenia persists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Complement blockade (eculizumab, narsoplimab)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51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Survival: eculizumab ~70% (Jodele 2020); narsoplimab 68% at day 100 (Khaled 2022).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PRES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PRES is a reversible encephalopathy with posterior vasogenic edema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sp>
        <p:nvSpPr>
          <p:cNvPr id="6" name="Box 52"/>
          <p:cNvSpPr txBox="1"/>
          <p:nvPr/>
        </p:nvSpPr>
        <p:spPr>
          <a:xfrm>
            <a:off x="685800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Hypertension, CNI, fludarabine, low Mg, aGVHD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067812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Box 53"/>
          <p:cNvSpPr txBox="1"/>
          <p:nvPr/>
        </p:nvSpPr>
        <p:spPr>
          <a:xfrm>
            <a:off x="3515868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Encephalopathy, seizures, visual disturbance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897880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Box 54"/>
          <p:cNvSpPr txBox="1"/>
          <p:nvPr/>
        </p:nvSpPr>
        <p:spPr>
          <a:xfrm>
            <a:off x="6345936" y="2606040"/>
            <a:ext cx="2327148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MRI: parieto-occipital edema; CSF normal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727948" y="3474720"/>
            <a:ext cx="3931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Box 55"/>
          <p:cNvSpPr txBox="1"/>
          <p:nvPr/>
        </p:nvSpPr>
        <p:spPr>
          <a:xfrm>
            <a:off x="9176004" y="2606040"/>
            <a:ext cx="2327148" cy="1737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Treat BP, seizures, Mg; &gt;80% resolve quickly</a:t>
            </a:r>
            <a:endParaRPr lang="en-US" sz="1700" dirty="0"/>
          </a:p>
        </p:txBody>
      </p:sp>
      <p:sp>
        <p:nvSpPr>
          <p:cNvPr id="13" name="Text 56"/>
          <p:cNvSpPr txBox="1"/>
          <p:nvPr/>
        </p:nvSpPr>
        <p:spPr>
          <a:xfrm>
            <a:off x="685800" y="475488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About 8% after allo-HCT (1% after haplo-HCT, 25% in sickle cell disease). Stopping the CNI did not change the course in the few comparative studies.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1: SOS/VOD after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Text 57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48-year-old woman with relapsed ALL received inotuzumab ozogamicin, then busulfan-based myeloablative allo-HCT. On day +14 she has painful hepatomegaly, ascites, 7% weight gain and bilirubin 4.2 mg/dL; symptoms began 3 days ago. Creatinine is 1.6× her baseline. What is the most appropriate management?</a:t>
            </a:r>
            <a:endParaRPr lang="en-US" sz="1900" dirty="0"/>
          </a:p>
        </p:txBody>
      </p:sp>
      <p:sp>
        <p:nvSpPr>
          <p:cNvPr id="7" name="Text 58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Confirm HVPG ≥10 mmHg before any specific 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Supportive care; defibrotide only if bilirubin reaches 8 mg/dL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Ursodeoxycholic acid alone until day +90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Defibrotide for a fixed 5-day course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Defibrotide 25 mg/kg/day now, for ≥14–21 days until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1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E: start defibrotide now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59"/>
          <p:cNvSpPr txBox="1"/>
          <p:nvPr/>
        </p:nvSpPr>
        <p:spPr>
          <a:xfrm>
            <a:off x="685800" y="17830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E.  Defibrotide 25 mg/kg/day now, for ≥14–21 days until resolution</a:t>
            </a:r>
            <a:endParaRPr lang="en-US" sz="2000" dirty="0"/>
          </a:p>
        </p:txBody>
      </p:sp>
      <p:sp>
        <p:nvSpPr>
          <p:cNvPr id="7" name="Text 60"/>
          <p:cNvSpPr txBox="1"/>
          <p:nvPr/>
        </p:nvSpPr>
        <p:spPr>
          <a:xfrm>
            <a:off x="685800" y="2788920"/>
            <a:ext cx="1081735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Bilirubin ≥2 mg/dL plus three findings = clinical SOS/VOD. Symptoms ≤4 days, weight gain ≥5% and creatinine 1.5–2× baseline put her in the severe category. Defibrotide is started as soon as the diagnosis is made, whatever the diagnostic category; HVPG is not required. UDCA is prophylaxis, not treatment.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2: SOS/VOD in an infant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Text 61"/>
          <p:cNvSpPr txBox="1"/>
          <p:nvPr/>
        </p:nvSpPr>
        <p:spPr>
          <a:xfrm>
            <a:off x="685800" y="17373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10-month-old boy with HLH receives busulfan-based MAC. Pre-HCT ultrasound showed hepatomegaly and minimal ascites. On day +9 he needs ≥1 weight-adjusted platelet transfusion daily without bleeding and has gained weight on 3 consecutive days despite furosemide. Bilirubin is 1.1 mg/dL. Which statement is correct?</a:t>
            </a:r>
            <a:endParaRPr lang="en-US" sz="1900" dirty="0"/>
          </a:p>
        </p:txBody>
      </p:sp>
      <p:sp>
        <p:nvSpPr>
          <p:cNvPr id="7" name="Text 62"/>
          <p:cNvSpPr txBox="1"/>
          <p:nvPr/>
        </p:nvSpPr>
        <p:spPr>
          <a:xfrm>
            <a:off x="960120" y="3465576"/>
            <a:ext cx="1054303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SOS/VOD cannot be diagnosed while bilirubin is &lt;2 mg/dL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Right upper quadrant pain is required for the diagnosis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He meets the pediatric EBMT criteria for SOS/VOD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Preexisting hepatomegaly excludes SOS/VOD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SOS/VOD can only be diagnosed after day +21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2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pediatric EBMT criteria are met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sp>
        <p:nvSpPr>
          <p:cNvPr id="6" name="Box 63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He meets the pediatric EBMT criteria for SOS/VOD</a:t>
            </a:r>
            <a:endParaRPr lang="en-US" sz="2000" dirty="0"/>
          </a:p>
        </p:txBody>
      </p:sp>
      <p:sp>
        <p:nvSpPr>
          <p:cNvPr id="7" name="Text 64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pEBMT needs any 2 of 5 criteria, with no bilirubin threshold and no time limit. Refractory thrombocytopenia (≥1 weight-adjusted platelet transfusion/day) plus weight gain on 3 days despite diuretics fulfil it. A applies Baltimore/adult EBMT logic and misses anicteric SOS/VOD (~30% in children). Preexisting hepatomegaly only sets the baseline.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Question 3: Microangiopathy after allo-HCT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sp>
        <p:nvSpPr>
          <p:cNvPr id="6" name="Text 65"/>
          <p:cNvSpPr txBox="1"/>
          <p:nvPr/>
        </p:nvSpPr>
        <p:spPr>
          <a:xfrm>
            <a:off x="685800" y="2194560"/>
            <a:ext cx="108173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35-year-old man is on day +45 after matched unrelated donor allo-HCT, on tacrolimus plus sirolimus, with grade III gut aGVHD. Hb fell 2 g/dL, platelets are falling, LDH is 2.5× ULN, schistocytes are present, BP is 150/95 mmHg, rUPCR is 1.4 mg/mg and sC5b-9 is elevated. What is the best next step?</a:t>
            </a:r>
            <a:endParaRPr lang="en-US" sz="1900" dirty="0"/>
          </a:p>
        </p:txBody>
      </p:sp>
      <p:sp>
        <p:nvSpPr>
          <p:cNvPr id="7" name="Text 66"/>
          <p:cNvSpPr txBox="1"/>
          <p:nvPr/>
        </p:nvSpPr>
        <p:spPr>
          <a:xfrm>
            <a:off x="960120" y="3922776"/>
            <a:ext cx="10543032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A.  Therapeutic plasma exchange as first-line therapy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B.  Observation, because this is standard-risk TA-TMA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C.  Complement blockade (e.g. eculizumab) and treatment of triggers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D.  Stop all immunosuppression immediately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E.  Withhold all platelet and red cell transfusions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BOARD-STYLE QUESTION 3 OF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Answer C: complement blockade for high-risk TA-TMA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sp>
        <p:nvSpPr>
          <p:cNvPr id="6" name="Box 67"/>
          <p:cNvSpPr txBox="1"/>
          <p:nvPr/>
        </p:nvSpPr>
        <p:spPr>
          <a:xfrm>
            <a:off x="685800" y="2240280"/>
            <a:ext cx="10817352" cy="7315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127000" tIns="177800" rIns="177800" bIns="12700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C.  Complement blockade (e.g. eculizumab) and treatment of triggers</a:t>
            </a:r>
            <a:endParaRPr lang="en-US" sz="2000" dirty="0"/>
          </a:p>
        </p:txBody>
      </p:sp>
      <p:sp>
        <p:nvSpPr>
          <p:cNvPr id="7" name="Text 68"/>
          <p:cNvSpPr txBox="1"/>
          <p:nvPr/>
        </p:nvSpPr>
        <p:spPr>
          <a:xfrm>
            <a:off x="685800" y="3246120"/>
            <a:ext cx="10817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 meets ≥4 of 7 harmonized criteria. LDH ≥2× ULN, rUPCR ≥1 mg/mg, elevated sC5b-9 and aGVHD II–IV are each high-risk features, so complement blockade is indicated, with aggressive treatment of GVHD. TPE is an alternative only when complement blockers are unavailable. Changes to immunosuppression must not provoke aGVHD.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1 of 2</a:t>
            </a:r>
            <a:endParaRPr lang="en-US" sz="3600" dirty="0"/>
          </a:p>
        </p:txBody>
      </p:sp>
      <p:sp>
        <p:nvSpPr>
          <p:cNvPr id="5" name="Text 69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1. Carreras E, Ruutu T, Mohty M, Corbacioglu S, de la Cámara R. Hepatic complications. In: Sureda A, Corbacioglu S, Greco R, Kröger N, Carreras E, editors. The EBMT Handbook: Hematopoietic Cell Transplantation and Cellular Therapies. 8th ed. Cham: Springer; 2024. p. 441–58. https://doi.org/10.1007/978-3-031-44080-9_49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2. Carreras E, Diaz-Ricart M, Jodele S, Penack O, Vasu S. Early complications of endothelial origin. In: Sureda A, Corbacioglu S, Greco R, Kröger N, Carreras E, editors. The EBMT Handbook: Hematopoietic Cell Transplantation and Cellular Therapies. 8th ed. Cham: Springer; 2024. p. 373–83. https://doi.org/10.1007/978-3-031-44080-9_42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3. Mohty M, Malard F, Alaskar AS, et al. Diagnosis and severity criteria for sinusoidal obstruction syndrome/veno-occlusive disease in adult patients: a refined classification from the European society for blood and marrow transplantation (EBMT). Bone Marrow Transplant. 2023;58:749. https://doi.org/10.1038/s41409-023-01992-8.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4. Spitzer TR. Engraftment syndrome following hematopoietic stem cell transplantation. Bone Marrow Transplant. 2001;27:893–8.</a:t>
            </a:r>
            <a:endParaRPr lang="en-US" sz="1100" dirty="0"/>
          </a:p>
        </p:txBody>
      </p:sp>
      <p:sp>
        <p:nvSpPr>
          <p:cNvPr id="6" name="Text 70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5. Maiolino A, Biasoli I, Lima J, et al. Engraftment syndrome following autologous hematopoietic stem cell transplantation: definition of diagnostic criteria. Bone Marrow Transplant. 2003;31:393–7.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6. Szmit Z, Gorczynska E, Król A, et al. Introduction of new pediatric EBMT criteria for VOD diagnosis: is it time-saving or money-wasting? Prospective evaluation of pediatric EBMT criteria for VOD. Bone Marrow Transplant. 2020;55:2138–46.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7. Yoon JH, Yoo KH, Sung KW, et al. Validation of treatment outcomes according to revised severity criteria from European Society for Blood and Marrow Transplantation (EBMT) for sinusoidal obstruction syndrome/veno-occlusive disease (SOS/VOD). Bone Marrow Transplant. 2019;54:1361–8.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8. Ruutu T, Juvonen E, Remberger M, et al. Improved survival with ursodeoxycholic acid prophylaxis in allogeneic stem cell transplantation: long-term follow-up of a randomized study. Biol Blood Marrow Transplant. 2014;20:135–8.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REFERENCES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References, part 2 of 2</a:t>
            </a:r>
            <a:endParaRPr lang="en-US" sz="3600" dirty="0"/>
          </a:p>
        </p:txBody>
      </p:sp>
      <p:sp>
        <p:nvSpPr>
          <p:cNvPr id="5" name="Text 71"/>
          <p:cNvSpPr txBox="1"/>
          <p:nvPr/>
        </p:nvSpPr>
        <p:spPr>
          <a:xfrm>
            <a:off x="685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9. Corbacioglu S, Cesaro S, Faraci M, et al. Defibrotide for prophylaxis of hepatic veno-occlusive disease in paediatric haemopoietic stem-cell transplantation: an open-label, phase 3, randomised controlled trial. Lancet. 2012a;379:1301–9.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10. Grupp SA, Corbacioglu S, Kang HJ, et al. A phase 3, randomized, adaptive study of defibrotide (DF) vs best supportive care (BSC) for the prevention of hepatic veno-occlusive disease/sinusoidal obstruction syndrome (VOD/SOS) in patients (pts) undergoing hematopoietic cell transplantation (HCT): preliminary results. Blood. 2021;138:749.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11. Grant A, Chapman LRM, Mitchell R, O’Brien TA. Engraftment syndrome following hematopoietic stem cell transplant: a review of the literature. Clin Transpl. 2020;34:e13875.</a:t>
            </a:r>
            <a:endParaRPr lang="en-US" sz="1100" dirty="0"/>
          </a:p>
        </p:txBody>
      </p:sp>
      <p:sp>
        <p:nvSpPr>
          <p:cNvPr id="6" name="Text 72"/>
          <p:cNvSpPr txBox="1"/>
          <p:nvPr/>
        </p:nvSpPr>
        <p:spPr>
          <a:xfrm>
            <a:off x="6400800" y="210312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12. Schoettler ML, Carreras E, Cho B, et al. Harmonizing definitions for diagnostic criteria and prognostic assessment of transplantation-associated thrombotic Microangiopathy: a report on behalf of the European Society for Blood and Marrow Transplantation, American Society for Transplantation and Cellular Therapy, Asia-Pacific Blood and Marrow Transplantation Group, and Center for International Blood and Marrow Transplant Research. Transplant Cell Ther. 2023;29:151–63.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13. Jodele S, Dandoy CE, Lane A, et al. Complement blockade for TA-TMA: lessons learned from a large pediatric cohort treated with eculizumab. Blood. 2020;135:1049–57.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14. Khaled SK, Claes K, Goh YT, et al. Narsoplimab, a Mannan-binding lectin-associated serine Protease-2 inhibitor, for the treatment of adult hematopoietic stem-cell transplantation-associated thrombotic Microangiopathy. J Clin Oncol. 2022;40:2447–57.</a:t>
            </a:r>
            <a:endParaRPr lang="en-US" sz="11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SOS/VOD · CHILDREN VS ADULTS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Children differ from adults in incidence, presentation and criteria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24" name="Table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026664"/>
                <a:gridCol w="4325112"/>
                <a:gridCol w="34655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Children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Adults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Incidence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15–20%; up to 60% if high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5–10%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Late-onset (after day 21)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20%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Anicteric SOS/VOD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30%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15%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Bilirubin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Often preexistent or late; ≥2 mg/dL means severe disease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≥2 mg/dL mandatory for diagnosis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Hepatomegaly and ascites before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Common; imaging baseline needed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Diagnostic criteria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Pediatric EBMT; refractory thrombocytopenia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Adult EBMT, Baltimore, Seattle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74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Ch. 49 gives adult incidence as 5–15% in the text and 5–10% in Table 49.4.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HEPATOTROPIC VIRUSES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HBV needs antiviral prophylaxis; HCV and HAV are treated or deferred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25" name="Table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438144"/>
                <a:gridCol w="7379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Situation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Recommendation in the chapter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HBsAg+ or HBV-DNA+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Entecavir or tenofovir from before conditioning, ≥1 year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After stopping 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Monitor HBV every 3 months; lamivudine not recommended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Anti-HBc+ only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ECIL: prophylaxis for all. EASL: only if risk &gt;10%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Pre-emptive strategy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HBsAg and HBV-DNA every 1–3 months; treat when detectable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HBsAg+ donor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Transmits in 22–44%; treat donor, prophylaxis for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HCV-RNA+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Direct-acting antivirals (cure &gt;90%), ideally before HCT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HAV viremia, donor or recipient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Do not transplant: increased SOS/VOD risk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TA-TMA · OTHER OPTIONS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Beyond complement blockade, TA-TMA options rest on small series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42</a:t>
            </a:r>
            <a:endParaRPr lang="en-US" sz="1000" dirty="0"/>
          </a:p>
        </p:txBody>
      </p:sp>
      <p:graphicFrame>
        <p:nvGraphicFramePr>
          <p:cNvPr id="26" name="Table 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17352" cy="914400"/>
        </p:xfrm>
        <a:graphic>
          <a:graphicData uri="http://schemas.openxmlformats.org/drawingml/2006/table">
            <a:tbl>
              <a:tblPr/>
              <a:tblGrid>
                <a:gridCol w="3273552"/>
                <a:gridCol w="7543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Approach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Data in the chapter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Supportive care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Transfusions, stop culprit drugs, treat GVHD/infection, BP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Plasma exchange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Early TPE; option when complement blockers are unavailable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Rituximab + TPE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12/15 responses; useful with anti-factor H antibodies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Responses in a retrospective multicenter review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 clinical trials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Ravulizumab, nomacopan (C5); pegcetacoplan (C3)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Prophylaxis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Defibrotide (high-risk children), N-acetylcysteine, statins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029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chemeClr val="tx1"/>
                </a:solidFill>
              </a:rPr>
              <a:t>BACKUP · OTHER HEPATIC COMPLICATIONS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822960"/>
            <a:ext cx="10817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Hepatic GVHD and autoimmune hepatitis look alike; GGT and antibodies help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0807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Carreras E, et al. EBMT Handbook 8th ed. 2024; Ch. 49</a:t>
            </a:r>
            <a:endParaRPr lang="en-US" sz="1000" dirty="0"/>
          </a:p>
        </p:txBody>
      </p:sp>
      <p:graphicFrame>
        <p:nvGraphicFramePr>
          <p:cNvPr id="27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40280"/>
          <a:ext cx="1080820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78224"/>
                <a:gridCol w="40782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Autoimmune hepatitis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Hepatic GVHD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Other organs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Often asymptomatic; fatigue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Almost always GVHD elsewhere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AST rise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Moderate to severe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Minimal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GGT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Marked rise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Normal or decreased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Autoantibodies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AIH type 2 (anti-LKM, anti-LC1)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Usually type 1 pattern (ANA, ANCA)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Pathology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Portal infiltrate penetrating lobules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Bile duct damage, ductal degeneration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Steroid response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Excellent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 by severity</a:t>
                      </a:r>
                      <a:endParaRPr lang="en-US" sz="1600" dirty="0"/>
                    </a:p>
                  </a:txBody>
                  <a:tcPr marL="254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080760"/>
            <a:ext cx="5303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ochrome">
  <a:themeElements>
    <a:clrScheme name="Monochrom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Monochrom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SOS/VOD and early endothelial complications</dc:title>
  <dc:subject>PptxGenJS Presentation</dc:subject>
  <dc:creator>Hsieh-Ting Lin, MD</dc:creator>
  <cp:lastModifiedBy>Hsieh-Ting Lin, MD</cp:lastModifiedBy>
  <cp:revision>1</cp:revision>
  <dcterms:created xsi:type="dcterms:W3CDTF">2026-10-09T16:11:58Z</dcterms:created>
  <dcterms:modified xsi:type="dcterms:W3CDTF">2026-10-09T16:11:58Z</dcterms:modified>
</cp:coreProperties>
</file>