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1ee7a0-f7e5-8485-e7de-7439f56c2548}">
          <p14:sldIdLst>
            <p14:sldId id="256"/>
            <p14:sldId id="257"/>
          </p14:sldIdLst>
        </p14:section>
        <p14:section name="Safe products" id="{2d738eaa-aff2-5726-22b7-43bcabc5cab5}">
          <p14:sldIdLst>
            <p14:sldId id="258"/>
            <p14:sldId id="259"/>
          </p14:sldIdLst>
        </p14:section>
        <p14:section name="Red cells and platelets" id="{c9f8e852-4857-280e-1da3-d07db81c5c6c}">
          <p14:sldIdLst>
            <p14:sldId id="260"/>
            <p14:sldId id="261"/>
            <p14:sldId id="262"/>
            <p14:sldId id="263"/>
          </p14:sldIdLst>
        </p14:section>
        <p14:section name="ABO-incompatible HCT" id="{c9fcc67f-4095-84ba-1d45-e8e42cbafe98}">
          <p14:sldIdLst>
            <p14:sldId id="264"/>
            <p14:sldId id="265"/>
            <p14:sldId id="266"/>
            <p14:sldId id="267"/>
            <p14:sldId id="268"/>
            <p14:sldId id="269"/>
            <p14:sldId id="270"/>
          </p14:sldIdLst>
        </p14:section>
        <p14:section name="Granulocytes" id="{3922d190-2200-6ed1-18ac-ca02494dadd5}">
          <p14:sldIdLst>
            <p14:sldId id="271"/>
          </p14:sldIdLst>
        </p14:section>
        <p14:section name="Board questions" id="{3f82114d-7b51-d439-9432-0efd031a5538}">
          <p14:sldIdLst>
            <p14:sldId id="272"/>
            <p14:sldId id="273"/>
            <p14:sldId id="274"/>
            <p14:sldId id="275"/>
            <p14:sldId id="276"/>
            <p14:sldId id="277"/>
          </p14:sldIdLst>
        </p14:section>
        <p14:section name="References" id="{8d8b5bbe-76d6-a639-3b76-d34f8a14e444}">
          <p14:sldIdLst>
            <p14:sldId id="278"/>
            <p14:sldId id="279"/>
            <p14:sldId id="280"/>
          </p14:sldIdLst>
        </p14:section>
        <p14:section name="Backup" id="{68099beb-af27-adce-9741-19b12c76d1a0}">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各位好，今天是第 6 堂，主題是移植病人的輸血支持，以及 ABO 血型不合的移植。</a:t>
            </a:r>
          </a:p>
          <a:p>
            <a:pPr>
              <a:spcAft>
                <a:spcPts val="600"/>
              </a:spcAft>
            </a:pPr>
            <a:r>
              <a:rPr lang="en-US" dirty="0"/>
              <a:t>內容來自 EBMT Handbook 第八版第 24 章，graft 處理的方法參考第 19 章。這章篇幅不長，但幾乎每一句都有數字或規則，考題也最常從這裡出。最後一樣留三題 board-style 題目。</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今天分四段。第一段是血品本身的安全，包括 leukocyte reduction、為了預防 transfusion-associated GvHD 的照射，以及怎麼降低 CMV 經由輸血傳播。</a:t>
            </a:r>
          </a:p>
          <a:p>
            <a:pPr>
              <a:spcAft>
                <a:spcPts val="600"/>
              </a:spcAft>
            </a:pPr>
            <a:r>
              <a:rPr lang="en-US" dirty="0"/>
              <a:t>第二段是紅血球和血小板。輸血門檻、幾個重要的 randomized trial，還有血小板輸了卻升不上來的 refractoriness，該怎麼一步一步處理。</a:t>
            </a:r>
          </a:p>
          <a:p>
            <a:pPr>
              <a:spcAft>
                <a:spcPts val="600"/>
              </a:spcAft>
            </a:pPr>
            <a:r>
              <a:rPr lang="en-US" dirty="0"/>
              <a:t>第三段份量最重，是 ABO 血型不合的移植。先分清楚 major、minor 和 bidirectional，再看 graft 要不要處理、移植後會出現哪些併發症，最後是 Table 24.1，每個階段該輸哪一型的血。RhD 和 Kell 也放在這一段。</a:t>
            </a:r>
          </a:p>
          <a:p>
            <a:pPr>
              <a:spcAft>
                <a:spcPts val="600"/>
              </a:spcAft>
            </a:pPr>
            <a:r>
              <a:rPr lang="en-US" dirty="0"/>
              <a:t>最後簡短講 granulocyte transfusion，再用三題考題收尾。兒童輸血劑量、鐵過載和 HLA-matched 血小板的選擇順序放在 backup。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 至 3:30]</a:t>
            </a:r>
          </a:p>
          <a:p>
            <a:pPr>
              <a:spcAft>
                <a:spcPts val="600"/>
              </a:spcAft>
            </a:pPr>
            <a:r>
              <a:rPr lang="en-US" dirty="0"/>
              <a:t>移植病人的血品有兩個基本要求。第一是 leukocyte reduction，紅血球、血小板和 FFP 每單位白血球都要少於 1 × 10⁶。好處有三個：減少 febrile non-haemolytic transfusion reaction，減少對白血球抗原的 alloimmunisation，也降低 CMV 傳播。</a:t>
            </a:r>
          </a:p>
          <a:p>
            <a:pPr>
              <a:spcAft>
                <a:spcPts val="600"/>
              </a:spcAft>
            </a:pPr>
            <a:r>
              <a:rPr lang="en-US" dirty="0"/>
              <a:t>另一個要求是照射。所有 cellular component，也就是紅血球、血小板和 granulocyte，都要照射，目的是預防 transfusion-associated GvHD。血品裡還活著的 T 細胞攻擊病人，表現像 GVHD，有發燒、皮疹、腹瀉、肝功能異常，而且很多病人會全血球低下。死亡率超過 90%，所以重點完全在預防。</a:t>
            </a:r>
          </a:p>
          <a:p>
            <a:pPr>
              <a:spcAft>
                <a:spcPts val="600"/>
              </a:spcAft>
            </a:pPr>
            <a:r>
              <a:rPr lang="en-US" dirty="0"/>
              <a:t>劑量是血品的每一個部位都不能低於 25 Gy，也不能高於 50 Gy。有些 pathogen-reduction technology 本身就能讓淋巴球失去活性，用了就不必再照射。</a:t>
            </a:r>
          </a:p>
          <a:p>
            <a:pPr>
              <a:spcAft>
                <a:spcPts val="600"/>
              </a:spcAft>
            </a:pPr>
            <a:r>
              <a:rPr lang="en-US" dirty="0"/>
              <a:t>照射要持續多久，其實沒有共識。標準做法是 auto-HCT 從收集幹細胞前至少兩週開始，到移植後至少三個月；allo-HCT 最晚從 conditioning 開始，到移植後至少六個月，或到免疫重建為止。因為免疫完全重建很難確認，有些中心乾脆終身照射。</a:t>
            </a:r>
          </a:p>
          <a:p>
            <a:pPr>
              <a:spcAft>
                <a:spcPts val="600"/>
              </a:spcAft>
            </a:pPr>
            <a:r>
              <a:rPr lang="en-US" dirty="0"/>
              <a:t>還有一個容易忽略的點。Donor 如果在採集前七天內或採集期間輸過血，那些血品也要照射。Auto 和 allo 的起訖時間不同，這組數字是這一章最常考的地方。</a:t>
            </a:r>
          </a:p>
          <a:p>
            <a:pPr>
              <a:spcAft>
                <a:spcPts val="600"/>
              </a:spcAft>
            </a:pPr>
            <a:r>
              <a:rPr lang="en-US" dirty="0"/>
              <a:t>Auto 病人在 mobilisation 之前常常就需要輸血，這時就該開始用照射血品。</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[1:15 本頁 · 3:30 至 4:45]</a:t>
            </a:r>
          </a:p>
          <a:p>
            <a:pPr>
              <a:spcAft>
                <a:spcPts val="600"/>
              </a:spcAft>
            </a:pPr>
            <a:r>
              <a:rPr lang="en-US" dirty="0"/>
              <a:t>接著是 transfusion-transmitted CMV。風險最高的組合，是 CMV 陰性的病人接受 CMV 陰性 donor 的 graft，因為這群人完全沒有對 CMV 的免疫力，一旦從血品感染，後果最嚴重。</a:t>
            </a:r>
          </a:p>
          <a:p>
            <a:pPr>
              <a:spcAft>
                <a:spcPts val="600"/>
              </a:spcAft>
            </a:pPr>
            <a:r>
              <a:rPr lang="en-US" dirty="0"/>
              <a:t>降低風險有兩條路。一條是 leukocyte-reduced 血品，殘留白血球每單位少於 1 到 5 × 10⁶；另一條是用 CMV 血清陰性捐血者的血品。兩者一起用，也就是所謂 belt and suspenders，有沒有額外好處並不清楚。英國的諮詢委員會甚至認為，未篩選 CMV 的血品也可以安全輸注。</a:t>
            </a:r>
          </a:p>
          <a:p>
            <a:pPr>
              <a:spcAft>
                <a:spcPts val="600"/>
              </a:spcAft>
            </a:pPr>
            <a:r>
              <a:rPr lang="en-US" dirty="0"/>
              <a:t>風險最高的捐血，來自剛剛轉為 CMV IgG 陽性的捐血者。目前沒有國際共識，CMV 陰性血品要給多久，各中心從 day 100 到終身都有。CMV 的監測和治療留到第 12 堂。</a:t>
            </a:r>
          </a:p>
          <a:p>
            <a:pPr>
              <a:spcAft>
                <a:spcPts val="600"/>
              </a:spcAft>
            </a:pPr>
            <a:r>
              <a:rPr lang="en-US" dirty="0"/>
              <a:t>要注意，這裡寫的殘留白血球是 1 到 5 × 10⁶，比前一張移植血品要求的 1 × 10⁶ 寬鬆一些。</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4:45 至 6:15]</a:t>
            </a:r>
          </a:p>
          <a:p>
            <a:pPr>
              <a:spcAft>
                <a:spcPts val="600"/>
              </a:spcAft>
            </a:pPr>
            <a:r>
              <a:rPr lang="en-US" dirty="0"/>
              <a:t>紅血球的門檻是 restrictive strategy。血流動力學穩定的成人，血紅素 7 到 8 g/dL 才輸；有心血管疾病的病人用 8 g/dL。這些 cutoff 主要來自非移植族群的研究。</a:t>
            </a:r>
          </a:p>
          <a:p>
            <a:pPr>
              <a:spcAft>
                <a:spcPts val="600"/>
              </a:spcAft>
            </a:pPr>
            <a:r>
              <a:rPr lang="en-US" dirty="0"/>
              <a:t>移植病人專屬的 randomized trial 只有一個，就是 TRIST。300 位病人隨機分到 liberal，血紅素低於 90 g/L 就輸，或 restrictive，低於 70 g/L 才輸。生活品質和臨床結果都沒有差別。Restrictive 組用的紅血球中位數比較少，但沒有達到統計顯著。</a:t>
            </a:r>
          </a:p>
          <a:p>
            <a:pPr>
              <a:spcAft>
                <a:spcPts val="600"/>
              </a:spcAft>
            </a:pPr>
            <a:r>
              <a:rPr lang="en-US" dirty="0"/>
              <a:t>兒童 allo-HCT 有一個 feasibility trial 正在進行，比較 6.5 和 8.0 g/dL。另一個血液科病人的 randomized trial 顯示，一次輸一單位不劣於一次兩單位，不過整個住院期間的總單位數並沒有減少。</a:t>
            </a:r>
          </a:p>
          <a:p>
            <a:pPr>
              <a:spcAft>
                <a:spcPts val="600"/>
              </a:spcAft>
            </a:pPr>
            <a:r>
              <a:rPr lang="en-US" dirty="0"/>
              <a:t>最後是血品的新鮮度。好幾個 trial 都看不到新鮮紅血球的好處，所以 AABB 建議在有效期限內的任何血品都可以用。</a:t>
            </a:r>
          </a:p>
          <a:p>
            <a:pPr>
              <a:spcAft>
                <a:spcPts val="600"/>
              </a:spcAft>
            </a:pPr>
            <a:r>
              <a:rPr lang="en-US" dirty="0"/>
              <a:t>TRIST 的 70 g/L 換算就是 7 g/dL，和一般建議的門檻一致。</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6:15 至 7:45]</a:t>
            </a:r>
          </a:p>
          <a:p>
            <a:pPr>
              <a:spcAft>
                <a:spcPts val="600"/>
              </a:spcAft>
            </a:pPr>
            <a:r>
              <a:rPr lang="en-US" dirty="0"/>
              <a:t>血小板的預防性輸注，看病人當下的狀況分三層。沒有出血、沒有發燒的穩定病人，血小板 ≤ 10 × 10⁹/L 就輸。臨床判斷需要的話，可以在更高的數值就輸。</a:t>
            </a:r>
          </a:p>
          <a:p>
            <a:pPr>
              <a:spcAft>
                <a:spcPts val="600"/>
              </a:spcAft>
            </a:pPr>
            <a:r>
              <a:rPr lang="en-US" dirty="0"/>
              <a:t>有活動性出血、發燒或活動性感染的病人，門檻提高到 20 × 10⁹/L。</a:t>
            </a:r>
          </a:p>
          <a:p>
            <a:pPr>
              <a:spcAft>
                <a:spcPts val="600"/>
              </a:spcAft>
            </a:pPr>
            <a:r>
              <a:rPr lang="en-US" dirty="0"/>
              <a:t>第三層是移植特有的毒性。Acute GVHD、mucositis、hemorrhagic cystitis 或 diffuse alveolar hemorrhage 都會增加出血風險，這時 20 × 10⁹/L 甚至更高都說得過去，要依照仔細的臨床觀察決定。</a:t>
            </a:r>
          </a:p>
          <a:p>
            <a:pPr>
              <a:spcAft>
                <a:spcPts val="600"/>
              </a:spcAft>
            </a:pPr>
            <a:r>
              <a:rPr lang="en-US" dirty="0"/>
              <a:t>Key points 裡特別寫了一句，allo-HCT 病人的血小板低下，標準仍然是 prophylactic transfusion，不是等出血才輸。10 和 20 這兩個數字，以及哪些情況要升到 20，是典型的考點。下一張就說明為什麼 allo 不能只做 therapeutic transfusion。</a:t>
            </a:r>
          </a:p>
          <a:p>
            <a:pPr>
              <a:spcAft>
                <a:spcPts val="600"/>
              </a:spcAft>
            </a:pPr>
            <a:r>
              <a:rPr lang="en-US" dirty="0"/>
              <a:t>例如 mucositis 加上發燒的病人，兩個條件都指向 20 × 10⁹/L。如果又出現 hemorrhagic cystitis 或 diffuse alveolar hemorrhage，就要依實際出血情況再往上調，書上沒有給固定的數字。</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7:45 至 9:15]</a:t>
            </a:r>
          </a:p>
          <a:p>
            <a:pPr>
              <a:spcAft>
                <a:spcPts val="600"/>
              </a:spcAft>
            </a:pPr>
            <a:r>
              <a:rPr lang="en-US" dirty="0"/>
              <a:t>兩個成人的 randomized trial，Wandt 2012 和 Stanworth 2013，比較只在出血時才輸的 therapeutic strategy 和預防性輸注，收的是 16 歲以上病人。結論是 therapeutic strategy 在 auto-PBSCT 之後可行，但不能直接套用到 AML 或 allo-HCT，因為這些病人出血風險較高，尤其是 CNS bleeding。</a:t>
            </a:r>
          </a:p>
          <a:p>
            <a:pPr>
              <a:spcAft>
                <a:spcPts val="600"/>
              </a:spcAft>
            </a:pPr>
            <a:r>
              <a:rPr lang="en-US" dirty="0"/>
              <a:t>這個結論也不能套到兒童。PLADO 的次族群分析顯示，兒童的出血率明顯比成人高，auto-HCT 的兒童尤其如此。</a:t>
            </a:r>
          </a:p>
          <a:p>
            <a:pPr>
              <a:spcAft>
                <a:spcPts val="600"/>
              </a:spcAft>
            </a:pPr>
            <a:r>
              <a:rPr lang="en-US" dirty="0"/>
              <a:t>PLADO 本身比較的是劑量。Low、medium、high dose 分別是每平方公尺 1.1、2.2 和 4.4 × 10¹¹ 個血小板。在這個範圍內，劑量對出血率沒有影響。Low dose 用掉的血小板總量比較少，代價是輸注次數變多。</a:t>
            </a:r>
          </a:p>
          <a:p>
            <a:pPr>
              <a:spcAft>
                <a:spcPts val="600"/>
              </a:spcAft>
            </a:pPr>
            <a:r>
              <a:rPr lang="en-US" dirty="0"/>
              <a:t>最後是產品種類。Apheresis 和 whole blood pooled 的血小板，對沒有 alloimmunisation 的病人效果相當；apheresis 的優勢只出現在帶 HLA 或 HPA 抗體、需要配對捐血者的病人。</a:t>
            </a:r>
          </a:p>
          <a:p>
            <a:pPr>
              <a:spcAft>
                <a:spcPts val="600"/>
              </a:spcAft>
            </a:pPr>
            <a:r>
              <a:rPr lang="en-US" dirty="0"/>
              <a:t>所以在 1.1 到 4.4 × 10¹¹/m² 之間，多給並不會減少出血；therapeutic-only 的策略，目前只適合成人的 auto-PBSCT。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9:15 至 10:45]</a:t>
            </a:r>
          </a:p>
          <a:p>
            <a:pPr>
              <a:spcAft>
                <a:spcPts val="600"/>
              </a:spcAft>
            </a:pPr>
            <a:r>
              <a:rPr lang="en-US" dirty="0"/>
              <a:t>Platelet refractoriness 的定義很具體。輸新鮮、ABO 相同的血小板，連續兩次以上，輸後 1 小時的 corrected count increment 都低於 5000/µL。</a:t>
            </a:r>
          </a:p>
          <a:p>
            <a:pPr>
              <a:spcAft>
                <a:spcPts val="600"/>
              </a:spcAft>
            </a:pPr>
            <a:r>
              <a:rPr lang="en-US" dirty="0"/>
              <a:t>原因八成以上不是免疫造成的，像發燒、sepsis、DIC、SOS/VOD、GVHD、脾臟腫大，還有 amphotericin B、vancomycin、heparin、ATG 這些藥。免疫原因不到兩成，其中八成以上是 HLA class I 抗體。</a:t>
            </a:r>
          </a:p>
          <a:p>
            <a:pPr>
              <a:spcAft>
                <a:spcPts val="600"/>
              </a:spcAft>
            </a:pPr>
            <a:r>
              <a:rPr lang="en-US" dirty="0"/>
              <a:t>所以順序是先排除非免疫原因，找不到才篩 HLA 抗體。抗體陽性就給 HLA-matched 的 apheresis 血小板，最理想是 HLA-A 和 HLA-B 四個抗原完全相同，配對的優先順序放在 backup。</a:t>
            </a:r>
          </a:p>
          <a:p>
            <a:pPr>
              <a:spcAft>
                <a:spcPts val="600"/>
              </a:spcAft>
            </a:pPr>
            <a:r>
              <a:rPr lang="en-US" dirty="0"/>
              <a:t>用了 HLA-matched 血小板還是升不上來，而且非免疫原因不太可能，才去驗 HPA 抗體。真的找不到相容的捐血者，可以用病人緩解期事先冷凍的自體血小板、rituximab、高劑量 IVIg 或 plasmapheresis。</a:t>
            </a:r>
          </a:p>
          <a:p>
            <a:pPr>
              <a:spcAft>
                <a:spcPts val="600"/>
              </a:spcAft>
            </a:pPr>
            <a:r>
              <a:rPr lang="en-US" dirty="0"/>
              <a:t>HLA 抗體多半來自過去的輸血。第 24 章在 granulocyte 那一段也提到，alloimmunisation 會讓血小板輸注後的上升變差。如果病人在移植前就已經 refractory，可以趁緩解時先收集自體血小板冷凍起來，留到 allo-HCT 之後使用。</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10:45 至 12:15]</a:t>
            </a:r>
          </a:p>
          <a:p>
            <a:pPr>
              <a:spcAft>
                <a:spcPts val="600"/>
              </a:spcAft>
            </a:pPr>
            <a:r>
              <a:rPr lang="en-US" dirty="0"/>
              <a:t>ABO 不合大約占 allo 移植的 40 到 50%。HLA 才是選 donor 的關鍵，ABO 不合可以跨越，但要預先處理 graft，也要預期併發症。</a:t>
            </a:r>
          </a:p>
          <a:p>
            <a:pPr>
              <a:spcAft>
                <a:spcPts val="600"/>
              </a:spcAft>
            </a:pPr>
            <a:r>
              <a:rPr lang="en-US" dirty="0"/>
              <a:t>分類看抗體的方向。Major mismatch 是病人身上有對抗 donor 紅血球的 isoagglutinin，最典型是 O 型病人接受 A 型 donor。Minor 反過來，是 donor 的血漿和淋巴球帶著對抗病人紅血球的抗體，例如 A 型病人接受 O 型 donor。Bidirectional 兩個方向都有，例如 A 型和 B 型互換。</a:t>
            </a:r>
          </a:p>
          <a:p>
            <a:pPr>
              <a:spcAft>
                <a:spcPts val="600"/>
              </a:spcAft>
            </a:pPr>
            <a:r>
              <a:rPr lang="en-US" dirty="0"/>
              <a:t>第 12 章提到，ABO 不合對整體結果的影響不大，而且這幾年越來越小，部分原因是 bone marrow graft 用得少了。兒科的 donor 選擇排序裡，ABO 排在很後面。不過用 PBSC 只能避開輸注 graft 時的問題，移植後的溶血、紅血球生成延遲和 PRCA 還是會發生。</a:t>
            </a:r>
          </a:p>
          <a:p>
            <a:pPr>
              <a:spcAft>
                <a:spcPts val="600"/>
              </a:spcAft>
            </a:pPr>
            <a:r>
              <a:rPr lang="en-US" dirty="0"/>
              <a:t>第 12 章兒科 donor 選擇的排序裡，ABO major compatibility 排在 donor 性別之後，minor compatibility 更排在 donor center 位置之後，幾乎是最後一項。抗體方向這個概念，後面 graft 處理、併發症和輸血選擇都會一直用到。</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12:15 至 14:15]</a:t>
            </a:r>
          </a:p>
          <a:p>
            <a:pPr>
              <a:spcAft>
                <a:spcPts val="600"/>
              </a:spcAft>
            </a:pPr>
            <a:r>
              <a:rPr lang="en-US" dirty="0"/>
              <a:t>Graft 要不要處理，看 isoagglutinin titre 和 graft 種類。</a:t>
            </a:r>
          </a:p>
          <a:p>
            <a:pPr>
              <a:spcAft>
                <a:spcPts val="600"/>
              </a:spcAft>
            </a:pPr>
            <a:r>
              <a:rPr lang="en-US" dirty="0"/>
              <a:t>Major mismatch 看的是病人對抗 donor 的 titre。Titre ≥ 32 時，PBSC graft 裡的紅血球要控制在 20 mL 以下，bone marrow graft 一定要做 RBC depletion。Titre ≤ 16 時，PBSC 不用處理，bone marrow 可以考慮做，但不是必須。Bone marrow 的紅血球多，PBSC 本來就少，這就是兩者處理門檻不同的原因。</a:t>
            </a:r>
          </a:p>
          <a:p>
            <a:pPr>
              <a:spcAft>
                <a:spcPts val="600"/>
              </a:spcAft>
            </a:pPr>
            <a:r>
              <a:rPr lang="en-US" dirty="0"/>
              <a:t>Minor mismatch 看的是 donor 對抗病人的 titre，門檻高很多。≥ 1:256 時，PBSC 和 bone marrow 都要做 plasma depletion；≤ 128 時 PBSC 不必處理，bone marrow 的 plasma depletion 可做可不做。Bidirectional 而且 anti-recipient titre 高，紅血球和血漿兩種都要移除。</a:t>
            </a:r>
          </a:p>
          <a:p>
            <a:pPr>
              <a:spcAft>
                <a:spcPts val="600"/>
              </a:spcAft>
            </a:pPr>
            <a:r>
              <a:rPr lang="en-US" dirty="0"/>
              <a:t>Titre 是倍數稀釋，所以 ≥ 32 和 ≤ 16 剛好把所有情況分成兩邊，minor 的 ≥ 1:256 和 ≤ 128 也一樣，這是講者的整理。Graft 處理在採集之後、輸注之前完成，所以移植前就要驗好病人和 donor 的 titre。</a:t>
            </a:r>
          </a:p>
          <a:p>
            <a:pPr>
              <a:spcAft>
                <a:spcPts val="600"/>
              </a:spcAft>
            </a:pPr>
            <a:r>
              <a:rPr lang="en-US" dirty="0"/>
              <a:t>做法在第 19 章。紅血球移除通常只用在 bone marrow，可以用 apheresis 機器或血袋離心取 buffy coat；小於 125 mL 的小 graft 用 Ficoll density gradient，移除得更徹底。不要的 isoagglutinin 則用洗滌的方式去除。Graft manipulation 的其他內容在第 7 堂。</a:t>
            </a:r>
          </a:p>
          <a:p>
            <a:pPr>
              <a:spcAft>
                <a:spcPts val="600"/>
              </a:spcAft>
            </a:pPr>
            <a:r>
              <a:rPr lang="en-US" dirty="0"/>
              <a:t>32 和 256 這兩個 titre，加上 PBSC 紅血球 20 mL，請連同方向一起記。</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14:15 至 15:45]</a:t>
            </a:r>
          </a:p>
          <a:p>
            <a:pPr>
              <a:spcAft>
                <a:spcPts val="600"/>
              </a:spcAft>
            </a:pPr>
            <a:r>
              <a:rPr lang="en-US" dirty="0"/>
              <a:t>併發症也跟著方向走。Minor mismatch 的特徵是延遲性溶血。Graft 裡的 donor B lymphocyte 開始製造 isoagglutinin，去攻擊病人還沒被取代的紅血球。RIC 之後特別容易發生，因為病人自己的紅血球留得比較久。</a:t>
            </a:r>
          </a:p>
          <a:p>
            <a:pPr>
              <a:spcAft>
                <a:spcPts val="600"/>
              </a:spcAft>
            </a:pPr>
            <a:r>
              <a:rPr lang="en-US" dirty="0"/>
              <a:t>Major 或 bidirectional mismatch 的問題在紅血球生成。病人殘存的 anti-donor isoagglutinin 會擋住 donor 紅血球系的 engraftment，表現為 pure red cell aplasia、紅血球 engraftment 延遲，輸血量也增加。風險最高的組合是 O 型病人帶著高 titre anti-A，接受 A 型 graft。</a:t>
            </a:r>
          </a:p>
          <a:p>
            <a:pPr>
              <a:spcAft>
                <a:spcPts val="600"/>
              </a:spcAft>
            </a:pPr>
            <a:r>
              <a:rPr lang="en-US" dirty="0"/>
              <a:t>第 41 章的 graft failure 危險因子也列了 major ABO incompatibility，hazard ratio 1.24，細節在第 5 堂。</a:t>
            </a:r>
          </a:p>
          <a:p>
            <a:pPr>
              <a:spcAft>
                <a:spcPts val="600"/>
              </a:spcAft>
            </a:pPr>
            <a:r>
              <a:rPr lang="en-US" dirty="0"/>
              <a:t>PRCA 如果沒有自己緩解，anti-donor isoagglutinin 又一直存在，書上列了三類處理方向：移除抗體、減少抗體製造、或刺激紅血球生成。第 24 章沒有指定單一方案。</a:t>
            </a:r>
          </a:p>
          <a:p>
            <a:pPr>
              <a:spcAft>
                <a:spcPts val="600"/>
              </a:spcAft>
            </a:pPr>
            <a:r>
              <a:rPr lang="en-US" dirty="0"/>
              <a:t>延遲性溶血要等 donor B 細胞開始製造抗體才會出現，所以不在輸注當下，而是移植後一段時間才發生，這和輸注 graft 時紅血球不合造成的溶血不同。</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15:45 至 17:15]</a:t>
            </a:r>
          </a:p>
          <a:p>
            <a:pPr>
              <a:spcAft>
                <a:spcPts val="600"/>
              </a:spcAft>
            </a:pPr>
            <a:r>
              <a:rPr lang="en-US" dirty="0"/>
              <a:t>ABO 不合的病人，血型會在移植後慢慢換成 donor 的，輸血要跟著分期。Phase I 是 conditioning 開始之前，所有血品都用病人自己的血型。Phase II 從 conditioning 到完全 engraftment，phase III 是完全 engraftment 之後，這兩期都照 Table 24.1 選血。</a:t>
            </a:r>
          </a:p>
          <a:p>
            <a:pPr>
              <a:spcAft>
                <a:spcPts val="600"/>
              </a:spcAft>
            </a:pPr>
            <a:r>
              <a:rPr lang="en-US" dirty="0"/>
              <a:t>原則有兩條。紅血球一定要同時和 donor、病人相容，這是 mandatory。血漿和血小板盡量也兩邊都相容，這是 preferred。</a:t>
            </a:r>
          </a:p>
          <a:p>
            <a:pPr>
              <a:spcAft>
                <a:spcPts val="600"/>
              </a:spcAft>
            </a:pPr>
            <a:r>
              <a:rPr lang="en-US" dirty="0"/>
              <a:t>為什麼要這麼小心。病人殘存的 isoagglutinin 會攻擊正在 engraft 的前驅細胞，也會攻擊輸進去的血小板，因為血小板表面會吸附不等量的 ABO 抗原。另外，ABO 抗原也表現在很多非造血組織上，engraftment 之後這些組織仍然是病人原來的血型，而且 ABO 抗原會分泌到體液裡。能避免讓病人暴露在 isoagglutinin 之下，就盡量避免。</a:t>
            </a:r>
          </a:p>
          <a:p>
            <a:pPr>
              <a:spcAft>
                <a:spcPts val="600"/>
              </a:spcAft>
            </a:pPr>
            <a:r>
              <a:rPr lang="en-US" dirty="0"/>
              <a:t>Phase II 從 conditioning 開始算，所以 conditioning 第一天起，血品就要改成照 Table 24.1 選，不能再只看病人血型。</a:t>
            </a:r>
          </a:p>
          <a:p>
            <a:pPr>
              <a:spcAft>
                <a:spcPts val="600"/>
              </a:spcAft>
            </a:pPr>
            <a:r>
              <a:rPr lang="en-US" dirty="0"/>
              <a:t>接下來兩張是 Table 24.1 的內容。</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17:15 至 19:15]</a:t>
            </a:r>
          </a:p>
          <a:p>
            <a:pPr>
              <a:spcAft>
                <a:spcPts val="600"/>
              </a:spcAft>
            </a:pPr>
            <a:r>
              <a:rPr lang="en-US" dirty="0"/>
              <a:t>這是 Table 24.1 的 major 和 bidirectional 部分，適用 phase II 和 phase III。</a:t>
            </a:r>
          </a:p>
          <a:p>
            <a:pPr>
              <a:spcAft>
                <a:spcPts val="600"/>
              </a:spcAft>
            </a:pPr>
            <a:r>
              <a:rPr lang="en-US" dirty="0"/>
              <a:t>Major mismatch 的邏輯是，紅血球要配合病人，因為病人身上有 anti-donor 抗體；血漿要配合 donor，因為血漿不能帶著抗體去攻擊正在長出來的 donor 紅血球。O 型病人接受 A 型 graft，紅血球一律 O，血小板和血漿第一選擇 A，血漿第二選擇 AB。O 給 B 也一樣，把 A 換成 B。</a:t>
            </a:r>
          </a:p>
          <a:p>
            <a:pPr>
              <a:spcAft>
                <a:spcPts val="600"/>
              </a:spcAft>
            </a:pPr>
            <a:r>
              <a:rPr lang="en-US" dirty="0"/>
              <a:t>Donor 是 AB 型的時候，血漿和血小板第一選擇都是 AB，血漿沒有第二選擇。A 型病人接受 AB graft，紅血球可以用 A 或 O，排序在前的優先。</a:t>
            </a:r>
          </a:p>
          <a:p>
            <a:pPr>
              <a:spcAft>
                <a:spcPts val="600"/>
              </a:spcAft>
            </a:pPr>
            <a:r>
              <a:rPr lang="en-US" dirty="0"/>
              <a:t>Bidirectional 的 A 和 B 互換，兩個方向都有抗體，所以紅血球只能用 O，血漿只能用 AB，血小板第一選擇也是 AB。</a:t>
            </a:r>
          </a:p>
          <a:p>
            <a:pPr>
              <a:spcAft>
                <a:spcPts val="600"/>
              </a:spcAft>
            </a:pPr>
            <a:r>
              <a:rPr lang="en-US" dirty="0"/>
              <a:t>背法可以這樣想。Major mismatch 的紅血球跟著病人，血漿跟著 donor；donor 是 AB 時，血漿只有 AB 一種選擇。A 型病人接受 AB graft，血小板第二選擇是 A、B、O；B 型病人接受 AB graft 則是 B、A、O，病人的血型總是排在前面。</a:t>
            </a:r>
          </a:p>
          <a:p>
            <a:pPr>
              <a:spcAft>
                <a:spcPts val="600"/>
              </a:spcAft>
            </a:pPr>
            <a:r>
              <a:rPr lang="en-US" dirty="0"/>
              <a:t>血小板第二選擇常常列了三種，排在越前面越好，這是因為血小板不一定拿得到理想血型。考試常拿 O 給 A 這一列出題。</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[1:15 本頁 · 19:15 至 20:30]</a:t>
            </a:r>
          </a:p>
          <a:p>
            <a:pPr>
              <a:spcAft>
                <a:spcPts val="600"/>
              </a:spcAft>
            </a:pPr>
            <a:r>
              <a:rPr lang="en-US" dirty="0"/>
              <a:t>Minor mismatch 剛好反過來。病人的紅血球是攻擊目標，donor 帶抗體，所以紅血球要配合 donor，血漿要配合病人。</a:t>
            </a:r>
          </a:p>
          <a:p>
            <a:pPr>
              <a:spcAft>
                <a:spcPts val="600"/>
              </a:spcAft>
            </a:pPr>
            <a:r>
              <a:rPr lang="en-US" dirty="0"/>
              <a:t>Minor mismatch 怕的是 donor 的抗體，所以血漿和血小板配合病人，避免再輸進攻擊病人紅血球的抗體。紅血球選 O，是因為 donor 的 anti-A 會攻擊 A 型紅血球，engraftment 之後由 donor B 細胞製造的抗體也一樣。</a:t>
            </a:r>
          </a:p>
          <a:p>
            <a:pPr>
              <a:spcAft>
                <a:spcPts val="600"/>
              </a:spcAft>
            </a:pPr>
            <a:r>
              <a:rPr lang="en-US" dirty="0"/>
              <a:t>A 型病人接受 O 型 graft，紅血球用 O，血小板和血漿第一選擇是病人的 A 型，血漿第二選擇 AB。AB 型病人接受 A 型 graft，紅血球可以用 A 或 O，血漿用 AB。</a:t>
            </a:r>
          </a:p>
          <a:p>
            <a:pPr>
              <a:spcAft>
                <a:spcPts val="600"/>
              </a:spcAft>
            </a:pPr>
            <a:r>
              <a:rPr lang="en-US" dirty="0"/>
              <a:t>表上星號的註解要留意。完全 engraftment 之後的 phase III，為了實務方便，可以把 donor 血型的血小板定為第一選擇。</a:t>
            </a:r>
          </a:p>
          <a:p>
            <a:pPr>
              <a:spcAft>
                <a:spcPts val="600"/>
              </a:spcAft>
            </a:pPr>
            <a:r>
              <a:rPr lang="en-US" dirty="0"/>
              <a:t>不管 major 還是 minor，紅血球都選兩邊都能接受的血型，所以 O 型紅血球幾乎永遠是安全的答案。</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RhD 的規則是，紅血球和血小板都用 RhD 陰性，只有 donor 和病人兩個都是 RhD 陽性時才不必。Donor 陽性、病人陰性的情況，等到 RhD 陽性的紅血球出現，也就是紅血球系 engraftment 之後，血小板可以改成 RhD 陽性。</a:t>
            </a:r>
          </a:p>
          <a:p>
            <a:pPr>
              <a:spcAft>
                <a:spcPts val="600"/>
              </a:spcAft>
            </a:pPr>
            <a:r>
              <a:rPr lang="en-US" dirty="0"/>
              <a:t>其他 Rh 抗原也盡量兩邊相容。如果 CcEe 根本不可能同時配合兩邊，例如病人是 CCD.ee、donor 是 ccD.EE，engraftment 之前選和病人相容的紅血球，donor 紅血球出現之後改成和 graft 相容。Kell 也一樣，除非兩邊都是 K 陽性，否則用 K 陰性紅血球。</a:t>
            </a:r>
          </a:p>
          <a:p>
            <a:pPr>
              <a:spcAft>
                <a:spcPts val="600"/>
              </a:spcAft>
            </a:pPr>
            <a:r>
              <a:rPr lang="en-US" dirty="0"/>
              <a:t>血小板常常拿不到理想的 ABO 血型。為了減少 isoagglutinin 造成的不良反應，可以排除帶高 titre ABO 抗體的 apheresis 捐血者，但書上更推薦的做法是 plasma-reduced 的血小板，懸浮在 platelet additive solution 裡，只留約 30% 血漿，apheresis 或 pooled 都可以這樣做。</a:t>
            </a:r>
          </a:p>
          <a:p>
            <a:pPr>
              <a:spcAft>
                <a:spcPts val="600"/>
              </a:spcAft>
            </a:pPr>
            <a:r>
              <a:rPr lang="en-US" dirty="0"/>
              <a:t>病人 RhD 陰性、donor 陽性時，紅血球仍然維持 RhD 陰性，改的只有血小板，而且要等到 RhD 陽性紅血球真的出現。</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最後一種血品是 granulocyte。適應症是嗜中性球低下期間、危及生命的非病毒感染。效果和存活都跟骨髓恢復高度相關，所以它的角色是一座橋，撐到特定治療見效、嗜中性球回來為止。對有活動性黴菌感染、原本會被拒於移植門外的高風險病人，也有幫忙控制感染的報告。</a:t>
            </a:r>
          </a:p>
          <a:p>
            <a:pPr>
              <a:spcAft>
                <a:spcPts val="600"/>
              </a:spcAft>
            </a:pPr>
            <a:r>
              <a:rPr lang="en-US" dirty="0"/>
              <a:t>唯一的 randomized trial 是 RING。Granulocyte 組成功率 49%，對照組 41%，沒有顯著差異。不過每次輸注 ≥ 0.6 × 10⁹/kg 的高劑量病人表現較好，所以採集中心要靠 donor 選擇、事前刺激和 apheresis 技術，確保給出高劑量的產品。</a:t>
            </a:r>
          </a:p>
          <a:p>
            <a:pPr>
              <a:spcAft>
                <a:spcPts val="600"/>
              </a:spcAft>
            </a:pPr>
            <a:r>
              <a:rPr lang="en-US" dirty="0"/>
              <a:t>副作用有發燒、寒顫、肺部反應和 alloimmunisation。整體 alloimmunisation 的風險不高，但它會影響血小板輸注的效果，也可能增加 graft failure。如果病人之後要做 unrelated HCT，要追蹤 HLA 抗體，找 donor 時把 donor-specific antibody 考慮進去。產品一定要照射，並來自 CMV 陰性的捐血者，最好再用 CMV PCR 確認，避開空窗期。</a:t>
            </a:r>
          </a:p>
          <a:p>
            <a:pPr>
              <a:spcAft>
                <a:spcPts val="600"/>
              </a:spcAft>
            </a:pPr>
            <a:r>
              <a:rPr lang="en-US" dirty="0"/>
              <a:t>最佳的輸注次數目前不清楚。研究也顯示，alloimmunisation 並不影響存活、微生物反應、輸血反應或輸注後嗜中性球的上升。</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第一題。58 歲男性，多發性骨髓瘤，預計 G-CSF mobilisation、apheresis 收集，再接高劑量 melphalan 和自體移植。他現在貧血，需要輸紅血球。依照 EBMT Handbook，他應該在哪一段期間使用照射過的血品。</a:t>
            </a:r>
          </a:p>
          <a:p>
            <a:pPr>
              <a:spcAft>
                <a:spcPts val="600"/>
              </a:spcAft>
            </a:pPr>
            <a:r>
              <a:rPr lang="en-US" dirty="0"/>
              <a:t>選項分別是 melphalan 到 engraftment、收集前兩週到移植後三個月、conditioning 到移植後六個月、用了 leukoreduced 就不需要，以及只有血小板要照射。</a:t>
            </a:r>
          </a:p>
          <a:p>
            <a:pPr>
              <a:spcAft>
                <a:spcPts val="600"/>
              </a:spcAft>
            </a:pPr>
            <a:r>
              <a:rPr lang="en-US" dirty="0"/>
              <a:t>這題考的是 auto 和 allo 的差別。注意他還沒收集幹細胞，現在就需要輸血。</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B。Auto-HCT 的標準做法是在收集幹細胞前至少兩週就開始用照射血品，一直到移植後至少三個月。理由是收集下來的細胞也要避免被輸進去的淋巴球影響，所以起點落在收集之前，而不是 conditioning。</a:t>
            </a:r>
          </a:p>
          <a:p>
            <a:pPr>
              <a:spcAft>
                <a:spcPts val="600"/>
              </a:spcAft>
            </a:pPr>
            <a:r>
              <a:rPr lang="en-US" dirty="0"/>
              <a:t>C 是 allo-HCT 的規則，最晚從 conditioning 開始，到至少六個月或免疫重建，是最主要的干擾選項。D 錯在 leukocyte reduction 不能取代照射。E 也錯，紅血球、血小板和 granulocyte 這些 cellular component 都要照射，劑量 25 到 50 Gy。</a:t>
            </a:r>
          </a:p>
          <a:p>
            <a:pPr>
              <a:spcAft>
                <a:spcPts val="600"/>
              </a:spcAft>
            </a:pPr>
            <a:r>
              <a:rPr lang="en-US" dirty="0"/>
              <a:t>另外，donor 如果在採集前七天內或採集期間輸過血，那些血品也要照射，這是 allo 情境下的延伸考點。</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第二題。45 歲女性，AML，allo-HCT 後 day 25。沒有發燒、沒有出血，也沒有脾臟腫大、SOS/VOD 或新加的藥。連續兩次輸新鮮、ABO 相同的血小板，1 小時 CCI 都低於 5000/µL，驗到 HLA class I 抗體。下一步最適當的是什麼。</a:t>
            </a:r>
          </a:p>
          <a:p>
            <a:pPr>
              <a:spcAft>
                <a:spcPts val="600"/>
              </a:spcAft>
            </a:pPr>
            <a:r>
              <a:rPr lang="en-US" dirty="0"/>
              <a:t>選項有先驗 HPA、改給 HLA-matched apheresis 血小板、改高劑量、停止預防性輸注，以及改用 pooled 血小板。</a:t>
            </a:r>
          </a:p>
          <a:p>
            <a:pPr>
              <a:spcAft>
                <a:spcPts val="600"/>
              </a:spcAft>
            </a:pPr>
            <a:r>
              <a:rPr lang="en-US" dirty="0"/>
              <a:t>請先確認她是否符合 refractoriness 的定義。題目已經把常見的非免疫原因都排除了。</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B。她符合 refractoriness 的定義，非免疫原因都排除了，HLA 抗體又是陽性，下一步就是 HLA-matched 的 apheresis 血小板，最好 HLA-A 和 HLA-B 四個抗原都相同。</a:t>
            </a:r>
          </a:p>
          <a:p>
            <a:pPr>
              <a:spcAft>
                <a:spcPts val="600"/>
              </a:spcAft>
            </a:pPr>
            <a:r>
              <a:rPr lang="en-US" dirty="0"/>
              <a:t>A 是最主要的干擾選項。HPA 抗體要在 HLA-matched 血小板也無效之後才驗，順序不能反過來。C 錯在 PLADO 顯示劑量不影響出血，而且抗體問題不是劑量能解決的。D 錯在 allo-HCT 的標準仍是預防性輸注。E 的 pooled 血小板對已經 alloimmunised 的病人沒有優勢，apheresis 的好處正是可以配對。</a:t>
            </a:r>
          </a:p>
          <a:p>
            <a:pPr>
              <a:spcAft>
                <a:spcPts val="600"/>
              </a:spcAft>
            </a:pPr>
            <a:r>
              <a:rPr lang="en-US" dirty="0"/>
              <a:t>找不到 HLA-matched 的 donor 時，可以選 permissive mismatch 或 antigen-negative 的血小板；都沒有時，才考慮自體冷凍血小板、rituximab、高劑量 IVIg 或 plasmapheresis。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最後一題。35 歲 O 型男性，ALL，donor 是 HLA 相合的 A 型姊姊，用 PBSC。病人的 anti-A isoagglutinin titre 是 1:128。關於 graft 處理和輸血支持，哪一個敘述正確。</a:t>
            </a:r>
          </a:p>
          <a:p>
            <a:pPr>
              <a:spcAft>
                <a:spcPts val="600"/>
              </a:spcAft>
            </a:pPr>
            <a:r>
              <a:rPr lang="en-US" dirty="0"/>
              <a:t>選項 A 說 PBSC 不用處理；B 說做 plasma depletion；C 說 graft 紅血球控制在 20 mL 以下，輸 O 型紅血球；D 說 conditioning 開始就改輸 A 型紅血球；E 說主要的早期風險是 donor B lymphocyte 造成的溶血。先判斷 major 還是 minor，再看 titre。</a:t>
            </a:r>
          </a:p>
          <a:p>
            <a:pPr>
              <a:spcAft>
                <a:spcPts val="600"/>
              </a:spcAft>
            </a:pPr>
            <a:r>
              <a:rPr lang="en-US" dirty="0"/>
              <a:t>PBSC 和 bone marrow 的處理門檻不一樣，這點要留意。</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C。O 型病人接受 A 型 graft，病人的 anti-A 對著 donor 紅血球，是 major mismatch。Titre 1:128 超過 32，所以 PBSC 的紅血球要控制在 20 mL 以下。輸血方面，紅血球要兩邊都相容，只能用 O；血小板和血漿第一選擇是 A。</a:t>
            </a:r>
          </a:p>
          <a:p>
            <a:pPr>
              <a:spcAft>
                <a:spcPts val="600"/>
              </a:spcAft>
            </a:pPr>
            <a:r>
              <a:rPr lang="en-US" dirty="0"/>
              <a:t>A 錯在 PBSC 只有在 titre ≤ 16 時才不用處理。B 和 E 都屬於 minor mismatch，方向反了。D 的 A 型紅血球會被病人殘存的 anti-A 破壞。這位病人之後要注意 PRCA，O 型帶高 titre anti-A 接受 A 型 graft，正是風險最高的組合。</a:t>
            </a:r>
          </a:p>
          <a:p>
            <a:pPr>
              <a:spcAft>
                <a:spcPts val="600"/>
              </a:spcAft>
            </a:pPr>
            <a:r>
              <a:rPr lang="en-US" dirty="0"/>
              <a:t>Phase I 也就是 conditioning 之前，所有血品都用病人的 O 型。</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Fig. 24.1。Refractoriness 八成以上是非免疫原因，包括發燒、sepsis、DIC、SOS/VOD、GVHD、脾臟腫大，以及 heparin、amphotericin B、vancomycin 和 ATG。免疫原因不到兩成，其中八成以上是 HLA class I 抗體，HPA 抗體不到一成。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HLA-matched 血小板的選擇順序：最好四個 HLA-A、HLA-B 抗原相同，或 donor 只帶病人也有的抗原；再來是 permissive mismatch，可用 cross-reactive group 或 epitope 演算法，Marsh 2021 的 crossover trial 支持 epitope matching；最後是不帶病人抗體目標抗原的 antigen-negative 血小板。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成人一單位紅血球大約升 1 g/dL。兒童用公式：目標血紅素減輸血前血紅素，乘以 4，再乘以體重公斤數，得到要輸的毫升數。移植前的鐵過載，以肝臟鐵含量來看，對整體存活不是強的預後因子。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Transfusion support and ABO-incompatible HCT</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06 · Ch. 24</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the blood bag to the blood group switch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Safe products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Leukoreduction, irradiation against ta-GvHD, CMV-safe components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3.25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Red cells and platelets</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Restrictive Hb trigger, platelet triggers, PLADO, refractoriness</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ABO- and RhD-incompatible HCT</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Mismatch types, graft processing, PRCA, Table 24.1, RhD and K</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11.25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Granulocytes and three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RING trial, dose, alloimmunisation; three vignettes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BLOOD PRODUCTS · IRRADIATION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Every cellular product is irradiated and every product leukoreduced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560320"/>
                <a:gridCol w="4919472"/>
                <a:gridCol w="3346704"/>
              </a:tblGrid>
              <a:tr h="0">
                <a:tc>
                  <a:txBody>
                    <a:bodyPr/>
                    <a:lstStyle/>
                    <a:p>
                      <a:pPr indent="0" marL="0">
                        <a:buNone/>
                      </a:pPr>
                      <a:r>
                        <a:rPr lang="en-US" sz="1500" b="1" dirty="0">
                          <a:solidFill>
                            <a:schemeClr val="tx1"/>
                          </a:solidFill>
                        </a:rPr>
                        <a:t>Measure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Requirement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Note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Leukocyte reduction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RBC, PC and FFP: &lt; 1 × 10⁶ leukocytes per unit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Less FNHTR, HLA alloimmunisation, CMV</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Irradiation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 cellular components: RBC, PC, granulocytes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Prevents ta-GvHD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Dose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part of the component &lt; 25 Gy or &gt; 50 Gy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European guide, 2023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From ≥ 2 weeks before collection to ≥ 3 months after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Standard practice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Allo-HCT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From conditioning at the latest to ≥ 6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 until immune reconstitution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HSC donor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Products given ≤ 7 days before or during harvest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Irradiate these too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Pathogen reduction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Some technologies inactivate lymphocytes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extra irradiation needed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ta-GvHD: viable donor T cells attack the recipient (fever, rash, diarrhoea, abnormal LFTs, pancytopenia); mortality &gt; 90%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BLOOD PRODUCTS · CMV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Leukoreduction or CMV-seronegative donors both lower TT-CMV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45536"/>
                <a:gridCol w="7671816"/>
              </a:tblGrid>
              <a:tr h="0">
                <a:tc>
                  <a:txBody>
                    <a:bodyPr/>
                    <a:lstStyle/>
                    <a:p>
                      <a:pPr indent="0" marL="0">
                        <a:buNone/>
                      </a:pPr>
                      <a:r>
                        <a:rPr lang="en-US" sz="1600" b="1" dirty="0">
                          <a:solidFill>
                            <a:schemeClr val="tx1"/>
                          </a:solidFill>
                        </a:rPr>
                        <a:t>Question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24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Highest-risk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CMV-seronegative recipient of a CMV-negative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Option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Leukocyte-reduced products (&lt; 1–5 × 10⁶ leukocytes/unit)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Option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Components from CMV-seronegative blood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Both together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Unclear whether the 'belt and suspenders' approach adds more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UK advisory committee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CMV-unselected components can be transfused safely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Riskiest donation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From donors who have newly turned CMV-IgG-positive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How long</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consensus: day +100 to lifelong or until seroconversion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RED CELLS · THRESHOLDS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restrictive Hb trigger of 7–8 g/dL is standard, also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6" name="Table 2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53512"/>
                <a:gridCol w="5504688"/>
                <a:gridCol w="2359152"/>
              </a:tblGrid>
              <a:tr h="0">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Threshold or 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Source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Stable adult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Hb 7–8 g/dL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Carson 2016,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Cardiovascular disease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Hb 8 g/dL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Carson 2016,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TRIST, 300 HCT patients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Hb &lt; 70 vs &lt; 90 g/L: same QoL and clinical outcomes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Tay 2020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Units used in TRIST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Fewer with restrictive arm, not significant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Tay 2020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Children, allo-HCT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Hb &lt; 6.5 vs &lt; 8.0 g/dL: feasibility RCT ongoing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 24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Single vs double unit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 not inferior; units per stay not reduced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Chantepie 2023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Storage age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Fresh RBC no better: any age within licensed dating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AABB (Carson 2016)</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PLATELETS · THRESHOLDS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Prophylactic platelets at ≤ 10 × 10⁹/L, raised to 20 when risk rises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2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Prophylactic platelet transfusion: which trigger?</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5"/>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Stable, afebrile</a:t>
            </a:r>
            <a:endParaRPr lang="en-US" sz="1400" dirty="0"/>
          </a:p>
        </p:txBody>
      </p:sp>
      <p:sp>
        <p:nvSpPr>
          <p:cNvPr id="11" name="Box 26"/>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Trigger ≤ 10 × 10⁹/L</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7"/>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Higher only on clinical judgement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8"/>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Fever/infection/bleeding</a:t>
            </a:r>
            <a:endParaRPr lang="en-US" sz="1400" dirty="0"/>
          </a:p>
        </p:txBody>
      </p:sp>
      <p:sp>
        <p:nvSpPr>
          <p:cNvPr id="16" name="Box 29"/>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Trigger 20 × 10⁹/L</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0"/>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Prophylaxis stays standard in allo-HCT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1"/>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aGVHD, mucositis, HC, DAH</a:t>
            </a:r>
            <a:endParaRPr lang="en-US" sz="1400" dirty="0"/>
          </a:p>
        </p:txBody>
      </p:sp>
      <p:sp>
        <p:nvSpPr>
          <p:cNvPr id="21" name="Box 32"/>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Trigger ≥ 20 × 10⁹/L</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3"/>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Set by careful clinical observation</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PLATELETS ·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Platelet dose does not change bleeding; therapeutic-only suits auto-HCT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8" name="Table 3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46704"/>
                <a:gridCol w="3931920"/>
                <a:gridCol w="3538728"/>
              </a:tblGrid>
              <a:tr h="0">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Question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Wandt 2012; Stanworth 2013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Therapeutic-only vs prophylactic PC, age ≥ 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Feasible after auto-PBSCT only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PLADO subset (Josephson 2012)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Children vs adults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More bleeding in children, esp. 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PLADO (Slichter 2010)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1.1 vs 2.2 vs 4.4 × 10¹¹ platelets/m²</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Dose had no effect on bleeding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PLADO, low dose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Total platelets and events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Fewer platelets, more transfusions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Apheresis vs pooled PC</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Non-allosensitised recipients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Equivalent; apheresis wins only with HLA/HPA Ab</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5"/>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AML and allo-HCT: a therapeutic-only strategy is not transferable because of the risk of CNS bleeding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PLATELETS · REFRACTORINESS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Rule out non-immune causes before testing for HLA antibodies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36"/>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CCI &lt; 5000/µL at 1 h, twice</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7"/>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Exclude non-immune (&gt; 80%)</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8"/>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Screen for HLA antibodies</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9"/>
          <p:cNvSpPr txBox="1"/>
          <p:nvPr/>
        </p:nvSpPr>
        <p:spPr>
          <a:xfrm>
            <a:off x="7477963"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HLA-matched apheresis PC</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40"/>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Still refractory: test HPA</a:t>
            </a:r>
            <a:endParaRPr lang="en-US" sz="1500" dirty="0"/>
          </a:p>
        </p:txBody>
      </p:sp>
      <p:sp>
        <p:nvSpPr>
          <p:cNvPr id="15" name="Text 4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Refractory = CCI &lt; 5000/µL 1 h after fresh, ABO-identical PCs on ≥ 2 transfusions. No compatible donor: autologous cryopreserved platelets, rituximab, high-dose IVIg, plasmapheresis.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TYPES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Isoagglutinin direction defines major, minor and bidirectional mismatch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 Ayuk F, et al. Ch. 12</a:t>
            </a:r>
            <a:endParaRPr lang="en-US" sz="1000" dirty="0"/>
          </a:p>
        </p:txBody>
      </p:sp>
      <p:sp>
        <p:nvSpPr>
          <p:cNvPr id="6" name="Box 4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40–50% of allo-HCTs are ABO-mismatched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Major</a:t>
            </a:r>
            <a:endParaRPr lang="en-US" sz="1400" dirty="0"/>
          </a:p>
        </p:txBody>
      </p:sp>
      <p:sp>
        <p:nvSpPr>
          <p:cNvPr id="11" name="Box 4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Patient O, donor A: patient's anti-A</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PRCA, delayed red cell engraftment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Minor</a:t>
            </a:r>
            <a:endParaRPr lang="en-US" sz="1400" dirty="0"/>
          </a:p>
        </p:txBody>
      </p:sp>
      <p:sp>
        <p:nvSpPr>
          <p:cNvPr id="16" name="Box 47"/>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Patient A, donor O: donor's anti-A</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Delayed haemolysis by donor B cells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Bidirectional</a:t>
            </a:r>
            <a:endParaRPr lang="en-US" sz="1400" dirty="0"/>
          </a:p>
        </p:txBody>
      </p:sp>
      <p:sp>
        <p:nvSpPr>
          <p:cNvPr id="21" name="Box 50"/>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Patient A, donor B: both directions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Risks of both; deplete RBC and plasma</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GRAFT PROCESSING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Isoagglutinin titres decide red cell or plasma depletion of the 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 Lang P, et al. Ch. 19</a:t>
            </a:r>
            <a:endParaRPr lang="en-US" sz="1000" dirty="0"/>
          </a:p>
        </p:txBody>
      </p:sp>
      <p:graphicFrame>
        <p:nvGraphicFramePr>
          <p:cNvPr id="11"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167128"/>
                <a:gridCol w="2752344"/>
                <a:gridCol w="2953512"/>
                <a:gridCol w="2953512"/>
              </a:tblGrid>
              <a:tr h="0">
                <a:tc>
                  <a:txBody>
                    <a:bodyPr/>
                    <a:lstStyle/>
                    <a:p>
                      <a:pPr indent="0" marL="0">
                        <a:buNone/>
                      </a:pPr>
                      <a:r>
                        <a:rPr lang="en-US" sz="1600" b="1" dirty="0">
                          <a:solidFill>
                            <a:schemeClr val="tx1"/>
                          </a:solidFill>
                        </a:rPr>
                        <a:t>Mismatch</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Titre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PBSC graft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BM graft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Anti-donor ≥ 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Red cells &lt; 20 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RBC depletion mandatory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Anti-donor ≤ 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manipulation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RBC depletion optional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Anti-recipient ≥ 1:256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Plasma depletion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Plasma depletion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Anti-recipient ≤ 128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manipulation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Plasma depletion optional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Bidirectional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 anti-recipient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RBC and plasma depletion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RBC and plasma depletion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3"/>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Methods (Ch. 19): RBC depletion mostly for BM, by apheresis-device or bag centrifugation; Ficoll gradient for grafts &lt; 125 mL; washing removes isoagglutinins.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COMPLICATIONS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Major mismatch risks PRCA; minor mismatch risks delayed haemolysis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 Valcárcel D, et al. Ch. 41</a:t>
            </a:r>
            <a:endParaRPr lang="en-US" sz="1000" dirty="0"/>
          </a:p>
        </p:txBody>
      </p:sp>
      <p:graphicFrame>
        <p:nvGraphicFramePr>
          <p:cNvPr id="12"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06624"/>
                <a:gridCol w="2121408"/>
                <a:gridCol w="3282696"/>
                <a:gridCol w="2706624"/>
              </a:tblGrid>
              <a:tr h="0">
                <a:tc>
                  <a:txBody>
                    <a:bodyPr/>
                    <a:lstStyle/>
                    <a:p>
                      <a:pPr indent="0" marL="0">
                        <a:buNone/>
                      </a:pPr>
                      <a:r>
                        <a:rPr lang="en-US" sz="1500" b="1" dirty="0">
                          <a:solidFill>
                            <a:schemeClr val="tx1"/>
                          </a:solidFill>
                        </a:rPr>
                        <a:t>Problem</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Mismatch</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Mechanism or risk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Practical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Delayed haemolysis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Minor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Donor B cells make anti-recipient isoagglutinins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Especially after 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Pure red cell aplasia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Major, bidirectional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Recipient anti-donor isoagglutinins persist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Highest: O patient, high anti-A, A graft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Slow engraftment, more RBC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Major, bidirectional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Griffith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Plan transfusion support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Primary graft failure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Major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HR 1.24 (p = 0.012), Ch. 41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See session 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PRCA without remission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Major, bidirectional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Remove or suppress isoagglutinins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 stimulate erythropoiesis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TRANSFUSION PHASES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Transfusion choices follow three phases, from recipient to donor type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55"/>
          <p:cNvSpPr txBox="1"/>
          <p:nvPr/>
        </p:nvSpPr>
        <p:spPr>
          <a:xfrm>
            <a:off x="685800"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Phase I, to conditioning: recipient group</a:t>
            </a:r>
            <a:endParaRPr lang="en-US" sz="1700" dirty="0"/>
          </a:p>
        </p:txBody>
      </p:sp>
      <p:sp>
        <p:nvSpPr>
          <p:cNvPr id="7" name="Shape 4"/>
          <p:cNvSpPr/>
          <p:nvPr/>
        </p:nvSpPr>
        <p:spPr>
          <a:xfrm>
            <a:off x="4011168" y="3474720"/>
            <a:ext cx="393192" cy="0"/>
          </a:xfrm>
          <a:prstGeom prst="line">
            <a:avLst/>
          </a:prstGeom>
          <a:noFill/>
          <a:ln w="15875">
            <a:solidFill>
              <a:schemeClr val="tx1"/>
            </a:solidFill>
            <a:prstDash val="solid"/>
            <a:tailEnd type="triangle"/>
          </a:ln>
        </p:spPr>
      </p:sp>
      <p:sp>
        <p:nvSpPr>
          <p:cNvPr id="8" name="Box 56"/>
          <p:cNvSpPr txBox="1"/>
          <p:nvPr/>
        </p:nvSpPr>
        <p:spPr>
          <a:xfrm>
            <a:off x="4459224" y="2606040"/>
            <a:ext cx="327050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Phase II, to full engraftment: Table 24.1</a:t>
            </a:r>
            <a:endParaRPr lang="en-US" sz="1700" dirty="0"/>
          </a:p>
        </p:txBody>
      </p:sp>
      <p:sp>
        <p:nvSpPr>
          <p:cNvPr id="9" name="Shape 6"/>
          <p:cNvSpPr/>
          <p:nvPr/>
        </p:nvSpPr>
        <p:spPr>
          <a:xfrm>
            <a:off x="7784592" y="3474720"/>
            <a:ext cx="393192" cy="0"/>
          </a:xfrm>
          <a:prstGeom prst="line">
            <a:avLst/>
          </a:prstGeom>
          <a:noFill/>
          <a:ln w="15875">
            <a:solidFill>
              <a:schemeClr val="tx1"/>
            </a:solidFill>
            <a:prstDash val="solid"/>
            <a:tailEnd type="triangle"/>
          </a:ln>
        </p:spPr>
      </p:sp>
      <p:sp>
        <p:nvSpPr>
          <p:cNvPr id="10" name="Box 57"/>
          <p:cNvSpPr txBox="1"/>
          <p:nvPr/>
        </p:nvSpPr>
        <p:spPr>
          <a:xfrm>
            <a:off x="8232648"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Phase III, after full engraftment: Table 24.1</a:t>
            </a:r>
            <a:endParaRPr lang="en-US" sz="1700" dirty="0"/>
          </a:p>
        </p:txBody>
      </p:sp>
      <p:sp>
        <p:nvSpPr>
          <p:cNvPr id="11" name="Text 58"/>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RBC compatible with both donor and recipient: mandatory. Plasma and PC compatible with both: preferred. Isoagglutinins target engrafting progenitors and transfused platelets; tissues and body fluids keep recipient ABO antigens.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TABLE 24.1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major mismatch, red cells suit the recipient and plasma the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(Table 24.1)</a:t>
            </a:r>
            <a:endParaRPr lang="en-US" sz="1000" dirty="0"/>
          </a:p>
        </p:txBody>
      </p:sp>
      <p:graphicFrame>
        <p:nvGraphicFramePr>
          <p:cNvPr id="14" name="Table 59"/>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090672"/>
                <a:gridCol w="1444752"/>
                <a:gridCol w="1929384"/>
                <a:gridCol w="2121408"/>
                <a:gridCol w="2221992"/>
              </a:tblGrid>
              <a:tr h="0">
                <a:tc>
                  <a:txBody>
                    <a:bodyPr/>
                    <a:lstStyle/>
                    <a:p>
                      <a:pPr indent="0" marL="0">
                        <a:buNone/>
                      </a:pPr>
                      <a:r>
                        <a:rPr lang="en-US" sz="1500" b="1" dirty="0">
                          <a:solidFill>
                            <a:schemeClr val="tx1"/>
                          </a:solidFill>
                        </a:rPr>
                        <a:t>Patient → donor</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RBC</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Platelets, 1st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Platelets, 2nd</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Plasma, 1st / 2nd</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Major: O → 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B,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 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Major: O → 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A,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 / 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Major: O → 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B,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 –</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Major: A → 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B,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 –</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Major: B → 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 A,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 –</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Bidirectional: A → 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 A, 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 –</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Bidirectional: B → 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B, O</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 / –</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0"/>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Phases II and III; choices in order of preference. Phase I: recipient group for all products.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 MISMATCH · TABLE 24.1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minor mismatch, red cells suit the donor and plasma the recipient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(Table 24.1)</a:t>
            </a:r>
            <a:endParaRPr lang="en-US" sz="1000" dirty="0"/>
          </a:p>
        </p:txBody>
      </p:sp>
      <p:graphicFrame>
        <p:nvGraphicFramePr>
          <p:cNvPr id="15"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090672"/>
                <a:gridCol w="1444752"/>
                <a:gridCol w="1929384"/>
                <a:gridCol w="2121408"/>
                <a:gridCol w="2221992"/>
              </a:tblGrid>
              <a:tr h="0">
                <a:tc>
                  <a:txBody>
                    <a:bodyPr/>
                    <a:lstStyle/>
                    <a:p>
                      <a:pPr indent="0" marL="0">
                        <a:buNone/>
                      </a:pPr>
                      <a:r>
                        <a:rPr lang="en-US" sz="1600" b="1" dirty="0">
                          <a:solidFill>
                            <a:schemeClr val="tx1"/>
                          </a:solidFill>
                        </a:rPr>
                        <a:t>Patient → donor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RBC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Platelets, 1st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Platelets, 2nd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Plasma, 1st / 2nd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 A →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B,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 / 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 B →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A,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 / 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 AB →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 B,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 AB → 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 B, 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Minor: AB → 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 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 A, 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 / –</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2"/>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 Phase III, after complete engraftment: donor-type platelets may be defined as first choice for practical reasons.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RHD AND OTHER ANTIGENS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RhD, CcEe and K matching follow the same two-sided rule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16" name="Table 6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38728"/>
                <a:gridCol w="7278624"/>
              </a:tblGrid>
              <a:tr h="0">
                <a:tc>
                  <a:txBody>
                    <a:bodyPr/>
                    <a:lstStyle/>
                    <a:p>
                      <a:pPr indent="0" marL="0">
                        <a:buNone/>
                      </a:pPr>
                      <a:r>
                        <a:rPr lang="en-US" sz="1500" b="1" dirty="0">
                          <a:solidFill>
                            <a:schemeClr val="tx1"/>
                          </a:solidFill>
                        </a:rPr>
                        <a:t>Antigen or product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Rule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RhD: RBC and PC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RhD-negative unless donor and recipient both RhD-positive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RhD+ donor, RhD− patient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PC may switch to RhD-positive once RhD+ red cells appear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CcEe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RBC compatible with both donor and recipient when possible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CcEe conflict (CCD.ee vs ccD.EE)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Recipient-type until donor red cells appear, then graft-type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K-negative RBC unless donor and recipient both K-positive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Platelet product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Plasma-reduced PC in additive solution (~30% plasma left)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Apheresis PC donors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Exclude donors with high-titre ABO antibodies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GRANULOCYTE TRANSFUSION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Granulocytes bridge to neutrophil recovery; only high doses help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17" name="Table 6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46704"/>
                <a:gridCol w="7470648"/>
              </a:tblGrid>
              <a:tr h="0">
                <a:tc>
                  <a:txBody>
                    <a:bodyPr/>
                    <a:lstStyle/>
                    <a:p>
                      <a:pPr indent="0" marL="0">
                        <a:buNone/>
                      </a:pPr>
                      <a:r>
                        <a:rPr lang="en-US" sz="1500" b="1" dirty="0">
                          <a:solidFill>
                            <a:schemeClr val="tx1"/>
                          </a:solidFill>
                        </a:rPr>
                        <a:t>Aspect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What Ch. 24 says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Indication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Life-threatening non-viral infection during neutropenia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Role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Bridge until neutrophil recovery; outcome tracks recovery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RING trial (Price 2015)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Success 49% vs 41% with control, not significant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Dose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 0.6 × 10⁹ granulocytes/kg per transfusion did better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Adverse events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Fever, chills, pulmonary reactions, alloimmunisation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Before unrelated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Monitor HLA antibodies; account for DSA in donor search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Product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Irradiated; CMV-seronegative donor, ideally CMV-PCR negative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irradiated products around an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Text 65"/>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multiple myeloma is scheduled for G-CSF mobilisation, apheresis and high-dose melphalan with autologous HCT. He is anaemic and needs red cells now. According to the EBMT Handbook, over which period should he receive irradiated cellular blood products?</a:t>
            </a:r>
            <a:endParaRPr lang="en-US" sz="1900" dirty="0"/>
          </a:p>
        </p:txBody>
      </p:sp>
      <p:sp>
        <p:nvSpPr>
          <p:cNvPr id="7" name="Text 66"/>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Only from melphalan until neutrophil engraftment</a:t>
            </a:r>
            <a:endParaRPr lang="en-US" sz="1800" dirty="0"/>
          </a:p>
          <a:p>
            <a:pPr indent="0" marL="0">
              <a:spcAft>
                <a:spcPts val="800"/>
              </a:spcAft>
              <a:buNone/>
            </a:pPr>
            <a:r>
              <a:rPr lang="en-US" sz="1800" dirty="0">
                <a:solidFill>
                  <a:schemeClr val="tx1"/>
                </a:solidFill>
              </a:rPr>
              <a:t>B.  From ≥ 2 weeks before collection to ≥ 3 months after HCT</a:t>
            </a:r>
            <a:endParaRPr lang="en-US" sz="1800" dirty="0"/>
          </a:p>
          <a:p>
            <a:pPr indent="0" marL="0">
              <a:spcAft>
                <a:spcPts val="800"/>
              </a:spcAft>
              <a:buNone/>
            </a:pPr>
            <a:r>
              <a:rPr lang="en-US" sz="1800" dirty="0">
                <a:solidFill>
                  <a:schemeClr val="tx1"/>
                </a:solidFill>
              </a:rPr>
              <a:t>C.  From conditioning to ≥ 6 months after HCT</a:t>
            </a:r>
            <a:endParaRPr lang="en-US" sz="1800" dirty="0"/>
          </a:p>
          <a:p>
            <a:pPr indent="0" marL="0">
              <a:spcAft>
                <a:spcPts val="800"/>
              </a:spcAft>
              <a:buNone/>
            </a:pPr>
            <a:r>
              <a:rPr lang="en-US" sz="1800" dirty="0">
                <a:solidFill>
                  <a:schemeClr val="tx1"/>
                </a:solidFill>
              </a:rPr>
              <a:t>D.  Not needed, because leukocyte-reduced products are used</a:t>
            </a:r>
            <a:endParaRPr lang="en-US" sz="1800" dirty="0"/>
          </a:p>
          <a:p>
            <a:pPr indent="0" marL="0">
              <a:spcAft>
                <a:spcPts val="800"/>
              </a:spcAft>
              <a:buNone/>
            </a:pPr>
            <a:r>
              <a:rPr lang="en-US" sz="1800" dirty="0">
                <a:solidFill>
                  <a:schemeClr val="tx1"/>
                </a:solidFill>
              </a:rPr>
              <a:t>E.  Platelets only; red cells carry no ta-GvHD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from 2 weeks before collection to 3 months after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From ≥ 2 weeks before collection to ≥ 3 months after HCT</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For auto-HCT, irradiated products start at least 2 weeks before stem cell collection and continue at least 3 months after HCT. 'From conditioning to ≥ 6 months' is the allo-HCT rule. Leukoreduction does not replace irradiation, and all cellular components (RBC, PC, granulocytes) are irradiated at 25–50 Gy.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platelets that do not rise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Text 69"/>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On day +25 after allo-HCT for AML, a 45-year-old woman is afebrile, not bleeding, has no splenomegaly, SOS/VOD or new drugs. After two consecutive fresh, ABO-identical platelet transfusions, her 1-h corrected count increment was &lt; 5000/µL each time. HLA class I antibodies are detected. What is the best next step?</a:t>
            </a:r>
            <a:endParaRPr lang="en-US" sz="1900" dirty="0"/>
          </a:p>
        </p:txBody>
      </p:sp>
      <p:sp>
        <p:nvSpPr>
          <p:cNvPr id="7" name="Text 70"/>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Screen for HPA antibodies before changing the product</a:t>
            </a:r>
            <a:endParaRPr lang="en-US" sz="1800" dirty="0"/>
          </a:p>
          <a:p>
            <a:pPr indent="0" marL="0">
              <a:spcAft>
                <a:spcPts val="800"/>
              </a:spcAft>
              <a:buNone/>
            </a:pPr>
            <a:r>
              <a:rPr lang="en-US" sz="1800" dirty="0">
                <a:solidFill>
                  <a:schemeClr val="tx1"/>
                </a:solidFill>
              </a:rPr>
              <a:t>B.  Give HLA-matched apheresis platelets</a:t>
            </a:r>
            <a:endParaRPr lang="en-US" sz="1800" dirty="0"/>
          </a:p>
          <a:p>
            <a:pPr indent="0" marL="0">
              <a:spcAft>
                <a:spcPts val="800"/>
              </a:spcAft>
              <a:buNone/>
            </a:pPr>
            <a:r>
              <a:rPr lang="en-US" sz="1800" dirty="0">
                <a:solidFill>
                  <a:schemeClr val="tx1"/>
                </a:solidFill>
              </a:rPr>
              <a:t>C.  Switch to high-dose platelets (4.4 × 10¹¹/m²)</a:t>
            </a:r>
            <a:endParaRPr lang="en-US" sz="1800" dirty="0"/>
          </a:p>
          <a:p>
            <a:pPr indent="0" marL="0">
              <a:spcAft>
                <a:spcPts val="800"/>
              </a:spcAft>
              <a:buNone/>
            </a:pPr>
            <a:r>
              <a:rPr lang="en-US" sz="1800" dirty="0">
                <a:solidFill>
                  <a:schemeClr val="tx1"/>
                </a:solidFill>
              </a:rPr>
              <a:t>D.  Stop prophylaxis and transfuse only for bleeding</a:t>
            </a:r>
            <a:endParaRPr lang="en-US" sz="1800" dirty="0"/>
          </a:p>
          <a:p>
            <a:pPr indent="0" marL="0">
              <a:spcAft>
                <a:spcPts val="800"/>
              </a:spcAft>
              <a:buNone/>
            </a:pPr>
            <a:r>
              <a:rPr lang="en-US" sz="1800" dirty="0">
                <a:solidFill>
                  <a:schemeClr val="tx1"/>
                </a:solidFill>
              </a:rPr>
              <a:t>E.  Use pooled whole-blood platelets instead of apheresis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give HLA-matched apheresis platelets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Give HLA-matched apheresis platelets</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She meets the definition of refractoriness, non-immune causes are absent and HLA antibodies are present, so HLA-matched apheresis PCs are indicated (ideally all four HLA-A/-B antigens identical). HPA testing comes only if HLA-matched PCs fail. Dose did not change outcome in PLADO, and prophylaxis remains standard after allo-HCT.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an ABO-mismatched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Text 73"/>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35-year-old group O man with ALL will receive a PBSC graft from his HLA-identical group A sister. His anti-A isoagglutinin titre is 1:128. Which statement about graft handling and transfusion support is correct?</a:t>
            </a:r>
            <a:endParaRPr lang="en-US" sz="1900" dirty="0"/>
          </a:p>
        </p:txBody>
      </p:sp>
      <p:sp>
        <p:nvSpPr>
          <p:cNvPr id="7" name="Text 74"/>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No graft manipulation is needed because the graft is PBSC</a:t>
            </a:r>
            <a:endParaRPr lang="en-US" sz="1800" dirty="0"/>
          </a:p>
          <a:p>
            <a:pPr indent="0" marL="0">
              <a:spcAft>
                <a:spcPts val="800"/>
              </a:spcAft>
              <a:buNone/>
            </a:pPr>
            <a:r>
              <a:rPr lang="en-US" sz="1800" dirty="0">
                <a:solidFill>
                  <a:schemeClr val="tx1"/>
                </a:solidFill>
              </a:rPr>
              <a:t>B.  Plasma-deplete the graft to remove donor anti-recipient antibody</a:t>
            </a:r>
            <a:endParaRPr lang="en-US" sz="1800" dirty="0"/>
          </a:p>
          <a:p>
            <a:pPr indent="0" marL="0">
              <a:spcAft>
                <a:spcPts val="800"/>
              </a:spcAft>
              <a:buNone/>
            </a:pPr>
            <a:r>
              <a:rPr lang="en-US" sz="1800" dirty="0">
                <a:solidFill>
                  <a:schemeClr val="tx1"/>
                </a:solidFill>
              </a:rPr>
              <a:t>C.  Keep graft red cells &lt; 20 mL; transfuse group O red cells</a:t>
            </a:r>
            <a:endParaRPr lang="en-US" sz="1800" dirty="0"/>
          </a:p>
          <a:p>
            <a:pPr indent="0" marL="0">
              <a:spcAft>
                <a:spcPts val="800"/>
              </a:spcAft>
              <a:buNone/>
            </a:pPr>
            <a:r>
              <a:rPr lang="en-US" sz="1800" dirty="0">
                <a:solidFill>
                  <a:schemeClr val="tx1"/>
                </a:solidFill>
              </a:rPr>
              <a:t>D.  Switch red cell transfusions to group A once conditioning starts</a:t>
            </a:r>
            <a:endParaRPr lang="en-US" sz="1800" dirty="0"/>
          </a:p>
          <a:p>
            <a:pPr indent="0" marL="0">
              <a:spcAft>
                <a:spcPts val="800"/>
              </a:spcAft>
              <a:buNone/>
            </a:pPr>
            <a:r>
              <a:rPr lang="en-US" sz="1800" dirty="0">
                <a:solidFill>
                  <a:schemeClr val="tx1"/>
                </a:solidFill>
              </a:rPr>
              <a:t>E.  His main early risk is haemolysis from donor B lymphocytes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a high anti-donor titre requires red cell reduction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Keep graft red cells &lt; 20 mL; transfuse group O red cells</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Group O recipient and group A donor is a major mismatch. With an anti-donor titre ≥ 32, PBSC red cell content must stay &lt; 20 mL (BM must be RBC-depleted). RBC must suit both, so group O; platelets and plasma group A first. O to A with high anti-A carries the highest PRCA risk. Donor B-cell haemolysis belongs to minor mismatch.</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7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Schrezenmeier H, Körper S, Höchsmann B, Weinstock C. Transfusion support. In: Sureda A, Corbacioglu S, Greco R, Kröger N, Carreras E, editors. The EBMT Handbook: Hematopoietic Cell Transplantation and Cellular Therapies. 8th ed. Cham: Springer; 2024. p. 203–10. https://doi.org/10.1007/978-3-031-44080-9_24</a:t>
            </a:r>
            <a:endParaRPr lang="en-US" sz="1100" dirty="0"/>
          </a:p>
          <a:p>
            <a:pPr indent="0" marL="0">
              <a:spcAft>
                <a:spcPts val="700"/>
              </a:spcAft>
              <a:buNone/>
            </a:pPr>
            <a:r>
              <a:rPr lang="en-US" sz="1100" dirty="0">
                <a:solidFill>
                  <a:schemeClr val="tx1"/>
                </a:solidFill>
              </a:rPr>
              <a:t>2. Lang P, Schumm M, Pierini A, Handgretinger R. Graft manipulation. In: Sureda A, Corbacioglu S, Greco R, Kröger N, Carreras E, editors. The EBMT Handbook: Hematopoietic Cell Transplantation and Cellular Therapies. 8th ed. Cham: Springer; 2024. p. 171–7. https://doi.org/10.1007/978-3-031-44080-9_19</a:t>
            </a:r>
            <a:endParaRPr lang="en-US" sz="1100" dirty="0"/>
          </a:p>
          <a:p>
            <a:pPr indent="0" marL="0">
              <a:spcAft>
                <a:spcPts val="700"/>
              </a:spcAft>
              <a:buNone/>
            </a:pPr>
            <a:r>
              <a:rPr lang="en-US" sz="1100" dirty="0">
                <a:solidFill>
                  <a:schemeClr val="tx1"/>
                </a:solidFill>
              </a:rPr>
              <a:t>3. Ayuk F, Balduzzi A, Worel N. Donor selection for adults and pediatrics. In: Sureda A, Corbacioglu S, Greco R, Kröger N, Carreras E, editors. The EBMT Handbook: Hematopoietic Cell Transplantation and Cellular Therapies. 8th ed. Cham: Springer; 2024. p. 111–23. https://doi.org/10.1007/978-3-031-44080-9_12</a:t>
            </a:r>
            <a:endParaRPr lang="en-US" sz="1100" dirty="0"/>
          </a:p>
        </p:txBody>
      </p:sp>
      <p:sp>
        <p:nvSpPr>
          <p:cNvPr id="6" name="Text 7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Valcárcel D, Sánchez-Ortega I, Sureda A. Graft failure. In: Sureda A, Corbacioglu S, Greco R, Kröger N, Carreras E, editors. The EBMT Handbook: Hematopoietic Cell Transplantation and Cellular Therapies. 8th ed. Cham: Springer; 2024. p. 365–72. https://doi.org/10.1007/978-3-031-44080-9_41</a:t>
            </a:r>
            <a:endParaRPr lang="en-US" sz="1100" dirty="0"/>
          </a:p>
          <a:p>
            <a:pPr indent="0" marL="0">
              <a:spcAft>
                <a:spcPts val="700"/>
              </a:spcAft>
              <a:buNone/>
            </a:pPr>
            <a:r>
              <a:rPr lang="en-US" sz="1100" dirty="0">
                <a:solidFill>
                  <a:schemeClr val="tx1"/>
                </a:solidFill>
              </a:rPr>
              <a:t>5. Carson JL, Guyatt G, Heddle NM, et al. Clinical practice guidelines from the AABB: red blood cell transfusion thresholds and storage. JAMA. 2016;316:2025–35.</a:t>
            </a:r>
            <a:endParaRPr lang="en-US" sz="1100" dirty="0"/>
          </a:p>
          <a:p>
            <a:pPr indent="0" marL="0">
              <a:spcAft>
                <a:spcPts val="700"/>
              </a:spcAft>
              <a:buNone/>
            </a:pPr>
            <a:r>
              <a:rPr lang="en-US" sz="1100" dirty="0">
                <a:solidFill>
                  <a:schemeClr val="tx1"/>
                </a:solidFill>
              </a:rPr>
              <a:t>6. Carson JL, Stanworth SJ, Dennis JA, Trivella M, Roubinian N, Fergusson DA, Triulzi D, Doree C, Hebert PC. Transfusion thresholds for guiding red blood cell transfusion. CochraneDatabaseSystRev. 2021;12:CD002042.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7. Tay J, Allan DS, Chatelain E, Coyle D, Elemary M, Fulford A, Petrcich W, Ramsay T, Walker I, Xenocostas A, Tinmouth A, Fergusson D. Liberal versus restrictive red Blood cell transfusion thresholds in hematopoietic cell transplantation: a randomized, open label, phase III, noninferiority trial. J Clin Oncol. 2020;38:1463–73.</a:t>
            </a:r>
            <a:endParaRPr lang="en-US" sz="1100" dirty="0"/>
          </a:p>
          <a:p>
            <a:pPr indent="0" marL="0">
              <a:spcAft>
                <a:spcPts val="700"/>
              </a:spcAft>
              <a:buNone/>
            </a:pPr>
            <a:r>
              <a:rPr lang="en-US" sz="1100" dirty="0">
                <a:solidFill>
                  <a:schemeClr val="tx1"/>
                </a:solidFill>
              </a:rPr>
              <a:t>8. Chantepie SP, Mear JB, Briant AR, Vilque JP, Gac AC, Cheze S, Girault S, Turlure P, Marolleau JP, Lebon D, Charbonnier A, Jardin F, Lenain P, Peyro-Saint-Paul L, Abonnet V, Dutheil JJ, Chene Y, Bazin A, Reman O, Parienti JJ. Effect of single-unit transfusion in patients treated for haematological disease including acute leukemia: a multicenter randomized controlled clinical trial. Leuk Res. 2023;129:107058.</a:t>
            </a:r>
            <a:endParaRPr lang="en-US" sz="1100" dirty="0"/>
          </a:p>
          <a:p>
            <a:pPr indent="0" marL="0">
              <a:spcAft>
                <a:spcPts val="700"/>
              </a:spcAft>
              <a:buNone/>
            </a:pPr>
            <a:r>
              <a:rPr lang="en-US" sz="1100" dirty="0">
                <a:solidFill>
                  <a:schemeClr val="tx1"/>
                </a:solidFill>
              </a:rPr>
              <a:t>9. Wandt H, Schaefer-Eckart K, Wendelin K, et al. Therapeutic platelet transfusion versus routine prophylactic transfusion in patients with haematological malignancies: an open-label, multicentre, randomised study. Lancet. 2012;380:1309–16.</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Stanworth SJ, Estcourt LJ, Powter G, et al. A no-prophylaxis platelet-transfusion strategy for hematologic cancers. N Engl J Med. 2013;368:1771–80.</a:t>
            </a:r>
            <a:endParaRPr lang="en-US" sz="1100" dirty="0"/>
          </a:p>
          <a:p>
            <a:pPr indent="0" marL="0">
              <a:spcAft>
                <a:spcPts val="700"/>
              </a:spcAft>
              <a:buNone/>
            </a:pPr>
            <a:r>
              <a:rPr lang="en-US" sz="1100" dirty="0">
                <a:solidFill>
                  <a:schemeClr val="tx1"/>
                </a:solidFill>
              </a:rPr>
              <a:t>11. Slichter SJ, Kaufman RM, Assmann SF, et al. Dose of prophylactic platelet transfusions and prevention of hemorrhage. N Engl J Med. 2010;362:600–13.</a:t>
            </a:r>
            <a:endParaRPr lang="en-US" sz="1100" dirty="0"/>
          </a:p>
          <a:p>
            <a:pPr indent="0" marL="0">
              <a:spcAft>
                <a:spcPts val="700"/>
              </a:spcAft>
              <a:buNone/>
            </a:pPr>
            <a:r>
              <a:rPr lang="en-US" sz="1100" dirty="0">
                <a:solidFill>
                  <a:schemeClr val="tx1"/>
                </a:solidFill>
              </a:rPr>
              <a:t>12. Josephson CD, Granger S, Assmann SF, et al. Bleeding risks are higher in children versus adults given prophylactic platelet transfusions for treatment-induced hypoproliferative thrombocytopenia. Blood. 2012;120:748–60.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Marsh JC, Stanworth SJ, Pankhurst LA, Kallon D, Gilbertson AZ, Pigden C, Deary AJ, Mora AS, Brown J, Laing ES, Choo LL, Hodge R, Llewelyn CA, Harding K, Sage D, Mijovic A, Mufti GJ, Navarrete CV, Brown CJ. An epitope-based approach of HLA-matched platelets for transfusion: a noninferiority crossover randomized trial. Blood. 2021;137:310–22.</a:t>
            </a:r>
            <a:endParaRPr lang="en-US" sz="1100" dirty="0"/>
          </a:p>
          <a:p>
            <a:pPr indent="0" marL="0">
              <a:spcAft>
                <a:spcPts val="700"/>
              </a:spcAft>
              <a:buNone/>
            </a:pPr>
            <a:r>
              <a:rPr lang="en-US" sz="1100" dirty="0">
                <a:solidFill>
                  <a:schemeClr val="tx1"/>
                </a:solidFill>
              </a:rPr>
              <a:t>14. Griffith LM, VanRaden M, Barrett AJ, Childs RW, Fowler DH, Kang EM, Tisdale JF, Klein HG, Stroncek DF. Transfusion support for matched sibling allogeneic hematopoietic stem cell transplantation (1993-2010): factors that predict intensity and time to transfusion independence. Transfusion. 2019;59:303–15.</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Price TH, Boeckh M, Harrison RW, et al. Efficacy of transfusion with granulocytes from G-CSF/dexamethasone-treated donors in neutropenic patients with infection. Blood. 2015;126:2153–61.</a:t>
            </a:r>
            <a:endParaRPr lang="en-US" sz="1100" dirty="0"/>
          </a:p>
          <a:p>
            <a:pPr indent="0" marL="0">
              <a:spcAft>
                <a:spcPts val="700"/>
              </a:spcAft>
              <a:buNone/>
            </a:pPr>
            <a:r>
              <a:rPr lang="en-US" sz="1100" dirty="0">
                <a:solidFill>
                  <a:schemeClr val="tx1"/>
                </a:solidFill>
              </a:rPr>
              <a:t>16. Armand P, Kim HT, Virtanen JM, et al. Iron overload in allogeneic hematopoietic cell transplantation outcome: a meta-analysis. Biol Blood Marrow Transplant. 2014;20:1248–51.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BACKUP · PLATELET REFRACTORINESS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Most platelet refractoriness has non-immune causes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(Fig. 24.1)</a:t>
            </a:r>
            <a:endParaRPr lang="en-US" sz="1000" dirty="0"/>
          </a:p>
        </p:txBody>
      </p:sp>
      <p:pic>
        <p:nvPicPr>
          <p:cNvPr id="6" name="Figure ch24-fig1" descr="Platelet refractoriness: non-immune causes over 80%, immune causes under 20%, mostly HLA class I antibodies">    </p:cNvPr>
          <p:cNvPicPr>
            <a:picLocks noChangeAspect="1"/>
          </p:cNvPicPr>
          <p:nvPr/>
        </p:nvPicPr>
        <p:blipFill>
          <a:blip r:embed="rId1"/>
          <a:stretch>
            <a:fillRect/>
          </a:stretch>
        </p:blipFill>
        <p:spPr>
          <a:xfrm>
            <a:off x="685800" y="2148840"/>
            <a:ext cx="6706758" cy="3563340"/>
          </a:xfrm>
          <a:prstGeom prst="rect">
            <a:avLst/>
          </a:prstGeom>
        </p:spPr>
      </p:pic>
      <p:sp>
        <p:nvSpPr>
          <p:cNvPr id="7" name="Text 83"/>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Immune causes: HLA class I antibodies &gt; 80%, HPA antibodies &lt; 10%, both about 5%, autoimmune uncertain. Non-immune: fever, sepsis, DIC, SOS/VOD, GVHD, drugs, splenomegaly.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BACKUP · HLA-MATCHED PLATELETS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Choose the best-matched platelet donor in a fixed order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28" name="Table 8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572768"/>
                <a:gridCol w="9244584"/>
              </a:tblGrid>
              <a:tr h="0">
                <a:tc>
                  <a:txBody>
                    <a:bodyPr/>
                    <a:lstStyle/>
                    <a:p>
                      <a:pPr indent="0" marL="0">
                        <a:buNone/>
                      </a:pPr>
                      <a:r>
                        <a:rPr lang="en-US" sz="1600" b="1" dirty="0">
                          <a:solidFill>
                            <a:schemeClr val="tx1"/>
                          </a:solidFill>
                        </a:rPr>
                        <a:t>Order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Platelet donor for an HLA-alloimmunised patient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four HLA-A and HLA-B antigens identical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Donor carries only antigens the recipient also has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 kg, Hb 6 → 9: 3 × 4 × 20 = 240 mL (speaker's arithmetic)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Liver iron not a strong OS factor (Armand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HPA antibodies if refractoriness persists and non-immune causes unlikely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 donor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Autologous cryopreserved PC, rituximab, high-dose IVIg, plasmapheresis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5"/>
          <p:cNvSpPr txBox="1"/>
          <p:nvPr/>
        </p:nvSpPr>
        <p:spPr>
          <a:xfrm>
            <a:off x="685800" y="49377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Epitope-matched platelets were non-inferior to standard HLA-matched platelets in a crossover RCT (Marsh 2021).</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BACKUP · RED CELL DOSE AND IRON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One adult unit raises Hb by about 1 g/dL; children are dosed by weight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29"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45536"/>
                <a:gridCol w="7671816"/>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24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Adult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One RBC unit raises Hb by about 1 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mL RBC = (target Hb − pre-transfusion Hb, g/dL) × 4 × kg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Worked example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 kg, Hb 6 → 9 g/dL: 3 × 4 × 20 = 240 mL (speaker's arithmetic)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Iron overload, pre-HCT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Liver iron not a strong OS factor (Armand 2014 meta-analysis)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Better markers?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Hepcidin or labile plasma iron may be more specific</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Transfusion support and ABO-incompatible HCT</dc:title>
  <dc:subject>PptxGenJS Presentation</dc:subject>
  <dc:creator>Hsieh-Ting Lin, MD</dc:creator>
  <cp:lastModifiedBy>Hsieh-Ting Lin, MD</cp:lastModifiedBy>
  <cp:revision>1</cp:revision>
  <dcterms:created xsi:type="dcterms:W3CDTF">2026-10-09T16:09:28Z</dcterms:created>
  <dcterms:modified xsi:type="dcterms:W3CDTF">2026-10-09T16:09:28Z</dcterms:modified>
</cp:coreProperties>
</file>