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75b4b1-a446-8989-159b-250722be7652}">
          <p14:sldIdLst>
            <p14:sldId id="256"/>
            <p14:sldId id="257"/>
          </p14:sldIdLst>
        </p14:section>
        <p14:section name="Follow-up framework" id="{39eba5ac-f741-14f4-fd41-88428944a159}">
          <p14:sldIdLst>
            <p14:sldId id="258"/>
            <p14:sldId id="259"/>
          </p14:sldIdLst>
        </p14:section>
        <p14:section name="Vaccination" id="{e6e9ba49-b64c-9a2b-690a-fbc307ec2fce}">
          <p14:sldIdLst>
            <p14:sldId id="260"/>
            <p14:sldId id="261"/>
            <p14:sldId id="262"/>
            <p14:sldId id="263"/>
          </p14:sldIdLst>
        </p14:section>
        <p14:section name="Iron overload" id="{032adcc3-fc72-8b9d-64fc-aa87c00faf52}">
          <p14:sldIdLst>
            <p14:sldId id="264"/>
            <p14:sldId id="265"/>
            <p14:sldId id="266"/>
          </p14:sldIdLst>
        </p14:section>
        <p14:section name="Secondary neoplasia" id="{b3a501d2-0f3e-d647-02eb-2f6a61fcd93d}">
          <p14:sldIdLst>
            <p14:sldId id="267"/>
            <p14:sldId id="268"/>
            <p14:sldId id="269"/>
            <p14:sldId id="270"/>
          </p14:sldIdLst>
        </p14:section>
        <p14:section name="Cardiometabolic and endocrine" id="{dce544a1-c7b9-10ab-aab3-cb3fe86790bb}">
          <p14:sldIdLst>
            <p14:sldId id="271"/>
          </p14:sldIdLst>
        </p14:section>
        <p14:section name="Board questions" id="{db354bfe-ab28-b1d8-7d8b-16913810d45e}">
          <p14:sldIdLst>
            <p14:sldId id="272"/>
            <p14:sldId id="273"/>
            <p14:sldId id="274"/>
            <p14:sldId id="275"/>
            <p14:sldId id="276"/>
            <p14:sldId id="277"/>
          </p14:sldIdLst>
        </p14:section>
        <p14:section name="References" id="{b4d60435-086f-3241-0068-b986868dc54c}">
          <p14:sldIdLst>
            <p14:sldId id="278"/>
            <p14:sldId id="279"/>
          </p14:sldIdLst>
        </p14:section>
        <p14:section name="Backup" id="{ea194f41-4503-67b4-1d9d-51068c9c968a}">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各位早安，第十二週談移植後的長期照顧，主軸是 Ch. 22、29、46、47，再補上 Ch. 55、56 的重點。病人度過第一年之後，威脅換成感染、鐵沉積、第二癌和代謝問題。考題偏愛具體的時間點和數字，今天就以它們為主軸，最後一樣用三題收尾。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規定出院後多久回診、每年要查哪些器官，大約三分鐘。</a:t>
            </a:r>
          </a:p>
          <a:p>
            <a:pPr>
              <a:spcAft>
                <a:spcPts val="600"/>
              </a:spcAft>
            </a:pPr>
            <a:r>
              <a:rPr lang="en-US" dirty="0"/>
              <a:t>第二段是 vaccination，六分半。重點放在 live 和 non-live 的分界、ECIL 7 的時程表，以及哪些情況才值得延後打疫苗，這幾個時間點幾乎每年都出現在考題裡。</a:t>
            </a:r>
          </a:p>
          <a:p>
            <a:pPr>
              <a:spcAft>
                <a:spcPts val="600"/>
              </a:spcAft>
            </a:pPr>
            <a:r>
              <a:rPr lang="en-US" dirty="0"/>
              <a:t>第三段最長，十分半。先看 iron overload 在移植前、中、後的不同處理，再看三種 secondary neoplasm 和各自的篩檢。最後一段把 Ch. 55、56 的代謝症候群、甲狀腺和生育問題濃縮成一張表，接著做三題練習。</a:t>
            </a:r>
          </a:p>
          <a:p>
            <a:pPr>
              <a:spcAft>
                <a:spcPts val="600"/>
              </a:spcAft>
            </a:pPr>
            <a:r>
              <a:rPr lang="en-US" dirty="0"/>
              <a:t>每一段最後都會回到考題怎麼問，三題 MCQ 也各自對應前面的一張投影片，可以邊聽邊對照。</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的追蹤時程。Allo-HCT 的病人，建議前三到六個月住在移植中心附近。第一個月每週回診，第二個月起每兩週一次，三個月之後大約每月一次，持續到六到十二個月。每次回診都要特別看 acute GVHD、感染和肺部併發症。</a:t>
            </a:r>
          </a:p>
          <a:p>
            <a:pPr>
              <a:spcAft>
                <a:spcPts val="600"/>
              </a:spcAft>
            </a:pPr>
            <a:r>
              <a:rPr lang="en-US" dirty="0"/>
              <a:t>抽血除了 CBC 和肝腎功能，還要驗 Mg、免疫抑制劑濃度和 CMV PCR，用過 ATG 的人加驗 EBV。Chimerism 在第一和第二個月各做一次。</a:t>
            </a:r>
          </a:p>
          <a:p>
            <a:pPr>
              <a:spcAft>
                <a:spcPts val="600"/>
              </a:spcAft>
            </a:pPr>
            <a:r>
              <a:rPr lang="en-US" dirty="0"/>
              <a:t>三個月左右是轉折點，沒有大問題的病人可以交回原本的醫師，但仍要定期回移植中心，第一年每三到四個月，第二年每四到六個月。沒有併發症的話，每六個月一次到第三年，之後每年一次。Auto-HCT 簡單一些，每六個月到第二年，之後每年，原發疾病至少追五年。十七歲以下的孩子每三個月量身高體重。</a:t>
            </a:r>
          </a:p>
          <a:p>
            <a:pPr>
              <a:spcAft>
                <a:spcPts val="600"/>
              </a:spcAft>
            </a:pPr>
            <a:r>
              <a:rPr lang="en-US" dirty="0"/>
              <a:t>Auto 和 allo 有一點相同，接受過化療加放療的病人，長期追蹤時要把第二癌和 MDS 列進來，第三段會再展開。出院衛教時，把回診頻率和抽血項目寫給病人，比口頭交代可靠。</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Table 22.1 把長期追蹤按器官排開，改編自 Majhail 2012。表上的 1 代表所有病人都做，2 代表只針對仍有 chronic GVHD 或還在用免疫抑制的人。</a:t>
            </a:r>
          </a:p>
          <a:p>
            <a:pPr>
              <a:spcAft>
                <a:spcPts val="600"/>
              </a:spcAft>
            </a:pPr>
            <a:r>
              <a:rPr lang="en-US" dirty="0"/>
              <a:t>幾個細節常被拿來出題。口腔有 chronic GVHD 的人，squamous cell cancer 風險高，每六個月檢查一次。肺有 chronic GVHD 時，很多作者建議每次回診都做 spirometry。Ferritin 在一年時驗，偏高就安排 MRI 或 FerriScan，這會接到後面的 iron overload。</a:t>
            </a:r>
          </a:p>
          <a:p>
            <a:pPr>
              <a:spcAft>
                <a:spcPts val="600"/>
              </a:spcAft>
            </a:pPr>
            <a:r>
              <a:rPr lang="en-US" dirty="0"/>
              <a:t>Bone density 在一年時做，對象是成年女性、所有 allo-HCT 和骨質流失高風險的人。一年時也要查甲狀腺和性腺功能，女性每年看婦科。第二癌從一年開始衛教和自我檢查，做過 TBI 的人 mammography 要更頻繁。PJP 和莢膜菌的預防在 chronic GVHD 期間持續，疫苗則照 Ch. 29 的時程，就是下一段。</a:t>
            </a:r>
          </a:p>
          <a:p>
            <a:pPr>
              <a:spcAft>
                <a:spcPts val="600"/>
              </a:spcAft>
            </a:pPr>
            <a:r>
              <a:rPr lang="en-US" dirty="0"/>
              <a:t>腎臟每次都量血壓、驗尿蛋白和 BUN/creatinine，高血壓要找原因並治療，也要避開腎毒性藥物。心血管部分是評估危險因子、做健康生活衛教，最後一段的 Ch. 55 會再談。</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疫苗先建立一個原則。移植前打過的疫苗，不論是病人自己還是 donor 打的，移植後都無法維持保護，所以 post-HCT 的病人要當成從來沒打過疫苗，整套重來。這點和 solid organ transplant 剛好相反，SOT 重視的是移植前接種。</a:t>
            </a:r>
          </a:p>
          <a:p>
            <a:pPr>
              <a:spcAft>
                <a:spcPts val="600"/>
              </a:spcAft>
            </a:pPr>
            <a:r>
              <a:rPr lang="en-US" dirty="0"/>
              <a:t>左邊是 non-live vaccine，包括 inactivated、subunit 和 conjugate，安全性和一般人相同，也沒有證據會誘發 GVHD，例外是 SARS-CoV-2 疫苗。GVHD 已經用藥控制住，不是延後的理由。</a:t>
            </a:r>
          </a:p>
          <a:p>
            <a:pPr>
              <a:spcAft>
                <a:spcPts val="600"/>
              </a:spcAft>
            </a:pPr>
            <a:r>
              <a:rPr lang="en-US" dirty="0"/>
              <a:t>中間是有條件的 live vaccine，MMR、varicella 和 yellow fever。條件要全部符合，移植滿 24 個月、沒有 GVHD、沒有免疫抑制、原發疾病沒有復發，距離上次 IVIG 至少三個月，最好八個月。右邊是永遠不打的，再加上 oral typhoid 和 rotavirus。Zostavax 的病毒量是 varicella vaccine 的十四倍以上，曾有致死的 vaccine-strain VZV，有些甚至在移植好幾年後才打。</a:t>
            </a:r>
          </a:p>
          <a:p>
            <a:pPr>
              <a:spcAft>
                <a:spcPts val="600"/>
              </a:spcAft>
            </a:pPr>
            <a:r>
              <a:rPr lang="en-US" dirty="0"/>
              <a:t>所以 live vaccine 的條件題，只要有一項不符合，答案就是不打。成人打 measles 之前要先驗抗體，陰性才打；考慮 varicella vaccine 時也一樣，只給血清陰性的人。</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6:00 至 8:00]</a:t>
            </a:r>
          </a:p>
          <a:p>
            <a:pPr>
              <a:spcAft>
                <a:spcPts val="600"/>
              </a:spcAft>
            </a:pPr>
            <a:r>
              <a:rPr lang="en-US" dirty="0"/>
              <a:t>這是 ECIL 7 的建議，Cordonnier 2019，書上的 Table 29.1。最早開始的是 pneumococcal conjugate vaccine，移植後三個月就開始，打三劑，證據等級 AI，是整張表唯一的 A 級。第四劑在十二個月給 PPSV23，距離上一劑 PCV 至少八週；如果有 GVHD，polysaccharide 反應差，第四劑改用 PCV。</a:t>
            </a:r>
          </a:p>
          <a:p>
            <a:pPr>
              <a:spcAft>
                <a:spcPts val="600"/>
              </a:spcAft>
            </a:pPr>
            <a:r>
              <a:rPr lang="en-US" dirty="0"/>
              <a:t>Inactivated influenza 從六個月開始，社區流行時可以提早到三個月，之後每年打，終身持續。提早打的、嚴重 GVHD 或淋巴球低的人，可以考慮三到四週後補第二劑。Hib conjugate 三劑，三或六個月開始。</a:t>
            </a:r>
          </a:p>
          <a:p>
            <a:pPr>
              <a:spcAft>
                <a:spcPts val="600"/>
              </a:spcAft>
            </a:pPr>
            <a:r>
              <a:rPr lang="en-US" dirty="0"/>
              <a:t>Diphtheria-tetanus 從六個月開始，pertussis 和 inactivated polio 在六到十二個月，各三劑。Hepatitis B 在六到十二個月，用 0、1、6 個月三劑；打完一到二個月 anti-HBs 仍低於 10，可以考慮再一輪三劑，但效益不確定。Meningococcal 和 HPV 依各國建議。</a:t>
            </a:r>
          </a:p>
          <a:p>
            <a:pPr>
              <a:spcAft>
                <a:spcPts val="600"/>
              </a:spcAft>
            </a:pPr>
            <a:r>
              <a:rPr lang="en-US" dirty="0"/>
              <a:t>最後是 MMR，血清陰性且符合條件才打，最早 24 個月。沒有特別註明時，劑與劑間隔一個月。Auto-HCT 用同一份時程，只是部分證據等級不同。PCV 三個月、influenza 六個月、MMR 二十四個月，這三個時間點最常出現在選項裡。</a:t>
            </a:r>
          </a:p>
          <a:p>
            <a:pPr>
              <a:spcAft>
                <a:spcPts val="600"/>
              </a:spcAft>
            </a:pPr>
            <a:r>
              <a:rPr lang="en-US" dirty="0"/>
              <a:t>HPV 在 HCT 的經驗有限，推薦等級只有 B 到 C，建議打三劑。HBV 打完三劑後一個月以上要驗 anti-HBs，沒反應就再給一輪。之後大約每四到五年檢查 HBV、measles、tetanus、diphtheria 和 polio 的抗體。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這張是各疫苗最常被考的數字。Invasive pneumococcal disease 在 HCT 病人是一般人的 50 倍，可是得病的人不到五分之一打過疫苗。PCV 是 T-cell dependent、有 boost 效果，三劑後反應率 54 到 98%，三個月開始不輸給九個月開始，而且一定要排在 PPSV23 之前。</a:t>
            </a:r>
          </a:p>
          <a:p>
            <a:pPr>
              <a:spcAft>
                <a:spcPts val="600"/>
              </a:spcAft>
            </a:pPr>
            <a:r>
              <a:rPr lang="en-US" dirty="0"/>
              <a:t>Influenza 在 HCT 很兇，三分之一變成肺炎，10% 要插管，6% 死亡，還有 20% 的病人不發燒。一個回溯性研究顯示，疫苗可減少約 80% 的病毒確診感染。病人的反應比一般人差，所以家屬和醫護人員都要打。</a:t>
            </a:r>
          </a:p>
          <a:p>
            <a:pPr>
              <a:spcAft>
                <a:spcPts val="600"/>
              </a:spcAft>
            </a:pPr>
            <a:r>
              <a:rPr lang="en-US" dirty="0"/>
              <a:t>VZV 的預防主力是 acyclovir 或 valacyclovir，allo-HCT 至少一年，auto-HCT 三到六個月。Recombinant zoster vaccine 在 auto-HCT 的 randomized trial，Bastidas 2019，第一劑在 day 50 到 70，效果 68.2%；allo-HCT 沒有 randomized data。HBV 疫苗只有 40 到 70% 產生抗體，但沒反應的人也能預防 reverse seroconversion。書上的 PCV 是 13 價，新一代 PCV 的用法要另外確認。</a:t>
            </a:r>
          </a:p>
          <a:p>
            <a:pPr>
              <a:spcAft>
                <a:spcPts val="600"/>
              </a:spcAft>
            </a:pPr>
            <a:r>
              <a:rPr lang="en-US" dirty="0"/>
              <a:t>HPV 方面，長期追蹤時接近四成女性有生殖道 HPV 感染，cGVHD 長期免疫抑制的人風險更高，每年婦科檢查應包括抹片和 HPV 檢測。</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Non-live vaccine 原則上不延後，延後要有理由，書上列了四種。六個月內用過 rituximab，ECIL 建議最後一劑之後超過六個月再開始，抗體反應不確定，打完可以驗抗體。IgG 低於 3 g/L 的嚴重 hypogammaglobulinemia。病情不穩，例如沒控制的 grade 3 到 4 acute GVHD、沒控制的感染或住 ICU。以及正在使用 ATG。</a:t>
            </a:r>
          </a:p>
          <a:p>
            <a:pPr>
              <a:spcAft>
                <a:spcPts val="600"/>
              </a:spcAft>
            </a:pPr>
            <a:r>
              <a:rPr lang="en-US" dirty="0"/>
              <a:t>反過來，GVHD 已經用藥控制，不應延後。Conjugate 的 Hib、pneumococcus、meningococcus，還有 IPV 和 DT，在 GVHD 或免疫抑制下反應都還在。有些中心要等 CD4 超過 200，但沒有數據支持任何淋巴球門檻，等待只會拉長病人沒有保護的時間。</a:t>
            </a:r>
          </a:p>
          <a:p>
            <a:pPr>
              <a:spcAft>
                <a:spcPts val="600"/>
              </a:spcAft>
            </a:pPr>
            <a:r>
              <a:rPr lang="en-US" dirty="0"/>
              <a:t>血小板低於 50 時，IPV 和 PCV 可以改皮下，flu 可以皮內。血小板在 30 到 50 以上、用 23 號或更細的針、壓兩分鐘，肌肉注射是安全的。IVIG 不影響 non-live vaccine，只影響 live vaccine。</a:t>
            </a:r>
          </a:p>
          <a:p>
            <a:pPr>
              <a:spcAft>
                <a:spcPts val="600"/>
              </a:spcAft>
            </a:pPr>
            <a:r>
              <a:rPr lang="en-US" dirty="0"/>
              <a:t>Rituximab 的時間軸要特別留意，接種前一年內用過 rituximab，influenza 疫苗常常產生不了保護性抗體。病人如果剛因 PTLD 或 cGVHD 用了 rituximab，整個疫苗計畫就往後挪。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Iron overload 的傷害不只看鐵有多少。真正有毒的是沒有和 transferrin 結合的 NTBI，其中的 labile plasma iron 會不受控制地進入細胞、產生 reactive oxygen species，造成 DNA、脂質、蛋白和粒線體的傷害。毒性還取決於暴露時間和個人的抗氧化基因。</a:t>
            </a:r>
          </a:p>
          <a:p>
            <a:pPr>
              <a:spcAft>
                <a:spcPts val="600"/>
              </a:spcAft>
            </a:pPr>
            <a:r>
              <a:rPr lang="en-US" dirty="0"/>
              <a:t>NTBI 和 LPI 只在 transferrin saturation 超過 70% 時出現，但目前只有研究實驗室能測。臨床上就用 transferrin saturation 當替代指標，超過 70% 表示血清中有毒性鐵。Ferritin 便宜、可看趨勢，和總鐵量與預後相關，缺點是發炎、感染、肝病都會讓它升高，移植後的病人這三樣常常同時存在。</a:t>
            </a:r>
          </a:p>
          <a:p>
            <a:pPr>
              <a:spcAft>
                <a:spcPts val="600"/>
              </a:spcAft>
            </a:pPr>
            <a:r>
              <a:rPr lang="en-US" dirty="0"/>
              <a:t>Liver biopsy 仍是 liver iron concentration 的 gold standard，但它侵入性高，樣本至少 1 mg dry weight，不適合重複追蹤。MRI T2 或 T2* 是目前的 standard of care，非侵入、可重複，但每個器官要各自校正。</a:t>
            </a:r>
          </a:p>
          <a:p>
            <a:pPr>
              <a:spcAft>
                <a:spcPts val="600"/>
              </a:spcAft>
            </a:pPr>
            <a:r>
              <a:rPr lang="en-US" dirty="0"/>
              <a:t>Ferritin 還有一個陷阱，鐵量很高時它和鐵量不再呈線性，而且 ferritin 沒下降不代表 chelation 無效。Ch. 22 建議一年時驗 ferritin，偏高再做 MRI，兩章可以對照著記。</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chelation、肝纖維化和肝腫大會影響移植結果，三者都反映毒性鐵暴露的強度和時間。這些病人的 GVHD 發生率沒有差別，但 grade III 到 IV GVHD 的存活差很多。GITMO 在 MDS 和 acute leukemia 的研究中，輸血負擔只影響 myeloablative 的病人。所以未來可能移植、需要輸血的病人，chelation 要盡早開始、長期規則使用。</a:t>
            </a:r>
          </a:p>
          <a:p>
            <a:pPr>
              <a:spcAft>
                <a:spcPts val="600"/>
              </a:spcAft>
            </a:pPr>
            <a:r>
              <a:rPr lang="en-US" dirty="0"/>
              <a:t>Conditioning 時紅血球系大量破壞，NTBI 和 LPI 湧入血液。等紅血球系恢復、transferrin 重新出現，三到四週內清掉，除非本來就有 iron overload。移植期間的 chelation 屬於實驗性。動物實驗顯示，毒性鐵會傷害造血 niche，影響幹細胞自我更新和骨髓微環境，可能拖慢造血恢復。所以只有 engraftment 慢、transferrin saturation 又高時，才考慮在這段期間 chelation。</a:t>
            </a:r>
          </a:p>
          <a:p>
            <a:pPr>
              <a:spcAft>
                <a:spcPts val="600"/>
              </a:spcAft>
            </a:pPr>
            <a:r>
              <a:rPr lang="en-US" dirty="0"/>
              <a:t>Engraftment 之後病人不再輸血，但累積的鐵不會自己離開，transferrin saturation 會一直維持在高點，肝病也會持續進展。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移植後去鐵的目標是正常的鐵量，更具體地說是正常的 transferrin saturation，確保血中沒有毒性鐵。因為移植後造血有效，phlebotomy 可以取代 chelation。書上的做法是每 14 天抽 6 mL/kg，來自 Angelucci 1997 在 thalassemia 移植後病人的計畫。</a:t>
            </a:r>
          </a:p>
          <a:p>
            <a:pPr>
              <a:spcAft>
                <a:spcPts val="600"/>
              </a:spcAft>
            </a:pPr>
            <a:r>
              <a:rPr lang="en-US" dirty="0"/>
              <a:t>Phlebotomy 有效、安全、便宜，而且能把體內的鐵完全移除。缺點是需要穩定的 engraftment，移植早期不能用，病人要常回醫院，對 NTBI 的立即效果也還沒證實。Chelation 一樣有效安全，對 NTBI 和 LPI 有立即作用，在家吃藥就好。要注意和 cyclosporine 併用的腎毒性，以及鐵量不高時毒性可能增加。</a:t>
            </a:r>
          </a:p>
          <a:p>
            <a:pPr>
              <a:spcAft>
                <a:spcPts val="600"/>
              </a:spcAft>
            </a:pPr>
            <a:r>
              <a:rPr lang="en-US" dirty="0"/>
              <a:t>Deferiprone 有 agranulocytosis 的報告，在造血幹細胞疾病通常不用。三種 chelator 的比較放在 backup。考題常給一個移植後不再輸血、ferritin 還很高的 thalassemia 病人，答案是主動去鐵，不是等它自己降。</a:t>
            </a:r>
          </a:p>
          <a:p>
            <a:pPr>
              <a:spcAft>
                <a:spcPts val="600"/>
              </a:spcAft>
            </a:pPr>
            <a:r>
              <a:rPr lang="en-US" dirty="0"/>
              <a:t>選擇時可以照 Table 46.3 看三件事，engraftment 是否穩定、病人能不能常回醫院，以及是否還在用 cyclosporine。終點也要講清楚，是 transferrin saturation 回到正常，不只是 ferritin 下降。</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it is the phlebotomy program.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Secondary neoplasm 指移植後發生的任何惡性疾病，不論和移植是否相關，PTLD 另外討論。書上分三種。</a:t>
            </a:r>
          </a:p>
          <a:p>
            <a:pPr>
              <a:spcAft>
                <a:spcPts val="600"/>
              </a:spcAft>
            </a:pPr>
            <a:r>
              <a:rPr lang="en-US" dirty="0"/>
              <a:t>Therapy-related myeloid neoplasm 主要在 auto-HCT 之後，大多在十年內，和移植前的 alkylating agents、anthracyclines、topoisomerase II inhibitors 以及 TBI 有關。Lymphoma 做 auto 之後的報告，從兩年 1% 到 43 個月 24% 都有。預後很差，中位存活六個月，治療比照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來源。Second solid neoplasm 在 auto 和 allo 都會出現，追得越久越多，十年 2.2%、十五年 6.7%，預後看癌別。</a:t>
            </a:r>
          </a:p>
          <a:p>
            <a:pPr>
              <a:spcAft>
                <a:spcPts val="600"/>
              </a:spcAft>
            </a:pPr>
            <a:r>
              <a:rPr lang="en-US" dirty="0"/>
              <a:t>機轉上，t-MN 有 15 到 20% 帶 germline 的癌症易感性，cytotoxic therapy 造成的 CHIP 常是多重打擊的第一步。PTCy 目前看起來不增加 t-MN，移植後 maintenance 會不會增加，還不知道。DDM 則有超過 20% 的 donor-derived myeloid neoplasm 帶第七號染色體異常。</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Second solid cancer 依 Rizzo 2009 分成三類，機轉不同，出現的時間也不同。</a:t>
            </a:r>
          </a:p>
          <a:p>
            <a:pPr>
              <a:spcAft>
                <a:spcPts val="600"/>
              </a:spcAft>
            </a:pPr>
            <a:r>
              <a:rPr lang="en-US" dirty="0"/>
              <a:t>第一類和放射線有關，已證實的是甲狀腺、乳癌和腦瘤。潛伏期長，放射後十年以上才出現，而且和劑量相關。</a:t>
            </a:r>
          </a:p>
          <a:p>
            <a:pPr>
              <a:spcAft>
                <a:spcPts val="600"/>
              </a:spcAft>
            </a:pPr>
            <a:r>
              <a:rPr lang="en-US" dirty="0"/>
              <a:t>第二類和 chronic GVHD 及其免疫抑制有關，典型是皮膚和口咽的 squamous cell carcinoma。這類潛伏期短，移植後任何時間都可能發生，危險因子是 chronic GVHD、長期 GVHD 治療、azathioprine 和男性，和放射線無關。</a:t>
            </a:r>
          </a:p>
          <a:p>
            <a:pPr>
              <a:spcAft>
                <a:spcPts val="600"/>
              </a:spcAft>
            </a:pPr>
            <a:r>
              <a:rPr lang="en-US" dirty="0"/>
              <a:t>第三類和病毒有關。HCV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看放射、晚發。另外，RIC 並沒有降低第二癌，一個單中心研究在 RIC 之後十年的累積發生率是 12.9%。</a:t>
            </a:r>
          </a:p>
          <a:p>
            <a:pPr>
              <a:spcAft>
                <a:spcPts val="600"/>
              </a:spcAft>
            </a:pPr>
            <a:r>
              <a:rPr lang="en-US" dirty="0"/>
              <a:t>臨床上，追蹤的重點會隨時間移動。移植後前幾年，有 chronic GVHD 的人每次都要看皮膚和口腔；十年之後，做過 TBI 的人要開始注意甲狀腺和乳房，這也是 SSN 累積發生率一路上升的原因。</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Table 47.1 的數字和危險因子。t-MN 在 lymphoma 做 auto 之後最多，因為這群人移植前接受最多化療；myeloma 用 lenalidomide，包括移植後維持，也會增加 t-MN。Allo 之後 t-MN 很少，三年 0.06 到 0.67%。</a:t>
            </a:r>
          </a:p>
          <a:p>
            <a:pPr>
              <a:spcAft>
                <a:spcPts val="600"/>
              </a:spcAft>
            </a:pPr>
            <a:r>
              <a:rPr lang="en-US" dirty="0"/>
              <a:t>乳癌在移植後二十五年累積 11%，甲狀腺癌的 SIR 是 3.2，basal cell carcinoma 二十年 6.5%。這三種都和放射線、年輕時接受放射有關，BCC 再加上膚色淺。</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有關，外陰陰道的 SIR 高達 22.76。</a:t>
            </a:r>
          </a:p>
          <a:p>
            <a:pPr>
              <a:spcAft>
                <a:spcPts val="600"/>
              </a:spcAft>
            </a:pPr>
            <a:r>
              <a:rPr lang="en-US" dirty="0"/>
              <a:t>大腸直腸癌在移植後沒有被證實增加。一位病人可以發生好幾個不同的第二癌，最多報告過五個。</a:t>
            </a:r>
          </a:p>
          <a:p>
            <a:pPr>
              <a:spcAft>
                <a:spcPts val="600"/>
              </a:spcAft>
            </a:pPr>
            <a:r>
              <a:rPr lang="en-US" dirty="0"/>
              <a:t>第二癌通常比原發癌發生得更年輕，所以篩檢要提早。預後方面，甲狀腺、乳癌、攝護腺、黑色素瘤和子宮頸癌較好，胰臟、肺、腦、肝膽和食道癌較差。</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篩檢原則是 auto 和 allo 都要終身篩檢，每年回診問症狀、做檢查，其餘照一般族群的癌症篩檢，再對高風險族群加強，同時考慮個人和家族的癌症病史。</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a:t>
            </a:r>
          </a:p>
          <a:p>
            <a:pPr>
              <a:spcAft>
                <a:spcPts val="600"/>
              </a:spcAft>
            </a:pPr>
            <a:r>
              <a:rPr lang="en-US" dirty="0"/>
              <a:t>高劑量 busulfan 加上抽菸的人考慮 chest CT。HCV 病人在移植後 8 到 10 年評估肝纖維化。大腸直腸癌從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最後把 Ch. 55 和 56 濃縮成一張表。Metabolic syndrome 是五項符合三項，腰圍依族群定義、三酸甘油酯 1.7 mmol/L 以上、HDL 男性低於 1.0 女性低於 1.3、血壓 130/85 以上、空腹血糖 5.6 以上。移植後盛行率 31 到 49%，Greenfield 2021 的研究中，有 MetS 的人心血管事件 26.7%，沒有的 9%。</a:t>
            </a:r>
          </a:p>
          <a:p>
            <a:pPr>
              <a:spcAft>
                <a:spcPts val="600"/>
              </a:spcAft>
            </a:pPr>
            <a:r>
              <a:rPr lang="en-US" dirty="0"/>
              <a:t>心血管事件十五年累積可達 6%。糖尿病方面，prednisone 累積劑量每天超過 0.25 mg/kg，RR 3.6，TBI 讓風險增加 3.42 倍。</a:t>
            </a:r>
          </a:p>
          <a:p>
            <a:pPr>
              <a:spcAft>
                <a:spcPts val="600"/>
              </a:spcAft>
            </a:pPr>
            <a:r>
              <a:rPr lang="en-US" dirty="0"/>
              <a:t>甲狀腺功能低下約四分之一 allo-HCT 病人會發生，single-dose TBI 比 fractionated 高五到六倍，每年驗 TSH 和 FT4。超生理劑量的 steroid 用一個月以上，不論哪種途徑，都可能造成 adrenal insufficiency，症狀會和 GVHD 混淆，診斷要配對早上的 cortisol 和 ACTH。</a:t>
            </a:r>
          </a:p>
          <a:p>
            <a:pPr>
              <a:spcAft>
                <a:spcPts val="600"/>
              </a:spcAft>
            </a:pPr>
            <a:r>
              <a:rPr lang="en-US" dirty="0"/>
              <a:t>生殖方面，卵母細胞的半致死劑量低於 2 Gy，effective sterilizing dose 在十歲是 18.4 Gy，四十歲以上只要 6 Gy。男性的 Leydig cell 相對耐受，testosterone 通常正常，但 MAC TBI 之後大多數無精，busulfan 之後約一半。完成 gonadotoxic 治療後，建議延後六個月再懷孕。</a:t>
            </a:r>
          </a:p>
          <a:p>
            <a:pPr>
              <a:spcAft>
                <a:spcPts val="600"/>
              </a:spcAft>
            </a:pPr>
            <a:r>
              <a:rPr lang="en-US" dirty="0"/>
              <a:t>Ch. 55 也提醒，Framingham 這類風險分數沒有在 HCT 病人驗證，可能低估風險，只能當起點；篩檢時另外考慮移植種類、TBI、GVHD 病史和 calcineurin inhibitor。性功能方面，移植指引建議在六個月、一年，之後每年主動詢問。</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第一題考疫苗。46 歲男性，matched sibling allo-HCT 治療 AML 之後七個月，有輕微的口腔和皮膚 chronic GVHD，用 prednisolone 每天 10 mg 加 cyclosporine 控制住。沒用過 rituximab 或 IVIG，血小板 12 萬。今天要打疫苗，哪個計畫最適當。請先判斷每個選項是 live 還是 non-live，再看移植後的月數。</a:t>
            </a:r>
          </a:p>
          <a:p>
            <a:pPr>
              <a:spcAft>
                <a:spcPts val="600"/>
              </a:spcAft>
            </a:pPr>
            <a:r>
              <a:rPr lang="en-US" dirty="0"/>
              <a:t>A 是全部等到停免疫抑制再打，B 是現在打 PCV 和 inactivated influenza，C 是血清陰性就打 MMR，D 是 Zostavax，E 是等 CD4 超過 200。</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B。GVHD 已經用藥控制，不是延後 non-live vaccine 的理由，conjugate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應該是例外，等越久，病人沒有保護的時間越長。C 的 MMR 是 live vaccine，要滿 24 個月、沒有 GVHD 也沒有免疫抑制。D 的 Zostavax 永遠禁忌。E 的 CD4 門檻沒有數據支持。</a:t>
            </a:r>
          </a:p>
          <a:p>
            <a:pPr>
              <a:spcAft>
                <a:spcPts val="600"/>
              </a:spcAft>
            </a:pPr>
            <a:r>
              <a:rPr lang="en-US" dirty="0"/>
              <a:t>臨床上，cGVHD 的病人感染風險更高，即使疫苗反應打折，打的獲益通常還是比較大，這也是書上的論點。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 iron overload。19 歲女性，β-thalassemia major，兩年前做了 matched sibling allo-HCT。現在不需輸血、已停免疫抑制，Hb 12.5，腎功能正常。Ferritin 2400，transferrin saturation 82%，肝臟 MRI 顯示明顯鐵沉積。下一步最適當的是什麼。這題要想的是移植之後鐵會不會自己消失，以及去鐵的方法和目標。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再升只會延長毒性鐵的暴露。記住目標是正常的 transferrin saturation，不是某個 ferritin 數值。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第三題考第二癌篩檢。30 歲女性，21 歲時因 ALL 接受 cyclophosphamide 加 TBI 的 myeloablative allo-HCT。目前緩解、已停免疫抑制，沒有 chronic GVHD，也沒有乳癌家族史。今天是她的年度 late-effects 門診，乳房篩檢該怎麼安排。題目刻意給了她接受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不是這裡的條件。算的時候記住兩個數字，25 歲和 8 年，取晚的，上限 40 歲。子宮頸抹片的規則剛好相反，是取較早者，兩個容易搞混。</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29.3。家人和醫護每年打 inactivated influenza，血清陰性者打兩劑 varicella。家中不能給 oral polio，打過 rotavirus 的嬰兒，四週內病人不要碰尿布。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兒童用固定時間點，移植後六個月、血小板 50 以上，就開始六合一和 PCV13，不管 donor 種類、GVHD 或免疫抑制。Live 的 MMR-V 要 24 個月以上，而且停免疫抑制、沒有 GVHD 至少三個月。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成年男性做精子冷凍，青春期前男孩只能做實驗性的睾丸組織冷凍。成年女性首選胚胎或卵子冷凍，但要至少兩週刺激排卵；青春期前女孩只能做卵巢組織冷凍，白血病病人不建議回植。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vaccination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12 · Ch. 22, 29, 46, 47 (support: Ch.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SURVIVORSHIP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late organ damage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schedule and organ screening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Visit intervals after auto- and allo-HCT; the Table 22.1 organ checklist</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Revaccination after HCT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Live vs non-live, ECIL 7 schedule, pneumococcus and zoster, when to delay</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 and 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TSAT and toxic iron, phlebotomy vs chelation; t-MN, DDM, solid cancers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Metabolic syndrome, thyroid, adrenal, gonads; three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123944"/>
                <a:gridCol w="394106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months;</a:t>
                      </a:r>
                      <a:endParaRPr lang="en-US" sz="1500" dirty="0"/>
                    </a:p>
                    <a:p>
                      <a:pPr indent="0" marL="0">
                        <a:buNone/>
                      </a:pPr>
                      <a:r>
                        <a:rPr lang="en-US" sz="1500" dirty="0">
                          <a:solidFill>
                            <a:schemeClr val="tx1"/>
                          </a:solidFill>
                        </a:rPr>
                        <a:t>weekly visits in month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blood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months 1 and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Turning point: care may return</a:t>
                      </a:r>
                      <a:endParaRPr lang="en-US" sz="1500" dirty="0"/>
                    </a:p>
                    <a:p>
                      <a:pPr indent="0" marL="0">
                        <a:buNone/>
                      </a:pPr>
                      <a:r>
                        <a:rPr lang="en-US" sz="1500" dirty="0">
                          <a:solidFill>
                            <a:schemeClr val="tx1"/>
                          </a:solidFill>
                        </a:rPr>
                        <a:t>to the referring doctor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marrow if previously</a:t>
                      </a:r>
                      <a:endParaRPr lang="en-US" sz="1500" dirty="0"/>
                    </a:p>
                    <a:p>
                      <a:pPr indent="0" marL="0">
                        <a:buNone/>
                      </a:pPr>
                      <a:r>
                        <a:rPr lang="en-US" sz="1500" dirty="0">
                          <a:solidFill>
                            <a:schemeClr val="tx1"/>
                          </a:solidFill>
                        </a:rPr>
                        <a:t>involved,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&lt; 17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Weight and height every 3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is tightened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19656"/>
                <a:gridCol w="3291840"/>
                <a:gridCol w="2075688"/>
                <a:gridCol w="3630168"/>
              </a:tblGrid>
              <a:tr h="0">
                <a:tc>
                  <a:txBody>
                    <a:bodyPr/>
                    <a:lstStyle/>
                    <a:p>
                      <a:pPr indent="0" marL="0">
                        <a:buNone/>
                      </a:pPr>
                      <a:r>
                        <a:rPr lang="en-US" sz="1500" b="1" dirty="0">
                          <a:solidFill>
                            <a:schemeClr val="tx1"/>
                          </a:solidFill>
                        </a:rPr>
                        <a:t>Organ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Point to remember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Eye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Symptoms; acuity and fundus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Sicca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and dental assessment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Oral cGVHD: SCC risk, exam every 6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Clinical review, no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 m, 1 y,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cGVHD: spirometry at every visit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Liver tests;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Ferritin at 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ferritin: MRI / FerriScan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Bone density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Women, all allo-HCT, high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Endocrine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Thyroid, gonads, growth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y, then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gynaecological exam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Immunity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PJP and encapsulated-organism</a:t>
                      </a:r>
                      <a:endParaRPr lang="en-US" sz="1500" dirty="0"/>
                    </a:p>
                    <a:p>
                      <a:pPr indent="0" marL="0">
                        <a:buNone/>
                      </a:pPr>
                      <a:r>
                        <a:rPr lang="en-US" sz="1500" dirty="0">
                          <a:solidFill>
                            <a:schemeClr val="tx1"/>
                          </a:solidFill>
                        </a:rPr>
                        <a:t>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While cGVHD or 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Vaccines per Ch. 29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Second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Counselling, self-exam,</a:t>
                      </a:r>
                      <a:endParaRPr lang="en-US" sz="1500" dirty="0"/>
                    </a:p>
                    <a:p>
                      <a:pPr indent="0" marL="0">
                        <a:buNone/>
                      </a:pPr>
                      <a:r>
                        <a:rPr lang="en-US" sz="1500" dirty="0">
                          <a:solidFill>
                            <a:schemeClr val="tx1"/>
                          </a:solidFill>
                        </a:rPr>
                        <a:t>population screening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1 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more frequent</a:t>
                      </a:r>
                      <a:endParaRPr lang="en-US" sz="1500" dirty="0"/>
                    </a:p>
                    <a:p>
                      <a:pPr indent="0" marL="0">
                        <a:buNone/>
                      </a:pPr>
                      <a:r>
                        <a:rPr lang="en-US" sz="1500" dirty="0">
                          <a:solidFill>
                            <a:schemeClr val="tx1"/>
                          </a:solidFill>
                        </a:rPr>
                        <a:t>mammography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Live vaccines wait for 24 months and a fully competent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2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delay if GVHD is controlled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27"/>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LAIV</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rotavirus: contraindicated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ECIL 7 SCHEDULE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restarts most vaccines between 3 and 12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968496"/>
                <a:gridCol w="2167128"/>
                <a:gridCol w="3246120"/>
                <a:gridCol w="1444752"/>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Doses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Start after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conjugate (PCV)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Pneumococcal polysaccharide (PPSV23)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12 months; PCV instead if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 inactivated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special cases)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6 months (3 if outbreak);</a:t>
                      </a:r>
                      <a:endParaRPr lang="en-US" sz="1500" dirty="0"/>
                    </a:p>
                    <a:p>
                      <a:pPr indent="0" marL="0">
                        <a:buNone/>
                      </a:pPr>
                      <a:r>
                        <a:rPr lang="en-US" sz="1500" dirty="0">
                          <a:solidFill>
                            <a:schemeClr val="tx1"/>
                          </a:solidFill>
                        </a:rPr>
                        <a:t>yearly, lifelong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Haemophilus influenzae conjugate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or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Diphtheria-tetanus; pertussis; IPV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each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from 6 m; others 6–12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BIu · CIII · 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 (sero-negative)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(0, 1,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Meningococcal conjugate; 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per label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6 months; 6–12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MMR (sero-negative, criteria met)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(2 in children)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24 months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BIIu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VACCINE BY VACCINE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Pneumococcus, influenza, zoster and HBV carry the testable numbers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 from Ch. 29</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Pneumococcus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disease 50× general population; &lt; 1 in 5 vaccinated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PCV 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Start at 3 m not inferior to 9 m; 54–98% respond; PCV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Influenza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One-third pneumonia, 10% ventilated, 6% die; 20% afebrile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VZV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Acyclovir ≥ 1 year after allo-HCT, 3–6 months after auto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RCT: 68.2% efficacy; 2 doses, first at day 50–70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Recombinant zoster,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randomized data; efficacy and safety not established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Hepatitis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40–70% respond; still prevents reverse seroconversion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about 40% of women long-term; 3 doses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29 names PCV13 [verify: PCV15/PCV20 use in the current Taiwan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VACCINATION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29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in the past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ECIL: start &gt; 6 months after the last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IgG &lt; 3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(profound hypogammaglobulinaemia)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Uncontrolled grade 3–4 aGVHD, infection or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 until 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Postpone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controlled on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delay; conjugate vaccines still respond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Waiting for CD4 &gt; 200/μL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data support any lymphocyte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 safe if ≥ 30–50, ≤ 23-gauge, 2-min pressure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IVIG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Non-live unaffected; live ≥ 3 (ideally 8) months later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0"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a:t>
                      </a:r>
                      <a:endParaRPr lang="en-US" sz="1500" dirty="0"/>
                    </a:p>
                    <a:p>
                      <a:pPr indent="0" marL="0">
                        <a:buNone/>
                      </a:pPr>
                      <a:r>
                        <a:rPr lang="en-US" sz="1500" dirty="0">
                          <a:solidFill>
                            <a:schemeClr val="tx1"/>
                          </a:solidFill>
                        </a:rPr>
                        <a:t>the iron pool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a:t>
                      </a:r>
                      <a:endParaRPr lang="en-US" sz="1500" dirty="0"/>
                    </a:p>
                    <a:p>
                      <a:pPr indent="0" marL="0">
                        <a:buNone/>
                      </a:pPr>
                      <a:r>
                        <a:rPr lang="en-US" sz="1500" dirty="0">
                          <a:solidFill>
                            <a:schemeClr val="tx1"/>
                          </a:solidFill>
                        </a:rPr>
                        <a:t>infection,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concentration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and access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38"/>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1"/>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4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engraftment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3"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t-MN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Donor-derived (DDM)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Second solid (SSN)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Definition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t-MDS / t-AML after</a:t>
                      </a:r>
                      <a:endParaRPr lang="en-US" sz="1500" dirty="0"/>
                    </a:p>
                    <a:p>
                      <a:pPr indent="0" marL="0">
                        <a:buNone/>
                      </a:pPr>
                      <a:r>
                        <a:rPr lang="en-US" sz="1500" dirty="0">
                          <a:solidFill>
                            <a:schemeClr val="tx1"/>
                          </a:solidFill>
                        </a:rPr>
                        <a:t>chemo- or radiotherapy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Haematologic neoplasm</a:t>
                      </a:r>
                      <a:endParaRPr lang="en-US" sz="1500" dirty="0"/>
                    </a:p>
                    <a:p>
                      <a:pPr indent="0" marL="0">
                        <a:buNone/>
                      </a:pPr>
                      <a:r>
                        <a:rPr lang="en-US" sz="1500" dirty="0">
                          <a:solidFill>
                            <a:schemeClr val="tx1"/>
                          </a:solidFill>
                        </a:rPr>
                        <a:t>in donor cells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Solid cancer of any site</a:t>
                      </a:r>
                      <a:endParaRPr lang="en-US" sz="1500" dirty="0"/>
                    </a:p>
                    <a:p>
                      <a:pPr indent="0" marL="0">
                        <a:buNone/>
                      </a:pPr>
                      <a:r>
                        <a:rPr lang="en-US" sz="1500" dirty="0">
                          <a:solidFill>
                            <a:schemeClr val="tx1"/>
                          </a:solidFill>
                        </a:rPr>
                        <a:t>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Setting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Mainly auto-HCT;</a:t>
                      </a:r>
                      <a:endParaRPr lang="en-US" sz="1500" dirty="0"/>
                    </a:p>
                    <a:p>
                      <a:pPr indent="0" marL="0">
                        <a:buNone/>
                      </a:pPr>
                      <a:r>
                        <a:rPr lang="en-US" sz="1500" dirty="0">
                          <a:solidFill>
                            <a:schemeClr val="tx1"/>
                          </a:solidFill>
                        </a:rPr>
                        <a:t>rare after allo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Allo-HCT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Auto- and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Timing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within 10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Variable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Rises with longer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Frequency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Lymphoma auto: 1% at 2 y</a:t>
                      </a:r>
                      <a:endParaRPr lang="en-US" sz="1500" dirty="0"/>
                    </a:p>
                    <a:p>
                      <a:pPr indent="0" marL="0">
                        <a:buNone/>
                      </a:pPr>
                      <a:r>
                        <a:rPr lang="en-US" sz="1500" dirty="0">
                          <a:solidFill>
                            <a:schemeClr val="tx1"/>
                          </a:solidFill>
                        </a:rPr>
                        <a:t>up to 24% at 43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1% at 15 y; up to 5%</a:t>
                      </a:r>
                      <a:endParaRPr lang="en-US" sz="1500" dirty="0"/>
                    </a:p>
                    <a:p>
                      <a:pPr indent="0" marL="0">
                        <a:buNone/>
                      </a:pPr>
                      <a:r>
                        <a:rPr lang="en-US" sz="1500" dirty="0">
                          <a:solidFill>
                            <a:schemeClr val="tx1"/>
                          </a:solidFill>
                        </a:rPr>
                        <a:t>of leukaemia 'relapses'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2.2% at 10 y,</a:t>
                      </a:r>
                      <a:endParaRPr lang="en-US" sz="1500" dirty="0"/>
                    </a:p>
                    <a:p>
                      <a:pPr indent="0" marL="0">
                        <a:buNone/>
                      </a:pPr>
                      <a:r>
                        <a:rPr lang="en-US" sz="1500" dirty="0">
                          <a:solidFill>
                            <a:schemeClr val="tx1"/>
                          </a:solidFill>
                        </a:rPr>
                        <a:t>6.7% at 15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Outcome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median survival</a:t>
                      </a:r>
                      <a:endParaRPr lang="en-US" sz="1500" dirty="0"/>
                    </a:p>
                    <a:p>
                      <a:pPr indent="0" marL="0">
                        <a:buNone/>
                      </a:pPr>
                      <a:r>
                        <a:rPr lang="en-US" sz="1500" dirty="0">
                          <a:solidFill>
                            <a:schemeClr val="tx1"/>
                          </a:solidFill>
                        </a:rPr>
                        <a:t>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 few data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Depends on cancer 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de novo; early donor</a:t>
                      </a:r>
                      <a:endParaRPr lang="en-US" sz="1500" dirty="0"/>
                    </a:p>
                    <a:p>
                      <a:pPr indent="0" marL="0">
                        <a:buNone/>
                      </a:pPr>
                      <a:r>
                        <a:rPr lang="en-US" sz="1500" dirty="0">
                          <a:solidFill>
                            <a:schemeClr val="tx1"/>
                          </a:solidFill>
                        </a:rPr>
                        <a:t>search and allo-HCT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standard: re-HCT,</a:t>
                      </a:r>
                      <a:endParaRPr lang="en-US" sz="1500" dirty="0"/>
                    </a:p>
                    <a:p>
                      <a:pPr indent="0" marL="0">
                        <a:buNone/>
                      </a:pPr>
                      <a:r>
                        <a:rPr lang="en-US" sz="1500" dirty="0">
                          <a:solidFill>
                            <a:schemeClr val="tx1"/>
                          </a:solidFill>
                        </a:rPr>
                        <a:t>chemo, DLI, palliation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 a de novo cancer</a:t>
                      </a:r>
                      <a:endParaRPr lang="en-US" sz="1500" dirty="0"/>
                    </a:p>
                    <a:p>
                      <a:pPr indent="0" marL="0">
                        <a:buNone/>
                      </a:pPr>
                      <a:r>
                        <a:rPr lang="en-US" sz="1500" dirty="0">
                          <a:solidFill>
                            <a:schemeClr val="tx1"/>
                          </a:solidFill>
                        </a:rPr>
                        <a:t>of the same 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4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7"/>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48"/>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9"/>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0"/>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51"/>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2"/>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3"/>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54"/>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5"/>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5"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666744"/>
                <a:gridCol w="476402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 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Vulvar/vaginal SIR 22.76, anal 4.85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6"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215384"/>
                <a:gridCol w="467258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and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SUPPORT CHAPTERS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thyroid, adrenal and gonadal late effects need lifelong checks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 · Salooja N, et al. EBMT Handbook 8th ed. 2024; Ch. 56</a:t>
            </a:r>
            <a:endParaRPr lang="en-US" sz="1000" dirty="0"/>
          </a:p>
        </p:txBody>
      </p:sp>
      <p:graphicFrame>
        <p:nvGraphicFramePr>
          <p:cNvPr id="17"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95144"/>
                <a:gridCol w="5038344"/>
                <a:gridCol w="3483864"/>
              </a:tblGrid>
              <a:tr h="0">
                <a:tc>
                  <a:txBody>
                    <a:bodyPr/>
                    <a:lstStyle/>
                    <a:p>
                      <a:pPr indent="0" marL="0">
                        <a:buNone/>
                      </a:pPr>
                      <a:r>
                        <a:rPr lang="en-US" sz="1500" b="1" dirty="0">
                          <a:solidFill>
                            <a:schemeClr val="tx1"/>
                          </a:solidFill>
                        </a:rPr>
                        <a:t>Late effect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Exam-relevant fact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Screening or 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Metabolic syndrome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 of 5: waist*, TG ≥ 1.7, low HDL,</a:t>
                      </a:r>
                      <a:endParaRPr lang="en-US" sz="1500" dirty="0"/>
                    </a:p>
                    <a:p>
                      <a:pPr indent="0" marL="0">
                        <a:buNone/>
                      </a:pPr>
                      <a:r>
                        <a:rPr lang="en-US" sz="1500" dirty="0">
                          <a:solidFill>
                            <a:schemeClr val="tx1"/>
                          </a:solidFill>
                        </a:rPr>
                        <a:t>BP ≥ 130/85, glucose ≥ 5.6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31–49% after HCT; CV events</a:t>
                      </a:r>
                      <a:endParaRPr lang="en-US" sz="1500" dirty="0"/>
                    </a:p>
                    <a:p>
                      <a:pPr indent="0" marL="0">
                        <a:buNone/>
                      </a:pPr>
                      <a:r>
                        <a:rPr lang="en-US" sz="1500" dirty="0">
                          <a:solidFill>
                            <a:schemeClr val="tx1"/>
                          </a:solidFill>
                        </a:rPr>
                        <a:t>26.7% vs 9% without MetS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Diabetes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Prednisone &gt; 0.25 mg/kg/day: RR 3.6; TBI 3.42×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or BP &gt; 135/80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allo-HCT; single-dose TBI 5–6×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steroids ≥ 1 month, any route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Morning cortisol + ACTH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Ovarian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at age 10, 6 Gy over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Counsel before 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Testicular damage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Leydig spared; azoospermia after</a:t>
                      </a:r>
                      <a:endParaRPr lang="en-US" sz="1500" dirty="0"/>
                    </a:p>
                    <a:p>
                      <a:pPr indent="0" marL="0">
                        <a:buNone/>
                      </a:pPr>
                      <a:r>
                        <a:rPr lang="en-US" sz="1500" dirty="0">
                          <a:solidFill>
                            <a:schemeClr val="tx1"/>
                          </a:solidFill>
                        </a:rPr>
                        <a:t>MAC TBI, ~50% after Bu</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sperm banking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3949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*Waist cut-off is population-specific [verify: Taiwan cut-off]</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or IVIG; platelets are 120 × 10⁹/L. Which vaccination plan is most appropriate today?</a:t>
            </a:r>
            <a:endParaRPr lang="en-US" sz="1900" dirty="0"/>
          </a:p>
        </p:txBody>
      </p:sp>
      <p:sp>
        <p:nvSpPr>
          <p:cNvPr id="7" name="Text 6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manage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The EBMT Handbook, 8th ed. Springer; 2024. pp. 189–193. doi:10.1007/978-3-031-44080-9_22</a:t>
            </a:r>
            <a:endParaRPr lang="en-US" sz="1100" dirty="0"/>
          </a:p>
          <a:p>
            <a:pPr indent="0" marL="0">
              <a:spcAft>
                <a:spcPts val="700"/>
              </a:spcAft>
              <a:buNone/>
            </a:pPr>
            <a:r>
              <a:rPr lang="en-US" sz="1100" dirty="0">
                <a:solidFill>
                  <a:schemeClr val="tx1"/>
                </a:solidFill>
              </a:rPr>
              <a:t>2. de la Cámara R, Meisel R. Vaccinations. In: The EBMT Handbook, 8th ed. Springer; 2024. pp. 249–264. doi:10.1007/978-3-031-44080-9_29</a:t>
            </a:r>
            <a:endParaRPr lang="en-US" sz="1100" dirty="0"/>
          </a:p>
          <a:p>
            <a:pPr indent="0" marL="0">
              <a:spcAft>
                <a:spcPts val="700"/>
              </a:spcAft>
              <a:buNone/>
            </a:pPr>
            <a:r>
              <a:rPr lang="en-US" sz="1100" dirty="0">
                <a:solidFill>
                  <a:schemeClr val="tx1"/>
                </a:solidFill>
              </a:rPr>
              <a:t>3. Angelucci E, Raiola AM. Iron overload. In: The EBMT Handbook, 8th ed. Springer; 2024. pp. 419–423. doi:10.1007/978-3-031-44080-9_46</a:t>
            </a:r>
            <a:endParaRPr lang="en-US" sz="1100" dirty="0"/>
          </a:p>
          <a:p>
            <a:pPr indent="0" marL="0">
              <a:spcAft>
                <a:spcPts val="700"/>
              </a:spcAft>
              <a:buNone/>
            </a:pPr>
            <a:r>
              <a:rPr lang="en-US" sz="1100" dirty="0">
                <a:solidFill>
                  <a:schemeClr val="tx1"/>
                </a:solidFill>
              </a:rPr>
              <a:t>4. Tichelli A, Rovó A. Secondary neoplasia (other than PTLPS). In: The EBMT Handbook, 8th ed. Springer; 2024. pp. 425–432. doi:10.1007/978-3-031-44080-9_47</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Galvan ER, Snowden JA, Greenfield DM. Cardiovascular diseases and metabolic syndrome. In: The EBMT Handbook, 8th ed. Springer; 2024. pp. 495–500. doi:10.1007/978-3-031-44080-9_55</a:t>
            </a:r>
            <a:endParaRPr lang="en-US" sz="1100" dirty="0"/>
          </a:p>
          <a:p>
            <a:pPr indent="0" marL="0">
              <a:spcAft>
                <a:spcPts val="700"/>
              </a:spcAft>
              <a:buNone/>
            </a:pPr>
            <a:r>
              <a:rPr lang="en-US" sz="1100" dirty="0">
                <a:solidFill>
                  <a:schemeClr val="tx1"/>
                </a:solidFill>
              </a:rPr>
              <a:t>6. Salooja N, Rovó A, Dalle JH. Endocrine disorders, fertility, and sexual health. In: The EBMT Handbook, 8th ed. Springer; 2024. pp. 501–509. doi:10.1007/978-3-031-44080-9_56</a:t>
            </a:r>
            <a:endParaRPr lang="en-US" sz="1100" dirty="0"/>
          </a:p>
          <a:p>
            <a:pPr indent="0" marL="0">
              <a:spcAft>
                <a:spcPts val="700"/>
              </a:spcAft>
              <a:buNone/>
            </a:pPr>
            <a:r>
              <a:rPr lang="en-US" sz="1100" dirty="0">
                <a:solidFill>
                  <a:schemeClr val="tx1"/>
                </a:solidFill>
              </a:rPr>
              <a:t>7. Majhail NS, Rizzo JD, Lee SJ, et al. Recommended screening and preventive practices for long-term survivors after hematopoietic cell transplantation. Biol Blood Marrow Transplant. 2012;18:348–71.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9.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a:p>
            <a:pPr indent="0" marL="0">
              <a:spcAft>
                <a:spcPts val="700"/>
              </a:spcAft>
              <a:buNone/>
            </a:pPr>
            <a:r>
              <a:rPr lang="en-US" sz="1100" dirty="0">
                <a:solidFill>
                  <a:schemeClr val="tx1"/>
                </a:solidFill>
              </a:rPr>
              <a:t>10.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7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a:p>
            <a:pPr indent="0" marL="0">
              <a:spcAft>
                <a:spcPts val="700"/>
              </a:spcAft>
              <a:buNone/>
            </a:pPr>
            <a:r>
              <a:rPr lang="en-US" sz="1100" dirty="0">
                <a:solidFill>
                  <a:schemeClr val="tx1"/>
                </a:solidFill>
              </a:rPr>
              <a:t>12.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13. Greenfield DM, Salooja N, Peczynski C, et al. Metabolic syndrome and cardiovascular disease after hematopoietic stem cell transplantation (HCT) in adults: an EBMT, cross-sectional non-interventional stud. Bone Marrow Transplant. 2021;56:2820–5.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7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SC or IV infusion; 30 min;</a:t>
                      </a:r>
                      <a:endParaRPr lang="en-US" sz="1800" dirty="0"/>
                    </a:p>
                    <a:p>
                      <a:pPr indent="0" marL="0">
                        <a:buNone/>
                      </a:pPr>
                      <a:r>
                        <a:rPr lang="en-US" sz="1800" dirty="0">
                          <a:solidFill>
                            <a:schemeClr val="tx1"/>
                          </a:solidFill>
                        </a:rPr>
                        <a:t>continuous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DONORS AND CONTACTS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routine vaccination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VACCINATION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6-month point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8"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HPV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adolescents, from 12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During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vaccines safe; check titres 3 months after stop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FERTILITY · PRESERVATION OPTIONS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and pubertal status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29"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666744"/>
                <a:gridCol w="4032504"/>
              </a:tblGrid>
              <a:tr h="0">
                <a:tc>
                  <a:txBody>
                    <a:bodyPr/>
                    <a:lstStyle/>
                    <a:p>
                      <a:pPr indent="0" marL="0">
                        <a:buNone/>
                      </a:pPr>
                      <a:r>
                        <a:rPr lang="en-US" sz="1700" b="1" dirty="0">
                          <a:solidFill>
                            <a:schemeClr val="tx1"/>
                          </a:solidFill>
                        </a:rPr>
                        <a:t>Patient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Sperm cryopreservation</a:t>
                      </a:r>
                      <a:endParaRPr lang="en-US" sz="1700" dirty="0"/>
                    </a:p>
                    <a:p>
                      <a:pPr indent="0" marL="0">
                        <a:buNone/>
                      </a:pPr>
                      <a:r>
                        <a:rPr lang="en-US" sz="1700" dirty="0">
                          <a:solidFill>
                            <a:schemeClr val="tx1"/>
                          </a:solidFill>
                        </a:rPr>
                        <a:t>(TESE if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Recovery likelier if &lt; 25 y,</a:t>
                      </a:r>
                      <a:endParaRPr lang="en-US" sz="1700" dirty="0"/>
                    </a:p>
                    <a:p>
                      <a:pPr indent="0" marL="0">
                        <a:buNone/>
                      </a:pPr>
                      <a:r>
                        <a:rPr lang="en-US" sz="1700" dirty="0">
                          <a:solidFill>
                            <a:schemeClr val="tx1"/>
                          </a:solidFill>
                        </a:rPr>
                        <a:t>no TBI, no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Testicular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Experimental; no human</a:t>
                      </a:r>
                      <a:endParaRPr lang="en-US" sz="1700" dirty="0"/>
                    </a:p>
                    <a:p>
                      <a:pPr indent="0" marL="0">
                        <a:buNone/>
                      </a:pPr>
                      <a:r>
                        <a:rPr lang="en-US" sz="1700" dirty="0">
                          <a:solidFill>
                            <a:schemeClr val="tx1"/>
                          </a:solidFill>
                        </a:rPr>
                        <a:t>live births yet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Adult female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Embryo or oocyte</a:t>
                      </a:r>
                      <a:endParaRPr lang="en-US" sz="1700" dirty="0"/>
                    </a:p>
                    <a:p>
                      <a:pPr indent="0" marL="0">
                        <a:buNone/>
                      </a:pPr>
                      <a:r>
                        <a:rPr lang="en-US" sz="1700" dirty="0">
                          <a:solidFill>
                            <a:schemeClr val="tx1"/>
                          </a:solidFill>
                        </a:rPr>
                        <a:t>cryopreservation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 2 weeks of</a:t>
                      </a:r>
                      <a:endParaRPr lang="en-US" sz="1700" dirty="0"/>
                    </a:p>
                    <a:p>
                      <a:pPr indent="0" marL="0">
                        <a:buNone/>
                      </a:pPr>
                      <a:r>
                        <a:rPr lang="en-US" sz="1700" dirty="0">
                          <a:solidFill>
                            <a:schemeClr val="tx1"/>
                          </a:solidFill>
                        </a:rPr>
                        <a:t>ovarian stimulation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Prepubertal girl, or no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Ovarian tissue</a:t>
                      </a:r>
                      <a:endParaRPr lang="en-US" sz="1700" dirty="0"/>
                    </a:p>
                    <a:p>
                      <a:pPr indent="0" marL="0">
                        <a:buNone/>
                      </a:pPr>
                      <a:r>
                        <a:rPr lang="en-US" sz="1700" dirty="0">
                          <a:solidFill>
                            <a:schemeClr val="tx1"/>
                          </a:solidFill>
                        </a:rPr>
                        <a:t>cryopreservation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reimplant in leukaemia</a:t>
                      </a:r>
                      <a:endParaRPr lang="en-US" sz="1700" dirty="0"/>
                    </a:p>
                    <a:p>
                      <a:pPr indent="0" marL="0">
                        <a:buNone/>
                      </a:pPr>
                      <a:r>
                        <a:rPr lang="en-US" sz="1700" dirty="0">
                          <a:solidFill>
                            <a:schemeClr val="tx1"/>
                          </a:solidFill>
                        </a:rPr>
                        <a:t>(risk of reseeding)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Female during chemotherapy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GnRH agonist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Benefit uncertain;</a:t>
                      </a:r>
                      <a:endParaRPr lang="en-US" sz="1700" dirty="0"/>
                    </a:p>
                    <a:p>
                      <a:pPr indent="0" marL="0">
                        <a:buNone/>
                      </a:pPr>
                      <a:r>
                        <a:rPr lang="en-US" sz="1700" dirty="0">
                          <a:solidFill>
                            <a:schemeClr val="tx1"/>
                          </a:solidFill>
                        </a:rPr>
                        <a:t>Cochrane: consider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vaccination and late effects</dc:title>
  <dc:subject>PptxGenJS Presentation</dc:subject>
  <dc:creator>Hsieh-Ting Lin, MD</dc:creator>
  <cp:lastModifiedBy>Hsieh-Ting Lin, MD</cp:lastModifiedBy>
  <cp:revision>1</cp:revision>
  <dcterms:created xsi:type="dcterms:W3CDTF">2026-10-07T15:17:20Z</dcterms:created>
  <dcterms:modified xsi:type="dcterms:W3CDTF">2026-10-07T15:17:20Z</dcterms:modified>
</cp:coreProperties>
</file>