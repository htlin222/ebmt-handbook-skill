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b8a68f8-2008-d9c8-6125-f4dd775238ac}">
          <p14:sldIdLst>
            <p14:sldId id="256"/>
            <p14:sldId id="257"/>
          </p14:sldIdLst>
        </p14:section>
        <p14:section name="Classical Hodgkin lymphoma" id="{b6c8deeb-c6bd-6d22-abac-15fd606d0229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Indolent lymphoma" id="{c2b2417b-4339-0923-0fc1-e9103b692442}">
          <p14:sldIdLst>
            <p14:sldId id="265"/>
            <p14:sldId id="266"/>
            <p14:sldId id="267"/>
            <p14:sldId id="268"/>
          </p14:sldIdLst>
        </p14:section>
        <p14:section name="Chronic lymphocytic leukaemia" id="{b973193a-5701-fa8d-90b2-0e78339c289b}">
          <p14:sldIdLst>
            <p14:sldId id="269"/>
            <p14:sldId id="270"/>
            <p14:sldId id="271"/>
          </p14:sldIdLst>
        </p14:section>
        <p14:section name="Board questions" id="{4391d867-4117-21b8-fd15-297edb26dab2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02534260-6980-a72e-f966-c8d0f19aead5}">
          <p14:sldIdLst>
            <p14:sldId id="278"/>
            <p14:sldId id="279"/>
            <p14:sldId id="280"/>
            <p14:sldId id="281"/>
          </p14:sldIdLst>
        </p14:section>
        <p14:section name="Backup" id="{8d70d915-2a43-10fd-9e6e-af8858e23337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各位好，今天是第 29 堂，主題是 Hodgkin lymphoma、indolent lymphoma 和 CLL 的移植，對應 EBMT Handbook 第 89、84、85 章。這三個病的病程都很長，新藥也多，移植的位置一直在被重新定義。今天每個疾病都回答同一組問題，什麼時候做 auto、什麼時候做 allo、什麼時候先用藥，最後一樣用三題 board-style 題目收尾。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今天分四段。第一段是 classical Hodgkin，大約十分鐘，從復發時的 salvage、BEAM auto-HCT、brentuximab vedotin consolidation，一路講到 auto 失敗之後的 allo。Hodgkin 的適應症表格和數字最多，也最常出題。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第二段是以 follicular lymphoma 為代表的 indolent lymphoma，重點是哪些病人值得移植，以及 auto 和 allo 怎麼取捨。第三段是 CLL，在 pathway inhibitor 的時代，allo 的適應症只剩三種情境，很好記。最後五分鐘做三題，剛好每一段各一題。</a:t>
            </a:r>
          </a:p>
          <a:p>
            <a:pPr>
              <a:spcAft>
                <a:spcPts val="600"/>
              </a:spcAft>
            </a:pPr>
            <a:r>
              <a:rPr lang="en-US" dirty="0"/>
              <a:t>三個疾病有一條共同的線索。移植的時機都取決於疾病對前一線治療還敏不敏感，以及有沒有更安全的新藥可以先用，等一下 chemosensitivity 這個詞會反覆出現。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Hodgkin 第一次復發或 primary refractory，標準是 salvage 之後做 high-dose chemotherapy 加 auto-HCT。Salvage 前先做兩件事。距離第一線結束 12 個月以上的復發一定要重新切片，排除別的診斷，12 個月內也強烈建議。影像做 contrast CT 加 PET。</a:t>
            </a:r>
          </a:p>
          <a:p>
            <a:pPr>
              <a:spcAft>
                <a:spcPts val="600"/>
              </a:spcAft>
            </a:pPr>
            <a:r>
              <a:rPr lang="en-US" dirty="0"/>
              <a:t>表上是 Table 89.2。DHAP 的 ORR 89%，CR 只有 21%；ICE 的 CR 67%；BeGEV 的 CR 73%。這些數字來自不同研究，沒有 trial 直接比較，所以選擇要看第一線用過什麼、累積毒性和能不能收集幹細胞。</a:t>
            </a:r>
          </a:p>
          <a:p>
            <a:pPr>
              <a:spcAft>
                <a:spcPts val="600"/>
              </a:spcAft>
            </a:pPr>
            <a:r>
              <a:rPr lang="en-US" dirty="0"/>
              <a:t>Salvage 的目標是 chemosensitivity，書上把 PET-negative 當作 chemosensitive 的定義，它對 auto 後的結果影響最大。下面兩列不含化療，BV 單藥核准給不適合 auto、至少兩線化療失敗的人。</a:t>
            </a:r>
          </a:p>
          <a:p>
            <a:pPr>
              <a:spcAft>
                <a:spcPts val="600"/>
              </a:spcAft>
            </a:pPr>
            <a:r>
              <a:rPr lang="en-US" dirty="0"/>
              <a:t>實務上，所有化療型 salvage 都有血液毒性，infection 和 neutropenic fever 約 10 到 24%，每一種方案動員幹細胞都沒有問題。治療前要評估心肺功能，有需要先做生育諮詢。新藥加化療的組合，例如 pembrolizumab 加 GVD，PET-negative rate 可到 95%，但這些組合都還沒有核准。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3:00 至 4:30]</a:t>
            </a:r>
          </a:p>
          <a:p>
            <a:pPr>
              <a:spcAft>
                <a:spcPts val="600"/>
              </a:spcAft>
            </a:pPr>
            <a:r>
              <a:rPr lang="en-US" dirty="0"/>
              <a:t>兩個 landmark randomized trial，1993 年的 BNLI 和 2002 年的 GHSG/EBMT HD-R1，都把 high-dose chemotherapy 加 auto 跟一般 salvage chemotherapy 比，EFS 和 FFTF 顯著較好，但 OS 沒有顯著差異。這句很常被拿來出是非題。</a:t>
            </a:r>
          </a:p>
          <a:p>
            <a:pPr>
              <a:spcAft>
                <a:spcPts val="600"/>
              </a:spcAft>
            </a:pPr>
            <a:r>
              <a:rPr lang="en-US" dirty="0"/>
              <a:t>EBMT 2022 的適應症在表上。CR1 不建議做 auto，evidence level I。Chemosensitive relapse 而沒做過 auto 是 standard of care，五年 OS 75%、PFS 50%。Primary refractory 只是 clinical option，五年 OS 剩 30 到 36%。</a:t>
            </a:r>
          </a:p>
          <a:p>
            <a:pPr>
              <a:spcAft>
                <a:spcPts val="600"/>
              </a:spcAft>
            </a:pPr>
            <a:r>
              <a:rPr lang="en-US" dirty="0"/>
              <a:t>做過 auto 再復發，第二次 auto 是 clinical option，NRM 15%，五年 OS 和 PFS 都是 30%。Tandem auto 給 poor-risk 病人，NRM 0 到 5%，現在有了 BV 和 checkpoint inhibitor，要不要做第二次 auto 需要重新評估。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臨床上判斷 chemosensitive 的工具就是 PET。Salvage 後 PET 陰性，直接走 auto；PET 仍陽性，就要考慮換 salvage，或把 tandem、BV consolidation 這些加強手段一起納入討論。Primary refractory 的人結果雖然差，仍有大約三成長期存活，所以不是放棄移植的理由。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4:30 至 6:00]</a:t>
            </a:r>
          </a:p>
          <a:p>
            <a:pPr>
              <a:spcAft>
                <a:spcPts val="600"/>
              </a:spcAft>
            </a:pPr>
            <a:r>
              <a:rPr lang="en-US" dirty="0"/>
              <a:t>Auto 的幹細胞來源首選 mobilized peripheral blood。Conditioning 沒有 randomized 比較，但 BEAM 是首選。BCNU 300 mg/m² 在 day −6 給一次，etoposide 200 mg/m² 和 cytarabine 200 mg/m² 一天兩次，都從 day −5 給到 −2，melphalan 140 在 day −1。北美常用 CBV。TBI-based regimen 不建議，因為第二癌風險較高。</a:t>
            </a:r>
          </a:p>
          <a:p>
            <a:pPr>
              <a:spcAft>
                <a:spcPts val="600"/>
              </a:spcAft>
            </a:pPr>
            <a:r>
              <a:rPr lang="en-US" dirty="0"/>
              <a:t>Melphalan 的單位，書上印的是 140 mg/kg，這顯然是 mg/m² 的筆誤，上課前會再確認。</a:t>
            </a:r>
          </a:p>
          <a:p>
            <a:pPr>
              <a:spcAft>
                <a:spcPts val="600"/>
              </a:spcAft>
            </a:pPr>
            <a:r>
              <a:rPr lang="en-US" dirty="0"/>
              <a:t>Caption 是 BEAM 的晚期毒性。肺部的 chronic interstitial fibrosis 和 DLCO 下降 21%，第二腫瘤 20%。NRM 最常見的原因就是第二癌，風險是一般人的 12 倍，追蹤門診要記得篩檢。</a:t>
            </a:r>
          </a:p>
          <a:p>
            <a:pPr>
              <a:spcAft>
                <a:spcPts val="600"/>
              </a:spcAft>
            </a:pPr>
            <a:r>
              <a:rPr lang="en-US" dirty="0"/>
              <a:t>BEAM 四個藥的順序和天數容易出配對題。BCNU 只給一次而且最早給，melphalan 也只給一次、放在最後一天，中間四天是 etoposide 和 cytarabine。肺部是 BEAM 最常見的晚期問題之一，追蹤時有咳嗽、喘或 DLCO 下降，要想到 chronic interstitial fibrosis。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第二腫瘤加上 metabolic syndrome 和心血管問題，代表 auto 後的長期追蹤不只是看復發。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Ch. 89 prints melphalan 140 mg/kg/day; standard BEAM is 140 mg/m². Confirm against the printed book or another BEAM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6:00 至 7:30]</a:t>
            </a:r>
          </a:p>
          <a:p>
            <a:pPr>
              <a:spcAft>
                <a:spcPts val="600"/>
              </a:spcAft>
            </a:pPr>
            <a:r>
              <a:rPr lang="en-US" dirty="0"/>
              <a:t>Auto 之後會不會復發，第 89 章列了一串一致的不良預後因子：primary induction failure、第一次緩解短於 3 個月、第一線後 12 個月內復發、extranodal disease、B symptoms、復發時 advanced stage、salvage 抗藥，以及移植時仍有病灶。</a:t>
            </a:r>
          </a:p>
          <a:p>
            <a:pPr>
              <a:spcAft>
                <a:spcPts val="600"/>
              </a:spcAft>
            </a:pPr>
            <a:r>
              <a:rPr lang="en-US" dirty="0"/>
              <a:t>有這些因子的病人，auto 之後給 brentuximab vedotin consolidation。依據是 phase III 的 AETHERA，329 位 relapsed 或 refractory 病人，auto 後隨機分到最多 16 個 cycle 的 BV 或 placebo。中位 PFS 43 個月對 24 個月，P 值 0.0013，risk factor 越多，受益越明顯。</a:t>
            </a:r>
          </a:p>
          <a:p>
            <a:pPr>
              <a:spcAft>
                <a:spcPts val="600"/>
              </a:spcAft>
            </a:pPr>
            <a:r>
              <a:rPr lang="en-US" dirty="0"/>
              <a:t>BV 目前是唯一核准用在 post-auto consolidation 的藥，16 個 cycle 這個數字常出現在選項裡。</a:t>
            </a:r>
          </a:p>
          <a:p>
            <a:pPr>
              <a:spcAft>
                <a:spcPts val="600"/>
              </a:spcAft>
            </a:pPr>
            <a:r>
              <a:rPr lang="en-US" dirty="0"/>
              <a:t>考題常常給一位第一線後 12 個月內就復發、或移植時仍有病灶的病人，問 auto 之後該做什麼，答案通常就是 BV consolidation。也要注意 AETHERA 的結果是 PFS，書上並沒有寫 OS 的差異。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第一線的角色也在改變。Echelon-1 用 BV 取代 ABVD 裡的 bleomycin，晚期 HL 的 OS 改善，可以預期之後走到移植時已經用過 BV 的病人會越來越多。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7:30 至 9:00]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這是作者建議的演算法，簡化自 89.11 節的圖。Auto 之後復發，先問有沒有用過 BV，或是否對 BV 抗藥。沒用過就先給 BV；用過或沒有反應，就換 nivolumab、pembrolizumab 或臨床試驗。有反應的人可以觀察，或在年輕、體能好、有合適 donor 時考慮 allo。兩條路都沒反應，才回到傳統 salvage。</a:t>
            </a:r>
          </a:p>
          <a:p>
            <a:pPr>
              <a:spcAft>
                <a:spcPts val="600"/>
              </a:spcAft>
            </a:pPr>
            <a:r>
              <a:rPr lang="en-US" dirty="0"/>
              <a:t>預後的改善很明顯。EBMT 分析 1781 位 auto 後復發的成人，四年 OS 從 2006 到 2008 年的 32%，進步到 2015 到 2017 年的 63%。距離 auto 越久才復發越好；年紀大、體能差、bulky、extranodal 和 B symptoms 則較差。</a:t>
            </a:r>
          </a:p>
          <a:p>
            <a:pPr>
              <a:spcAft>
                <a:spcPts val="600"/>
              </a:spcAft>
            </a:pPr>
            <a:r>
              <a:rPr lang="en-US" dirty="0"/>
              <a:t>表上沒寫的數字放在 backup。Auto 後用 BV 的 ORR 75%，nivolumab 和 pembrolizumab 都是 69%。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書上把 allo 的條件寫得很具體，年輕、體能好、疾病有反應，而且有合適的 donor。四個條件少一個，觀察或繼續新藥都是可以接受的選擇，這就是原圖上灰色箭頭的意思，要和病人仔細討論利弊。</a:t>
            </a:r>
          </a:p>
          <a:p>
            <a:pPr>
              <a:spcAft>
                <a:spcPts val="600"/>
              </a:spcAft>
            </a:pPr>
            <a:r>
              <a:rPr lang="en-US" dirty="0"/>
              <a:t>Backup 裡還有 bendamustine、gemcitabine-based 化療和 CAR-T 等選擇，反應率差異很大。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9:00 至 10:30]</a:t>
            </a:r>
          </a:p>
          <a:p>
            <a:pPr>
              <a:spcAft>
                <a:spcPts val="600"/>
              </a:spcAft>
            </a:pPr>
            <a:r>
              <a:rPr lang="en-US" dirty="0"/>
              <a:t>Allo 仍被視為 auto 後復發或進展的 cHL 唯一的治癒選擇。證據主要是 registry 分析、小型 phase II，以及 donor-versus-no-donor 的比較，PFS 和 OS 都有好處。</a:t>
            </a:r>
          </a:p>
          <a:p>
            <a:pPr>
              <a:spcAft>
                <a:spcPts val="600"/>
              </a:spcAft>
            </a:pPr>
            <a:r>
              <a:rPr lang="en-US" dirty="0"/>
              <a:t>Table 89.5 的重點在第三列。Chemosensitive relapse 而且做過 auto，不論 MSD、MUD 或 alternative donor，都是 standard，evidence level II。Alternative donor 指 mismatched unrelated、haplo 和 cord blood。CR1 一律 generally not recommended；沒做過 auto 的 sensitive relapse 只是 developmental，alternative donor 甚至不建議。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移植前的 disease status 是最重要的預後因子，chemosensitive 的三年 OS 60 到 70%，refractory 只剩 40 到 50%。不過 PET-negative CR 對 allo 的意義，不像 auto 那麼明確。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另外，refractory 那一列寫的是 developmental，不是 not recommended。意思是可以在臨床試驗或有經驗的中心做，但三年 PFS 只有 20 到 30%，NRM 也升到 20 到 30%。題目若描述一位對所有 salvage 都沒反應的病人，直接選 allo 通常不是最好的答案，先想辦法讓疾病有反應。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10:30 至 12:00]</a:t>
            </a:r>
          </a:p>
          <a:p>
            <a:pPr>
              <a:spcAft>
                <a:spcPts val="600"/>
              </a:spcAft>
            </a:pPr>
            <a:r>
              <a:rPr lang="en-US" dirty="0"/>
              <a:t>新藥讓 allo 的時機變得不清楚，近兩年這個適應症的移植數量也在下降。BV 常被當作 bridge，通常給 4 到 6 個 cycle，最後一劑到 day 0 不需要 washout。它不增加移植相關毒性，還可能改善體能和疾病狀態，甚至減少 chronic GVHD。</a:t>
            </a:r>
          </a:p>
          <a:p>
            <a:pPr>
              <a:spcAft>
                <a:spcPts val="600"/>
              </a:spcAft>
            </a:pPr>
            <a:r>
              <a:rPr lang="en-US" dirty="0"/>
              <a:t>Checkpoint inhibitor 就不一樣。Nivolumab、pembrolizumab 在移植前效果很好，但可能增加 acute GVHD、SOS/VOD 和 post-transplant hyperacute febrile syndrome。建議停藥至少 6 週再移植，GVHD prophylaxis 用 PTCy。BV 不用 washout、PD-1 要停 6 週，這組對比是典型考題。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右邊是 donor 和 conditioning。PTCy haplo 的結果和 MSD、MUD 相近，GVHD 較少。超過一半用 RIC，NRM 降低但復發增加；含 low-dose TBI 的方案較差。現在 MAC 的 NRM 已大幅下降，可以個別考慮。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病房裡常見的情境是病人用 PD-1 達到很好的反應，大家急著排移植。這時候要先算好停藥的時間，並且提早跟移植團隊確認 PTCy 這個 GVHD prophylaxis 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12:00 至 13:30]</a:t>
            </a:r>
          </a:p>
          <a:p>
            <a:pPr>
              <a:spcAft>
                <a:spcPts val="600"/>
              </a:spcAft>
            </a:pPr>
            <a:r>
              <a:rPr lang="en-US" dirty="0"/>
              <a:t>Indolent lymphoma 佔所有淋巴瘤的三分之一，包括 follicular、marginal zone 和 lymphoplasmacytic，最常見的是 follicular。最大型的 HCT 研究以 FL 為主，所以結論以 FL 來講，再外推到其他亞型。特色是反覆復發，而 auto 和 allo 是復發後唯一有治癒可能的選擇。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第一線是 chemoimmunotherapy，之後用 rituximab 或 obinutuzumab maintenance，first line 沒有任何移植的位置。值得考慮 HCT 的只有三種人，第一線後兩年內復發，也就是 POD24，high-grade transformation，以及多次復發。</a:t>
            </a:r>
          </a:p>
          <a:p>
            <a:pPr>
              <a:spcAft>
                <a:spcPts val="600"/>
              </a:spcAft>
            </a:pPr>
            <a:r>
              <a:rPr lang="en-US" dirty="0"/>
              <a:t>前提是 reinduction 有反應。多數歐洲專家把 auto 當第一次移植，allo 留給 auto 後復發的人。CAR-T 和 bispecific antibody 的角色還在試驗中釐清。</a:t>
            </a:r>
          </a:p>
          <a:p>
            <a:pPr>
              <a:spcAft>
                <a:spcPts val="600"/>
              </a:spcAft>
            </a:pPr>
            <a:r>
              <a:rPr lang="en-US" dirty="0"/>
              <a:t>診斷要靠手術或 excisional biopsy，分期和評估反應最好用 PET，不然用 CT。最常用的預後分數是 FLIPI，復發時 FLIPI 高的人同樣可以考慮移植。現在非移植的選擇很多，所以建議移植前，一定要把移植和非移植的選項都跟病人說清楚。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13:30 至 15:00]</a:t>
            </a:r>
          </a:p>
          <a:p>
            <a:pPr>
              <a:spcAft>
                <a:spcPts val="600"/>
              </a:spcAft>
            </a:pPr>
            <a:r>
              <a:rPr lang="en-US" dirty="0"/>
              <a:t>Auto 的適應症很單純，復發後對第二線或之後的 reinduction 有反應。CUP trial 是唯一的 randomized study，140 位 relapsed FL，比較單純化療和 auto。兩年 PFS 化療組 26%，移植組 purged 58%、unpurged 55%，OS 也較好。長期追蹤十年 PFS 31 到 50%，所以 auto 對一部分病人可能是治癒性的。</a:t>
            </a:r>
          </a:p>
          <a:p>
            <a:pPr>
              <a:spcAft>
                <a:spcPts val="600"/>
              </a:spcAft>
            </a:pPr>
            <a:r>
              <a:rPr lang="en-US" dirty="0"/>
              <a:t>EBMT-LYM-1 在沒用過 rituximab 的病人顯示，移植前用 rituximab 做 in vivo purging 沒有好處，但移植後 rituximab maintenance 延長 PFS。只是現在的病人幾乎都用過 rituximab，能否外推並不清楚。</a:t>
            </a:r>
          </a:p>
          <a:p>
            <a:pPr>
              <a:spcAft>
                <a:spcPts val="600"/>
              </a:spcAft>
            </a:pPr>
            <a:r>
              <a:rPr lang="en-US" dirty="0"/>
              <a:t>毒性要算進去。60 歲以上的 TRM 可能超過 10%，而 relapsed FL 的中位年齡是 69 歲。GOELAMS 用 TBI conditioning，第二癌和 MDS/AML 明顯增加，因此可以先查骨髓的 clonal hematopoiesis 和染色體。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方面，BEAM 最常用，也有人把 BCNU 換成 bendamustine，效果可能相近、毒性較低。年紀大，或骨髓有 clonal hematopoiesis、染色體異常的人，第二癌風險較高，也許其他復發治療更適合。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15:00 至 16:30]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 EBMT 最新的兩個大系列。Auto 一年 TRM 只有 3%，五年復發 47%。Allo 五年 TRM 19%，復發降到 29%。結果 OS 是 auto 較高，72% 比 61%，PFS 則接近。Allo 的 GVL 效果確實存在，只是被 TRM 抵銷掉了。</a:t>
            </a:r>
          </a:p>
          <a:p>
            <a:pPr>
              <a:spcAft>
                <a:spcPts val="600"/>
              </a:spcAft>
            </a:pPr>
            <a:r>
              <a:rPr lang="en-US" dirty="0"/>
              <a:t>Allo 的好處在於 graft 沒有淋巴瘤細胞污染、也沒接觸過 mutagenic agent，再加上 GVL。最大型的 auto 失敗後 RIC allo 系列來自 EBMT，兩年 NRM 27%，五年 PFS 48%、OS 51%，而且 allo 後的緩解期明顯比 auto 後長。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 auto 毒性較低、可能治癒一部分人，被當作第一次移植；RIC allo 是 auto 後復發的治癒選項。也有 EBMT 中心在特定病人直接以 allo 作為第一次移植。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看這張表要注意兩邊 TRM 的時間點不一樣，auto 是一年、allo 是五年，不能直接相減。早期的 retrospective 比較也一樣，MAC allo 復發較低、TRM 較高，OS 和 auto 相近，所以後來才發展出 RIC，讓年紀大、共病多或做過 auto 的病人也能接受 allo。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16:30 至 18:00]</a:t>
            </a:r>
          </a:p>
          <a:p>
            <a:pPr>
              <a:spcAft>
                <a:spcPts val="600"/>
              </a:spcAft>
            </a:pPr>
            <a:r>
              <a:rPr lang="en-US" dirty="0"/>
              <a:t>Allo 只考慮給挑選過的復發病人，條件是淋巴瘤明顯會縮短存活。三線治療後復發，尤其 auto 後復發，是合理的適應症。病人端要看年齡、共病、體能、HCT-CI 和病人自己的意願。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沒有定論。Sibling donor 的 registry 顯示 MAC 和 RIC 三年 OS 71% 對 62%，P 值 0.15，沒有差異；unrelated donor 時，EBMT 的資料是 RIC 的 NRM 較低，PFS 和 OS 都較長。加上中位年齡 69 歲，多數專家建議 RIC。</a:t>
            </a:r>
          </a:p>
          <a:p>
            <a:pPr>
              <a:spcAft>
                <a:spcPts val="600"/>
              </a:spcAft>
            </a:pPr>
            <a:r>
              <a:rPr lang="en-US" dirty="0"/>
              <a:t>MSD 和 MUD 結果相近，沒有的話 haplo 加 PTCy 或 cord blood 都可行。GVHD prophylaxis 沒有偏好；做 T-cell depletion 要搭配 chimerism-directed DLI，四年 PFS 76%。Allo 後不需要 maintenance。</a:t>
            </a:r>
          </a:p>
          <a:p>
            <a:pPr>
              <a:spcAft>
                <a:spcPts val="600"/>
              </a:spcAft>
            </a:pPr>
            <a:r>
              <a:rPr lang="en-US" dirty="0"/>
              <a:t>TCD 和 DLI 要一起看。T-cell depletion 降低 GVHD，但也移除了負責 GVL 的 alloreactive T cell，復發會變多。依 chimerism 補 DLI，等於把 GVL 加回來，所以這個系列四年復發只有 24%，GVHD 也不多。</a:t>
            </a:r>
          </a:p>
          <a:p>
            <a:pPr>
              <a:spcAft>
                <a:spcPts val="600"/>
              </a:spcAft>
            </a:pPr>
            <a:r>
              <a:rPr lang="en-US" dirty="0"/>
              <a:t>沒有 MSD 或 MUD 時，cord blood 和 PTCy haplo 在包括 FL 在內的 NHL 都已有可行性的報告。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18:00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CLL 通常是 indolent，診斷本身不是治療的理由。開始治療的條件包括症狀、進行性貧血或血小板低下、lymphocyte doubling time 小於 6 個月、全身症狀、巨大脾臟或淋巴結，以及 Richter transformation。第一線是 covalent BTKi，或 venetoclax 加 obinutuzumab，或 ibrutinib 加 venetoclax；後兩者是 12 到 15 個月的 fixed duration。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第一線失敗就 class switch，BTKi 換 venetoclax，反之亦然。兩類都失敗叫 double refractory，預後很差。TP53 異常或 complex karyotype 的人，一類失敗就要考慮 allo。Richter 病史不論用過什麼藥都是適應症。</a:t>
            </a:r>
          </a:p>
          <a:p>
            <a:pPr>
              <a:spcAft>
                <a:spcPts val="600"/>
              </a:spcAft>
            </a:pPr>
            <a:r>
              <a:rPr lang="en-US" dirty="0"/>
              <a:t>有個陷阱，第一線用 BTKi 加 venetoclax fixed duration，停藥後才失敗，不算 double refractory。書上也建議，只要一類 pathway inhibitor 失敗，就轉介移植中心諮詢。</a:t>
            </a:r>
          </a:p>
          <a:p>
            <a:pPr>
              <a:spcAft>
                <a:spcPts val="600"/>
              </a:spcAft>
            </a:pPr>
            <a:r>
              <a:rPr lang="en-US" dirty="0"/>
              <a:t>Noncovalent BTKi 能不能改善 double refractory 的預後，目前還不清楚。移植時機要和病人個別討論，一邊是移植併發症的風險，一邊是還剩多少藥物選擇，可以用 HCT-CI 或 EBMT risk score 估計 NRM。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19:30 至 21:00]</a:t>
            </a:r>
          </a:p>
          <a:p>
            <a:pPr>
              <a:spcAft>
                <a:spcPts val="600"/>
              </a:spcAft>
            </a:pPr>
            <a:r>
              <a:rPr lang="en-US" dirty="0"/>
              <a:t>CLL 移植的核心機轉是 GVL。證據有三個，refractory 的病人也能受益，有 chronic GVHD 的人復發較少，以及免疫調控能清除 MRD。所以疾病沒控制時結果就變差，移植前要先誘導緩解，用 BTKi、venetoclax、CD20 抗體，idelalisib 也可以 bridge，但對 double refractory 效果有限。</a:t>
            </a:r>
          </a:p>
          <a:p>
            <a:pPr>
              <a:spcAft>
                <a:spcPts val="600"/>
              </a:spcAft>
            </a:pPr>
            <a:r>
              <a:rPr lang="en-US" dirty="0"/>
              <a:t>Donor、graft 和 GVHD prophylaxis 沒有 CLL 特有的選擇。Conditioning 以 RIC 的證據最充分，MAC 沒有優勢；不過年輕、體能好但疾病控制差的人，可以考慮較高強度。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移植後的 MRD 用 PCR 或 flow，敏感度達到萬分之一。MRD 下降常常比較慢，和免疫重建有關，可用來決定 immunosuppression 減量和 DLI。Auto 只用在 Richter，CAR-T 目前只在臨床試驗。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最後兩列也是考點。NRM 的危險因子是年紀大、體能差或 HCT-CI 高、partially matched donor，以及不利的 donor 和病人性別組合。移植後復發也不必悲觀，書上說所有核准的 CLL 藥物都還能用，allo 的病史不會限制藥物選擇。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21:00 至 22:00]</a:t>
            </a:r>
          </a:p>
          <a:p>
            <a:pPr>
              <a:spcAft>
                <a:spcPts val="600"/>
              </a:spcAft>
            </a:pPr>
            <a:r>
              <a:rPr lang="en-US" dirty="0"/>
              <a:t>這三個數字來自 pathway inhibitor 之前的大型 EBMT registry。十年 EFS 28%、OS 35%、NRM 40%。五年時仍無事件的 394 位病人，接下來五年保持無事件的機率是 79%，這就是 allo 可能治癒 CLL 的主要證據。</a:t>
            </a:r>
          </a:p>
          <a:p>
            <a:pPr>
              <a:spcAft>
                <a:spcPts val="600"/>
              </a:spcAft>
            </a:pPr>
            <a:r>
              <a:rPr lang="en-US" dirty="0"/>
              <a:t>晚期失敗由復發和 NRM 各佔一半。兩年 NRM 的危險因子是年紀大、體能差、unrelated donor 和不利的性別配對。進入 pathway inhibitor 時代後 NRM 已經下降，移植後復發也還能用所有核准的 CLL 藥物治療。</a:t>
            </a:r>
          </a:p>
          <a:p>
            <a:pPr>
              <a:spcAft>
                <a:spcPts val="600"/>
              </a:spcAft>
            </a:pPr>
            <a:r>
              <a:rPr lang="en-US" dirty="0"/>
              <a:t>講者換算一下，十年 EFS 28%，大約每三到四位病人有一位長期無事件。這是年輕、高風險 CLL 仍值得考慮 allo 的理由；但短期死亡風險高於藥物治療的人，就不該推薦。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22:00 至 22:45]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第一題。27 歲女性，classical Hodgkin，BEAM auto 之後用過 BV consolidation，五個月就復發。四個 cycle 的 nivolumab 後達到 PET-negative CR，唯一的 donor 是半相合的哥哥。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是最後一劑 nivolumab 一週後就移植，B 是停藥至少 6 週、用 PTCy 做 haplo，C 是 TBI 的第二次 auto，D 是放棄 haplo、等 unrelated donor，E 是 low-dose TBI 的 RIC。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題目給的時間點和用藥順序都是線索，先想 auto 後多久復發、之前用過什麼藥。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22:45 至 23:45]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B。Auto 失敗後的 cHL，allo 是治癒選項，而 sensitive relapse after auto 不論 donor 都是 standard。Checkpoint inhibitor 移植前使用，可能增加 acute GVHD、SOS/VOD 和 hyperacute febrile syndrome，所以停藥至少 6 週，並用 PTCy。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是主要陷阱，把 BV 的規則套到 PD-1 上；BV 不需要 washout，PD-1 需要。D 不對，haplo 加 PTCy 的結果和 MSD、MUD 相近，GVHD 甚至更少。C 和 E 都踩到 TBI，auto 不建議 TBI，low-dose TBI 的 RIC 復發較高、存活較差。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題目先講她用過 BV，這是為了對應演算法，用過 BV 才走 PD-1 那一支。</a:t>
            </a:r>
          </a:p>
          <a:p>
            <a:pPr>
              <a:spcAft>
                <a:spcPts val="600"/>
              </a:spcAft>
            </a:pPr>
            <a:r>
              <a:rPr lang="en-US" dirty="0"/>
              <a:t>Auto 後五個月就復發屬於早期復發，預後較差，更需要 allo 來鞏固。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23:45 至 24:30]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第二題。54 歲男性，follicular lymphoma grade 1 到 2，bendamustine-rituximab 加 rituximab maintenance，開始治療後 15 個月復發，切片沒有轉化。第二線化學免疫治療達到 complete metabolic response，體能好，有 HLA 相合的姊姊。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選項是觀察、BEAM 的 auto、姊姊的 MAC allo、TBI 加 purging 的 auto，以及 allo 後 rituximab maintenance。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注意題目特別講了復發的時間點和沒有轉化，這兩件事決定他屬不屬於該移植的族群，也決定先做哪一種移植。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24:30 至 25:30]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B。第一線後兩年內復發，也就是 POD24，存活較差，疾病控制後就應考慮 HCT，所以 A 錯。多數歐洲專家把 auto 當第一次移植，毒性低、能治癒一部分人，BEAM 是最常用的 conditioning。</a:t>
            </a:r>
          </a:p>
          <a:p>
            <a:pPr>
              <a:spcAft>
                <a:spcPts val="600"/>
              </a:spcAft>
            </a:pPr>
            <a:r>
              <a:rPr lang="en-US" dirty="0"/>
              <a:t>C 是主要干擾項，有 sibling donor 不代表要先做 allo，allo 留給 auto 後復發；而且 FL 多數用 RIC。D 錯在 purging 沒有證實的好處，TBI 又增加 MDS/AML。E 錯在 allo 後的 indolent lymphoma 沒有 maintenance 的適應症。</a:t>
            </a:r>
          </a:p>
          <a:p>
            <a:pPr>
              <a:spcAft>
                <a:spcPts val="600"/>
              </a:spcAft>
            </a:pPr>
            <a:r>
              <a:rPr lang="en-US" dirty="0"/>
              <a:t>如果題目改成 auto 後才復發，答案就會變成 RIC allo，這是同一個考點的另一面。</a:t>
            </a:r>
          </a:p>
          <a:p>
            <a:pPr>
              <a:spcAft>
                <a:spcPts val="600"/>
              </a:spcAft>
            </a:pPr>
            <a:r>
              <a:rPr lang="en-US" dirty="0"/>
              <a:t>這位病人 54 歲，比 relapsed FL 的中位年齡 69 歲年輕很多，auto 的 TRM 也比較能接受。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25:30 至 26:15]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第三題。52 歲女性，CLL 帶 TP53 mutation，第一線持續吃 acalabrutinib 兩年後惡化。換成 venetoclax 加 rituximab，目前 partial response。HCT-CI 1 分，有 10/10 相合的 unrelated donor。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選項有繼續 venetoclax、等它也失敗再說，auto，現在就轉介做 RIC allo，商業 CAR-T，以及因為 TP53 而做 MAC allo。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這題要同時看三件事，遺傳學風險、用過幾類藥，以及現在疾病有沒有控制住。Donor 和 HCT-CI 都不是問題，重點在時機。</a:t>
            </a:r>
          </a:p>
          <a:p>
            <a:pPr>
              <a:spcAft>
                <a:spcPts val="600"/>
              </a:spcAft>
            </a:pPr>
            <a:r>
              <a:rPr lang="en-US" dirty="0"/>
              <a:t>先決定該不該移植，再決定怎麼移植。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26:15 至 27:15]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C。TP53 異常或 complex karyotype 的病人，只要一類 pathway inhibitor 失敗就是 allo 的適應症，而且要趁有反應時移植，因為疾病未控制時結果明顯變差。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是主要陷阱，等到兩類都失敗才移植，只適用於沒有 TP53 或 complex karyotype 的人；書上也提醒，allo 應該在完全抗藥之前就考慮。B 錯，auto 除了 Richter 之外沒有角色。D 錯，CLL 目前沒有核准的 CAR-T 產品，只能在試驗中使用。E 錯，MAC 沒有優於 RIC，CLL 靠的是 GVL。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書上也建議，一類 pathway inhibitor 失敗就應轉介移植中心，這位病人現在正是轉介的時機。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後復發的選擇很多，BV、nivolumab、pembrolizumab 的 ORR 都在 70% 左右。Lenalidomide 只有 19%，everolimus 47%。這些多半是 bridge，真正有治癒機會的還是 allo。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 後復發預後很差，有些病人只能 palliative care。DLI 單用 ORR 33 到 54%，合併 BV 可以到 69%。Nivolumab 的 ORR 最高，但要留意它在 allo 後誘發 GVHD 的風險。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Marginal zone 和 Waldenström 的 auto 結果和 FL 相近，五年 OS 約七成。Allo 因為病例太少，沒有專門的報告。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這是第 89 章的原圖，主線的 tree 由它簡化。灰色箭頭代表觀察和 allo 兩者都可以接受，要和病人仔細討論。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HCT for Hodgkin lymphoma, indolent lymphoma and CLL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29 · Ch. 89, 84 and 85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SESSION 29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long-course diseases, one question: auto, allo or drugs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· Serroukh Y, et al. Ch. 84 · Schetelig J, et al. Ch. 85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Classical Hodgkin lymphoma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Salvage, BEAM auto-HCT, BV consolidation, allo after a failed autograft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Follicular and other indolent lymphomas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to transplant, CUP trial, auto first, RIC allo after auto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Chronic lymphocytic leukaemia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Pathway-inhibitor failure, TP53, Richter; MRD after alloHCT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vignettes: cHL bridge, FL early relapse, high-risk CLL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SALVAGE BEFORE AUTO-HCT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Salvage aims at PET-negative chemosensitivity before auto-HCT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(Tables 89.1, 89.2)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52728"/>
                <a:gridCol w="1252728"/>
                <a:gridCol w="4828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Salvage regimen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ORR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DHAP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89%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Conventional chemotherapy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ESHAP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67%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Conventional chemotherapy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67%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Conventional chemotherapy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IGEV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81%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54%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Gemcitabine-containing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BeGEV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Gemcitabine-containing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Brentuximab vedotin (BV)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auto candidate, ≥ 2 prior lines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Pembrolizumab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69%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Refractory or ≥ 3 prior lines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1"/>
          <p:cNvSpPr txBox="1"/>
          <p:nvPr/>
        </p:nvSpPr>
        <p:spPr>
          <a:xfrm>
            <a:off x="685800" y="50749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trial compares regimens. Rebiopsy is mandatory if relapse is ≥ 12 months after first-line therapy.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AUTO-HCT INDICATIONS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Auto-HCT is standard for sensitive relapse, not for first remission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(Table 89.3) · Smith EP, et al. 2018</a:t>
            </a:r>
            <a:endParaRPr lang="en-US" sz="1000" dirty="0"/>
          </a:p>
        </p:txBody>
      </p:sp>
      <p:graphicFrame>
        <p:nvGraphicFramePr>
          <p:cNvPr id="5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831336"/>
                <a:gridCol w="2679192"/>
                <a:gridCol w="1243584"/>
                <a:gridCol w="1536192"/>
                <a:gridCol w="1536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Disease status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EBMT 2022 (level)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NRM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5-y OS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5-y PFS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First complete remission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recommended (I)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Sensitive relapse, no prior auto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 of care (I)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0–18%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Primary refractory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Clinical option (III)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0–18%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30–36%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15–38%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Sensitive relapse after auto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(second auto-HCT)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Clinical option (III)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Tandem auto, poor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 be considered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54–84%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49–55%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3"/>
          <p:cNvSpPr txBox="1"/>
          <p:nvPr/>
        </p:nvSpPr>
        <p:spPr>
          <a:xfrm>
            <a:off x="685800" y="51206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BNLI and GHSG/EBMT HD-R1: auto beat salvage chemo for EFS and FFTF, with no OS benefit.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CONDITIONING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BEAM is the preferred auto-HCT conditioning, and TBI is avoided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graphicFrame>
        <p:nvGraphicFramePr>
          <p:cNvPr id="6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5596128"/>
                <a:gridCol w="18653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Regimen or drug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Dose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Day(s)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BCNU (carmustine)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300 mg/m² × 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−6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Etoposide (VP)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−5 to −2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Cytarabine (Ara-C)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200 mg/m² bid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−5 to −2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Melphalan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140 mg/m² × 1 [verify: book prints mg/kg]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CBV (CY, BCNU, VP)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Commonly used in North America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TBI-based regimens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recommended: more second cancers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5"/>
          <p:cNvSpPr txBox="1"/>
          <p:nvPr/>
        </p:nvSpPr>
        <p:spPr>
          <a:xfrm>
            <a:off x="685800" y="49834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Late effects of BEAM: lung 21%, infection 30%, metabolic 17%, CV 12%, second tumours 20%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CONSOLIDATION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BV consolidation after auto-HCT prolongs PFS in high-risk cHL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· Moskowitz CH, et al. Lancet 2015</a:t>
            </a:r>
            <a:endParaRPr lang="en-US" sz="1000" dirty="0"/>
          </a:p>
        </p:txBody>
      </p:sp>
      <p:sp>
        <p:nvSpPr>
          <p:cNvPr id="6" name="Box 26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Salvage to PET-negative response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7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BEAM auto-HCT with mobilized PB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8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Risk factors for relapse present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9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BV consolidation, up to 16 cycles</a:t>
            </a:r>
            <a:endParaRPr lang="en-US" sz="1700" dirty="0"/>
          </a:p>
        </p:txBody>
      </p:sp>
      <p:sp>
        <p:nvSpPr>
          <p:cNvPr id="13" name="Text 30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AETHERA (n = 329): median PFS 43 vs 24 months with placebo (P = 0.0013). The more risk factors, the larger the benefit. BV is the only drug approved for this use.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RELAPSE AFTER AUTO-HCT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After a failed autograft, prior BV exposure picks the next agent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(algorithm, Sect. 89.11) · Bazarbachi A, et al. 2022</a:t>
            </a:r>
            <a:endParaRPr lang="en-US" sz="1000" dirty="0"/>
          </a:p>
        </p:txBody>
      </p:sp>
      <p:sp>
        <p:nvSpPr>
          <p:cNvPr id="6" name="Box 31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cHL relapse after auto-HCT: prior BV or BV-resistant?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2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</a:t>
            </a:r>
            <a:endParaRPr lang="en-US" sz="1400" dirty="0"/>
          </a:p>
        </p:txBody>
      </p:sp>
      <p:sp>
        <p:nvSpPr>
          <p:cNvPr id="11" name="Box 33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Brentuximab vedotin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4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Response: observe, or consider allo-HCT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5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Yes, or no BV response</a:t>
            </a:r>
            <a:endParaRPr lang="en-US" sz="1400" dirty="0"/>
          </a:p>
        </p:txBody>
      </p:sp>
      <p:sp>
        <p:nvSpPr>
          <p:cNvPr id="16" name="Box 36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Nivolumab / pembrolizumab or trial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7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Response: observe, or consider allo-HCT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8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 response</a:t>
            </a:r>
            <a:endParaRPr lang="en-US" sz="1400" dirty="0"/>
          </a:p>
        </p:txBody>
      </p:sp>
      <p:sp>
        <p:nvSpPr>
          <p:cNvPr id="21" name="Box 39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Conventional salvage or trial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40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Then consider allo-HCT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ALLO-HCT INDICATIONS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Allo-HCT is standard for sensitive relapse after a failed autograft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(Table 89.5)</a:t>
            </a:r>
            <a:endParaRPr lang="en-US" sz="1000" dirty="0"/>
          </a:p>
        </p:txBody>
      </p:sp>
      <p:graphicFrame>
        <p:nvGraphicFramePr>
          <p:cNvPr id="9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2313432"/>
                <a:gridCol w="2313432"/>
                <a:gridCol w="2313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Disease risk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MSD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MUD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Alternative donor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First remission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GNR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GNR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GNR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Sensitive relapse, no prior auto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Developmental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Developmental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GNR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Sensitive relapse after auto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Standard (II)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Standard (II)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Standard (II)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Refractory disease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Developmental (II)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Developmental (II)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Developmental (III)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2"/>
          <p:cNvSpPr txBox="1"/>
          <p:nvPr/>
        </p:nvSpPr>
        <p:spPr>
          <a:xfrm>
            <a:off x="685800" y="4343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3-y results: chemosensitive NRM 15–20%, OS 60–70%, PFS 40–50%; refractory NRM 20–30%, OS 40–50%, PFS 20–30%.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ALLO-HCT IN THE NEW-DRUG ERA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Bridge with BV freely, but stop PD-1 blockade 6 weeks before allo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· Bazarbachi 2018 · Martínez 2017</a:t>
            </a:r>
            <a:endParaRPr lang="en-US" sz="1000" dirty="0"/>
          </a:p>
        </p:txBody>
      </p:sp>
      <p:sp>
        <p:nvSpPr>
          <p:cNvPr id="6" name="Text 43"/>
          <p:cNvSpPr txBox="1"/>
          <p:nvPr/>
        </p:nvSpPr>
        <p:spPr>
          <a:xfrm>
            <a:off x="685800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BV bridge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Usually 4–6 cycles. No washout needed before day 0. No added toxicity; may improve PS and disease status.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May lower chronic GVHD (Bazarbachi 2018)</a:t>
            </a:r>
            <a:endParaRPr lang="en-US" sz="1800" dirty="0"/>
          </a:p>
        </p:txBody>
      </p:sp>
      <p:sp>
        <p:nvSpPr>
          <p:cNvPr id="7" name="Text 44"/>
          <p:cNvSpPr txBox="1"/>
          <p:nvPr/>
        </p:nvSpPr>
        <p:spPr>
          <a:xfrm>
            <a:off x="4443984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Checkpoint inhibitor bridge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Nivolumab or pembrolizumab work well, but raise aGVHD, SOS/VOD and hyperacute febrile syndrome.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Hold ≥ 6 weeks before allo; use PTCy</a:t>
            </a:r>
            <a:endParaRPr lang="en-US" sz="1800" dirty="0"/>
          </a:p>
        </p:txBody>
      </p:sp>
      <p:sp>
        <p:nvSpPr>
          <p:cNvPr id="8" name="Text 45"/>
          <p:cNvSpPr txBox="1"/>
          <p:nvPr/>
        </p:nvSpPr>
        <p:spPr>
          <a:xfrm>
            <a:off x="8202168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Donor and conditioning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PB preferred. Haplo PTCy ≈ MSD/MUD with less GVHD. &gt; 50% get RIC: less NRM, more relapse.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Low-dose TBI worse; MAC case by case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FOLLICULAR LYMPHOMA · WHO TO TRANSPLANT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follicular lymphoma, HCT is reserved for high-risk relapse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</a:t>
            </a:r>
            <a:endParaRPr lang="en-US" sz="1000" dirty="0"/>
          </a:p>
        </p:txBody>
      </p:sp>
      <p:sp>
        <p:nvSpPr>
          <p:cNvPr id="6" name="Box 46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First line: immunochemo + maintenance, no HCT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47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Early relapse, transformation or multiple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48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Response to second-line reinduction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49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Auto-HCT first; RIC allo after auto failure</a:t>
            </a:r>
            <a:endParaRPr lang="en-US" sz="1700" dirty="0"/>
          </a:p>
        </p:txBody>
      </p:sp>
      <p:sp>
        <p:nvSpPr>
          <p:cNvPr id="13" name="Text 50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Relapse within 2 years (POD24) and high-grade transformation predict poor survival; a high FLIPI at relapse may too. Discuss non-transplant options: R-lenalidomide, CAR-T, bispecifics.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FOLLICULAR LYMPHOMA · AUTO-HCT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Auto-HCT can cure a proportion of patients with relapsed FL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 · Schouten 2003 · Pettengell 2013 · Gyan 2009</a:t>
            </a:r>
            <a:endParaRPr lang="en-US" sz="1000" dirty="0"/>
          </a:p>
        </p:txBody>
      </p:sp>
      <p:graphicFrame>
        <p:nvGraphicFramePr>
          <p:cNvPr id="1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00984"/>
                <a:gridCol w="3300984"/>
                <a:gridCol w="4215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Evidence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CUP trial (Schouten 2003)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Randomised, n = 140, relapsed FL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2-y PFS 26% chemo vs 58% / 55%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(purged / unpurged); OS better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EBMT-LYM-1 (Pettengell 2013)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Rituximab-naïve, relapsed FL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gain from in vivo R purging;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 maintenance prolongs PFS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Long-term series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Auto-HCT in relapsed FL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10-y PFS 31–50%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Older patients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 &gt; 60; median age at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relapse 69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TRM may exceed 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GOELAMS (Gyan 2009)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Randomised; TBI 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 solid tumours and MDS/AML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2"/>
          <p:cNvSpPr txBox="1"/>
          <p:nvPr/>
        </p:nvSpPr>
        <p:spPr>
          <a:xfrm>
            <a:off x="685800" y="51206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BEAM is most used; bendamustine in place of BCNU may be less toxic. No proven role for purging.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FOLLICULAR LYMPHOMA · AUTO VS ALLO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Allo-HCT in FL trades less relapse for higher TRM than auto-HCT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 · Robinson 2013, 2016 · Sureda 2018</a:t>
            </a:r>
            <a:endParaRPr lang="en-US" sz="1000" dirty="0"/>
          </a:p>
        </p:txBody>
      </p:sp>
      <p:graphicFrame>
        <p:nvGraphicFramePr>
          <p:cNvPr id="13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52344"/>
                <a:gridCol w="4032504"/>
                <a:gridCol w="4032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Auto-HCT (EBMT, n = 726)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Allo-HCT (EBMT/CIBMTR, n = 1567)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TRM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3% at 1 year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19%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Relapse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47%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29%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OS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72%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61%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PFS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52%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4"/>
          <p:cNvSpPr txBox="1"/>
          <p:nvPr/>
        </p:nvSpPr>
        <p:spPr>
          <a:xfrm>
            <a:off x="685800" y="4343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RIC allo after a failed auto (Robinson 2016): 2-y NRM 27%, 5-y PFS 48%, 5-y OS 51%.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FOLLICULAR LYMPHOMA · ALLO-HCT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RIC is favoured for allo-HCT in FL, from any suitable donor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 · Hari 2008 · Avivi 2009 · Thomson 2010</a:t>
            </a:r>
            <a:endParaRPr lang="en-US" sz="1000" dirty="0"/>
          </a:p>
        </p:txBody>
      </p:sp>
      <p:graphicFrame>
        <p:nvGraphicFramePr>
          <p:cNvPr id="14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83864"/>
                <a:gridCol w="7333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What Ch. 84 says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Indication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Selected relapse; after 3 lines and especially after auto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MAC vs RIC, sibling donor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Similar: 3-y OS 71% vs 62% (P = 0.15) (Hari 2008)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MAC vs RIC, unrelated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RIC: lower NRM, longer PFS and OS (Avivi 2009)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Donor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MSD ≈ MUD; haplo with PTCy or cord blood if none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T-cell depletion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Add chimerism-directed DLI: 4-y PFS 76%, relapse 24%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Maintenance after allo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 indication in indolent lymphoma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6"/>
          <p:cNvSpPr txBox="1"/>
          <p:nvPr/>
        </p:nvSpPr>
        <p:spPr>
          <a:xfrm>
            <a:off x="685800" y="50749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Median age at FL relapse is 69, so most authorities recommend RIC; young fit patients may get more.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CLL · INDICATIONS FOR ALLOHCT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AlloHCT in CLL follows pathway-inhibitor failure or Richter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Schetelig J, Dreger P. EBMT Handbook 8th ed. 2024; Ch. 85</a:t>
            </a:r>
            <a:endParaRPr lang="en-US" sz="1000" dirty="0"/>
          </a:p>
        </p:txBody>
      </p:sp>
      <p:sp>
        <p:nvSpPr>
          <p:cNvPr id="6" name="Box 57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CLL treated with BTKi and/or venetoclax: alloHCT?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58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Double refractory</a:t>
            </a:r>
            <a:endParaRPr lang="en-US" sz="1400" dirty="0"/>
          </a:p>
        </p:txBody>
      </p:sp>
      <p:sp>
        <p:nvSpPr>
          <p:cNvPr id="11" name="Box 59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Failed both BTKi and BCL2i classes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60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Consider alloHCT; poor outlook on drugs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61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TP53 or complex karyotype</a:t>
            </a:r>
            <a:endParaRPr lang="en-US" sz="1400" dirty="0"/>
          </a:p>
        </p:txBody>
      </p:sp>
      <p:sp>
        <p:nvSpPr>
          <p:cNvPr id="16" name="Box 62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Failed one pathway-inhibitor class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63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Consider alloHCT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64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Richter transformation</a:t>
            </a:r>
            <a:endParaRPr lang="en-US" sz="1400" dirty="0"/>
          </a:p>
        </p:txBody>
      </p:sp>
      <p:sp>
        <p:nvSpPr>
          <p:cNvPr id="21" name="Box 65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History of Richter, any drug exposure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66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AlloHCT if transplant-eligible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CLL · HOW TO TRANSPLANT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CLL, transplant in remission with RIC and let GVL do the work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Schetelig J, Dreger P. EBMT Handbook 8th ed. 2024; Ch. 85 (Key Points)</a:t>
            </a:r>
            <a:endParaRPr lang="en-US" sz="1000" dirty="0"/>
          </a:p>
        </p:txBody>
      </p:sp>
      <p:graphicFrame>
        <p:nvGraphicFramePr>
          <p:cNvPr id="16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666744"/>
                <a:gridCol w="71506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Recommendation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Before 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Induce remission: BTKi, venetoclax, CD20 Ab; idelalisib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Donor, graft, GVHD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disease-specific criteria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RIC best supported; MAC has no 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Evidence for GVL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Refractory patients respond; less relapse with cGVHD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MRD after alloHCT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PCR or flow to ≤ 1 in 10⁴; guides IS taper and DLI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NRM risk factors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Age, PS or HCT-CI, partial match, adverse sex mismatch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Auto-HCT and CAR-T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 only in Richter; CAR-T in clinical trials 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CLL · LONG-TERM OUTCOME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About one in three patients with CLL is event-free 10 years after alloHCT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Schetelig J, Dreger P. EBMT Handbook 8th ed. 2024; Ch. 85 · van Gelder M, et al. 2017</a:t>
            </a:r>
            <a:endParaRPr lang="en-US" sz="1000" dirty="0"/>
          </a:p>
        </p:txBody>
      </p:sp>
      <p:sp>
        <p:nvSpPr>
          <p:cNvPr id="6" name="Text 68"/>
          <p:cNvSpPr txBox="1"/>
          <p:nvPr/>
        </p:nvSpPr>
        <p:spPr>
          <a:xfrm>
            <a:off x="685800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28%</a:t>
            </a:r>
            <a:endParaRPr lang="en-US" sz="6000" dirty="0"/>
          </a:p>
        </p:txBody>
      </p:sp>
      <p:sp>
        <p:nvSpPr>
          <p:cNvPr id="7" name="Text 69"/>
          <p:cNvSpPr txBox="1"/>
          <p:nvPr/>
        </p:nvSpPr>
        <p:spPr>
          <a:xfrm>
            <a:off x="685800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Event-free survival at 10 years</a:t>
            </a:r>
            <a:endParaRPr lang="en-US" sz="1800" dirty="0"/>
          </a:p>
        </p:txBody>
      </p:sp>
      <p:sp>
        <p:nvSpPr>
          <p:cNvPr id="8" name="Text 70"/>
          <p:cNvSpPr txBox="1"/>
          <p:nvPr/>
        </p:nvSpPr>
        <p:spPr>
          <a:xfrm>
            <a:off x="4443984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35%</a:t>
            </a:r>
            <a:endParaRPr lang="en-US" sz="6000" dirty="0"/>
          </a:p>
        </p:txBody>
      </p:sp>
      <p:sp>
        <p:nvSpPr>
          <p:cNvPr id="9" name="Text 71"/>
          <p:cNvSpPr txBox="1"/>
          <p:nvPr/>
        </p:nvSpPr>
        <p:spPr>
          <a:xfrm>
            <a:off x="4443984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Overall survival at 10 years</a:t>
            </a:r>
            <a:endParaRPr lang="en-US" sz="1800" dirty="0"/>
          </a:p>
        </p:txBody>
      </p:sp>
      <p:sp>
        <p:nvSpPr>
          <p:cNvPr id="10" name="Text 72"/>
          <p:cNvSpPr txBox="1"/>
          <p:nvPr/>
        </p:nvSpPr>
        <p:spPr>
          <a:xfrm>
            <a:off x="8202168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40%</a:t>
            </a:r>
            <a:endParaRPr lang="en-US" sz="6000" dirty="0"/>
          </a:p>
        </p:txBody>
      </p:sp>
      <p:sp>
        <p:nvSpPr>
          <p:cNvPr id="11" name="Text 73"/>
          <p:cNvSpPr txBox="1"/>
          <p:nvPr/>
        </p:nvSpPr>
        <p:spPr>
          <a:xfrm>
            <a:off x="8202168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Non-relapse mortality at 10 years</a:t>
            </a:r>
            <a:endParaRPr lang="en-US" sz="1800" dirty="0"/>
          </a:p>
        </p:txBody>
      </p:sp>
      <p:sp>
        <p:nvSpPr>
          <p:cNvPr id="12" name="Rule 74"/>
          <p:cNvSpPr/>
          <p:nvPr/>
        </p:nvSpPr>
        <p:spPr>
          <a:xfrm>
            <a:off x="685800" y="4800600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75"/>
          <p:cNvSpPr txBox="1"/>
          <p:nvPr/>
        </p:nvSpPr>
        <p:spPr>
          <a:xfrm>
            <a:off x="685800" y="49834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EBMT registry, pre-pathway-inhibitor era. Event-free at 5 years: 79% stay event-free for the next 5 years. NRM is lower in the inhibitor era.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bridge a Hodgkin relapse to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sp>
        <p:nvSpPr>
          <p:cNvPr id="6" name="Text 76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27-year-old woman with classical Hodgkin lymphoma relapses 5 months after BEAM auto-HCT; she had received brentuximab vedotin as consolidation. After 4 cycles of nivolumab she is in PET-negative complete response. Her only donor is a haploidentical brother. Which plan is most appropriate?</a:t>
            </a:r>
            <a:endParaRPr lang="en-US" sz="1900" dirty="0"/>
          </a:p>
        </p:txBody>
      </p:sp>
      <p:sp>
        <p:nvSpPr>
          <p:cNvPr id="7" name="Text 77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Proceed to allo-HCT one week after the last nivolumab dose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Hold nivolumab ≥ 6 weeks, then haplo allo-HCT with PTCy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Second auto-HCT with TBI-based conditioning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Decline the haplo donor and wait for a matched unrelated donor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Low-dose TBI-based RIC to lower the relapse risk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wash out checkpoint inhibitors and use PTCy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sp>
        <p:nvSpPr>
          <p:cNvPr id="6" name="Box 78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Hold nivolumab ≥ 6 weeks, then haplo allo-HCT with PTCy</a:t>
            </a:r>
            <a:endParaRPr lang="en-US" sz="2000" dirty="0"/>
          </a:p>
        </p:txBody>
      </p:sp>
      <p:sp>
        <p:nvSpPr>
          <p:cNvPr id="7" name="Text 79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Allo-HCT is the curative option after auto-HCT failure. Checkpoint inhibitors before allo-HCT may raise acute GVHD, SOS/VOD and hyperacute febrile syndrome, so hold them ≥ 6 weeks and use PTCy. Haplo PTCy gives results similar to MSD/MUD. TBI is avoided in auto-HCT; low-dose TBI RIC had higher relapse.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consolidate an early follicular lymphoma relapse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</a:t>
            </a:r>
            <a:endParaRPr lang="en-US" sz="1000" dirty="0"/>
          </a:p>
        </p:txBody>
      </p:sp>
      <p:sp>
        <p:nvSpPr>
          <p:cNvPr id="6" name="Text 80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54-year-old man with grade 1–2 follicular lymphoma relapses 15 months after starting bendamustine-rituximab followed by rituximab maintenance. Biopsy shows no transformation. Second-line chemoimmunotherapy achieves a complete metabolic response. He is fit and has an HLA-matched sister. Which next step is best supported by the EBMT Handbook?</a:t>
            </a:r>
            <a:endParaRPr lang="en-US" sz="1900" dirty="0"/>
          </a:p>
        </p:txBody>
      </p:sp>
      <p:sp>
        <p:nvSpPr>
          <p:cNvPr id="7" name="Text 81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Observation; transplant has no role in follicular lymphoma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Auto-HCT with BEAM conditioning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Myeloablative allo-HCT from his sister as the first transplant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Auto-HCT with TBI-based conditioning and rituximab-purged graft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Allo-HCT followed by rituximab maintenance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early relapse in response goes to auto-HCT first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</a:t>
            </a:r>
            <a:endParaRPr lang="en-US" sz="1000" dirty="0"/>
          </a:p>
        </p:txBody>
      </p:sp>
      <p:sp>
        <p:nvSpPr>
          <p:cNvPr id="6" name="Box 82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Auto-HCT with BEAM conditioning</a:t>
            </a:r>
            <a:endParaRPr lang="en-US" sz="2000" dirty="0"/>
          </a:p>
        </p:txBody>
      </p:sp>
      <p:sp>
        <p:nvSpPr>
          <p:cNvPr id="7" name="Text 83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Relapse within 2 years of first-line therapy predicts poor survival and justifies HCT once disease is controlled. Most European authorities choose auto-HCT first (lower toxicity, may cure some) and keep RIC allo-HCT for relapse after auto. BEAM is widely used; purging has no proven role and TBI raises MDS/AML. No maintenance after allo.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decide on alloHCT in high-risk CLL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Schetelig J, Dreger P. EBMT Handbook 8th ed. 2024; Ch. 85</a:t>
            </a:r>
            <a:endParaRPr lang="en-US" sz="1000" dirty="0"/>
          </a:p>
        </p:txBody>
      </p:sp>
      <p:sp>
        <p:nvSpPr>
          <p:cNvPr id="6" name="Text 84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52-year-old woman with CLL carrying a TP53 mutation progresses after 2 years of continuous first-line acalabrutinib. Venetoclax-rituximab now gives a partial response. She has an HCT-CI of 1 and a 10/10 matched unrelated donor. Which recommendation is most appropriate?</a:t>
            </a:r>
            <a:endParaRPr lang="en-US" sz="1900" dirty="0"/>
          </a:p>
        </p:txBody>
      </p:sp>
      <p:sp>
        <p:nvSpPr>
          <p:cNvPr id="7" name="Text 85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Continue venetoclax; consider alloHCT only after venetoclax also fails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Auto-HCT to consolidate the response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Refer now for alloHCT with reduced-intensity conditioning in remission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Commercial CD19 CAR-T cells instead of alloHCT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Myeloablative alloHCT because TP53-mutated CLL needs maximal intensity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TP53 plus one failed inhibitor class is an alloHCT indication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Schetelig J, Dreger P. EBMT Handbook 8th ed. 2024; Ch. 85</a:t>
            </a:r>
            <a:endParaRPr lang="en-US" sz="1000" dirty="0"/>
          </a:p>
        </p:txBody>
      </p:sp>
      <p:sp>
        <p:nvSpPr>
          <p:cNvPr id="6" name="Box 86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Refer now for alloHCT with reduced-intensity conditioning in remission</a:t>
            </a:r>
            <a:endParaRPr lang="en-US" sz="2000" dirty="0"/>
          </a:p>
        </p:txBody>
      </p:sp>
      <p:sp>
        <p:nvSpPr>
          <p:cNvPr id="7" name="Text 87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TP53 aberration or complex karyotype with failure of one pathway-inhibitor class is an alloHCT indication; waiting for double refractoriness is required only without these. Transplant in remission. RIC has the best data and MAC no advantage. Auto-HCT has no role outside Richter; CAR-T only in trials.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4</a:t>
            </a:r>
            <a:endParaRPr lang="en-US" sz="3600" dirty="0"/>
          </a:p>
        </p:txBody>
      </p:sp>
      <p:sp>
        <p:nvSpPr>
          <p:cNvPr id="5" name="Text 88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Martínez C, Bazarbachi A, Sureda A. Classical Hodgkin's lymphoma. In: Sureda A, Corbacioglu S, Greco R, Kröger N, Carreras E, editors. The EBMT Handbook: Hematopoietic Cell Transplantation and Cellular Therapies. 8th ed. Cham: Springer; 2024. p. 799–808. https://doi.org/10.1007/978-3-031-44080-9_89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Serroukh Y, Montoto S. Indolent lymphoma. In: Sureda A, Corbacioglu S, Greco R, Kröger N, Carreras E, editors. The EBMT Handbook: Hematopoietic Cell Transplantation and Cellular Therapies. 8th ed. Cham: Springer; 2024. p. 763–9. https://doi.org/10.1007/978-3-031-44080-9_84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Schetelig J, Dreger P. Chronic lymphocytic leukemia. In: Sureda A, Corbacioglu S, Greco R, Kröger N, Carreras E, editors. The EBMT Handbook: Hematopoietic Cell Transplantation and Cellular Therapies. 8th ed. Cham: Springer; 2024. p. 771–5. https://doi.org/10.1007/978-3-031-44080-9_85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Moskowitz CH, Nademanee A, Masszi T, et al. Brentuximab vedotin as consolidation therapy after autologous stem-cell transplantation in patients with Hodgkin's lymphoma at risk of relapse or progression (AETHERA): a randomised, double-blind, placebo-controlled, phase 3 trial. Lancet. 2015;385:1853–62.</a:t>
            </a:r>
            <a:endParaRPr lang="en-US" sz="1100" dirty="0"/>
          </a:p>
        </p:txBody>
      </p:sp>
      <p:sp>
        <p:nvSpPr>
          <p:cNvPr id="6" name="Text 89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Smith EP, Li H, Friedberg JW, et al. Tandem autologous hematopoietic cell transplantation for patients with primary progressive or recurrent Hodgkin lymphoma: a SWOG and Blood and Marrow Transplant Clinical Trials Network Phase II Trial (SWOG S0410/BMT CTN 0703). Biol Blood Marrow Transplant. 2018;24:700–7.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Bazarbachi A, Boumendil A, Finel H, et al. The outcome of patients with Hodgkin lymphoma and early relapse after autologous stem cell transplant has improved in recent years. Leukemia. 2022;36:1646–53.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Bazarbachi A, Boumendil A, Finel H, et al. Brentuximab vedotin prior to allogeneic stem cell transplantation in Hodgkin lymphoma: a report from the EBMT Lymphoma Working Party. Br J Haematol. 2018;181:86–96.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4</a:t>
            </a:r>
            <a:endParaRPr lang="en-US" sz="3600" dirty="0"/>
          </a:p>
        </p:txBody>
      </p:sp>
      <p:sp>
        <p:nvSpPr>
          <p:cNvPr id="5" name="Text 90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Martínez C, Gayoso J, Canals C, et al. Post-transplantation cyclophosphamide-based haploidentical transplantation as alternative to matched sibling or unrelated donor transplantation for Hodgkin lymphoma: a registry study of the Lymphoma Working Party of the European Society for Blood and Marrow Transplantation. J Clin Oncol. 2017;35:3425–32.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Genadieva-Stavrik S, Boumendil A, Dreger P, et al. Myeloablative versus reduced intensity allogeneic stem cell transplantation for relapsed/refractory Hodgkin's lymphoma in recent years: a retrospective analysis of the Lymphoma Working Party of the European Group for Blood and Marrow Transplantation. Ann Oncol. 2016;27:2251–7.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Chen R, Gopal AK, Smith SE, et al. Five-year survival and durability results of brentuximab vedotin in patients with relapsed or refractory Hodgkin lymphoma. Blood. 2016;128:1562–6.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Gopal AK, Ramchandren R, O'Connor OA, et al. Safety and efficacy of brentuximab vedotin for Hodgkin lymphoma recurring after allogeneic stem cell transplantation. Blood. 2012;120:560–8.</a:t>
            </a:r>
            <a:endParaRPr lang="en-US" sz="1100" dirty="0"/>
          </a:p>
        </p:txBody>
      </p:sp>
      <p:sp>
        <p:nvSpPr>
          <p:cNvPr id="6" name="Text 91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Herbaux C, Gauthier J, Brice P, et al. Efficacy and tolerability of nivolumab after allogeneic transplantation for relapsed Hodgkin lymphoma. Blood. 2017;129:2471–8.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Schouten HC, Qian W, Kvaloy S, et al. High-dose therapy improves progression-free survival and survival in relapsed follicular non-Hodgkin's lymphoma: results from the randomized European CUP trial. J Clin Oncol Off J Am Soc Clin Oncol. 2003;21(21):3918–27.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Pettengell R, Schmitz N, Gisselbrecht C, et al. Rituximab purging and/or maintenance in patients undergoing autologous transplantation for relapsed follicular lymphoma: a prospective randomized trial from the lymphoma working Party of the European Group for blood and marrow transplantation. J Clin Oncol. 2013;31(13):1624–30.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3 of 4</a:t>
            </a:r>
            <a:endParaRPr lang="en-US" sz="3600" dirty="0"/>
          </a:p>
        </p:txBody>
      </p:sp>
      <p:sp>
        <p:nvSpPr>
          <p:cNvPr id="5" name="Text 92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15. Gyan E, Foussard C, Bertrand P, et al. High-dose therapy followed by autologous purged stem cell transplantation and doxorubicin-based chemotherapy in patients with advanced follicular lymphoma: a randomized multicenter study by the GOELAMS with final results after a median follow-up of 9 years. Blood. 2009;113(5):995–1001.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16. Robinson SP, Canals C, Luang JJ, et al. The outcome of reduced intensity allogeneic stem cell transplantation and autologous stem cell transplantation when performed as a first transplant strategy in relapsed follicular lymphoma: an analysis from the lymphoma working party of the EBMT. Bone Marrow Transplant. 2013;48(11):1409–14.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 Sureda A, Zhang M-J, Dreger P, et al. Allogeneic hematopoietic stem cell transplantation for relapsed follicular lymphoma: a combined analysis on behalf of the lymphoma working party of the EBMT and the lymphoma committee of the CIBMTR. Cancer. 2018;124(8):1733–42.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18. Robinson SP, Boumendil A, Finel H, et al. Reduced intensity allogeneic stem cell transplantation for follicular lymphoma relapsing after an autologous transplant achieves durable long-term disease control: an analysis from the lymphoma working party of the EBMT. Ann Oncol. 2016;27(6):1088–94.</a:t>
            </a:r>
            <a:endParaRPr lang="en-US" sz="1100" dirty="0"/>
          </a:p>
        </p:txBody>
      </p:sp>
      <p:sp>
        <p:nvSpPr>
          <p:cNvPr id="6" name="Text 93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19. Hari P, Carreras J, Zhang M-J, et al. Allogeneic transplants in follicular lymphoma: higher risk of disease progression after reduced intensity compared to myeloablative conditioning. Biol Blood Marrow Transplant. 2008;14(2):236–45.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20. Avivi I, Montoto S, Canals C, et al. Matched unrelated donor stem cell transplant in 131 patients with follicular lymphoma: an analysis from the lymphoma working Party of the European Group for blood and marrow transplantation. Br J Haematol. 2009;147(5):719–28.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21. Thomson KJ, Morris EC, Milligan D, et al. T-cell-depleted reduced-intensity transplantation followed by donor leukocyte infusions to promote graft-versus-lymphoma activity results in excellent long-term survival in patients with multiply relapsed follicular lymphoma. J Clin Oncol. 2010;28(23):3695–700.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4 of 4</a:t>
            </a:r>
            <a:endParaRPr lang="en-US" sz="3600" dirty="0"/>
          </a:p>
        </p:txBody>
      </p:sp>
      <p:sp>
        <p:nvSpPr>
          <p:cNvPr id="5" name="Text 94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22. Avivi I, Arcaini L, Ferretti VV, et al. High-dose therapy and autologous stem cell transplantation in marginal zone lymphomas: a retrospective study by the EBMT lymphoma working party and FIL-GITMO. Br J Haematol. 2018;182(6):807–15.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23. Kyriakou C, Canals C, Sibon D, et al. High-dose therapy and autologous stem-cell transplantation in Waldenström macroglobulinemia: the lymphoma working Party of the European Group for blood and marrow transplantation. J Clin Oncol. 2010;28(13):2227–32.</a:t>
            </a:r>
            <a:endParaRPr lang="en-US" sz="1100" dirty="0"/>
          </a:p>
        </p:txBody>
      </p:sp>
      <p:sp>
        <p:nvSpPr>
          <p:cNvPr id="6" name="Text 95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24. van Gelder M, de Wreede LC, Bornhauser M, et al. Long-term survival of patients with CLL after allogeneic transplantation: a report from the European Society for Blood and Marrow Transplantation. Bone Marrow Transplant. 2017;52:372–80.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CHL · RELAPSE AFTER AUTO-HCT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Many agents can control cHL that relapses after auto-HCT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(Table 89.4) · Chen R, et al. 2016</a:t>
            </a:r>
            <a:endParaRPr lang="en-US" sz="1000" dirty="0"/>
          </a:p>
        </p:txBody>
      </p:sp>
      <p:graphicFrame>
        <p:nvGraphicFramePr>
          <p:cNvPr id="28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032504"/>
                <a:gridCol w="6784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Result (Table 89.4)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Brentuximab vedotin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75%, CR 34%; PFS 5.6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Nivolumab (after auto and BV)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69%, CR 16%; median PFS 12–18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Pembrolizumab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69%, CR 22%; PFS 72% at 6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Gemcitabine-based chemotherapy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69–86%, EFS 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Bendamustine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53–78%, CR 29–33%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Tislelizumab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82%, CR 63%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CAR-T cells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ORR 39–100%, CR 50%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Second auto-HCT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NRM 15%; 5-year OS and PFS 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CHL · RELAPSE AFTER ALLO-HCT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Relapse after allo-HCT can respond to DLI, BV or nivolumab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(Table 89.6) · Gopal 2012 · Herbaux 2017</a:t>
            </a:r>
            <a:endParaRPr lang="en-US" sz="1000" dirty="0"/>
          </a:p>
        </p:txBody>
      </p:sp>
      <p:graphicFrame>
        <p:nvGraphicFramePr>
          <p:cNvPr id="29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215384"/>
                <a:gridCol w="66019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Result (Table 89.6)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DLI alone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33–54%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DLI + brentuximab vedotin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69% (CR 54%); PFS 5.5 months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DLI + bendamustine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55% (CR 16%); PFS 6 months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Brentuximab vedotin (Gopal 2012)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50–69%, CR 31–38%; median PFS 7–8 months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Nivolumab (Herbaux 2017)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77–95%, CR 42–55%; 1-year PFS 58%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INDOLENT LYMPHOMA · MZL AND WM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Auto-HCT results in marginal zone lymphoma and Waldenström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 · Avivi I, et al. 2018 · Kyriakou C, et al. 2010</a:t>
            </a:r>
            <a:endParaRPr lang="en-US" sz="1000" dirty="0"/>
          </a:p>
        </p:txBody>
      </p:sp>
      <p:graphicFrame>
        <p:nvGraphicFramePr>
          <p:cNvPr id="30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83864"/>
                <a:gridCol w="3666744"/>
                <a:gridCol w="3666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MZL, auto (EBMT, n = 199)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WM, auto (EBMT, n = 158)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TRM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9%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3.8% at 1 year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Relapse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38%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52%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OS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73%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69%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EFS / PFS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EFS 53%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PFS 40%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Second malignancy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8.4%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99"/>
          <p:cNvSpPr txBox="1"/>
          <p:nvPr/>
        </p:nvSpPr>
        <p:spPr>
          <a:xfrm>
            <a:off x="685800" y="48463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specific allo-HCT reports for either disease, owing to small numbers.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CHL · AUTHORS' ALGORITHM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Ch. 89 algorithm runs from salvage to auto, BV and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(Sect. 89.11, modified from Jethava et al.)</a:t>
            </a:r>
            <a:endParaRPr lang="en-US" sz="1000" dirty="0"/>
          </a:p>
        </p:txBody>
      </p:sp>
      <p:pic>
        <p:nvPicPr>
          <p:cNvPr id="6" name="Figure ch89-figa" descr="Flowchart: primary refractory or first-relapse cHL, second- or third-line chemotherapy, auto-HCT with BV consolidation if high risk; at relapse, BV if BV-naive, otherwise nivolumab, pembrolizumab or trial; responders observe or consider allo-HCT; non-responders receive conventional salvage then consider allo-HC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2731724" cy="3749040"/>
          </a:xfrm>
          <a:prstGeom prst="rect">
            <a:avLst/>
          </a:prstGeom>
        </p:spPr>
      </p:pic>
      <p:sp>
        <p:nvSpPr>
          <p:cNvPr id="7" name="Text 100"/>
          <p:cNvSpPr txBox="1"/>
          <p:nvPr/>
        </p:nvSpPr>
        <p:spPr>
          <a:xfrm>
            <a:off x="7825252" y="2240280"/>
            <a:ext cx="36779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PCT, prospective clinical trial. Allo-HCT in young, fit patients with responding disease and a donor. Grey arrows: either option acceptable after weighing patient and transplant risks.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HCT for Hodgkin lymphoma, indolent lymphoma and CLL</dc:title>
  <dc:subject>PptxGenJS Presentation</dc:subject>
  <dc:creator>Hsieh-Ting Lin, MD</dc:creator>
  <cp:lastModifiedBy>Hsieh-Ting Lin, MD</cp:lastModifiedBy>
  <cp:revision>1</cp:revision>
  <dcterms:created xsi:type="dcterms:W3CDTF">2026-10-09T16:09:07Z</dcterms:created>
  <dcterms:modified xsi:type="dcterms:W3CDTF">2026-10-09T16:09:07Z</dcterms:modified>
</cp:coreProperties>
</file>