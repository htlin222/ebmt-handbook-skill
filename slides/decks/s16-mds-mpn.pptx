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4e42dec-338a-0b5c-b08f-69124bcf10af}">
          <p14:sldIdLst>
            <p14:sldId id="256"/>
            <p14:sldId id="257"/>
          </p14:sldIdLst>
        </p14:section>
        <p14:section name="MDS" id="{c0d87986-8fe3-afff-fc78-b92e1d4f3ca7}">
          <p14:sldIdLst>
            <p14:sldId id="258"/>
            <p14:sldId id="259"/>
            <p14:sldId id="260"/>
            <p14:sldId id="261"/>
            <p14:sldId id="262"/>
          </p14:sldIdLst>
        </p14:section>
        <p14:section name="MDS/MPN" id="{e4b68287-7d28-6216-fe85-9e0cd91a97f2}">
          <p14:sldIdLst>
            <p14:sldId id="263"/>
            <p14:sldId id="264"/>
            <p14:sldId id="265"/>
            <p14:sldId id="266"/>
          </p14:sldIdLst>
        </p14:section>
        <p14:section name="MPN" id="{69155668-c46e-0765-c2a3-ca94f10b0589}">
          <p14:sldIdLst>
            <p14:sldId id="267"/>
            <p14:sldId id="268"/>
            <p14:sldId id="269"/>
            <p14:sldId id="270"/>
            <p14:sldId id="271"/>
          </p14:sldIdLst>
        </p14:section>
        <p14:section name="Board questions" id="{ceb1ea82-9612-97ea-ff7f-fc1eda3eed94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d30837e1-1475-a6d2-64ee-01545aa2f95d}">
          <p14:sldIdLst>
            <p14:sldId id="278"/>
            <p14:sldId id="279"/>
            <p14:sldId id="280"/>
            <p14:sldId id="281"/>
            <p14:sldId id="282"/>
          </p14:sldIdLst>
        </p14:section>
        <p14:section name="Backup" id="{af36777b-0013-e24e-01b5-7bb9fbe5dedd}">
          <p14:sldIdLst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各位早安，第十六週談 MDS、MDS/MPN overlap 和 MPN 的移植，對應 EBMT Handbook 第 74、76、77 章，小兒 MDS 和 JMML 的第 75 章放在 backup。這三類病的共同點是 allo-HCT 幾乎是唯一能治癒的方法，所以考題集中在誰該移植、什麼時候移植。最後一樣用三題練習收尾。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0:30 至 1:15]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今天分四段。MDS 大約八分鐘，從 IPSS-R 開始，接著看移植適應症、conditioning 的 trial、移植後的預後因子和復發處理。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 MDS/MPN，以 CMML 為主，重點是 WHO 2022 的診斷切點和 CPSS。第三段是 MPN，前半講 myelofibrosis 的 DIPSS 和 ruxolitinib，後半講 TKI 時代 CML 什麼時候還需要移植。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最後三題 board-style 題目，各對應一段內容。</a:t>
            </a:r>
          </a:p>
          <a:p>
            <a:pPr>
              <a:spcAft>
                <a:spcPts val="600"/>
              </a:spcAft>
            </a:pPr>
            <a:r>
              <a:rPr lang="en-US" dirty="0"/>
              <a:t>三段的邏輯都一樣，先看疾病本身的風險分數，再看移植本身的風險，兩者平衡後才決定移植時機。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1:15 至 3:15]</a:t>
            </a:r>
          </a:p>
          <a:p>
            <a:pPr>
              <a:spcAft>
                <a:spcPts val="600"/>
              </a:spcAft>
            </a:pPr>
            <a:r>
              <a:rPr lang="en-US" dirty="0"/>
              <a:t>MDS 的預後評估，書上用的是 2012 年的 Revised IPSS，也就是 Table 74.1。三個變數加總：marrow blast、cytogenetics 和 cytopenia。Blast 小於 3% 是 0 分，3 到 4% 是 1 分，5 到 10% 是 2 分，超過 10% 是 3 分。Cytogenetics 從 very good 的 0 分到 very poor 的 4 分，權重最大。</a:t>
            </a:r>
          </a:p>
          <a:p>
            <a:pPr>
              <a:spcAft>
                <a:spcPts val="600"/>
              </a:spcAft>
            </a:pPr>
            <a:r>
              <a:rPr lang="en-US" dirty="0"/>
              <a:t>Very good 是 -Y 和 del(11q)；good 包括 normal karyotype、del(5q)、del(20q)；poor 包括 -7、inv(3) 和三個異常的 complex；超過三個異常就是 very poor。這幾個 karyotype 的歸類考試常拿來當計分的陷阱。</a:t>
            </a:r>
          </a:p>
          <a:p>
            <a:pPr>
              <a:spcAft>
                <a:spcPts val="600"/>
              </a:spcAft>
            </a:pPr>
            <a:r>
              <a:rPr lang="en-US" dirty="0"/>
              <a:t>表上是五個 risk group。Very low 1.5 分以下，median OS 8.8 年；low 2 到 3 分，5.3 年；intermediate 4 到 4.5 分，3 年；high 5 到 6 分，1.6 年；very high 超過 6 分，只剩 0.8 年。右欄是 25% 病人轉成 AML 的時間，從 low 的 10.8 年掉到 very high 的 0.73 年。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移植的 prospective trial 仍沿用舊 IPSS 的 intermediate-2 和 high 當 higher-risk。WHO 和 ICC 2022 已把 SF3B1 和 biallelic TP53 列為獨立 entity，IPSS-M 加入分子資料，但書上說它在移植決策的角色還在驗證。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臨床上算 IPSS-R 時，最容易錯的是 cytopenia 那一欄。書上的定義是 Hb 小於 8 g/dL 算 severe anemia，給 1.5 分；Hb 8 到 10 或血小板小於 50 算 moderate，1 分；血小板小於 100 或 ANC 小於 0.8 算 mild，0.5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3:15 至 4:45]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這張把書上 Figure 74.1 和 74.2 合成一張樹狀圖，前提是病人 fit、有 donor。Unfit 的病人，不論風險高低，都走非移植治療。書上也強調，只要 fit、沒有嚴重 comorbidity、Karnofsky 好，就沒有年齡上限。</a:t>
            </a:r>
          </a:p>
          <a:p>
            <a:pPr>
              <a:spcAft>
                <a:spcPts val="600"/>
              </a:spcAft>
            </a:pPr>
            <a:r>
              <a:rPr lang="en-US" dirty="0"/>
              <a:t>左邊兩支是 IPSS-R very low、low 和 intermediate。沒有 poor-risk features，先用非移植治療，失敗了才移植。一旦出現 poor-risk features，就直接走移植，這是我反白的那一支，下一張會列出定義。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右邊兩支是 poor 和 very poor。Marrow blast 小於 10% 直接移植；10% 以上先做 cytoreduction，再移植。這個 10% 的切點在 MDS/MPN 也會再出現。Key point 也提到，higher-risk 拖延移植會降低長期 relapse-free survival，lower-risk 則可以等到進展再移植。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這裡的 non-transplant strategies 指的是 ELN 和 NCCN 等國際指引的建議，書上沒有細講，考題比較常考的是分流本身。另外 EBMT 的資料顯示，60 歲以上的病人在 2019 年已經占 MDS 移植的 52%，2006 年只有 24%，所以年紀本身不是拒絕移植的理由。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4:45 至 6:15]</a:t>
            </a:r>
          </a:p>
          <a:p>
            <a:pPr>
              <a:spcAft>
                <a:spcPts val="600"/>
              </a:spcAft>
            </a:pPr>
            <a:r>
              <a:rPr lang="en-US" dirty="0"/>
              <a:t>上一張反白的 poor-risk features，定義在這裡，來自 Figure 74.1 的註腳。Poor-risk cytogenetics，持續的 blast 上升，也就是增加超過 50% 或 marrow blast 超過 15%，危及生命的 cytopenia，以及高輸血負擔。</a:t>
            </a:r>
          </a:p>
          <a:p>
            <a:pPr>
              <a:spcAft>
                <a:spcPts val="600"/>
              </a:spcAft>
            </a:pPr>
            <a:r>
              <a:rPr lang="en-US" dirty="0"/>
              <a:t>輸血負擔的數字最常考，每個月超過 2 個單位、持續 6 個月。題目常給一個 low-risk 的病人每月輸 3 袋，問該不該移植，答案是該。如果 karyotype 和 blast 都沒有問題，書上建議做 molecular testing 來找隱藏的高風險。</a:t>
            </a:r>
          </a:p>
          <a:p>
            <a:pPr>
              <a:spcAft>
                <a:spcPts val="600"/>
              </a:spcAft>
            </a:pPr>
            <a:r>
              <a:rPr lang="en-US" dirty="0"/>
              <a:t>下面兩列是證據。三個依 donor availability 分組的 prospective trial，higher-risk MDS 有 donor 的人存活期延長。Lower-risk 的 decision analysis 則顯示 upfront 移植沒有好處，延後到進展再做比較好。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這張表也可以反過來用。病房遇到 lower-risk 的病人，每次回診都檢查一次這五個條件，只要有一個成立，就該開始找 donor，而不是等到 blast 升高才轉介。International expert panel 2017 年和 ASTCT 2023 年的建議都是這個方向。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移植前也要記得 NRM 的代價，書上一再強調利弊要平衡。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6:15 至 7:45]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強度在 MDS 有兩個 randomized trial。EBMT 的 RICMAC 收 120 位 MDS 或 secondary AML，FLU/BU 的 RIC 對 CY/BU 的 MAC，OS 和 RFS 都沒有差別。BMT CTN 收 272 位，MDS subgroup 的 OS 一樣，但 RIC 復發較多。</a:t>
            </a:r>
          </a:p>
          <a:p>
            <a:pPr>
              <a:spcAft>
                <a:spcPts val="600"/>
              </a:spcAft>
            </a:pPr>
            <a:r>
              <a:rPr lang="en-US" dirty="0"/>
              <a:t>CIBMTR 用 Disease Risk Index 分析 4387 位 40 到 65 歲的病人。Low 和 intermediate DRI 用 RIC 的 DFS 比較差，hazard ratio 1.19；high 和 very high DRI 則不受強度影響。Craddock 2021 的 phase 3 比較 RIC 和 sequential regimen，結果也相似。</a:t>
            </a:r>
          </a:p>
          <a:p>
            <a:pPr>
              <a:spcAft>
                <a:spcPts val="600"/>
              </a:spcAft>
            </a:pPr>
            <a:r>
              <a:rPr lang="en-US" dirty="0"/>
              <a:t>所以實務上依 fitness 選，MAC 只給 fit、通常較年輕的病人。移植前治療方面，marrow blast 超過 10% 建議先 cytoreduction，證據等級低；BMT-AZA 研究顯示 azacitidine bridge 可行。對治療 refractory 的病人預後差。</a:t>
            </a:r>
          </a:p>
          <a:p>
            <a:pPr>
              <a:spcAft>
                <a:spcPts val="600"/>
              </a:spcAft>
            </a:pPr>
            <a:r>
              <a:rPr lang="en-US" dirty="0"/>
              <a:t>這幾個 trial 的訊息一致，RIC 的 NRM 較低、復發較多，兩者抵消後存活差不多。考題如果問 MDS 病人 MAC 能不能改善 OS，依書上的資料答案是否定的；但 low 或 intermediate DRI 的年輕病人，MAC 的 DFS 比較好。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7:45 至 9:15]</a:t>
            </a:r>
          </a:p>
          <a:p>
            <a:pPr>
              <a:spcAft>
                <a:spcPts val="600"/>
              </a:spcAft>
            </a:pPr>
            <a:r>
              <a:rPr lang="en-US" dirty="0"/>
              <a:t>移植後預後由疾病、病人和移植三方面決定。疾病端是 poor 或 very poor karyotype，包括 monosomal karyotype。突變方面，biallelic TP53、ASXL1、RUNX1 和 RAS pathway 都是獨立的不良因子。病人端是年紀和 HCT-CI。EBMT 的 transplant-specific score 加進 donor、performance status、recipient CMV、blast 和血小板，預測力比之前的系統好。</a:t>
            </a:r>
          </a:p>
          <a:p>
            <a:pPr>
              <a:spcAft>
                <a:spcPts val="600"/>
              </a:spcAft>
            </a:pPr>
            <a:r>
              <a:rPr lang="en-US" dirty="0"/>
              <a:t>Donor 方面，MSD 和 MUD 都可以；haplo 結果不錯，但 NRM 較高，還追不上 matched donor。MDS 病人和他的兄弟姊妹通常都老，所以書上特別提 donor 年紀，年輕 donor 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復發後，azacitidine 在 blast 低、移植後超過 6 個月復發的人效果較好，加 DLI 沒有改變結果。法國資料顯示只有接受 DLI 或第二次移植的人能長期存活，32% 比 6%。預防性 azacitidine 的 phase 3 則是陰性。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書上也提到，高復發風險的病人，例如 biallelic TP53 或 complex karyotype，可以依 MRD 做 pre-emptive 的 azacitidine 或 DLI。Meta-analysis 顯示預防性 HMA 有存活好處，但唯一的 phase 3 是陰性，所以目前不是標準。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9:15 至 11:15]</a:t>
            </a:r>
          </a:p>
          <a:p>
            <a:pPr>
              <a:spcAft>
                <a:spcPts val="600"/>
              </a:spcAft>
            </a:pPr>
            <a:r>
              <a:rPr lang="en-US" dirty="0"/>
              <a:t>MDS/MPN 是同時有 dysplasia 和 proliferation 的一群病，WHO 2022 分成四種。最常見的是 CMML，年發生率每十萬人 0.3 到 0.4，median age 74 到 79 歲。</a:t>
            </a:r>
          </a:p>
          <a:p>
            <a:pPr>
              <a:spcAft>
                <a:spcPts val="600"/>
              </a:spcAft>
            </a:pPr>
            <a:r>
              <a:rPr lang="en-US" dirty="0"/>
              <a:t>CMML 的血液切點是 monocyte 絕對值至少 0.5 × 10⁹/L，而且占白血球 10% 以上，blast 小於 20%。底下的註腳要注意，monocyte 介於 0.5 到 1.0 之間時，還需要有 clonal 的 cytogenetic 或 molecular 異常。骨髓要排除 CML 和 tyrosine kinase fusion。WBC 13 是 MD-CMML 和 MP-CMML 的分界，這個 13 會在下一張的 CPSS 再出現。現在依 blast 只分 CMML-1 和 CMML-2 兩型。</a:t>
            </a:r>
          </a:p>
          <a:p>
            <a:pPr>
              <a:spcAft>
                <a:spcPts val="600"/>
              </a:spcAft>
            </a:pPr>
            <a:r>
              <a:rPr lang="en-US" dirty="0"/>
              <a:t>MDS/MPN with neutrophilia 就是以前的 atypical CML，immature myeloid cells 至少 10%，basophil 小於 2%，monocyte 小於 10%，而且沒有 BCR-ABL1 和 PDGFRA、PDGFRB、FGFR1、PCM1-JAK2 重組。和 CML、CMML 的鑑別就靠這幾個數字。</a:t>
            </a:r>
          </a:p>
          <a:p>
            <a:pPr>
              <a:spcAft>
                <a:spcPts val="600"/>
              </a:spcAft>
            </a:pPr>
            <a:r>
              <a:rPr lang="en-US" dirty="0"/>
              <a:t>SF3B1-T 是貧血加血小板至少 450，有 SF3B1 突變，沒有的話要 ring sideroblast 至少 15%。其餘不符合的歸入 NOS。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移植的考量上，這張表的意義在於分辨哪一種 overlap。四種的預後差很多，下一張的 CPSS 只適用於 CMML，其他三種各有自己的分數。考題常給一張 CBC 和骨髓報告，要你先分類，再判斷要不要移植，所以這幾個切點值得花時間背熟。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 dysplasia 的定義是某個 lineage 至少 10% 的細胞有形態異常，blast 則包括 myeloblast、monoblast 和 promonocyte。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11:15 至 12:45]</a:t>
            </a:r>
          </a:p>
          <a:p>
            <a:pPr>
              <a:spcAft>
                <a:spcPts val="600"/>
              </a:spcAft>
            </a:pPr>
            <a:r>
              <a:rPr lang="en-US" dirty="0"/>
              <a:t>CMML 的預後系統很多，移植適應症用的是 CPSS 和 CPSS-Mol。CPSS 有四個變數：WBC 至少 13 給 1 分，CMML-2 給 1 分，CMML-specific karyotype intermediate 給 1 分、high 給 2 分，輸血依賴 1 分。Low 是 0 分，median OS 72 個月；intermediate-1 是 1 分，31 個月；intermediate-2 是 2 到 3 分，13 個月；high 是 4 到 5 分，只有 5 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CPSS-Mol 把 CMML-2 換成 marrow blast 至少 5%，再把 karyotype 換成 genetic risk group，ASXL1、NRAS、SETBP1 各 1 分，RUNX1 2 分。</a:t>
            </a:r>
          </a:p>
          <a:p>
            <a:pPr>
              <a:spcAft>
                <a:spcPts val="600"/>
              </a:spcAft>
            </a:pPr>
            <a:r>
              <a:rPr lang="en-US" dirty="0"/>
              <a:t>Karyotype 的分類要背，normal 和 isolated -Y 是 low，trisomy 8、complex 和 chromosome 7 異常是 high。考題通常給完整的 CBC 和 karyotype，要你自己算 CPSS 再決定要不要移植。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GFM 和 Mayo 的 MMM 也列在書上的 Table 76.2，兩者都把 ASXL1 放進去，但移植門檻的建議是以 CPSS 為準。實際算分時，WBC 13 這個切點和 MD、MP-CMML 的分界相同，可以一起記。CPSS-Mol 需要 NGS，結果出來之前可以先用 CPSS 決定要不要找 donor。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12:45 至 14:15]</a:t>
            </a:r>
          </a:p>
          <a:p>
            <a:pPr>
              <a:spcAft>
                <a:spcPts val="600"/>
              </a:spcAft>
            </a:pPr>
            <a:r>
              <a:rPr lang="en-US" dirty="0"/>
              <a:t>Key point 的說法是，沒有重大 comorbidity 的話，allo-HCT 建議用在 75 歲以內的三種病人：CPSS 或 CPSS-Mol 高風險的 CMML、MDS/MPN with neutrophilia，以及 MDS/MPN-NOS。CMML 的門檻是 intermediate-2 和 high，來自 2017 年的 international expert panel，2022 年移植和不移植的比較也支持這個建議。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MDS/MPN with neutrophilia 整體 median survival 大約 24 個月，NOS 也很差，有 TP53 突變的更應該移植。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反白的是例外。SF3B1-T 是 overlap 裡預後最好的，median survival 大約 6 年，治療比照 lower-risk MDS 和 MPN，主要問題是血栓。只有 refractory cytopenia、高風險遺傳變化或轉化時才考慮移植。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要注意的是，這些建議幾乎都來自回溯性資料，沒有 prospective trial。CMML 移植後的長期存活大約三到四成，TRM 和復發各占約三成，所以病人的選擇很重要。MDS/MPN with neutrophilia 在 65 歲以下非常少見，EBMT 42 位病人的 5 年 OS 是 51%，年輕、EBMT risk score 低的人結果較好。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14:15 至 15:45]</a:t>
            </a:r>
          </a:p>
          <a:p>
            <a:pPr>
              <a:spcAft>
                <a:spcPts val="600"/>
              </a:spcAft>
            </a:pPr>
            <a:r>
              <a:rPr lang="en-US" dirty="0"/>
              <a:t>移植前的處理和 MDS 類似，blast 小於 10% 的高風險病人直接移植。CMML-2 或 blast 超過 10%，可以用 HMA 或 AML-like induction 當 bridge，HMA 的反應率大約 40 到 50%。白血球一直升或有器官浸潤，例如脾腫大，hydroxyurea 是首選。除了移植，沒有治療能改變病程，所以移植前治療的目標是控制症狀，不是追求緩解。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依年紀和 HCT-CI。小於 60 歲、HCT-CI 小於 3，可以用 MAC，例如 BU-CY、TBF、TTF 或 FB4，特別是 proliferative 的 CMML。年紀大、有 comorbidity，或移植前已經緩解，選 RIC。兩個最大的 CMML 系列裡 MAC 和 RIC 各半，結果沒有差別。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幹細胞來源沒有定論，PBSC 可能減少 graft failure 和復發。Autologous HCT 不建議，因為收不到 polyclonal 的幹細胞。</a:t>
            </a:r>
          </a:p>
          <a:p>
            <a:pPr>
              <a:spcAft>
                <a:spcPts val="600"/>
              </a:spcAft>
            </a:pPr>
            <a:r>
              <a:rPr lang="en-US" dirty="0"/>
              <a:t>TBI 方面，有報告指出 6 到 8 Gy 分次 TBI 加 FLU 在 advanced CMML 結果較好，但只是單一報告。移植後復發是 MDS/MPN 移植失敗的主因，所以移植前的 blast 控制和移植後的監測同樣重要。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15:45 至 17:15]</a:t>
            </a:r>
          </a:p>
          <a:p>
            <a:pPr>
              <a:spcAft>
                <a:spcPts val="600"/>
              </a:spcAft>
            </a:pPr>
            <a:r>
              <a:rPr lang="en-US" dirty="0"/>
              <a:t>Primary 或 post-ET/PV myelofibrosis 是 Ph-negative MPN 裡預後最差的，median survival 大約 6 年，但從不到 2 年到超過 15 年都有。PV 和 ET 本身不需要移植，除非進展成 myelofibrosis 或 AML。</a:t>
            </a:r>
          </a:p>
          <a:p>
            <a:pPr>
              <a:spcAft>
                <a:spcPts val="600"/>
              </a:spcAft>
            </a:pPr>
            <a:r>
              <a:rPr lang="en-US" dirty="0"/>
              <a:t>IPSS 和 DIPSS 用同樣五個因子：年紀超過 65、constitutional symptoms、Hb 小於 100 g/L、白血球超過 25、周邊血 blast 至少 1%。差別在 DIPSS 的貧血給 2 分，這是考試最愛的一點。</a:t>
            </a:r>
          </a:p>
          <a:p>
            <a:pPr>
              <a:spcAft>
                <a:spcPts val="600"/>
              </a:spcAft>
            </a:pPr>
            <a:r>
              <a:rPr lang="en-US" dirty="0"/>
              <a:t>IPSS 的 intermediate-2 是 2 分，DIPSS 是 3 到 4 分，median OS 都是 4 年。High 在 IPSS 是 3 到 5 分，2.3 年；DIPSS 是 5 到 6 分，1.5 年。DIPSS-plus 再加血小板、輸血和 karyotype，MIPSS70 則加入突變。</a:t>
            </a:r>
          </a:p>
          <a:p>
            <a:pPr>
              <a:spcAft>
                <a:spcPts val="600"/>
              </a:spcAft>
            </a:pPr>
            <a:r>
              <a:rPr lang="en-US" dirty="0"/>
              <a:t>DIPSS 的 D 是 dynamic，可以在病程中任何時間重新計算，這也是它被用來決定移植時機的原因。DIPSS 的 intermediate-1 是 1 到 2 分，median 14.2 年，low 則是 not reached。網路上有 DIPSS 和 DIPSS-plus 的計算器，書上也附了連結，臨床上直接用就好。</a:t>
            </a:r>
          </a:p>
          <a:p>
            <a:pPr>
              <a:spcAft>
                <a:spcPts val="600"/>
              </a:spcAft>
            </a:pPr>
            <a:r>
              <a:rPr lang="en-US" dirty="0"/>
              <a:t>Post-ET/PV myelofibrosis 另有專用的 MYSEC 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17:15 至 18:45]</a:t>
            </a:r>
          </a:p>
          <a:p>
            <a:pPr>
              <a:spcAft>
                <a:spcPts val="600"/>
              </a:spcAft>
            </a:pPr>
            <a:r>
              <a:rPr lang="en-US" dirty="0"/>
              <a:t>EBMT 和 ELN 的 consensus 建議，70 歲以下、預估 median survival 小於 5 年的 myelofibrosis 病人做 allo-HCT，也就是 IPSS 或 DIPSS intermediate-2 和 high。這是比較移植和不移植病人得出的結論，但資料來自 ruxolitinib 之前的年代。</a:t>
            </a:r>
          </a:p>
          <a:p>
            <a:pPr>
              <a:spcAft>
                <a:spcPts val="600"/>
              </a:spcAft>
            </a:pPr>
            <a:r>
              <a:rPr lang="en-US" dirty="0"/>
              <a:t>Intermediate-1 不是一律不做。如果有額外的高風險特徵，包括 ASXL1 突變、周邊血 blast 超過 2%、refractory 輸血依賴的貧血，或 DIPSS-plus 定義的不良 karyotype，也可以考慮移植。Low risk 沒有移植適應症，這是我依 5 年門檻推論的 speaker's summary。</a:t>
            </a:r>
          </a:p>
          <a:p>
            <a:pPr>
              <a:spcAft>
                <a:spcPts val="600"/>
              </a:spcAft>
            </a:pPr>
            <a:r>
              <a:rPr lang="en-US" dirty="0"/>
              <a:t>決定之後還要用 MTSS 評估移植本身的風險，細節放在 backup。最大的不良因子是年紀大和 HLA-mismatched donor。</a:t>
            </a:r>
          </a:p>
          <a:p>
            <a:pPr>
              <a:spcAft>
                <a:spcPts val="600"/>
              </a:spcAft>
            </a:pPr>
            <a:r>
              <a:rPr lang="en-US" dirty="0"/>
              <a:t>病人本身的因素，年紀最重要，comorbidity 和 geriatric assessment 也會影響結果，但還沒有在 myelofibrosis 專門研究。所以面對 60 多歲、DIPSS intermediate-2 的病人，要同時看疾病風險和 MTSS，再和病人討論移植的時機。題目若給 72 歲的病人，要記得 70 歲這個年齡上限。</a:t>
            </a:r>
          </a:p>
          <a:p>
            <a:pPr>
              <a:spcAft>
                <a:spcPts val="600"/>
              </a:spcAft>
            </a:pPr>
            <a:r>
              <a:rPr lang="en-US" dirty="0"/>
              <a:t>Key point 也提醒，splenectomy 或脾臟放射可以用在脾臟很大的病人。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18:45 至 20:15]</a:t>
            </a:r>
          </a:p>
          <a:p>
            <a:pPr>
              <a:spcAft>
                <a:spcPts val="600"/>
              </a:spcAft>
            </a:pPr>
            <a:r>
              <a:rPr lang="en-US" dirty="0"/>
              <a:t>移植前，ELN 和 EBMT 建議至少用 ruxolitinib 2 個月，改善症狀、縮小脾臟，然後在 conditioning 前慢慢減量，避免 rebound。反白這一步最常被考成突然停藥。資料也顯示，對 ruxolitinib 有反應時去移植，比等到失敗才移植好。脾臟很大時可以考慮 splenectomy 或脾臟放射。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的 MAC 和 RIC 回溯比較結果相似，因為病人年紀大，RIC 大約占三分之二。CBT 的 graft failure 高，haplo 的 5 年存活只有 38%。</a:t>
            </a:r>
          </a:p>
          <a:p>
            <a:pPr>
              <a:spcAft>
                <a:spcPts val="600"/>
              </a:spcAft>
            </a:pPr>
            <a:r>
              <a:rPr lang="en-US" dirty="0"/>
              <a:t>大約 90% 病人帶有 JAK2V617F、CALR 或 MPL，可以用 qPCR 或 digital PCR 追 MRD。Day 180 還沒有分子緩解，臨床復發的機會明顯較高，這時可以給 DLI。骨髓纖維化也會快速消退，消得越快預後越好。</a:t>
            </a:r>
          </a:p>
          <a:p>
            <a:pPr>
              <a:spcAft>
                <a:spcPts val="600"/>
              </a:spcAft>
            </a:pPr>
            <a:r>
              <a:rPr lang="en-US" dirty="0"/>
              <a:t>GVHD prophylaxis 和 donor 選擇的順序，可以參考書上的 Figure 77.1，donor 優先序是 MSD，再來 MUD，最後才是 mismatched、haplo 或 cord。移植前如果有 iron overload，也建議先用 chelation 處理。</a:t>
            </a:r>
          </a:p>
          <a:p>
            <a:pPr>
              <a:spcAft>
                <a:spcPts val="600"/>
              </a:spcAft>
            </a:pPr>
            <a:r>
              <a:rPr lang="en-US" dirty="0"/>
              <a:t>脾臟的處理目的是改善 engraftment 和 graft function，因為 splenomegaly 本身就是這個病的特徵，也會影響移植後的血球恢復。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20:15 至 21:45]</a:t>
            </a:r>
          </a:p>
          <a:p>
            <a:pPr>
              <a:spcAft>
                <a:spcPts val="600"/>
              </a:spcAft>
            </a:pPr>
            <a:r>
              <a:rPr lang="en-US" dirty="0"/>
              <a:t>TKI 出現之後，CML 的移植退到第二、第三甚至第四線。但 quiescent 的白血病幹細胞不靠 BCR-ABL 存活，TKI 打不到，所以仍有一部分病人會抗藥或復發。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Key point 列出移植的時機。Chronic phase 在第三或第四線 TKI 失敗，或帶有 T315I 突變，建議移植；T315I 只有 ponatinib 和 asciminib 有效。在 TKI 治療下從 CP 進展到 AP，要馬上找 donor，重新取得 TKI 反應後移植。Blast crisis 先用 TKI 加 induction 回到 CP，再移植。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Disease phase 的影響數十年不變。早期 IBMTR 資料的 3 年存活，CP 63%，AP 36%，BC 只有 12%。EBMT 新資料顯示之前用過幾種 TKI 不影響結果，phase 和 performance status 才重要，所以重點是別讓病人進展。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移植前的評估要看 BCR-ABL 的下降速度。用 RQ-PCR 在 3 個月和 6 個月追蹤，下降太慢的病人預後差，第一年內就能找出需要移植的人。和 imatinib 相比，second-generation TKI 第一年的 complete cytogenetic remission 大約 80% 比 65%。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21:45 至 23:15]</a:t>
            </a:r>
          </a:p>
          <a:p>
            <a:pPr>
              <a:spcAft>
                <a:spcPts val="600"/>
              </a:spcAft>
            </a:pPr>
            <a:r>
              <a:rPr lang="en-US" dirty="0"/>
              <a:t>移植後 BCR-ABL1 要長期追蹤，因為有人超過 15 年才復發。前 3 個月仍呈 PCR 陽性很常見，尤其 RIC 或 T-cell depletion 的病人，所以 molecular relapse 的定義只用在移植 4 個月以後。</a:t>
            </a:r>
          </a:p>
          <a:p>
            <a:pPr>
              <a:spcAft>
                <a:spcPts val="600"/>
              </a:spcAft>
            </a:pPr>
            <a:r>
              <a:rPr lang="en-US" dirty="0"/>
              <a:t>符合任一條即可。BCR-ABL/ABL1 超過 0.02%，連續三次、每次至少間隔 4 週；或三次持續上升，最後兩次超過 0.02%；或超過 0.05%，兩次、間隔至少 4 週。0.02 和 0.05 這兩個數字要分清楚。</a:t>
            </a:r>
          </a:p>
          <a:p>
            <a:pPr>
              <a:spcAft>
                <a:spcPts val="600"/>
              </a:spcAft>
            </a:pPr>
            <a:r>
              <a:rPr lang="en-US" dirty="0"/>
              <a:t>CP 復發給 DLI，60 到 90% 能再緩解，逐步加量可降低 GVHD。EBMT 328 位的 5 年存活 69%，DLI 相關死亡 11%，出現 GVHD 的人死亡風險高 2.3 倍。TKI maintenance 在 CIBMTR 資料裡沒有好處。</a:t>
            </a:r>
          </a:p>
          <a:p>
            <a:pPr>
              <a:spcAft>
                <a:spcPts val="600"/>
              </a:spcAft>
            </a:pPr>
            <a:r>
              <a:rPr lang="en-US" dirty="0"/>
              <a:t>TKI 和 DLI 也可以合併使用，但先後順序還沒有定論。EBMT 431 位移植後復發的病人用 TKI 加或不加 DLI，只有 42% 達到某種程度的緩解，5 年 OS 60%，可能是因為一半以上原本就是在 advanced phase 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DLI 後 GVHD 的危險因子是第一次 DLI 的 T-cell 劑量、移植到 DLI 的間隔和 donor 類型。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23:15 至 24:00]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第一題。54 歲男性，IPSS-R low risk 的 MDS，normal karyotype，marrow blast 2%。已經用過非移植治療，過去 8 個月每個月仍要輸 3 單位紅血球。身體狀況好，有 HLA-matched sibling。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 A 是繼續輸血等進展，B 是現在轉介移植，C 是 lower-risk 不做移植，D 是一年後再算 IPSS-R，E 是等 blast 超過 10%。</a:t>
            </a:r>
          </a:p>
          <a:p>
            <a:pPr>
              <a:spcAft>
                <a:spcPts val="600"/>
              </a:spcAft>
            </a:pPr>
            <a:r>
              <a:rPr lang="en-US" dirty="0"/>
              <a:t>他目前沒有 blast 增加，karyotype 也正常。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題目的關鍵在每月輸血量和持續時間，請對照前面 poor-risk features 那張表。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24:00 至 25:00]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B。每個月超過 2 單位、持續 6 個月，就是 Figure 74.1 的 poor-risk feature。這位病人每月 3 單位、已經 8 個月，fit 又有 donor，應該直接走移植。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主要陷阱是 C。Lower-risk MDS 不做 upfront 移植是對的，但前提是沒有 poor-risk features。A 和 D 也是一樣的錯，把等待當成所有 lower-risk 病人的答案。E 把 10% 這個切點用錯地方，它決定 higher-risk 病人移植前要不要 cytoreduction，不是移植的適應症。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臨床上這位病人還要先找 donor，sibling 的年紀也要考慮，因為年輕 donor 結果較好。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這類題目的設計，就是把 IPSS-R low 這個標籤放在前面，引導大家選等待。真正決定答案的是後面的輸血量和時間。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25:00 至 25:45]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第二題請大家自己算分。63 歲女性，CMML-2，白血球 18，monocyte 4.0，normal karyotype，需要輸紅血球。HCT-CI 1 分，有 matched unrelated donor。問她的 CPSS 分組和建議的處理。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 low risk 觀察，B 是 intermediate-1 用 hydroxyurea，C 是 intermediate-2 轉介 allo-HCT，D 是 high risk 只做緩和治療，E 是 intermediate-2 做 autologous HCT。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 monocyte 和白血球兩個數字都要用到。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這題需要用 CPSS 的四個變數一個一個算分，karyotype 要先套用 CMML-specific 的分類，再對應到四個 risk group。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25:45 至 26:45]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C。白血球至少 13 得 1 分，CMML-2 得 1 分，normal karyotype 是 low，0 分，輸血依賴 1 分，總共 3 分，落在 intermediate-2 的 2 到 3 分。Expert panel 把 CMML 的移植限在 intermediate-2 和 high，她 63 歲、HCT-CI 低，正好符合。</a:t>
            </a:r>
          </a:p>
          <a:p>
            <a:pPr>
              <a:spcAft>
                <a:spcPts val="600"/>
              </a:spcAft>
            </a:pPr>
            <a:r>
              <a:rPr lang="en-US" dirty="0"/>
              <a:t>E 的分組對，但 autologous HCT 在 MDS/MPN 不建議，因為收不到 polyclonal 的幹細胞。B 是算錯分數最常見的結果，通常是漏算了 CMML-2 或輸血依賴。她是 CMML-2，移植前可以討論先用 HMA。</a:t>
            </a:r>
          </a:p>
          <a:p>
            <a:pPr>
              <a:spcAft>
                <a:spcPts val="600"/>
              </a:spcAft>
            </a:pPr>
            <a:r>
              <a:rPr lang="en-US" dirty="0"/>
              <a:t>算分時白血球 18 同時代表 MP-CMML，增生明顯，conditioning 上也比較傾向 MAC。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另外，monocyte 4.0 遠超過 1.0，所以診斷不需要額外的 clonal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26:45 至 27:30]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第三題是 myelofibrosis。58 歲男性，primary myelofibrosis，有夜間盜汗和體重減輕，Hb 92 g/L，白血球 30，周邊血 blast 0.5%，脾臟明顯腫大，有 matched sibling donor。哪一個計畫最符合 EBMT/ELN 的建議？</a:t>
            </a:r>
          </a:p>
          <a:p>
            <a:pPr>
              <a:spcAft>
                <a:spcPts val="600"/>
              </a:spcAft>
            </a:pPr>
            <a:r>
              <a:rPr lang="en-US" dirty="0"/>
              <a:t>先算 DIPSS，再看 ruxolitinib 該怎麼搭配移植。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題目沒有給 driver mutation，算分只用 DIPSS 的五個臨床變數就夠。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 A 是 ruxolitinib 用到失敗才移植，B 是至少用兩個月再慢慢減量後移植，C 是 conditioning 當天突然停藥，D 是 intermediate-1 不移植，E 是 splenectomy 後做 autologous。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27:30 至 28:30]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B。年紀 58，不到 65，0 分；constitutional symptoms 1 分；Hb 小於 100 在 DIPSS 是 2 分；白血球超過 25 是 1 分；blast 小於 1%，0 分。總共 4 分，intermediate-2，70 歲以下建議移植。D 用了 IPSS 的思維，忘了貧血在 DIPSS 是 2 分。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是主要陷阱。Ruxolitinib 用來改善症狀、縮小脾臟，但資料顯示在有反應時移植，比等失敗再移植好。C 錯在突然停藥，會有 rebound，要在 conditioning 前慢慢減量。</a:t>
            </a:r>
          </a:p>
          <a:p>
            <a:pPr>
              <a:spcAft>
                <a:spcPts val="600"/>
              </a:spcAft>
            </a:pPr>
            <a:r>
              <a:rPr lang="en-US" dirty="0"/>
              <a:t>E 也不對，myelofibrosis 只能靠 allo-HCT 治癒，脾臟處理是移植前的輔助。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這題同時考計分和移植前的藥物處理，兩個步驟缺一不可。如果脾臟對 ruxolitinib 沒有反應又非常大，才考慮 splenectomy 或脾臟放射。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MTSS 是 myelofibrosis 的移植專用分數，結合血小板、白血球、Karnofsky、年紀、driver mutation、ASXL1 和 donor 類型。Low risk 的 5 年存活 90%，very high 只有 34%，NRM 57%。書上的表沒有印年紀的分數，需要核對原文。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TO CONFIRM BEFORE PRESENTING: Table 77.1 lists 'Age ≥ 57 years' without a point value; check Gagelmann 2019 for the age points before quoting.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EBMT 的 BU/FLU RIC prospective study 收 103 位，1 年 NRM 16%，5 年 OS 67%，更新後 8 年 OS 65%。MPD-RC 的 MEL/FLU 研究顯示 unrelated donor 的 NRM 高達 59%，存活只有 32%。Haplo 和 cord 的結果都較差。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CMML 移植後的長期存活大約三到四成，TRM 和復發各占三成左右。MDS/MPN with neutrophilia 的 EBMT 資料 5 年 OS 51%。有 chronic GVHD 的 CMML 病人復發較少，間接證明 graft-versus-CMML 效應。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小兒 MDS 依 blast、karyotype 和骨髓細胞密度分流。Monosomy 7 要盡早用 MAC 移植；hypocellular、karyotype 正常的 RCC 用 RIC。JMML 大約八成需要移植，標準是 BU/CY/MEL，年紀 2 歲以上、HbF 高、有次發突變和高甲基化的復發風險高。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HCT for MDS, MDS/MPN and MPN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16 · Ch. 74, 76, 77 (support: Ch. 75)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MDS/MPN · MPN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disease groups, one question: who needs allo-HCT and when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Ch. 74 · Ch. 76 · Ch. 77, EBMT Handbook 8th ed. 2024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MDS: who, when and how to transplant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IPSS-R, indication tree, conditioning trials, outcome and relapse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MDS/MPN: CMML and the rare overlaps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2022 criteria, CPSS, indications, bridging and conditioning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6.5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MPN: myelofibrosis and CML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DIPSS, indication, ruxolitinib and spleen, CML phase, BCR-ABL1 relapse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Lower-risk MDS, CMML scoring, myelofibrosis work-up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RISK SCORING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IPSS-R sums blasts, karyotype and cytopenias into five groups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1865376"/>
                <a:gridCol w="2798064"/>
                <a:gridCol w="3355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IPSS-R group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Points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Median OS (years)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Time to 25% AML (years)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Very low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≤ 1.5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8.8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Not given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2–3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5.3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10.8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Intermediate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4–4.5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5–6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1.6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Very high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&gt; 6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0.73</a:t>
                      </a:r>
                      <a:endParaRPr lang="en-US" sz="20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Points: blasts 0–3, karyotype 0–4, cytopenia 0–1.5 (Table 74.1, Greenberg 2012)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INDICATION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Higher-risk MDS goes to transplant; lower-risk MDS waits for triggers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sp>
        <p:nvSpPr>
          <p:cNvPr id="6" name="Box 22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Fit MDS patient with a donor, by IPSS-R category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23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Low / intermediate</a:t>
            </a:r>
            <a:endParaRPr lang="en-US" sz="1400" dirty="0"/>
          </a:p>
        </p:txBody>
      </p:sp>
      <p:sp>
        <p:nvSpPr>
          <p:cNvPr id="11" name="Box 24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poor-risk features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25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Non-transplant therapy; HCT on failure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26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Low / intermediate</a:t>
            </a:r>
            <a:endParaRPr lang="en-US" sz="1400" dirty="0"/>
          </a:p>
        </p:txBody>
      </p:sp>
      <p:sp>
        <p:nvSpPr>
          <p:cNvPr id="16" name="Box 27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Poor-risk features present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28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Proceed to allo-HCT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29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Poor / very poor</a:t>
            </a:r>
            <a:endParaRPr lang="en-US" sz="1400" dirty="0"/>
          </a:p>
        </p:txBody>
      </p:sp>
      <p:sp>
        <p:nvSpPr>
          <p:cNvPr id="21" name="Box 30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Marrow blasts &lt; 10%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1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Upfront allo-HCT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32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Poor / very poor</a:t>
            </a:r>
            <a:endParaRPr lang="en-US" sz="1400" dirty="0"/>
          </a:p>
        </p:txBody>
      </p:sp>
      <p:sp>
        <p:nvSpPr>
          <p:cNvPr id="26" name="Box 33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Marrow blasts ≥ 10%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34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Cytoreduce, then allo-HCT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POOR-RISK FEATURES AND EVIDENCE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Poor-risk features move lower-risk MDS onto the transplant path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graphicFrame>
        <p:nvGraphicFramePr>
          <p:cNvPr id="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745736"/>
                <a:gridCol w="60716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Chapter detail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Poor-risk cytogenetics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IPSS-R poor or very poor karyotype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Persistent blast increase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Rise &gt; 50%, or &gt; 15% marrow blasts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Life-threatening cytopenias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Listed as a transplant trigger in lower-risk MDS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 transfusion burden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2 units per month for 6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Failure of usual treatment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Expert-panel trigger for HCT (de Witte 2017)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adverse karyotype or blast rise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Molecular testing should be considered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Donor-availability trials: Robin 2015,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Kröger 2021, Nakamura 2021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Higher-risk MDS with a donor: gain in life expectancy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Upfront HCT in lower-risk MDS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(Cutler 2004; Koreth 2013)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benefit: defer until progression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CONDITIONING AND BRIDGING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Conditioning intensity changes relapse more than survival in MDS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graphicFrame>
        <p:nvGraphicFramePr>
          <p:cNvPr id="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569464"/>
                <a:gridCol w="3849624"/>
                <a:gridCol w="439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RICMAC, EBMT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(Kröger 2017)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120, MDS or sAML;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FLU/BU RIC vs CY/BU MAC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difference in OS or RFS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BMT CTN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(Scott 2017)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272, MDS or AML;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randomized RIC vs MAC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 subgroup: same OS,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 relapse after RIC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CIBMTR DRI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(Bejanyan 2021)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4387, age 40–65;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registry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Low/int DRI: RIC lower DFS (HR 1.19);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high/very high DRI: similar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Craddock 2021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3: RIC vs sequential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Similar outcomes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BMT-AZA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(Voso 2017)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Prospective, higher-risk MDS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Azacitidine bridge to HCT feasible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Practice: MAC only for fit, generally younger patients; cytoreduce if marrow blasts &gt; 10% (low-level evidence)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 · OUTCOME AND RELAPSE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TP53, karyotype and donor shape outcome; relapse needs cellular therapy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graphicFrame>
        <p:nvGraphicFramePr>
          <p:cNvPr id="8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986784"/>
                <a:gridCol w="68305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Domain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Finding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Disease and patient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Poor/monosomal karyotype, higher-risk MDS; age, HCT-CI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Mutations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Biallelic TP53, ASXL1, RUNX1, RAS pathway: independent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score (Gagelmann 2019)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Age, donor, PS, karyotype, recipient CMV, blasts, PLT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MSD and MUD both suitable; haplo has excess NRM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Relapse on AZA (Craddock 2016)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181: better with low blasts, &gt; 6 months post-HCT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DLI or 2nd HCT (Guièze 2016)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Long-term survival 32% vs 6% with chemotherapy alone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AZA maintenance (Oran 2020)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3: no benefit over observation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MDS/MPN · WHO 2022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WHO 2022 defines four MDS/MPN entities by blood and marrow findings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graphicFrame>
        <p:nvGraphicFramePr>
          <p:cNvPr id="9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3849624"/>
                <a:gridCol w="38496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Entity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Blood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Marrow / genetics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Monocytes ≥ 0.5 × 10⁹/L and ≥ 10%;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blasts &lt; 20%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Blasts &lt; 20%; dysplasia ≥ 1 lineage;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CML, no TK fusion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MD- vs MP-CMML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WBC &lt; 13 vs ≥ 13 × 10⁹/L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CMML-1 and CMML-2 by blast 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MDS/MPN with neutrophilia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(ex-atypical CML)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IMC ≥ 10% of WBC; basophils &lt; 2%;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monocytes &lt; 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Dysgranulopoiesis; no BCR-ABL1,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PDGFRA/B, FGFR1, PCM1-JAK2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MDS/MPN-SF3B1-T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Anaemia; platelets ≥ 450 × 10⁹/L;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blasts &lt; 1%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SF3B1 mutation (or ≥ 15% RS);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marrow blasts &lt; 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MDS/MPN-NOS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Blasts &lt; 20%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Overlap features; other criteria not met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0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Monocytes 0.5–1.0 × 10⁹/L: a clonal cytogenetic or molecular abnormality is also required (Table 76.1)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MDS/MPN · CMML PROGNOSIS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CPSS and CPSS-Mol stratify CMML and set the transplant threshold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graphicFrame>
        <p:nvGraphicFramePr>
          <p:cNvPr id="10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203704"/>
                <a:gridCol w="4764024"/>
                <a:gridCol w="38496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Variables [points]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Risk group: score (median OS, months)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CPSS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(Such 2013)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WBC ≥ 13 [1]; CMML-2 [1];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 karyotype int/high [1/2]; TD [1]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 0 (72); Int-1 1 (31);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Int-2 2–3 (13); High 4–5 (5)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CPSS-Mol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(Elena 2016)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WBC ≥ 13 [1]; BM blasts ≥ 5% [1];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genetic risk group [0–3]; TD [1]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 0 (NR); Int-1 1 (64);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Int-2 2–3 (37); High ≥ 4 (18)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 karyotype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Low: normal, isolated −Y;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high: +8, complex, chromosome 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Intermediate: all other abnormalities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Genetic risk group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 karyotype + ASXL1, NRAS, SETBP1 [1]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 RUNX1 [2]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Feeds CPSS-Mol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2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TD, red cell transfusion dependency; WBC in × 10⁹/L; NR, not reached (Table 76.2)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MDS/MPN · INDICATION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Allo-HCT is for high-risk CMML, MDS/MPN-N and NOS, rarely SF3B1-T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sp>
        <p:nvSpPr>
          <p:cNvPr id="6" name="Box 43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Fit MDS/MPN patient without major comorbidity, up to age 75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44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CMML</a:t>
            </a:r>
            <a:endParaRPr lang="en-US" sz="1400" dirty="0"/>
          </a:p>
        </p:txBody>
      </p:sp>
      <p:sp>
        <p:nvSpPr>
          <p:cNvPr id="11" name="Box 45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CPSS int-2 or high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46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Allo-HCT recommended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47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MDS/MPN-N</a:t>
            </a:r>
            <a:endParaRPr lang="en-US" sz="1400" dirty="0"/>
          </a:p>
        </p:txBody>
      </p:sp>
      <p:sp>
        <p:nvSpPr>
          <p:cNvPr id="16" name="Box 48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Dismal course (median ~24 months)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49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Allo-HCT recommended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50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MDS/MPN-NOS</a:t>
            </a:r>
            <a:endParaRPr lang="en-US" sz="1400" dirty="0"/>
          </a:p>
        </p:txBody>
      </p:sp>
      <p:sp>
        <p:nvSpPr>
          <p:cNvPr id="21" name="Box 51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Dismal course; TP53 mutation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52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consider allo-HCT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53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MDS/MPN-SF3B1-T</a:t>
            </a:r>
            <a:endParaRPr lang="en-US" sz="1400" dirty="0"/>
          </a:p>
        </p:txBody>
      </p:sp>
      <p:sp>
        <p:nvSpPr>
          <p:cNvPr id="26" name="Box 54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Best prognosis (median ~6 years)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55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for refractory cytopenia or transformation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MDS/MPN · BRIDGING AND CONDITIONING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MDS/MPN bridging depends on blasts; conditioning on age and HCT-CI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graphicFrame>
        <p:nvGraphicFramePr>
          <p:cNvPr id="12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178808"/>
                <a:gridCol w="66385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Decision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Chapter guidance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High risk, marrow blasts &lt; 10%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Upfront allo-HCT preferred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CMML-2 or marrow blasts &gt; 10%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HMA (ORR 40–50%) or AML-like induction as a bridge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Rising WBC or organ infiltration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Hydroxyurea is the drug of choice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Age &lt; 60 and HCT-CI &lt; 3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MAC: BU-CY, TBF, TTF or FB4; esp. proliferative CMML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Older, comorbid, or in remission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RIC: BU/FLU, TREO10/FLU, reduced TBF/TTF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Stem cell source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Open; PBSC may cut graft failure and relapse, esp. RIC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Autologous HCT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recommended: no polyclonal harvest possible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MYELOFIBROSIS · RISK SCORING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DIPSS doubles the weight of anaemia in myelofibrosis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graphicFrame>
        <p:nvGraphicFramePr>
          <p:cNvPr id="13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843784"/>
                <a:gridCol w="28437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Adverse factor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IPSS points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DIPSS points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Age &gt; 65 years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Constitutional symptoms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Hb &lt; 100 g/L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WBC &gt; 25 × 10⁹/L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Peripheral blood blasts ≥ 1%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Intermediate-2: points (median OS)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 (4 y)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3–4 (4 y)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High: points (median OS)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3–5 (2.3 y)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5–6 (1.5 y)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8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DIPSS-plus adds platelets, transfusion and karyotype; MIPSS70 adds mutations (Table 77.1)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MYELOFIBROSIS · INDICATION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EBMT/ELN offers allo-HCT when expected survival is under five years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sp>
        <p:nvSpPr>
          <p:cNvPr id="6" name="Box 59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Primary or post-ET/PV myelofibrosis, age &lt; 70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60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DIPSS int-2 / high</a:t>
            </a:r>
            <a:endParaRPr lang="en-US" sz="1400" dirty="0"/>
          </a:p>
        </p:txBody>
      </p:sp>
      <p:sp>
        <p:nvSpPr>
          <p:cNvPr id="11" name="Box 61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Survival &lt; 5 years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62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Recommend allo-HCT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63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DIPSS int-1</a:t>
            </a:r>
            <a:endParaRPr lang="en-US" sz="1400" dirty="0"/>
          </a:p>
        </p:txBody>
      </p:sp>
      <p:sp>
        <p:nvSpPr>
          <p:cNvPr id="16" name="Box 64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ASXL1 mutation or &gt; 2% PB blasts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5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Consider allo-HCT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6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DIPSS int-1</a:t>
            </a:r>
            <a:endParaRPr lang="en-US" sz="1400" dirty="0"/>
          </a:p>
        </p:txBody>
      </p:sp>
      <p:sp>
        <p:nvSpPr>
          <p:cNvPr id="21" name="Box 67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Refractory TD anaemia or bad karyotype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8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Consider allo-HCT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69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DIPSS low</a:t>
            </a:r>
            <a:endParaRPr lang="en-US" sz="1400" dirty="0"/>
          </a:p>
        </p:txBody>
      </p:sp>
      <p:sp>
        <p:nvSpPr>
          <p:cNvPr id="26" name="Box 70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high-risk features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71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indication (speaker's summary)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MYELOFIBROSIS · PERI-TRANSPLANT CARE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Myelofibrosis transplant care runs from ruxolitinib to MRD-guided DLI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sp>
        <p:nvSpPr>
          <p:cNvPr id="6" name="Box 72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Ruxolitinib ≥ 2 months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73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Taper before conditioning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74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RIC in about two-thirds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75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MRD: JAK2, CALR, MPL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76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DLI for molecular relapse</a:t>
            </a:r>
            <a:endParaRPr lang="en-US" sz="1500" dirty="0"/>
          </a:p>
        </p:txBody>
      </p:sp>
      <p:sp>
        <p:nvSpPr>
          <p:cNvPr id="15" name="Text 77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Very large spleen: splenectomy or splenic irradiation. Marrow fibrosis regresses fully or nearly in ~60% by day +100, ~90% by day +180.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CML · INDICATION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 the TKI era, CML is transplanted after TKI failure or progression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graphicFrame>
        <p:nvGraphicFramePr>
          <p:cNvPr id="16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745736"/>
                <a:gridCol w="60716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Situation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Chapter recommendation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Chronic phase, responding to TKI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 transplant; monitor BCR-ABL1 by RQ-PCR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CP, failing third- or fourth-line TKI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Allo-HCT recommended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CP with T315I mutation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Allo-HCT recommended; only ponatinib or asciminib act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Progression CP → AP on TKI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Find a donor now; HCT after a new TKI response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Blast crisis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TKI ± induction to regain CP, then allo-HCT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3-year survival by phase (Speck 1984)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CP 63%, AP 36%, BC 12%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79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EBMT: number of prior TKIs did not affect outcome; phase and performance status did (Chalandon 2023)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CML · POST-TRANSPLANT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BCR-ABL1 monitoring defines relapse, and DLI rescues most CP relapses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graphicFrame>
        <p:nvGraphicFramePr>
          <p:cNvPr id="17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361688"/>
                <a:gridCol w="64556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Molecular relapse (a)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BCR-ABL/ABL1 &gt; 0.02% in 3 samples ≥ 4 weeks apart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Molecular relapse (b)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Rising ratio in 3 samples, last two &gt; 0.02%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Molecular relapse (c)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0.05% in 2 samples ≥ 4 weeks apart (Kaeda 2006)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DLI for relapse in CP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Remission in 60–90%; escalating doses cut 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DLI cohort (Chalandon 2010)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328: 5-y OS 69%; DLI mortality 11%; GVHD 38%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GVHD after DLI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2.3-fold higher risk of death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TKI maintenance (DeFilipp 2020)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CIBMTR: 5-y LFS 42% vs 44% (p = 0.65)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8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Applies ≥ 4 months after HCT; any one of (a)–(c) defines molecular relapse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lower-risk MDS with a heavy transfusion need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sp>
        <p:nvSpPr>
          <p:cNvPr id="6" name="Text 82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54-year-old man has MDS with IPSS-R low risk, a normal karyotype and 2% marrow blasts. Despite non-transplant therapy he has needed 3 units of red cells every month for the past 8 months. He is fit, without comorbidity, and has an HLA-matched sibling. What is the most appropriate next step?</a:t>
            </a:r>
            <a:endParaRPr lang="en-US" sz="1900" dirty="0"/>
          </a:p>
        </p:txBody>
      </p:sp>
      <p:sp>
        <p:nvSpPr>
          <p:cNvPr id="7" name="Text 83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Continue transfusions until he progresses to higher-risk MDS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Refer for allogeneic HCT now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Avoid HCT, because lower-risk MDS does not benefit from transplant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Repeat IPSS-R in 12 months and transplant if it reaches high risk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Wait until marrow blasts exceed 10%, then transplant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transfusion burden is a poor-risk feature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Robin M, Gurnari C. EBMT Handbook 8th ed. 2024; Ch. 74</a:t>
            </a:r>
            <a:endParaRPr lang="en-US" sz="1000" dirty="0"/>
          </a:p>
        </p:txBody>
      </p:sp>
      <p:sp>
        <p:nvSpPr>
          <p:cNvPr id="6" name="Box 84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Refer for allogeneic HCT now</a:t>
            </a:r>
            <a:endParaRPr lang="en-US" sz="2000" dirty="0"/>
          </a:p>
        </p:txBody>
      </p:sp>
      <p:sp>
        <p:nvSpPr>
          <p:cNvPr id="7" name="Text 85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More than 2 units per month for 6 months is a poor-risk feature (Fig. 74.1). A fit lower-risk patient with such a feature and a donor should proceed to HCT. Deferral (A, C, D) is right only without poor-risk features; 10% blasts is the threshold for pre-HCT cytoreduction, not for indication (E).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score this CMML and choose the approach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sp>
        <p:nvSpPr>
          <p:cNvPr id="6" name="Text 86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63-year-old woman has CMML-2 with WBC 18 × 10⁹/L, monocytes 4.0 × 10⁹/L, a normal karyotype and red cell transfusion dependence. Her HCT-CI is 1 and she has a matched unrelated donor. What is her CPSS risk group and the recommended approach?</a:t>
            </a:r>
            <a:endParaRPr lang="en-US" sz="1900" dirty="0"/>
          </a:p>
        </p:txBody>
      </p:sp>
      <p:sp>
        <p:nvSpPr>
          <p:cNvPr id="7" name="Text 87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Low risk; observation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Intermediate-1; hydroxyurea and observation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Intermediate-2; refer for allogeneic HCT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High risk; palliative care only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Intermediate-2; autologous HCT after an HMA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CPSS 3 points is intermediate-2, an HCT indication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sp>
        <p:nvSpPr>
          <p:cNvPr id="6" name="Box 88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Intermediate-2; refer for allogeneic HCT</a:t>
            </a:r>
            <a:endParaRPr lang="en-US" sz="2000" dirty="0"/>
          </a:p>
        </p:txBody>
      </p:sp>
      <p:sp>
        <p:nvSpPr>
          <p:cNvPr id="7" name="Text 89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CPSS: WBC ≥ 13 (1) + CMML-2 (1) + normal karyotype (0) + transfusion dependence (1) = 3, intermediate-2. The expert panel limits allo-HCT in CMML to CPSS int-2 and high risk. Autologous HCT is not recommended in MDS/MPN (E).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plan the transplant pathway in myelofibrosis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sp>
        <p:nvSpPr>
          <p:cNvPr id="6" name="Text 90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58-year-old man with primary myelofibrosis has night sweats and weight loss. Hb is 92 g/L, WBC is 30 × 10⁹/L and blood blasts are 0.5%. His spleen is markedly enlarged. He has a matched sibling donor. Which plan best follows EBMT/ELN guidance?</a:t>
            </a:r>
            <a:endParaRPr lang="en-US" sz="1900" dirty="0"/>
          </a:p>
        </p:txBody>
      </p:sp>
      <p:sp>
        <p:nvSpPr>
          <p:cNvPr id="7" name="Text 91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Ruxolitinib alone; transplant only after it fails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Ruxolitinib for ≥ 2 months, taper before conditioning, then allo-HCT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Ruxolitinib stopped abruptly on the day conditioning starts, then allo-HCT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No allo-HCT, because he is DIPSS intermediate-1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Autologous HCT after splenectomy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DIPSS int-2, ruxolitinib first, then a tapered switch to 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sp>
        <p:nvSpPr>
          <p:cNvPr id="6" name="Box 92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Ruxolitinib for ≥ 2 months, taper before conditioning, then allo-HCT</a:t>
            </a:r>
            <a:endParaRPr lang="en-US" sz="2000" dirty="0"/>
          </a:p>
        </p:txBody>
      </p:sp>
      <p:sp>
        <p:nvSpPr>
          <p:cNvPr id="7" name="Text 93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DIPSS: symptoms (1) + Hb &lt; 100 g/L (2) + WBC &gt; 25 (1) = 4, intermediate-2: allo-HCT is recommended below age 70. Use ruxolitinib for ≥ 2 months and taper before conditioning to avoid rebound (C). Outcomes are better when transplanted while responding than after failure (A).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5</a:t>
            </a:r>
            <a:endParaRPr lang="en-US" sz="3600" dirty="0"/>
          </a:p>
        </p:txBody>
      </p:sp>
      <p:sp>
        <p:nvSpPr>
          <p:cNvPr id="5" name="Text 94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Robin M, Gurnari C. Myelodysplastic neoplasms/syndromes (MDS). In: The EBMT Handbook, 8th ed. Springer; 2024. pp. 669–677. doi:10.1007/978-3-031-44080-9_74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Niemeyer CM, Strahm B. Allogeneic hematopoietic cell transplantation in pediatric MDS including refractory cytopenia of childhood and in juvenile myelomonocytic leukemia. In: The EBMT Handbook, 8th ed. Springer; 2024. pp. 679–683. doi:10.1007/978-3-031-44080-9_75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Onida F, Chalandon Y. Myelodysplastic/myeloproliferative neoplasms. In: The EBMT Handbook, 8th ed. Springer; 2024. pp. 685–694. doi:10.1007/978-3-031-44080-9_76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Kröger N, McLornan DP, Chalandon Y. Myeloproliferative neoplasms. In: The EBMT Handbook, 8th ed. Springer; 2024. pp. 695–705. doi:10.1007/978-3-031-44080-9_77</a:t>
            </a:r>
            <a:endParaRPr lang="en-US" sz="1100" dirty="0"/>
          </a:p>
        </p:txBody>
      </p:sp>
      <p:sp>
        <p:nvSpPr>
          <p:cNvPr id="6" name="Text 95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Greenberg PL, Tuechler H, Schanz J, Sanz G, Garcia-Manero G, Sole F, Bennett JM, et al. Revised international prognostic scoring system for myelodysplastic syndromes. Blood. 2012;120(12):2454–65.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Robin M, Porcher R, Adès L, Raffoux E, Michallet M, François S, Cahn J-Y, et al. HLA-matched allogeneic stem cell transplantation improves outcome of higher risk myelodysplastic syndrome a prospective study on behalf of SFGM-TC and GFM. Leukemia. 2015;29(7):1496–501. https://doi.org/10.1038/leu.2015.37.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Kröger N, Sockel K, Wolschke C, Bethge W, Schlenk RF, Wolf D, Stadler M, et al. Comparison between 5-azacytidine treatment and allogeneic stem-cell transplantation in elderly patients with advanced mds according to donor availability (VidazaAllo Study). J Clin Oncol. 2021;39(30):3318–27. https://doi.org/10.1200/JCO.20.02724.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Nakamura R, Saber W, Martens MJ, Ramirez A, Scott B, Oran B, Leifer E, et al. Biologic assignment trial of reduced-intensity hematopoietic cell transplantation based on donor availability in patients 50–75 years of age with advanced myelodysplastic syndrome. J Clin Oncol. 2021;39(30):3328–39. https://doi.org/10.1200/JCO.20.03380.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5</a:t>
            </a:r>
            <a:endParaRPr lang="en-US" sz="3600" dirty="0"/>
          </a:p>
        </p:txBody>
      </p:sp>
      <p:sp>
        <p:nvSpPr>
          <p:cNvPr id="5" name="Text 96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Cutler CS, Lee SJ, Greenberg P, Deeg HJ, Perez WS, Anasetti C, Bolwell BJ, et al. A decision analysis of allogeneic bone marrow transplantation for the myelodysplastic syndromes: delayed transplantation for low-risk myelodysplasia is associated with improved outcome. Blood. 2004;104(2):579–85.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Koreth J, Pidala J, Perez WS, Deeg HJ, Garcia-Manero G, Malcovati L, Cazzola M, et al. Role of reduced-intensity conditioning allogeneic hematopoietic stem-cell transplantation in older patients with de novo myelodysplastic syndromes: an international collaborative decision analysis. J Clin Oncol. 2013;31(21):2662–70.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Kröger N, Iacobelli S, Franke G-N, Platzbecker U, Uddin R, Hübel K, Scheid C, et al. Dose-reduced versus standard conditioning followed by allogeneic stem-cell transplantation for patients with myelodysplastic syndrome: a prospective randomized phase III study of the EBMT (RICMAC trial). J Clin Oncol Off J Am Soc Clin Oncol. 2017;35(19):2157–64. https://doi.org/10.1200/JCO.2016.70.7349.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Scott BL, Pasquini MC, Logan BR, Juan W, Devine SM, Porter DL, Maziarz RT, et al. Myeloablative versus reduced-intensity hematopoietic cell transplantation for acute myeloid leukemia and myelodysplastic syndromes. J Clin Oncol Off J Am Soc Clin Oncol. 2017;35(11):1154–61. https://doi.org/10.1200/JCO.2016.70.7091.</a:t>
            </a:r>
            <a:endParaRPr lang="en-US" sz="1100" dirty="0"/>
          </a:p>
        </p:txBody>
      </p:sp>
      <p:sp>
        <p:nvSpPr>
          <p:cNvPr id="6" name="Text 97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Bejanyan N, Zhang M, Bo-Subait K, Brunstein C, Wang H, Warlick ED, Giralt S, et al. Myeloablative conditioning for allogeneic transplantation results in superior disease-free survival for acute myelogenous leukemia and myelodysplastic syndromes with low/intermediate but not high disease risk index: a center for international blood and marrow transplant research study. Transplant Cell Ther. 2021;27(1):68.e1–9. https://doi.org/10.1016/j.bbmt.2020.09.026.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Craddock C, Jackson A, Loke J, Siddique S, Hodgkinson A, Mason J, Andrew G, et al. Augmented reduced-intensity regimen does not improve postallogeneic transplant outcomes in acute Myeloid Leukemia. J Clin Oncol. 2021;39(7):768–78. https://doi.org/10.1200/JCO.20.02308.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Voso MT, Leone G, Piciocchi A, Fianchi L, Santarone S, Candoni A, Criscuolo M, et al. Feasibility of allogeneic stem-cell transplantation after Azacitidine bridge in higher-risk myelodysplastic syndromes and low blast count acute myeloid leukemia: results of the BMT-AZA prospective study. Ann Oncol. 2017;28(7):1547–53. https://doi.org/10.1093/annonc/mdx154.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Gagelmann N, Eikema D-J, Stelljes M, Beelen D, de Wreede L, Mufti G, Knelange NS, et al. Optimized EBMT transplant-specific risk score in myelodysplastic syndromes after allogeneic stem-cell transplantation. Haematologica. 2019;104(5):929–36. https://doi.org/10.3324/haematol.2018.200808.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3 of 5</a:t>
            </a:r>
            <a:endParaRPr lang="en-US" sz="3600" dirty="0"/>
          </a:p>
        </p:txBody>
      </p:sp>
      <p:sp>
        <p:nvSpPr>
          <p:cNvPr id="5" name="Text 98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Craddock C, Labopin M, Robin M, Finke J, Chevallier P, Yakoub-Agha I, Bourhis JH, et al. Clinical activity of Azacitidine in patients who relapse after allogeneic stem cell transplantation for acute myeloid leukemia. Haematologica. 2016;101(7):879–83. https://doi.org/10.3324/haematol.2015.140996.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18. Guièze R, Damaj G, Pereira B, Robin M, Chevallier P, Michallet M, Vigouroux S, et al. Management of Myelodysplastic Syndrome Relapsing after allogeneic hematopoietic stem cell transplantation: a study by the French Society of Bone Marrow Transplantation and Cell Therapies. Biol Blood Marrow Transplant. 2016;22(2):240–7. https://doi.org/10.1016/j.bbmt.2015.07.037.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19. Oran B, de Lima M, Garcia-Manero G, Thall PF, Lin R, Popat U, Alousi AM, et al. A phase 3 randomized study of 5-Azacitidine maintenance vs observation after transplant in high-risk AML and MDS patients. Blood Adv. 2020;4(21):5580–8. https://doi.org/10.1182/bloodadvances.2020002544.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20. Such E, Germing U, Malcovati L, et al. Development and validation of a prognostic scoring system for patients with chronic myelomonocytic leukemia. Blood. 2013;121:3005–15.</a:t>
            </a:r>
            <a:endParaRPr lang="en-US" sz="1100" dirty="0"/>
          </a:p>
        </p:txBody>
      </p:sp>
      <p:sp>
        <p:nvSpPr>
          <p:cNvPr id="6" name="Text 99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21. Elena C, Gall A, Such E, et al. Integrating clinical features and genetic lesions in the risk assessment of patients with chronic myelomonocytic leukemia. Blood. 2016;128:1408–17.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22. de Witte T, Bowen D, Robin M, et al. Allogeneic hematopoietic stem cell transplantation for MDS and CMML: recommendations from an international expert panel. Blood. 2017;129:1753–62.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23. Kroger NM, Deeg JH, Olavarria E, et al. Indication and management of allogeneic stem cell transplantation in primary myelofibrosis: a consensus process by an EBMT/ELN international working group. Leukemia. 2015a;29:2126–33.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24. Kröger N, Sbianchi G, Sirait T, et al. Impact of prior JAK-inhibitor therapy with ruxolitinib on outcome after allogeneic hematopoietic stem cell transplantation for myelofibrosis: a study of the CMWP of EBMT. Leukemia. 2021;35:3551–60.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4 of 5</a:t>
            </a:r>
            <a:endParaRPr lang="en-US" sz="3600" dirty="0"/>
          </a:p>
        </p:txBody>
      </p:sp>
      <p:sp>
        <p:nvSpPr>
          <p:cNvPr id="5" name="Text 100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25. Speck B, Bortin MM, Champlin R, et al. Allogeneic bone-marrow transplantation for chronic myelogenous leukaemia. Lancet. 1984;1:665–8.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26. Chalandon Y, Sbianchi G, Gras L, et al. Allogeneic hematopoietic cell transplantation in patients with chronic phase chronic myleloid leukemia in the era of third generation tyrosine kinase inhibitors: a study by the CMWP of the EBMT. Am J Hematol. 2023;98:112–21.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27. Kaeda J, O'Shea D, Szydlo RM, et al. Serial measurement of BCR-ABL transcripts in the peripheral blood after allogeneic stem cell transplantation for chronic myeloid leukemia: an attempt to define patients who may not require further therapy. Blood. 2006;107:4171–6.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28. Chalandon Y, Passweg JR, Schmid C, et al. Outcome of patients developing GVHD after DLI given to treat CML relapse: a study by the chronic leukemia working party of the EBMT. Bone Marrow Transplant. 2010;45:558–64.</a:t>
            </a:r>
            <a:endParaRPr lang="en-US" sz="1100" dirty="0"/>
          </a:p>
        </p:txBody>
      </p:sp>
      <p:sp>
        <p:nvSpPr>
          <p:cNvPr id="6" name="Text 101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29. DeFilipp Z, Anchetta R, Liu Y, et al. Maintenance tyrosine kinase inhibitors following allogeneic hematopoietic stem cell transplantation for chronic myelogenous leukemia: a center for international blood and marrow transplant research study. Biol Blood Marrow Transplant. 2020;26:472–9.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30. Gagelmann N, Ditschkowski M, Bogdanov R, et al. Comprehensive clinical-molecular transplant scoring system for myelofibrosis undergoing stem cell transplantation. Blood. 2019b;133:2233–42.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31. Kroger N, Holler E, Kobbe G, et al. Allogeneic stem cell transplantation after reduced-intensity conditioning in patients with myelofibrosis: a prospective, multicenter study of the chronic leukemia working Party of the European Group for blood and marrow transplantation. Blood. 2009;114:5264–70.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32. Rondelli D, Goldberg JD, Isola L, et al. MPD-RC 101 prospective study of reduced-intensity allogeneic hematopoietic stem cell transplantation in patients with myelofibrosis. Blood. 2014;124:1183–91.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5 of 5</a:t>
            </a:r>
            <a:endParaRPr lang="en-US" sz="3600" dirty="0"/>
          </a:p>
        </p:txBody>
      </p:sp>
      <p:sp>
        <p:nvSpPr>
          <p:cNvPr id="5" name="Text 10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33. Raj K, Olavarria E, Eikema D-J, et al. Family mismatched donor transplantation for myelofibrosis: a retrospective analysis of the EBMT chronic leukaemia working party. Blood. 2016;128:4655.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34. Robin M, Giannotti F, Deconinck E, et al. Unrelated cord blood transplantation for patients with primary or secondary myelofibrosis. Biol Blood Marrow Transplant. 2014;20:1841–6.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35. Symeonidis A, van Biezen A, de Wreede L, et al. Achievement of complete remission predicts outcome of allogeneic haematopoietic stem cell transplantation in patients with chronic myelomonocytic leukaemia. A study of the chronic malignancies working Party of the European Group for blood and marrow transplantation. Br J Haematol. 2015;171:239–46.</a:t>
            </a:r>
            <a:endParaRPr lang="en-US" sz="1100" dirty="0"/>
          </a:p>
        </p:txBody>
      </p:sp>
      <p:sp>
        <p:nvSpPr>
          <p:cNvPr id="6" name="Text 10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36. Onida F, de Wreede LC, van Biezen A, et al. Allogeneic stem cell transplantation in patients with atypical chronic myeloid leukaemia: a retrospective study from the chronic malignancies working Party of the European Society for blood and marrow transplantation. Br J Haematol. 2017;177:759–65.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37. Rovó A, Gras L, Piebenbroek B et al. Outcomes of CMML patients undergoing allo-HCT are significantly worse compared to MDS - A study of the CMWP of the EBMT. American Journal of Hematology. 2023. In press.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MYELOFIBROSIS · TRANSPLANT-SPECIFIC SCORE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MTSS predicts survival and NRM after allo-HCT for myelofibrosis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graphicFrame>
        <p:nvGraphicFramePr>
          <p:cNvPr id="29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5696712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MTSS factor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Points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Platelets &lt; 150 × 10⁹/L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WBC &gt; 25 × 10⁹/L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Karnofsky &lt; 90%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 ≥ 57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Listed; points not printed [verify: 1 point]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Non-CALR/MPL driver genotype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ASXL1 mutation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HLA-mismatched unrelated 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105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5-y OS / NRM: low (0–2) 90% / 10%; intermediate (3–4) 77% / 22%; high (5) 50% / 36%; very high (≥ 6) 34% / 57%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MYELOFIBROSIS · TRANSPLANT 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RIC trials show cure is possible, but donor type drives NRM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Kröger N, et al. EBMT Handbook 8th ed. 2024; Ch. 77</a:t>
            </a:r>
            <a:endParaRPr lang="en-US" sz="1000" dirty="0"/>
          </a:p>
        </p:txBody>
      </p:sp>
      <p:graphicFrame>
        <p:nvGraphicFramePr>
          <p:cNvPr id="30" name="Tab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569464"/>
                <a:gridCol w="3666744"/>
                <a:gridCol w="45811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Study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Design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RIC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(Kroger 2009)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103, BU/FLU RIC,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median age 55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1-y NRM 16%; 3-y relapse 22%;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 PFS 51%, OS 67%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update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Median follow-up 60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8-y OS 65%, stable plateau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MPD-RC 101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(Rondelli 2014)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 = 66, MEL/FLU RIC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OS sibling 75% vs URD 32%;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NRM 22% vs 59%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Haplo with PTCy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(Raj 2016)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registry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5-year survival only 38%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Cord blood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(Robin 2014)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Retrospective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 risk of graft failure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Disease phase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Accelerated vs blast phase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AP similar to CP; blast phase worse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MDS/MPN · TRANSPLANT OUTCOMES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Relapse dominates transplant failure across MDS/MPN series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Onida F, Chalandon Y. EBMT Handbook 8th ed. 2024; Ch. 76</a:t>
            </a:r>
            <a:endParaRPr lang="en-US" sz="1000" dirty="0"/>
          </a:p>
        </p:txBody>
      </p:sp>
      <p:graphicFrame>
        <p:nvGraphicFramePr>
          <p:cNvPr id="31" name="Table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696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Entity / study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CMML, EBMT (Symeonidis 2015), n = 513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4-y OS 33%, DFS 27%; TRM 41%, relapse 32%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CMML, Rovó 2023, n = 1466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 OS 37%, PFS 31%; TRM 32%, relapse 37%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MDS/MPN-N, EBMT (Onida 2017), n = 42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5-y OS 51%, RFS 36%; relapse 40%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MDS/MPN-NOS series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Median OS 12.4–33 months across four series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Graft-versus-CMML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 relapse with chronic GVHD; DLI works at low burden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Post-HCT options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HMA ± DLI pre-emptive or maintenance: of interest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PAEDIATRIC MDS AND JMML · CH. 75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Children with MDS or JMML follow blast count, karyotype and genotype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Niemeyer CM, Strahm B. EBMT Handbook 8th ed. 2024; Ch. 75</a:t>
            </a:r>
            <a:endParaRPr lang="en-US" sz="1000" dirty="0"/>
          </a:p>
        </p:txBody>
      </p:sp>
      <p:graphicFrame>
        <p:nvGraphicFramePr>
          <p:cNvPr id="32" name="Table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745736"/>
                <a:gridCol w="60716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Chapter guidance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RCC with −7, del(7q) or ≥ 2 aberrations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 (TREO-based); transplant soon; OS ~90%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Hypocellular RCC, normal karyotype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RIC (TREO/FLU); BM graft; TT/FLU OS 94%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Mild RCC, no −7, ANC &gt; 1 × 10⁹/L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Watch and observe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Primary MDS-EB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 BU/CY/MEL: 5-y OS 63%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GATA2 or SAMD9/SAMD9L germline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Same outcome when stratified; screen family donors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JMML: ~80% need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Azacitidine pre-HCT; BU/CY/MEL; BM source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JMML relapse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 ≥ 2 y, HbF ≥ 15%, secondary mutations, hypermethylation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HCT for MDS, MDS/MPN and MPN</dc:title>
  <dc:subject>PptxGenJS Presentation</dc:subject>
  <dc:creator>Hsieh-Ting Lin, MD</dc:creator>
  <cp:lastModifiedBy>Hsieh-Ting Lin, MD</cp:lastModifiedBy>
  <cp:revision>1</cp:revision>
  <dcterms:created xsi:type="dcterms:W3CDTF">2026-10-07T15:18:16Z</dcterms:created>
  <dcterms:modified xsi:type="dcterms:W3CDTF">2026-10-07T15:18:16Z</dcterms:modified>
</cp:coreProperties>
</file>