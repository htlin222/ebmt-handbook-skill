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dc80e70-10e3-ad7f-fd29-3807431b8a8b}">
          <p14:sldIdLst>
            <p14:sldId id="256"/>
            <p14:sldId id="257"/>
          </p14:sldIdLst>
        </p14:section>
        <p14:section name="CMV" id="{3111d29e-5d96-aea1-bdcc-abcc01675b7b}">
          <p14:sldIdLst>
            <p14:sldId id="258"/>
            <p14:sldId id="259"/>
            <p14:sldId id="260"/>
            <p14:sldId id="261"/>
          </p14:sldIdLst>
        </p14:section>
        <p14:section name="Other herpesviruses" id="{d1d7f70a-8e3b-8617-2190-d4344a9f2fcd}">
          <p14:sldIdLst>
            <p14:sldId id="262"/>
            <p14:sldId id="263"/>
          </p14:sldIdLst>
        </p14:section>
        <p14:section name="Respiratory viruses and adenovirus" id="{528f00a4-d5aa-74da-e893-f5c327e8ab0b}">
          <p14:sldIdLst>
            <p14:sldId id="264"/>
            <p14:sldId id="265"/>
            <p14:sldId id="266"/>
          </p14:sldIdLst>
        </p14:section>
        <p14:section name="EBV-PTLD" id="{a3907211-01b6-fa81-a991-c55f18ef9d8c}">
          <p14:sldIdLst>
            <p14:sldId id="267"/>
            <p14:sldId id="268"/>
            <p14:sldId id="269"/>
            <p14:sldId id="270"/>
            <p14:sldId id="271"/>
          </p14:sldIdLst>
        </p14:section>
        <p14:section name="Board questions" id="{9e85ea91-3150-af0b-546b-036f3319f18d}">
          <p14:sldIdLst>
            <p14:sldId id="272"/>
            <p14:sldId id="273"/>
            <p14:sldId id="274"/>
            <p14:sldId id="275"/>
            <p14:sldId id="276"/>
            <p14:sldId id="277"/>
          </p14:sldIdLst>
        </p14:section>
        <p14:section name="References" id="{eacffc88-d204-e0ad-a630-52e891c72a35}">
          <p14:sldIdLst>
            <p14:sldId id="278"/>
          </p14:sldIdLst>
        </p14:section>
        <p14:section name="Backup" id="{ccb1370e-a02d-f9db-acf2-a1c13b04cc72}">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各位早安，今天是第 12 堂，主題是移植後的病毒感染和 EBV 相關的 PTLD，對應 EBMT Handbook 第 38 章和第 45 章。CMV 放最前面、講最久；PTLD 則是 EBV 這條線的延伸。最後用三題 board-style 題目收尾。</a:t>
            </a:r>
          </a:p>
          <a:p>
            <a:pPr>
              <a:spcAft>
                <a:spcPts val="600"/>
              </a:spcAft>
            </a:pPr>
            <a:r>
              <a:rPr lang="en-US" dirty="0"/>
              <a:t>兩章的共同主軸，是病毒能不能被控制取決於 T-cell 免疫的恢復，免疫抑制越深，風險越高。</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今天分四段。CMV 放最前面，從 serology、letermovir prophylaxis、組織診斷，一路講到 preemptive therapy 和 resistant 或 refractory 時的 maribavir。這段的每個數字都可能變成選項。</a:t>
            </a:r>
          </a:p>
          <a:p>
            <a:pPr>
              <a:spcAft>
                <a:spcPts val="600"/>
              </a:spcAft>
            </a:pPr>
            <a:r>
              <a:rPr lang="en-US" dirty="0"/>
              <a:t>第二段是其他 herpesvirus，重點是 HSV 和 VZV 的 acyclovir 劑量，以及 HHV-6B 腦炎。第三段是社區呼吸道病毒、COVID-19 和 adenovirus，這段靠表格帶過。</a:t>
            </a:r>
          </a:p>
          <a:p>
            <a:pPr>
              <a:spcAft>
                <a:spcPts val="600"/>
              </a:spcAft>
            </a:pPr>
            <a:r>
              <a:rPr lang="en-US" dirty="0"/>
              <a:t>後半段整個留給 EBV-PTLD，從分類、ECIL-6 risk group、EBV-DNA 監測，到 rituximab 加 reduction of immunosuppression，以及 Table 45.4 的反應率。BK virus 和出血性膀胱炎放在第 14 堂，移植後疫苗放在第 17 堂，今天不重複。</a:t>
            </a:r>
          </a:p>
          <a:p>
            <a:pPr>
              <a:spcAft>
                <a:spcPts val="600"/>
              </a:spcAft>
            </a:pPr>
            <a:r>
              <a:rPr lang="en-US" dirty="0"/>
              <a:t>時間上病毒佔了前半，PTLD 和考題佔後半，大致反映這兩章在考題裡的比重。每一段的表格都盡量照書上的原文數字。</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CMV 的處理從移植前就開始。所有要做 HCT 的病人和 allogeneic donor 都要先驗 CMV antibody。病人 CMV 陰性時，盡量挑 CMV 陰性的 donor，血品也用 CMV-safe 的。</a:t>
            </a:r>
          </a:p>
          <a:p>
            <a:pPr>
              <a:spcAft>
                <a:spcPts val="600"/>
              </a:spcAft>
            </a:pPr>
            <a:r>
              <a:rPr lang="en-US" dirty="0"/>
              <a:t>CMV 陽性病人移植後給 letermovir 三個月。Allo-HCT 病人至少前三個月每週驗 qPCR；有 GVHD 或曾經 replication 的人要追更久，letermovir 停藥後也要繼續追。Auto-HCT 不需要例行監測，因為有症狀的感染少很多。</a:t>
            </a:r>
          </a:p>
          <a:p>
            <a:pPr>
              <a:spcAft>
                <a:spcPts val="600"/>
              </a:spcAft>
            </a:pPr>
            <a:r>
              <a:rPr lang="en-US" dirty="0"/>
              <a:t>另一個考點在 donor 選擇。MAC 移植時，CMV 陽性病人接受 CMV 陰性 donor，NRM 比較高、OS 比較差。</a:t>
            </a:r>
          </a:p>
          <a:p>
            <a:pPr>
              <a:spcAft>
                <a:spcPts val="600"/>
              </a:spcAft>
            </a:pPr>
            <a:r>
              <a:rPr lang="en-US" dirty="0"/>
              <a:t>這條路徑的關鍵在第三格。Letermovir 是 prophylaxis，不是治療；停藥那天起，監測反而更重要，因為再活化常發生在停藥之後。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2:30 至 4:00]</a:t>
            </a:r>
          </a:p>
          <a:p>
            <a:pPr>
              <a:spcAft>
                <a:spcPts val="600"/>
              </a:spcAft>
            </a:pPr>
            <a:r>
              <a:rPr lang="en-US" dirty="0"/>
              <a:t>這張是預防。過去 CMV 陽性本身就和 allo-HCT 後較差的 OS 有關，CMV replication 也和 NRM 增加、OS 下降有關。有效的 antiviral prophylaxis 出現之後，這個局面才改變。</a:t>
            </a:r>
          </a:p>
          <a:p>
            <a:pPr>
              <a:spcAft>
                <a:spcPts val="600"/>
              </a:spcAft>
            </a:pPr>
            <a:r>
              <a:rPr lang="en-US" dirty="0"/>
              <a:t>Letermovir 的證據來自 Marty 2017，移植後給三個月，降低 clinically significant CMV infection，也就是需要 preemptive therapy 或發生 CMV disease 的情況。書上特別寫到，CMV 陽性病人的 all-cause mortality 也下降，好處直接反映在存活上。</a:t>
            </a:r>
          </a:p>
          <a:p>
            <a:pPr>
              <a:spcAft>
                <a:spcPts val="600"/>
              </a:spcAft>
            </a:pPr>
            <a:r>
              <a:rPr lang="en-US" dirty="0"/>
              <a:t>高風險病人可以延長 letermovir。停藥之後再活化很常見，停了藥監測不能停，等一下第一題就是這個情境。Ganciclovir prophylaxis 可以降低 CMV disease，但毒性明顯，所以現在很少這樣用。Prophylactic immunoglobulin 的資料互相矛盾，不建議。</a:t>
            </a:r>
          </a:p>
          <a:p>
            <a:pPr>
              <a:spcAft>
                <a:spcPts val="600"/>
              </a:spcAft>
            </a:pPr>
            <a:r>
              <a:rPr lang="en-US" dirty="0"/>
              <a:t>劑量那一列書上沒有寫，括號裡的數字要對照仿單確認。Key points 另外提醒，letermovir 還沒有核准用在兒童，兒科病人仍然要靠監測加 preemptive therapy。</a:t>
            </a:r>
          </a:p>
          <a:p>
            <a:pPr>
              <a:spcAft>
                <a:spcPts val="600"/>
              </a:spcAft>
            </a:pPr>
            <a:r>
              <a:rPr lang="en-US" dirty="0"/>
              <a:t>CMV 陰性的 donor 配 CMV 陰性的病人、使用 CMV-safe 血品，這兩項不靠藥物，卻是最便宜的預防，放在表的第一列就是這個用意。</a:t>
            </a:r>
          </a:p>
          <a:p>
            <a:pPr>
              <a:spcAft>
                <a:spcPts val="600"/>
              </a:spcAft>
            </a:pPr>
            <a:r>
              <a:rPr lang="en-US" b="1" dirty="0"/>
              <a:t>講者提醒（不念出來）：</a:t>
            </a:r>
          </a:p>
          <a:p>
            <a:pPr>
              <a:spcAft>
                <a:spcPts val="600"/>
              </a:spcAft>
            </a:pPr>
            <a:r>
              <a:rPr lang="en-US" dirty="0"/>
              <a:t>- TO CONFIRM BEFORE PRESENTING: letermovir dose (480 mg once daily; 240 mg once daily with ciclosporin) is not in Ch. 38. Check the current product label and Taiwan label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4:00 至 5:30]</a:t>
            </a:r>
          </a:p>
          <a:p>
            <a:pPr>
              <a:spcAft>
                <a:spcPts val="600"/>
              </a:spcAft>
            </a:pPr>
            <a:r>
              <a:rPr lang="en-US" dirty="0"/>
              <a:t>CMV 在移植病人幾乎什麼器官都能侵犯，也可以只有發燒、倦怠或骨髓抑制。Allo-HCT 最重要的兩個 entity 是 pneumonia 和 gastroenteritis，而且 allo 比 auto 更容易出現症狀。</a:t>
            </a:r>
          </a:p>
          <a:p>
            <a:pPr>
              <a:spcAft>
                <a:spcPts val="600"/>
              </a:spcAft>
            </a:pPr>
            <a:r>
              <a:rPr lang="en-US" dirty="0"/>
              <a:t>診斷 CMV disease 的原則是症狀加上受侵犯的組織裡找到 CMV，方法有 histopathology、immunohistochemistry 和 DNA hybridization。目前最常用的檢驗是 qPCR，主要用於監測和啟動 preemptive therapy。CMV-specific T-cell 的檢測最近才出現，例行使用的價值還要再評估。</a:t>
            </a:r>
          </a:p>
          <a:p>
            <a:pPr>
              <a:spcAft>
                <a:spcPts val="600"/>
              </a:spcAft>
            </a:pPr>
            <a:r>
              <a:rPr lang="en-US" dirty="0"/>
              <a:t>Pneumonia 看 BAL，CMV DNA 很高時支持診斷，BAL 測不到則幾乎可以排除。Retinitis 是例外，眼底表現夠典型，vitreous 驗到 CMV 有幫助。Encephalitis 由 CSF PCR 支持。其他器官的 qPCR 角色還需要研究。</a:t>
            </a:r>
          </a:p>
          <a:p>
            <a:pPr>
              <a:spcAft>
                <a:spcPts val="600"/>
              </a:spcAft>
            </a:pPr>
            <a:r>
              <a:rPr lang="en-US" dirty="0"/>
              <a:t>病房最常見的情況是血中 CMV 陽性又拉肚子，要區分 CMV GI disease 和 GVHD，就得靠內視鏡切片。血中數字很高但組織沒有 CMV，診斷仍然只是 infection，不是 disease。</a:t>
            </a:r>
          </a:p>
          <a:p>
            <a:pPr>
              <a:spcAft>
                <a:spcPts val="600"/>
              </a:spcAft>
            </a:pPr>
            <a:r>
              <a:rPr lang="en-US" dirty="0"/>
              <a:t>考題常把 CMV infection 和 CMV disease 混在一起出，判斷時就看有沒有器官症狀加上組織證據，兩個條件缺一不可。</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5:30 至 7:30]</a:t>
            </a:r>
          </a:p>
          <a:p>
            <a:pPr>
              <a:spcAft>
                <a:spcPts val="600"/>
              </a:spcAft>
            </a:pPr>
            <a:r>
              <a:rPr lang="en-US" dirty="0"/>
              <a:t>治療分四個情境。血中測到 CMV 但沒有器官侵犯時，給 preemptive therapy。Ganciclovir、valganciclovir、foscarnet 三種預防 CMV disease 的效果相近，所以依副作用風險和實際考量挑選，例如能不能口服、需不需要住院打針。療程通常至少兩週，有時要更久。重複再活化不少見，三種藥都可以再用。</a:t>
            </a:r>
          </a:p>
          <a:p>
            <a:pPr>
              <a:spcAft>
                <a:spcPts val="600"/>
              </a:spcAft>
            </a:pPr>
            <a:r>
              <a:rPr lang="en-US" dirty="0"/>
              <a:t>開始 preemptive therapy 的 viral load，書上明白說無法給統一的 cutoff，因為取決於病人因素、檢體是 plasma 還是 whole blood，以及檢驗方法本身的表現。各家醫院的數字不同，追蹤同一位病人時，最好固定用同一種檢體和同一家實驗室。</a:t>
            </a:r>
          </a:p>
          <a:p>
            <a:pPr>
              <a:spcAft>
                <a:spcPts val="600"/>
              </a:spcAft>
            </a:pPr>
            <a:r>
              <a:rPr lang="en-US" dirty="0"/>
              <a:t>CMV disease 主要用 ganciclovir 或 foscarnet，療程比 preemptive 長，個別決定，書上寫 6 到 8 週。CMV pneumonia 常合併 high-dose Ig，但支持的資料有限；其他 CMV disease 加 Ig 則沒有資料。</a:t>
            </a:r>
          </a:p>
          <a:p>
            <a:pPr>
              <a:spcAft>
                <a:spcPts val="600"/>
              </a:spcAft>
            </a:pPr>
            <a:r>
              <a:rPr lang="en-US" dirty="0"/>
              <a:t>Resistant 或 refractory 時，maribavir 在 Avery 2022 的隨機試驗中比其他選擇更有效，毒性也較少。其他藥都失敗時才用 cidofovir。CMV-specific T cells 在非對照研究裡用於 resistant 或 refractory 個案，來源可以是原 donor 或 third-party，但病人如果正在用 2 mg/kg 以上的 steroid，效果可能很差。</a:t>
            </a:r>
          </a:p>
          <a:p>
            <a:pPr>
              <a:spcAft>
                <a:spcPts val="600"/>
              </a:spcAft>
            </a:pPr>
            <a:r>
              <a:rPr lang="en-US" dirty="0"/>
              <a:t>這張最常考兩件事，preemptive 三種藥效果相等，以及 maribavir 的位置在 refractory，不在第一線。</a:t>
            </a:r>
          </a:p>
          <a:p>
            <a:pPr>
              <a:spcAft>
                <a:spcPts val="600"/>
              </a:spcAft>
            </a:pPr>
            <a:r>
              <a:rPr lang="en-US" dirty="0"/>
              <a:t>Preemptive 和 disease 兩個情境的差別，在療程長短和 Ig 的角色，藥物本身大致相同。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7:30 至 9:30]</a:t>
            </a:r>
          </a:p>
          <a:p>
            <a:pPr>
              <a:spcAft>
                <a:spcPts val="600"/>
              </a:spcAft>
            </a:pPr>
            <a:r>
              <a:rPr lang="en-US" dirty="0"/>
              <a:t>HSV 和 VZV 的劑量是背誦題。移植前所有病人都要驗 HSV 和 VZV antibody。HSV 陽性的 allo-HCT 病人要給 prophylaxis，口服 acyclovir 每天 3 次 200 mg 到 2 次 800 mg，或 valaciclovir 500 mg 一天兩次，在 VZV 陰性的病人至少給四週。HSV 陰性的人原發感染少見，不需要 HSV prophylaxis，但可能還是要防 VZV。</a:t>
            </a:r>
          </a:p>
          <a:p>
            <a:pPr>
              <a:spcAft>
                <a:spcPts val="600"/>
              </a:spcAft>
            </a:pPr>
            <a:r>
              <a:rPr lang="en-US" dirty="0"/>
              <a:t>VZV 陽性病人的 prophylaxis 至少 12 個月，或到免疫抑制停止為止，用 acyclovir 800 mg 一天兩次，兒童 20 mg/kg 一天兩次，或 valaciclovir 500 mg 一天兩次。停藥後可以打 recombinant VZV vaccine 預防晚期再活化，不過 allo-HCT 的資料還有限。血清陰性的病人暴露 VZV 之後，要盡快開始 acyclovir 或 valaciclovir，一直給到暴露後第 21 天；VZIg 不建議。</a:t>
            </a:r>
          </a:p>
          <a:p>
            <a:pPr>
              <a:spcAft>
                <a:spcPts val="600"/>
              </a:spcAft>
            </a:pPr>
            <a:r>
              <a:rPr lang="en-US" dirty="0"/>
              <a:t>治療看嚴重度。嚴重黏膜或內臟 HSV，IV acyclovir 5 mg/kg q8h，7 到 10 天；HSV pneumonia 或腦炎劑量加倍，10 mg/kg q8h，至少 14 到 21 天。Varicella、disseminated zoster 和內臟侵犯，第一線是 IV acyclovir 500 mg/m² 一天三次。</a:t>
            </a:r>
          </a:p>
          <a:p>
            <a:pPr>
              <a:spcAft>
                <a:spcPts val="600"/>
              </a:spcAft>
            </a:pPr>
            <a:r>
              <a:rPr lang="en-US" dirty="0"/>
              <a:t>HSV 抗藥大約 5 到 15%，機轉是 thymidine kinase 突變，second line 用 foscarnet 或 cidofovir。VZV 內臟侵犯可以完全沒有皮疹，表現成嚴重腹痛或急性肝炎，這時要靠血中 PCR 診斷，這個 presentation 很適合出成題目。</a:t>
            </a:r>
          </a:p>
          <a:p>
            <a:pPr>
              <a:spcAft>
                <a:spcPts val="600"/>
              </a:spcAft>
            </a:pPr>
            <a:r>
              <a:rPr lang="en-US" dirty="0"/>
              <a:t>記劑量時可以抓一個規則，預防用口服，嚴重疾病用 IV q8h，腦炎再加倍。</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9:30 至 11:00]</a:t>
            </a:r>
          </a:p>
          <a:p>
            <a:pPr>
              <a:spcAft>
                <a:spcPts val="600"/>
              </a:spcAft>
            </a:pPr>
            <a:r>
              <a:rPr lang="en-US" dirty="0"/>
              <a:t>HHV-6B 的原發感染就是幼兒的 exanthema subitum，兩歲前幾乎每個人都感染過。移植後它是 allo-HCT 病毒性腦炎最主要的原因，cord blood 移植的風險更高。MRI 典型是 limbic encephalitis，但也有其他型態，CSF 通常 HHV-6 DNA 陽性。治療用 ganciclovir 或 foscarnet；其他疑似相關的表現，像骨髓抑制、肺炎或 aGVHD，則沒有確立的治療。</a:t>
            </a:r>
          </a:p>
          <a:p>
            <a:pPr>
              <a:spcAft>
                <a:spcPts val="600"/>
              </a:spcAft>
            </a:pPr>
            <a:r>
              <a:rPr lang="en-US" dirty="0"/>
              <a:t>陷阱是 HHV-6 整合在 germline 的人。這些人 qPCR 會強陽性，但這不代表病毒在複製，不能只看數字就診斷。Serology 沒有用，例行監測的價值也還沒有確立，foscarnet 預防的效益同樣沒有確立。</a:t>
            </a:r>
          </a:p>
          <a:p>
            <a:pPr>
              <a:spcAft>
                <a:spcPts val="600"/>
              </a:spcAft>
            </a:pPr>
            <a:r>
              <a:rPr lang="en-US" dirty="0"/>
              <a:t>HHV-7 很少致病，不需要特別治療。HHV-8 造成 Kaposi sarcoma，移植後很少見，只侵犯皮膚時開刀或用 electrochemotherapy，內臟或廣泛時考慮 interferon alpha 或化療，抗病毒藥沒有幫助。</a:t>
            </a:r>
          </a:p>
          <a:p>
            <a:pPr>
              <a:spcAft>
                <a:spcPts val="600"/>
              </a:spcAft>
            </a:pPr>
            <a:r>
              <a:rPr lang="en-US" dirty="0"/>
              <a:t>EBV 在第 38 章只有短短一段，重點是再活化大多沒有症狀、抗病毒藥無效，以及 donor EBV 陽性會增加 acute leukemia 病人的 cGVHD 風險。細節留到後半段。</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社區呼吸道病毒的流行季節和社區一致。大部分只有上呼吸道症狀，lower tract disease 佔 10 到 30%。LTD 的死亡率通常低於 5%，但在嚴重免疫抑制的病人可以超過 30%。多種病毒合併感染很常見，部分原因是排毒期長，最多兩成病人會持續 shedding，尤其是用 steroid 和嚴重 lymphopenia 的人。</a:t>
            </a:r>
          </a:p>
          <a:p>
            <a:pPr>
              <a:spcAft>
                <a:spcPts val="600"/>
              </a:spcAft>
            </a:pPr>
            <a:r>
              <a:rPr lang="en-US" dirty="0"/>
              <a:t>進展到 LTD 和死亡的危險因子，除了表上這些，還有離移植時間近和合併感染，細菌和黴菌的共同感染要主動排除。診斷上建議用 syndromic multiplex PCR 篩檢，因為目前看不出哪一種病毒的預後特別差。</a:t>
            </a:r>
          </a:p>
          <a:p>
            <a:pPr>
              <a:spcAft>
                <a:spcPts val="600"/>
              </a:spcAft>
            </a:pPr>
            <a:r>
              <a:rPr lang="en-US" dirty="0"/>
              <a:t>移植前有症狀的病人先照影像。有 LTD 就延後移植到痊癒；只有上呼吸道時一般也延後，但 rhinovirus 和一般 coronavirus 要權衡利弊。</a:t>
            </a:r>
          </a:p>
          <a:p>
            <a:pPr>
              <a:spcAft>
                <a:spcPts val="600"/>
              </a:spcAft>
            </a:pPr>
            <a:r>
              <a:rPr lang="en-US" dirty="0"/>
              <a:t>Influenza 每年打 inactivated vaccine，最好在移植後六個月，治療用 oseltamivir 或 zanamivir，而且五天常常不夠，因為病毒排出很久。RSV 可以用 ribavirin 吸入或全身給藥，書上認為沒有 monoclonal antibody prophylaxis 的適應症。Parainfluenza 以第三型最兇。</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12:30 至 14:00]</a:t>
            </a:r>
          </a:p>
          <a:p>
            <a:pPr>
              <a:spcAft>
                <a:spcPts val="600"/>
              </a:spcAft>
            </a:pPr>
            <a:r>
              <a:rPr lang="en-US" dirty="0"/>
              <a:t>COVID-19 在 HCT 病人的死亡率曾經是 12 到 25%，疫苗和 Omicron 出現之後明顯下降。診斷的標準是鼻咽檢體 RT-PCR，快篩可以替代但敏感度較低；抗體效價不能用來診斷。下呼吸道檢體只在要排除其他病因或合併感染時才需要。</a:t>
            </a:r>
          </a:p>
          <a:p>
            <a:pPr>
              <a:spcAft>
                <a:spcPts val="600"/>
              </a:spcAft>
            </a:pPr>
            <a:r>
              <a:rPr lang="en-US" dirty="0"/>
              <a:t>表上是 ECIL 9 的建議，治療依病程分期，早期抑制病毒複製，後期壓制發炎反應。高風險病人暴露前或暴露後，用 anti-spike monoclonal antibody，前提是對當時流行的變異株有效。輕到中度、不需要氧氣時，早期給 nirmatrelvir/ritonavir、remdesivir 或 molnupiravir。需要氧氣或重症時給 dexamethasone 和 remdesivir，惡化時再加 anti-IL-6、JAK inhibitor 或 anakinra。</a:t>
            </a:r>
          </a:p>
          <a:p>
            <a:pPr>
              <a:spcAft>
                <a:spcPts val="600"/>
              </a:spcAft>
            </a:pPr>
            <a:r>
              <a:rPr lang="en-US" dirty="0"/>
              <a:t>疫苗用 mRNA，移植後三到六個月開始打三劑，三到四個月後追加一劑。SARS-CoV-2 陽性的病人，HCT 或 CAR-T 要延到臨床和病毒學都轉陰；沒有症狀但持續 shedding 的人，個案評估。住院的 COVID 病人最好離開移植病房，住單人房，醫護人員戴 FFP2 等防護，以免院內群聚。</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Adenovirus 侵襲性感染在兒童是 6 到 42%，成人 3 到 15%，大多在移植後 100 天內，成人可能因為沒有例行監測而低估。表現從輕微腸胃炎到出血性腸炎、出血性膀胱炎、肝炎、肺炎和多重器官侵犯都有。危險因子是 haplo 或 unrelated donor、cord blood、T-cell depletion、grade III 到 IV GVHD、嚴重 lymphopenia，以及 ATG 或 alemtuzumab。</a:t>
            </a:r>
          </a:p>
          <a:p>
            <a:pPr>
              <a:spcAft>
                <a:spcPts val="600"/>
              </a:spcAft>
            </a:pPr>
            <a:r>
              <a:rPr lang="en-US" dirty="0"/>
              <a:t>有至少一個危險因子時，移植後立即開始每週驗血中 qPCR，一直到 CD3 大於 300。兒科中心大多例行篩檢，成人中心通常有危險因子才驗。預防靠嚴格隔離和衛生，不建議用抗病毒藥預防。</a:t>
            </a:r>
          </a:p>
          <a:p>
            <a:pPr>
              <a:spcAft>
                <a:spcPts val="600"/>
              </a:spcAft>
            </a:pPr>
            <a:r>
              <a:rPr lang="en-US" dirty="0"/>
              <a:t>ADV 沒有核准的藥物。Viral load 上升又有危險因子時，preemptive cidofovir 3 到 5 mg/kg 每週一次，兩到三週後改隔週。Probable 或 proven disease 用 5 mg/kg 每週至少三劑，再改隔週，配合 hyperhydration 和 probenecid。能減免疫抑制就減。Ribavirin 一般不建議，只有 species C 可以考慮加；沒有反應的人用 donor 來源的 ADV-specific CTL。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PTLD 是移植後在外加免疫抑制的情況下，lymphoid 或 plasmacytic 細胞失控的腫瘤性增生，在 HCT 幾乎都由 EBV 驅動。EBV 在一般人口的盛行率大約 82 到 84%。除了 PTLD，EBV 也能造成 end-organ disease，包括 encephalitis、pneumonitis、hepatitis 和 HLH。</a:t>
            </a:r>
          </a:p>
          <a:p>
            <a:pPr>
              <a:spcAft>
                <a:spcPts val="600"/>
              </a:spcAft>
            </a:pPr>
            <a:r>
              <a:rPr lang="en-US" dirty="0"/>
              <a:t>診斷分兩級。Proven 要有器官的症狀或徵候，加上組織檢體 EBER in situ hybridization 陽性；EBV 蛋白的免疫染色特異性好，但敏感度較低。Probable 不需要切片，條件是明顯淋巴結腫大、肝脾腫大或其他器官表現，加上高的 EBV-DNA-emia，而且找不到其他原因。</a:t>
            </a:r>
          </a:p>
          <a:p>
            <a:pPr>
              <a:spcAft>
                <a:spcPts val="600"/>
              </a:spcAft>
            </a:pPr>
            <a:r>
              <a:rPr lang="en-US" dirty="0"/>
              <a:t>病理分類上，WHO 2016 有六型，從 plasmacytic hyperplasia 到 monomorphic 和 classical Hodgkin 型；WHO 2022 已經不再列 PTLD 這個名稱，改歸在 immunodeficiency-associated lymphoproliferative disorders。</a:t>
            </a:r>
          </a:p>
          <a:p>
            <a:pPr>
              <a:spcAft>
                <a:spcPts val="600"/>
              </a:spcAft>
            </a:pPr>
            <a:r>
              <a:rPr lang="en-US" dirty="0"/>
              <a:t>下面兩列是非典型 PTLD。EBV 陰性的多在器官移植後五年以上出現，應該當成 lymphoma 處理。T-PTLD 佔 4 到 15%，大約三分之一 EBV 陽性。</a:t>
            </a:r>
          </a:p>
          <a:p>
            <a:pPr>
              <a:spcAft>
                <a:spcPts val="600"/>
              </a:spcAft>
            </a:pPr>
            <a:r>
              <a:rPr lang="en-US" dirty="0"/>
              <a:t>臨床的意義在於，能切片就切片。Key points 明講確診要靠淋巴結或其他可疑部位的切片，EBV DNA 和影像只是輔助，不能取代組織。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PTLD 的風險和 T-cell depletion 或 impairment 的程度成正比，這是最主要的危險因子，donor 和 conditioning 的種類只是次要。任何不分青紅皂白把 T cell 從 graft 拿掉的 GVHD 預防策略，都會增加 PTLD。HCT 後的 PTLD 通常來自 donor，所以 donor 血清陽性時風險更高。</a:t>
            </a:r>
          </a:p>
          <a:p>
            <a:pPr>
              <a:spcAft>
                <a:spcPts val="600"/>
              </a:spcAft>
            </a:pPr>
            <a:r>
              <a:rPr lang="en-US" dirty="0"/>
              <a:t>ECIL-6 分三組。High risk 是 MUD、MMUD、包括 cord blood 在內的 alternative donor，以及帶有至少一個危險因子的 matched family donor，這些危險因子是 T-cell depletion、donor 和 recipient 的 EBV 血清不合，以及脾臟切除。Standard risk 是沒有危險因子的 MFD 和 haplo 加 PTCy。Low risk 是 auto-HCT。</a:t>
            </a:r>
          </a:p>
          <a:p>
            <a:pPr>
              <a:spcAft>
                <a:spcPts val="600"/>
              </a:spcAft>
            </a:pPr>
            <a:r>
              <a:rPr lang="en-US" dirty="0"/>
              <a:t>右欄是發生率，全部 allo 是 3.22%，MFD 1.16%，MMUD 最高到 11.24%。EBV-DNA-emia 的中位發生率約 29%，haplo 加 PTCy 最低。中位發生時間 2 到 4 個月，90% 在六個月內，五年以後才出現的比較像真正的 lymphoma。</a:t>
            </a:r>
          </a:p>
          <a:p>
            <a:pPr>
              <a:spcAft>
                <a:spcPts val="600"/>
              </a:spcAft>
            </a:pPr>
            <a:r>
              <a:rPr lang="en-US" dirty="0"/>
              <a:t>預防面，EBV 陰性病人盡量找 EBV 陰性 donor。</a:t>
            </a:r>
          </a:p>
          <a:p>
            <a:pPr>
              <a:spcAft>
                <a:spcPts val="600"/>
              </a:spcAft>
            </a:pPr>
            <a:r>
              <a:rPr lang="en-US" dirty="0"/>
              <a:t>EBV 陽性病人則可以考慮 EBV 陽性 donor，理由是 donor 的 EBV-specific CTL 可以一起轉移過來，不過新的資料顯示這種轉移未必發生。</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有危險因子的病人，在血球恢復後、最晚移植後四週開始驗 EBV DNA。陰性時每週一次；數字上升就要驗得更密，因為 EBV 的 doubling time 可以短到 56 小時。高風險病人至少追四個月，T-cell 恢復差、嚴重 GVHD、haplo、TCD、用過 ATG 或 alemtuzumab，以及早期就再活化的人要追更久。</a:t>
            </a:r>
          </a:p>
          <a:p>
            <a:pPr>
              <a:spcAft>
                <a:spcPts val="600"/>
              </a:spcAft>
            </a:pPr>
            <a:r>
              <a:rPr lang="en-US" dirty="0"/>
              <a:t>書上強調沒有任何 EBV-DNA 數值能診斷 PTLD，啟動 preemptive therapy 的閾值由各中心自訂，而且要一起看上升速度和病人的免疫功能。考題如果問「EBV DNA 超過多少就是 PTLD」，正確答案是沒有這種 cutoff。</a:t>
            </a:r>
          </a:p>
          <a:p>
            <a:pPr>
              <a:spcAft>
                <a:spcPts val="600"/>
              </a:spcAft>
            </a:pPr>
            <a:r>
              <a:rPr lang="en-US" dirty="0"/>
              <a:t>臨床上最常見的是淋巴結腫大和發燒。影像用 FDG-PET-CT，大部分 PTLD 是 FDG-avid；CNS 或 non-avid 則用 MRI。PTLD 沒有專屬的 grading system，ECIL-6 依 Lugano 分期，stage I 到 II 是 limited，III 到 IV 是 advanced。確診仍要靠切片，EBV DNA 和影像只是輔助。</a:t>
            </a:r>
          </a:p>
          <a:p>
            <a:pPr>
              <a:spcAft>
                <a:spcPts val="600"/>
              </a:spcAft>
            </a:pPr>
            <a:r>
              <a:rPr lang="en-US" dirty="0"/>
              <a:t>病房上的做法是固定同一種檢體、同一家實驗室，看趨勢而不是看單一數字，數字連續上升再配合病人的免疫狀態決定要不要開始 rituximab。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20:00 至 21:30]</a:t>
            </a:r>
          </a:p>
          <a:p>
            <a:pPr>
              <a:spcAft>
                <a:spcPts val="600"/>
              </a:spcAft>
            </a:pPr>
            <a:r>
              <a:rPr lang="en-US" dirty="0"/>
              <a:t>EBV 沒有有效的抗病毒藥，這是整張圖的前提，也是考題最愛放的錯誤選項。Prophylaxis 是給沒有 DNA-emia 的血清陽性病人，用 rituximab 或 EBV-CTL，實務上很少用。Prophylactic rituximab 雖然降低 EBV-DNA-emia，但和 preemptive 相比，PTLD 發生率、TRM 和 OS 都沒有差別。Prophylactic EBV-CTL 效果很好，問題是大多數中心拿不到。</a:t>
            </a:r>
          </a:p>
          <a:p>
            <a:pPr>
              <a:spcAft>
                <a:spcPts val="600"/>
              </a:spcAft>
            </a:pPr>
            <a:r>
              <a:rPr lang="en-US" dirty="0"/>
              <a:t>Preemptive therapy 針對有明顯 EBV-DNA-emia、還沒有症狀的高風險病人，主力是 rituximab 每週一次，用到 DNA-emia 轉陰，通常一到兩劑就夠，能的話合併 reduction of immunosuppression。RIS 的禁忌是嚴重、控制不住的 GVHD。</a:t>
            </a:r>
          </a:p>
          <a:p>
            <a:pPr>
              <a:spcAft>
                <a:spcPts val="600"/>
              </a:spcAft>
            </a:pPr>
            <a:r>
              <a:rPr lang="en-US" dirty="0"/>
              <a:t>已經確立的 PTLD 要盡快治療，因為腫瘤長得快，EBV 也可能很快造成多器官衰竭。第一線是 rituximab 375 mg/m² 每週一次，加上 RIS，有的話用 donor 或 third-party EBV-CTL。PTLD 在診斷時就要當作全身性疾病看待。</a:t>
            </a:r>
          </a:p>
          <a:p>
            <a:pPr>
              <a:spcAft>
                <a:spcPts val="600"/>
              </a:spcAft>
            </a:pPr>
            <a:r>
              <a:rPr lang="en-US" dirty="0"/>
              <a:t>Preemptive therapy 的目標是 EBV PCR 轉陰，或降到起始閾值以下而且不再復發。Rituximab 還可能額外降低 acute 和 chronic GVHD 的風險，這是它在這個情境的附加好處。另外，用 PTCy 或 sirolimus 做 GVHD 預防時，EBV-DNA-emia 和 PTLD 的風險都低。</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21:30 至 23:00]</a:t>
            </a:r>
          </a:p>
          <a:p>
            <a:pPr>
              <a:spcAft>
                <a:spcPts val="600"/>
              </a:spcAft>
            </a:pPr>
            <a:r>
              <a:rPr lang="en-US" dirty="0"/>
              <a:t>這張是 Table 45.4 的反應率。Rituximab 在 preemptive 情境大約 90%，治療 established PTLD 是 65%，加上 RIS 升到 78%。EBV-CTL 最好，preemptive 94 到 100%，治療 71 到 75%。單用 RIS 是 68% 和 61%。</a:t>
            </a:r>
          </a:p>
          <a:p>
            <a:pPr>
              <a:spcAft>
                <a:spcPts val="600"/>
              </a:spcAft>
            </a:pPr>
            <a:r>
              <a:rPr lang="en-US" dirty="0"/>
              <a:t>下面三列是合併其他治療時的數字，DLI 58%，化療 26%，cidofovir 34%。Rituximab 失敗後的 second line 是 cellular therapy，包括非特異的 DLI 或 EBV-CTL，以及 chemotherapy 加減 rituximab。用 EBV 陽性 donor 的 unselected DLI，是為了恢復廣泛的 T-cell 反應。2022 年 EMA 核准 tabelecleucel，是 off-the-shelf 的 third-party EBV-specific T cells。</a:t>
            </a:r>
          </a:p>
          <a:p>
            <a:pPr>
              <a:spcAft>
                <a:spcPts val="600"/>
              </a:spcAft>
            </a:pPr>
            <a:r>
              <a:rPr lang="en-US" dirty="0"/>
              <a:t>早期反應的指標是 rituximab 第一週 EBV DNA 下降至少 1 log。Rituximab 預後較好的因素包括 30 歲以下、非惡性的原發疾病、沒有 grade II 以上 aGVHD，以及診斷時有做 RIS。IVIG、interferon 和抗病毒藥都不應該用來治療 PTLD，這句常被做成錯誤選項。</a:t>
            </a:r>
          </a:p>
          <a:p>
            <a:pPr>
              <a:spcAft>
                <a:spcPts val="600"/>
              </a:spcAft>
            </a:pPr>
            <a:r>
              <a:rPr lang="en-US" dirty="0"/>
              <a:t>Key points 把這張表濃縮成幾個整數，rituximab preemptive 超過 90%，治療 PTLD 超過 65%，加上 RIS 超過 80%，EBV-CTL preemptive 超過 90%、治療約 75%。考試記這幾個整數就夠了。</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第一題是 CMV。48 歲女性，CMV 陽性，因為 AML 接受 matched unrelated donor 的 allo-HCT，letermovir 吃到 day 100。Day 128，每週驗的 plasma CMV qPCR 連續兩次上升。她沒有任何症狀，血球和腎功能都正常，也沒有 GVHD。問下一步最適當的處置。</a:t>
            </a:r>
          </a:p>
          <a:p>
            <a:pPr>
              <a:spcAft>
                <a:spcPts val="600"/>
              </a:spcAft>
            </a:pPr>
            <a:r>
              <a:rPr lang="en-US" dirty="0"/>
              <a:t>先想清楚她現在是 infection 還是 disease。題目沒有給 viral load 的數字，這是刻意的。</a:t>
            </a:r>
          </a:p>
          <a:p>
            <a:pPr>
              <a:spcAft>
                <a:spcPts val="600"/>
              </a:spcAft>
            </a:pPr>
            <a:r>
              <a:rPr lang="en-US" dirty="0"/>
              <a:t>選項有停止監測、三種傳統藥之一做 preemptive、maribavir、單用 high-dose Ig，以及等切片證實再治療。</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正確是 B。Letermovir 停藥後再活化很常見，所以 A 錯，監測必須繼續。她現在是沒有器官侵犯的 DNA-emia，屬於 preemptive therapy 的情境，ganciclovir、valganciclovir、foscarnet 效果相近，依副作用和方便性選，通常至少兩週。她血球和腎功能都正常，三種藥都可以用。</a:t>
            </a:r>
          </a:p>
          <a:p>
            <a:pPr>
              <a:spcAft>
                <a:spcPts val="600"/>
              </a:spcAft>
            </a:pPr>
            <a:r>
              <a:rPr lang="en-US" dirty="0"/>
              <a:t>最容易被選的是 C。Maribavir 的隨機試驗證據在 resistant 或 refractory CMV，不是第一線 preemptive。D 的 Ig 書上沒有資料支持，prophylactic Ig 也不建議。E 把 preemptive 的概念弄反了，它本來就是要在 disease 出現之前治療。這題的關鍵字是 asymptomatic 和兩次上升，合起來就是 preemptive 的定義。</a:t>
            </a:r>
          </a:p>
          <a:p>
            <a:pPr>
              <a:spcAft>
                <a:spcPts val="600"/>
              </a:spcAft>
            </a:pPr>
            <a:r>
              <a:rPr lang="en-US" dirty="0"/>
              <a:t>反覆再活化時，三種藥都可以再用。</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第二題。26 歲女性，ALL，cord blood 移植後第 24 天，出現意識混亂、記憶喪失和一次抽搐。MRI 是雙側內側顳葉，也就是 limbic 區域的訊號變化，CSF PCR 驗到 HHV-6 DNA，HSV 和 CMV 都陰性。問最適當的治療。</a:t>
            </a:r>
          </a:p>
          <a:p>
            <a:pPr>
              <a:spcAft>
                <a:spcPts val="600"/>
              </a:spcAft>
            </a:pPr>
            <a:r>
              <a:rPr lang="en-US" dirty="0"/>
              <a:t>留意移植的種類和影像的位置，再想哪兩種藥對這個病毒有效。</a:t>
            </a:r>
          </a:p>
          <a:p>
            <a:pPr>
              <a:spcAft>
                <a:spcPts val="600"/>
              </a:spcAft>
            </a:pPr>
            <a:r>
              <a:rPr lang="en-US" dirty="0"/>
              <a:t>選項有高劑量 acyclovir、ganciclovir 或 foscarnet、cidofovir、因為 germline integration 而不治療，以及 ribavirin 加 IVIG。題目給了 CSF 而不只是血中的 PCR，這點要注意。</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正確是 B。HHV-6B 是 allo-HCT 後病毒性腦炎最主要的原因，cord blood 移植風險更高；典型 MRI 是 limbic encephalitis，CSF 通常 HHV-6 DNA 陽性。書上寫 ganciclovir 或 foscarnet 都可以用。</a:t>
            </a:r>
          </a:p>
          <a:p>
            <a:pPr>
              <a:spcAft>
                <a:spcPts val="600"/>
              </a:spcAft>
            </a:pPr>
            <a:r>
              <a:rPr lang="en-US" dirty="0"/>
              <a:t>A 是 HSV 腦炎的劑量，HSV 已經陰性。最容易被選的陷阱是 D。Germline integration 的人血中 qPCR 會強陽性，但那是在沒有臨床疾病時提醒我們不要過度診斷；這位病人有典型症狀、影像和 CSF 證據，不能用整合來解釋。C 的 cidofovir 是 adenovirus 的治療，E 的 ribavirin 是呼吸道病毒的選項。</a:t>
            </a:r>
          </a:p>
          <a:p>
            <a:pPr>
              <a:spcAft>
                <a:spcPts val="600"/>
              </a:spcAft>
            </a:pPr>
            <a:r>
              <a:rPr lang="en-US" dirty="0"/>
              <a:t>另外，書上提到 HHV-6 用 foscarnet 預防的效益沒有確立，例行監測的價值也還沒有定論，所以這個情境的重點放在早期辨認和治療。</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最後一題回到 PTLD。34 歲男性，9/10 mismatched unrelated donor，conditioning 用了 ATG，現在移植後 day 75。發燒、頸部淋巴結腫大，血中 EBV DNA 兩週內快速上升。淋巴結切片是 monomorphic B-cell 病灶，EBER-ISH 陽性。他目前只有 stage 1 的皮膚 GVHD，用 tacrolimus 控制。問最適當的第一線治療。</a:t>
            </a:r>
          </a:p>
          <a:p>
            <a:pPr>
              <a:spcAft>
                <a:spcPts val="600"/>
              </a:spcAft>
            </a:pPr>
            <a:r>
              <a:rPr lang="en-US" dirty="0"/>
              <a:t>先判斷這是 probable 還是 proven，再想第一線包含哪兩個元素。</a:t>
            </a:r>
          </a:p>
          <a:p>
            <a:pPr>
              <a:spcAft>
                <a:spcPts val="600"/>
              </a:spcAft>
            </a:pPr>
            <a:r>
              <a:rPr lang="en-US" dirty="0"/>
              <a:t>題幹裡 MMUD 加 ATG 是風險線索，也留意他 GVHD 的程度，這會影響能不能減免疫抑制。</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正確是 B。症狀加上組織 EBER-ISH 陽性，就是 proven EBV-PTLD，要盡快治療。MMUD 加 ATG 屬於 ECIL-6 的 high risk。第一線是 rituximab 375 mg/m² 每週一次，加上 RIS；RIS 的禁忌是嚴重而且控制不住的 GVHD，這位只有 stage 1 皮膚，可以減。治療 PTLD 時 rituximab 單用 65%，加 RIS 78%。</a:t>
            </a:r>
          </a:p>
          <a:p>
            <a:pPr>
              <a:spcAft>
                <a:spcPts val="600"/>
              </a:spcAft>
            </a:pPr>
            <a:r>
              <a:rPr lang="en-US" dirty="0"/>
              <a:t>常被選的是 D。化療加減 rituximab 是 rituximab 失敗後的 second line，合併其他治療的反應率只有 26%。A 和 C 都是書上明說不該用的，EBV 沒有有效的抗病毒藥。E 也不對，proven PTLD 可能很快惡化成多器官衰竭，不能觀察。</a:t>
            </a:r>
          </a:p>
          <a:p>
            <a:pPr>
              <a:spcAft>
                <a:spcPts val="600"/>
              </a:spcAft>
            </a:pPr>
            <a:r>
              <a:rPr lang="en-US" dirty="0"/>
              <a:t>如果醫院有 EBV-CTL 可用，它也是第一線的選項之一。</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局部 zoster 口服 valaciclovir 1000 mg 一天三次、acyclovir 800 mg 一天五次或 famciclovir，給到結痂，通常 7 到 10 天。Acyclovir 抗藥的 VZV 很少見，用 foscarnet 60 mg/kg q12h 或每週 cidofovir 5 mg/kg 加 probenecid。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PML 的 definite 診斷要臨床、影像和 CSF JCV PCR 三者都有，沒有特定治療，靠恢復免疫。Norovirus 最怕被當成 GVHD 而加重免疫抑制；兩者切片都可見 crypt apoptosis，但 norovirus 只在小腸。Zika 和 West Nile 可以經由血品和造血幹細胞傳播，donor 要延後至少 28 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CNS PTLD 沒有標準治療，可用全身或 intrathecal rituximab、EBV-CTL、放療，或依 primary CNS lymphoma 的 high-dose methotrexate 方案。Rituximab 第一週 EBV DNA 降一個 log 以上代表有反應；CR 要症狀全消而且 EBV-DNA-emia 轉陰。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Viral infections and EBV-PTLD</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12 · Ch. 38, 45</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CMV to EBV-driven lymphoproliferation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 · Styczynski J, Giebel S. EBMT Handbook 8th ed. 2024; Ch. 45</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CMV</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Serostatus, letermovir, tissue diagnosis, preemptive therapy, maribavir</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Other herpesviruses</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HSV and VZV acyclovir doses, HHV-6 encephalitis, HHV-7, HHV-8</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Respiratory viruses, COVID-19, adenovirus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CARV risk, ECIL 9 table, weekly ADV qPCR, cidofovir</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EBV-PTLD and three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Types, risk groups, monitoring, rituximab + RIS, response rates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12.75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PREVENTION PATHWAY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CMV control starts before the 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Box 20"/>
          <p:cNvSpPr txBox="1"/>
          <p:nvPr/>
        </p:nvSpPr>
        <p:spPr>
          <a:xfrm>
            <a:off x="685800"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Serology: patient and donor</a:t>
            </a:r>
            <a:endParaRPr lang="en-US" sz="1500" dirty="0"/>
          </a:p>
        </p:txBody>
      </p:sp>
      <p:sp>
        <p:nvSpPr>
          <p:cNvPr id="7" name="Shape 4"/>
          <p:cNvSpPr/>
          <p:nvPr/>
        </p:nvSpPr>
        <p:spPr>
          <a:xfrm>
            <a:off x="2501798" y="3017520"/>
            <a:ext cx="393192" cy="0"/>
          </a:xfrm>
          <a:prstGeom prst="line">
            <a:avLst/>
          </a:prstGeom>
          <a:noFill/>
          <a:ln w="15875">
            <a:solidFill>
              <a:schemeClr val="tx1"/>
            </a:solidFill>
            <a:prstDash val="solid"/>
            <a:tailEnd type="triangle"/>
          </a:ln>
        </p:spPr>
      </p:sp>
      <p:sp>
        <p:nvSpPr>
          <p:cNvPr id="8" name="Box 21"/>
          <p:cNvSpPr txBox="1"/>
          <p:nvPr/>
        </p:nvSpPr>
        <p:spPr>
          <a:xfrm>
            <a:off x="2949854"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CMV− donor for CMV− patient</a:t>
            </a:r>
            <a:endParaRPr lang="en-US" sz="1500" dirty="0"/>
          </a:p>
        </p:txBody>
      </p:sp>
      <p:sp>
        <p:nvSpPr>
          <p:cNvPr id="9" name="Shape 6"/>
          <p:cNvSpPr/>
          <p:nvPr/>
        </p:nvSpPr>
        <p:spPr>
          <a:xfrm>
            <a:off x="4765853" y="3017520"/>
            <a:ext cx="393192" cy="0"/>
          </a:xfrm>
          <a:prstGeom prst="line">
            <a:avLst/>
          </a:prstGeom>
          <a:noFill/>
          <a:ln w="15875">
            <a:solidFill>
              <a:schemeClr val="tx1"/>
            </a:solidFill>
            <a:prstDash val="solid"/>
            <a:tailEnd type="triangle"/>
          </a:ln>
        </p:spPr>
      </p:sp>
      <p:sp>
        <p:nvSpPr>
          <p:cNvPr id="10" name="Box 22"/>
          <p:cNvSpPr txBox="1"/>
          <p:nvPr/>
        </p:nvSpPr>
        <p:spPr>
          <a:xfrm>
            <a:off x="5213909" y="21488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CMV+: letermovir</a:t>
            </a:r>
            <a:endParaRPr lang="en-US" sz="1500" dirty="0"/>
          </a:p>
          <a:p>
            <a:pPr algn="ctr" indent="0" marL="0">
              <a:buNone/>
            </a:pPr>
            <a:r>
              <a:rPr lang="en-US" sz="1500" dirty="0">
                <a:solidFill>
                  <a:schemeClr val="bg1"/>
                </a:solidFill>
              </a:rPr>
              <a:t>for 3 months</a:t>
            </a:r>
            <a:endParaRPr lang="en-US" sz="1500" dirty="0"/>
          </a:p>
        </p:txBody>
      </p:sp>
      <p:sp>
        <p:nvSpPr>
          <p:cNvPr id="11" name="Shape 8"/>
          <p:cNvSpPr/>
          <p:nvPr/>
        </p:nvSpPr>
        <p:spPr>
          <a:xfrm>
            <a:off x="7029907" y="3017520"/>
            <a:ext cx="393192" cy="0"/>
          </a:xfrm>
          <a:prstGeom prst="line">
            <a:avLst/>
          </a:prstGeom>
          <a:noFill/>
          <a:ln w="15875">
            <a:solidFill>
              <a:schemeClr val="tx1"/>
            </a:solidFill>
            <a:prstDash val="solid"/>
            <a:tailEnd type="triangle"/>
          </a:ln>
        </p:spPr>
      </p:sp>
      <p:sp>
        <p:nvSpPr>
          <p:cNvPr id="12" name="Box 23"/>
          <p:cNvSpPr txBox="1"/>
          <p:nvPr/>
        </p:nvSpPr>
        <p:spPr>
          <a:xfrm>
            <a:off x="7477963"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Weekly qPCR</a:t>
            </a:r>
            <a:endParaRPr lang="en-US" sz="1500" dirty="0"/>
          </a:p>
          <a:p>
            <a:pPr algn="ctr" indent="0" marL="0">
              <a:buNone/>
            </a:pPr>
            <a:r>
              <a:rPr lang="en-US" sz="1500" dirty="0">
                <a:solidFill>
                  <a:schemeClr val="tx1"/>
                </a:solidFill>
              </a:rPr>
              <a:t>≥ 3 months</a:t>
            </a:r>
            <a:endParaRPr lang="en-US" sz="1500" dirty="0"/>
          </a:p>
        </p:txBody>
      </p:sp>
      <p:sp>
        <p:nvSpPr>
          <p:cNvPr id="13" name="Shape 10"/>
          <p:cNvSpPr/>
          <p:nvPr/>
        </p:nvSpPr>
        <p:spPr>
          <a:xfrm>
            <a:off x="9293962" y="3017520"/>
            <a:ext cx="393192" cy="0"/>
          </a:xfrm>
          <a:prstGeom prst="line">
            <a:avLst/>
          </a:prstGeom>
          <a:noFill/>
          <a:ln w="15875">
            <a:solidFill>
              <a:schemeClr val="tx1"/>
            </a:solidFill>
            <a:prstDash val="solid"/>
            <a:tailEnd type="triangle"/>
          </a:ln>
        </p:spPr>
      </p:sp>
      <p:sp>
        <p:nvSpPr>
          <p:cNvPr id="14" name="Box 24"/>
          <p:cNvSpPr txBox="1"/>
          <p:nvPr/>
        </p:nvSpPr>
        <p:spPr>
          <a:xfrm>
            <a:off x="9742018" y="21488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Preemptive therapy on DNAemia</a:t>
            </a:r>
            <a:endParaRPr lang="en-US" sz="1500" dirty="0"/>
          </a:p>
        </p:txBody>
      </p:sp>
      <p:sp>
        <p:nvSpPr>
          <p:cNvPr id="15" name="Text 25"/>
          <p:cNvSpPr txBox="1"/>
          <p:nvPr/>
        </p:nvSpPr>
        <p:spPr>
          <a:xfrm>
            <a:off x="685800" y="4297680"/>
            <a:ext cx="10817352" cy="822960"/>
          </a:xfrm>
          <a:prstGeom prst="rect">
            <a:avLst/>
          </a:prstGeom>
          <a:noFill/>
          <a:ln/>
        </p:spPr>
        <p:txBody>
          <a:bodyPr wrap="square" lIns="0" tIns="0" rIns="0" bIns="0" rtlCol="0" anchor="t"/>
          <a:lstStyle/>
          <a:p>
            <a:pPr indent="0" marL="0">
              <a:buNone/>
            </a:pPr>
            <a:r>
              <a:rPr lang="en-US" sz="1700" dirty="0">
                <a:solidFill>
                  <a:schemeClr val="tx1"/>
                </a:solidFill>
              </a:rPr>
              <a:t>Speaker's summary of §38.1.1. Monitor longer with GVHD, prior replication or after letermovir stops. No routine CMV monitoring after auto-HCT.</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Letermovir prophylaxis lowers CMV infection and all-cause mortality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5"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700" b="1" dirty="0">
                          <a:solidFill>
                            <a:schemeClr val="tx1"/>
                          </a:solidFill>
                        </a:rPr>
                        <a:t>Measure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Ch. 38 says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 and blood products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CMV− donor for a CMV− patient if possible; CMV-safe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Letermovir for 3 months</a:t>
                      </a:r>
                      <a:endParaRPr lang="en-US" sz="1700" dirty="0"/>
                    </a:p>
                    <a:p>
                      <a:pPr indent="0" marL="0">
                        <a:buNone/>
                      </a:pPr>
                      <a:r>
                        <a:rPr lang="en-US" sz="1700" dirty="0">
                          <a:solidFill>
                            <a:schemeClr val="tx1"/>
                          </a:solidFill>
                        </a:rPr>
                        <a:t>(Marty 2017)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Fewer csCMVi and lower all-cause mortality in CMV+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Longer letermovir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High-risk patients; reactivation common after stopping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Letermovir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[verify: 480 mg/day; 240 mg/day with ciclosporin]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Ganciclovir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Reduces CMV disease, but significant toxicity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Prophylactic immunoglobulin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Conflicting data; not recommended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Children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Letermovir not yet approved (Key Points)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CMV disease requires CMV in the affected tissue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6" name="Table 2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764024"/>
                <a:gridCol w="3300984"/>
              </a:tblGrid>
              <a:tr h="0">
                <a:tc>
                  <a:txBody>
                    <a:bodyPr/>
                    <a:lstStyle/>
                    <a:p>
                      <a:pPr indent="0" marL="0">
                        <a:buNone/>
                      </a:pPr>
                      <a:r>
                        <a:rPr lang="en-US" sz="1800" b="1" dirty="0">
                          <a:solidFill>
                            <a:schemeClr val="tx1"/>
                          </a:solidFill>
                        </a:rPr>
                        <a:t>Site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Diagnostic standard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Note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Any organ (default)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Symptoms + CMV in tissue:</a:t>
                      </a:r>
                      <a:endParaRPr lang="en-US" sz="1800" dirty="0"/>
                    </a:p>
                    <a:p>
                      <a:pPr indent="0" marL="0">
                        <a:buNone/>
                      </a:pPr>
                      <a:r>
                        <a:rPr lang="en-US" sz="1800" dirty="0">
                          <a:solidFill>
                            <a:schemeClr val="tx1"/>
                          </a:solidFill>
                        </a:rPr>
                        <a:t>histology, IHC, DNA hybridization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Blood qPCR is for monitoring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Pneumonia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High CMV DNA in BAL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Absence almost excludes it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Retinitis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Characteristic ophthalmologic findings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CMV in vitreous fluid helps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Encephalitis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CMV PCR in CSF supports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Other end-organ disease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Role of qPCR needs more study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8"/>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Key entities after allo-HCT: pneumonia and gastroenteritis (§38.1.1.1)</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CMV ·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Preemptive and disease therapy differ in drug choice and length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Box 29"/>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CMV detected after allo-HCT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30"/>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DNAemia, no disease</a:t>
            </a:r>
            <a:endParaRPr lang="en-US" sz="1400" dirty="0"/>
          </a:p>
        </p:txBody>
      </p:sp>
      <p:sp>
        <p:nvSpPr>
          <p:cNvPr id="11" name="Box 31"/>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Preemptive GCV, VGCV or foscarnet</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32"/>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 2 weeks;</a:t>
            </a:r>
            <a:endParaRPr lang="en-US" sz="1400" dirty="0"/>
          </a:p>
          <a:p>
            <a:pPr algn="ctr" indent="0" marL="0">
              <a:buNone/>
            </a:pPr>
            <a:r>
              <a:rPr lang="en-US" sz="1400" dirty="0">
                <a:solidFill>
                  <a:schemeClr val="tx1"/>
                </a:solidFill>
              </a:rPr>
              <a:t>choose by side effects</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33"/>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End-organ disease</a:t>
            </a:r>
            <a:endParaRPr lang="en-US" sz="1400" dirty="0"/>
          </a:p>
        </p:txBody>
      </p:sp>
      <p:sp>
        <p:nvSpPr>
          <p:cNvPr id="16" name="Box 34"/>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Ganciclovir or foscarnet</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35"/>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Longer (6–8 weeks);</a:t>
            </a:r>
            <a:endParaRPr lang="en-US" sz="1400" dirty="0"/>
          </a:p>
          <a:p>
            <a:pPr algn="ctr" indent="0" marL="0">
              <a:buNone/>
            </a:pPr>
            <a:r>
              <a:rPr lang="en-US" sz="1400" dirty="0">
                <a:solidFill>
                  <a:schemeClr val="tx1"/>
                </a:solidFill>
              </a:rPr>
              <a:t>± Ig for pneumonia</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36"/>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Resistant/refractory</a:t>
            </a:r>
            <a:endParaRPr lang="en-US" sz="1400" dirty="0"/>
          </a:p>
        </p:txBody>
      </p:sp>
      <p:sp>
        <p:nvSpPr>
          <p:cNvPr id="21" name="Box 37"/>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Maribavir (Avery 2022)</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38"/>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More effective, less toxic than others</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39"/>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Other drugs failed</a:t>
            </a:r>
            <a:endParaRPr lang="en-US" sz="1400" dirty="0"/>
          </a:p>
        </p:txBody>
      </p:sp>
      <p:sp>
        <p:nvSpPr>
          <p:cNvPr id="26" name="Box 40"/>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Cidofovir or</a:t>
            </a:r>
            <a:endParaRPr lang="en-US" sz="1500" dirty="0"/>
          </a:p>
          <a:p>
            <a:pPr algn="ctr" indent="0" marL="0">
              <a:buNone/>
            </a:pPr>
            <a:r>
              <a:rPr lang="en-US" sz="1500" b="1" dirty="0">
                <a:solidFill>
                  <a:schemeClr val="tx1"/>
                </a:solidFill>
              </a:rPr>
              <a:t>CMV-specific T cells</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41"/>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T cells weak on</a:t>
            </a:r>
            <a:endParaRPr lang="en-US" sz="1400" dirty="0"/>
          </a:p>
          <a:p>
            <a:pPr algn="ctr" indent="0" marL="0">
              <a:buNone/>
            </a:pPr>
            <a:r>
              <a:rPr lang="en-US" sz="1400" dirty="0">
                <a:solidFill>
                  <a:schemeClr val="tx1"/>
                </a:solidFill>
              </a:rPr>
              <a:t>steroids ≥ 2 mg/kg</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HSV · VZV</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Acyclovir dosing depends on the indication and on disease severity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8" name="Table 4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941064"/>
                <a:gridCol w="4489704"/>
                <a:gridCol w="2386584"/>
              </a:tblGrid>
              <a:tr h="0">
                <a:tc>
                  <a:txBody>
                    <a:bodyPr/>
                    <a:lstStyle/>
                    <a:p>
                      <a:pPr indent="0" marL="0">
                        <a:buNone/>
                      </a:pPr>
                      <a:r>
                        <a:rPr lang="en-US" sz="1600" b="1" dirty="0">
                          <a:solidFill>
                            <a:schemeClr val="tx1"/>
                          </a:solidFill>
                        </a:rPr>
                        <a:t>Indication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Regimen (Ch. 38)</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Duration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HSV prophylaxis, HSV+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Acyclovir 3×200 to 2×800 mg/d,</a:t>
                      </a:r>
                      <a:endParaRPr lang="en-US" sz="1600" dirty="0"/>
                    </a:p>
                    <a:p>
                      <a:pPr indent="0" marL="0">
                        <a:buNone/>
                      </a:pPr>
                      <a:r>
                        <a:rPr lang="en-US" sz="1600" dirty="0">
                          <a:solidFill>
                            <a:schemeClr val="tx1"/>
                          </a:solidFill>
                        </a:rPr>
                        <a:t>or valaciclovir 2×500 mg/d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4 weeks;</a:t>
                      </a:r>
                      <a:endParaRPr lang="en-US" sz="1600" dirty="0"/>
                    </a:p>
                    <a:p>
                      <a:pPr indent="0" marL="0">
                        <a:buNone/>
                      </a:pPr>
                      <a:r>
                        <a:rPr lang="en-US" sz="1600" dirty="0">
                          <a:solidFill>
                            <a:schemeClr val="tx1"/>
                          </a:solidFill>
                        </a:rPr>
                        <a:t>longer if VZV+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VZV prophylaxis, VZV+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Acyclovir 2×800 mg or valaciclovir 2×500 mg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12 months or end of 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VZV exposure, seronegative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Acyclovir or valaciclovir, start at once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 day 21 after exposure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Severe mucocutaneous/visceral HSV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 acyclovir 5 mg/kg (250 mg/m²) q8h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7–10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HSV pneumonia or encephalitis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 acyclovir 10 mg/kg (500 mg/m²) q8h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14–21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Varicella; disseminated/visceral VZV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 acyclovir 3 × 500 mg/m²/day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Acyclovir-resistant HSV (5–15%)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Foscarnet or cidofovir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Second line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HHV-6 · HHV-7 · HHV-8 · EBV</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HHV-6B is the main cause of viral encephalitis after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9"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5129784"/>
                <a:gridCol w="3483864"/>
              </a:tblGrid>
              <a:tr h="0">
                <a:tc>
                  <a:txBody>
                    <a:bodyPr/>
                    <a:lstStyle/>
                    <a:p>
                      <a:pPr indent="0" marL="0">
                        <a:buNone/>
                      </a:pPr>
                      <a:r>
                        <a:rPr lang="en-US" sz="1600" b="1" dirty="0">
                          <a:solidFill>
                            <a:schemeClr val="tx1"/>
                          </a:solidFill>
                        </a:rPr>
                        <a:t>Virus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clinical point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Management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HHV-6B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Leading viral encephalitis; CBT risk;</a:t>
                      </a:r>
                      <a:endParaRPr lang="en-US" sz="1600" dirty="0"/>
                    </a:p>
                    <a:p>
                      <a:pPr indent="0" marL="0">
                        <a:buNone/>
                      </a:pPr>
                      <a:r>
                        <a:rPr lang="en-US" sz="1600" dirty="0">
                          <a:solidFill>
                            <a:schemeClr val="tx1"/>
                          </a:solidFill>
                        </a:rPr>
                        <a:t>limbic pattern on MRI; CSF DNA+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Ganciclovir or foscarnet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Integrated HHV-6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Germline: strongly qPCR-positive,</a:t>
                      </a:r>
                      <a:endParaRPr lang="en-US" sz="1600" dirty="0"/>
                    </a:p>
                    <a:p>
                      <a:pPr indent="0" marL="0">
                        <a:buNone/>
                      </a:pPr>
                      <a:r>
                        <a:rPr lang="en-US" sz="1600" dirty="0">
                          <a:solidFill>
                            <a:schemeClr val="tx1"/>
                          </a:solidFill>
                        </a:rPr>
                        <a:t>not proof of replication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Serology not useful;</a:t>
                      </a:r>
                      <a:endParaRPr lang="en-US" sz="1600" dirty="0"/>
                    </a:p>
                    <a:p>
                      <a:pPr indent="0" marL="0">
                        <a:buNone/>
                      </a:pPr>
                      <a:r>
                        <a:rPr lang="en-US" sz="1600" dirty="0">
                          <a:solidFill>
                            <a:schemeClr val="tx1"/>
                          </a:solidFill>
                        </a:rPr>
                        <a:t>monitoring unproven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HHV-7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Rare CNS disease; possible CMV cofactor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specific treatment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HHV-8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Kaposi sarcoma, very rare; skin in adults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Excision or electrochemotherapy;</a:t>
                      </a:r>
                      <a:endParaRPr lang="en-US" sz="1600" dirty="0"/>
                    </a:p>
                    <a:p>
                      <a:pPr indent="0" marL="0">
                        <a:buNone/>
                      </a:pPr>
                      <a:r>
                        <a:rPr lang="en-US" sz="1600" dirty="0">
                          <a:solidFill>
                            <a:schemeClr val="tx1"/>
                          </a:solidFill>
                        </a:rPr>
                        <a:t>antivirals of no benefit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EBV</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PTLD or end-organ disease;</a:t>
                      </a:r>
                      <a:endParaRPr lang="en-US" sz="1600" dirty="0"/>
                    </a:p>
                    <a:p>
                      <a:pPr indent="0" marL="0">
                        <a:buNone/>
                      </a:pPr>
                      <a:r>
                        <a:rPr lang="en-US" sz="1600" dirty="0">
                          <a:solidFill>
                            <a:schemeClr val="tx1"/>
                          </a:solidFill>
                        </a:rPr>
                        <a:t>most reactivations subclinical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Antivirals ineffective;</a:t>
                      </a:r>
                      <a:endParaRPr lang="en-US" sz="1600" dirty="0"/>
                    </a:p>
                    <a:p>
                      <a:pPr indent="0" marL="0">
                        <a:buNone/>
                      </a:pPr>
                      <a:r>
                        <a:rPr lang="en-US" sz="1600" dirty="0">
                          <a:solidFill>
                            <a:schemeClr val="tx1"/>
                          </a:solidFill>
                        </a:rPr>
                        <a:t>anti-CD20 preemptively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COMMUNITY-ACQUIRED RESPIRATORY VIRUSES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CARV lower-tract disease is uncommon but can be lethal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10" name="Table 4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75304"/>
                <a:gridCol w="7242048"/>
              </a:tblGrid>
              <a:tr h="0">
                <a:tc>
                  <a:txBody>
                    <a:bodyPr/>
                    <a:lstStyle/>
                    <a:p>
                      <a:pPr indent="0" marL="0">
                        <a:buNone/>
                      </a:pPr>
                      <a:r>
                        <a:rPr lang="en-US" sz="1700" b="1" dirty="0">
                          <a:solidFill>
                            <a:schemeClr val="tx1"/>
                          </a:solidFill>
                        </a:rPr>
                        <a:t>Topic</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38 position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Lower-tract disease (LTD)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10–30% of CARV; mortality &lt; 5%, &gt; 30% if profound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Risk factors for LTD and death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Lymphopenia, neutropenia, steroids, GVHD, older age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Before HCT: LTD present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Delay transplant until resolution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Before HCT: upper tract only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Delay; rhinovirus or common coronavirus: weigh risks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Influenza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Vaccine at 6 months; early oseltamivir, often &gt; 5 days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RSV</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Ribavirin inhaled or systemic ± IVIG; no mAb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Parainfluenza, metapneumovirus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hPIV-3 worst; no prophylaxis; ribavirin data weak</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SARS-COV-2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COVID-19 therapy follows the phase of infection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11"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75304"/>
                <a:gridCol w="7242048"/>
              </a:tblGrid>
              <a:tr h="0">
                <a:tc>
                  <a:txBody>
                    <a:bodyPr/>
                    <a:lstStyle/>
                    <a:p>
                      <a:pPr indent="0" marL="0">
                        <a:buNone/>
                      </a:pPr>
                      <a:r>
                        <a:rPr lang="en-US" sz="1800" b="1" dirty="0">
                          <a:solidFill>
                            <a:schemeClr val="tx1"/>
                          </a:solidFill>
                        </a:rPr>
                        <a:t>Situation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ECIL 9 recommendation (Table 38.1)</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 or post-exposure, high risk</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Anti-spike mAb, if active against circulating variant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Mild/moderate, no O₂</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Nirmatrelvir/r, remdesivir or molnupiravir; or mAb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O₂ needed or severe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Dexamethasone ± anti-IL-6, JAKi or anakinra; remdesivir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Critical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Dexamethasone ± anti-IL-6; remdesivir; mAb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Vaccination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mRNA × 3 from 3–6 months, booster 3–4 months later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Positive before HCT or CAR-T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Defer until clinical and virological negativity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ADENOVIRUS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Adenovirus is monitored by risk and treated preemptively with cidofovir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12" name="Table 4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75304"/>
                <a:gridCol w="7242048"/>
              </a:tblGrid>
              <a:tr h="0">
                <a:tc>
                  <a:txBody>
                    <a:bodyPr/>
                    <a:lstStyle/>
                    <a:p>
                      <a:pPr indent="0" marL="0">
                        <a:buNone/>
                      </a:pPr>
                      <a:r>
                        <a:rPr lang="en-US" sz="1700" b="1" dirty="0">
                          <a:solidFill>
                            <a:schemeClr val="tx1"/>
                          </a:solidFill>
                        </a:rPr>
                        <a:t>Step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38 recommendation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Haplo/URD, CBT, TCD, grade III–IV GVHD, ATG or alemtuzumab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Monitoring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Weekly blood qPCR if ≥ 1 risk factor, until CD3 &gt; 300/mm³</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Prevention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Strict isolation and hygiene; no antiviral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Preemptive (rising load +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Cidofovir 3–5 mg/kg weekly × 2–3, then every other week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Probable or proven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Cidofovir 5 mg/kg weekly ≥ 3 doses, then q2w + probenecid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Non-responders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Taper IS; donor ADV-specific CTLs; ribavirin if species C</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Invasive ADV: children 6–42%, adults 3–15%; most within 100 days of HCT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DEFINITIONS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Proven EBV disease needs EBER in tissue; probable disease does not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13"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7699248"/>
              </a:tblGrid>
              <a:tr h="0">
                <a:tc>
                  <a:txBody>
                    <a:bodyPr/>
                    <a:lstStyle/>
                    <a:p>
                      <a:pPr indent="0" marL="0">
                        <a:buNone/>
                      </a:pPr>
                      <a:r>
                        <a:rPr lang="en-US" sz="1700" b="1" dirty="0">
                          <a:solidFill>
                            <a:schemeClr val="tx1"/>
                          </a:solidFill>
                        </a:rPr>
                        <a:t>Term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Definition (Ch. 45)</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Proven EBV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Organ symptoms or signs + EBER-ISH in a tissue specimen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Probable EBV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Nodes, HSM or organ signs + high EBV DNA; no other cause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WHO 2016: six types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Plasmacytic, IM-like, florid follicular, polymorphic,</a:t>
                      </a:r>
                      <a:endParaRPr lang="en-US" sz="1700" dirty="0"/>
                    </a:p>
                    <a:p>
                      <a:pPr indent="0" marL="0">
                        <a:buNone/>
                      </a:pPr>
                      <a:r>
                        <a:rPr lang="en-US" sz="1700" dirty="0">
                          <a:solidFill>
                            <a:schemeClr val="tx1"/>
                          </a:solidFill>
                        </a:rPr>
                        <a:t>monomorphic (B or T/NK), classical Hodgkin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WHO 2022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PTLD no longer listed: immunodeficiency-associated LPD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EBV-negative PTLD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Mainly SOT; &gt; 5 years; regard as lymphoma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T-lineage PTLD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4–15% of PTLD; EBV+ in about one-third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PTLD risk tracks the depth of T-cell impairment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14" name="Table 4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946904"/>
                <a:gridCol w="3118104"/>
              </a:tblGrid>
              <a:tr h="0">
                <a:tc>
                  <a:txBody>
                    <a:bodyPr/>
                    <a:lstStyle/>
                    <a:p>
                      <a:pPr indent="0" marL="0">
                        <a:buNone/>
                      </a:pPr>
                      <a:r>
                        <a:rPr lang="en-US" sz="1700" b="1" dirty="0">
                          <a:solidFill>
                            <a:schemeClr val="tx1"/>
                          </a:solidFill>
                        </a:rPr>
                        <a:t>ECIL-6 risk group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Patients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PTLD incidence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MUD / MMUD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3.97% / 11.24%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Alternative donors, including CBT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CBT 4.06%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High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MFD + ≥ 1 risk factor: TCD,</a:t>
                      </a:r>
                      <a:endParaRPr lang="en-US" sz="1700" dirty="0"/>
                    </a:p>
                    <a:p>
                      <a:pPr indent="0" marL="0">
                        <a:buNone/>
                      </a:pPr>
                      <a:r>
                        <a:rPr lang="en-US" sz="1700" dirty="0">
                          <a:solidFill>
                            <a:schemeClr val="tx1"/>
                          </a:solidFill>
                        </a:rPr>
                        <a:t>EBV mismatch, splenectomy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Standard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MFD without 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MFD overall 1.16%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Standard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Haplo-HCT with PTCy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Lowest EBV-DNA-emia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Low</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Auto-HCT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Casuistic (no TCD)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0"/>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All allo-HCT 3.22%; MMFD 2.86%. Median onset 2–4 months; 90% within 6 months (Tables 45.1, 45.3)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MONITORING AND STAGING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EBV DNA is monitored weekly, but no threshold defines PTLD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15" name="Table 5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7699248"/>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45 recommendation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Start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After haematological recovery, ≤ 4 weeks after 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Frequency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Weekly if negative; more often if rising (doubling 56 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Duration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4 months if high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Monitor longer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Poor T-cell recovery, severe GVHD, haplo, TCD,</a:t>
                      </a:r>
                      <a:endParaRPr lang="en-US" sz="1700" dirty="0"/>
                    </a:p>
                    <a:p>
                      <a:pPr indent="0" marL="0">
                        <a:buNone/>
                      </a:pPr>
                      <a:r>
                        <a:rPr lang="en-US" sz="1700" dirty="0">
                          <a:solidFill>
                            <a:schemeClr val="tx1"/>
                          </a:solidFill>
                        </a:rPr>
                        <a:t>ATG/alemtuzumab, early reactivation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Threshold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None universal; centre-specific, with kinetics and immunity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Imaging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FDG-PET-CT (most PTLD avid); MRI for CNS or non-avid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Staging (ECIL-6, Lugano)</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Limited: stage I–II; advanced: stage III–IV</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STRATEGY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EBV management moves from prophylaxis to preemption to treatment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sp>
        <p:nvSpPr>
          <p:cNvPr id="6" name="Box 5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EBV after allo-HCT: no effective antiviral drug</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3"/>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Seropositive, no DNAemia</a:t>
            </a:r>
            <a:endParaRPr lang="en-US" sz="1400" dirty="0"/>
          </a:p>
        </p:txBody>
      </p:sp>
      <p:sp>
        <p:nvSpPr>
          <p:cNvPr id="11" name="Box 54"/>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Prophylaxis (rarely used)</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5"/>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Rituximab or EBV-CTL</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6"/>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DNAemia, no disease</a:t>
            </a:r>
            <a:endParaRPr lang="en-US" sz="1400" dirty="0"/>
          </a:p>
        </p:txBody>
      </p:sp>
      <p:sp>
        <p:nvSpPr>
          <p:cNvPr id="16" name="Box 57"/>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Preemptive therapy</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8"/>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Rituximab weekly,</a:t>
            </a:r>
            <a:endParaRPr lang="en-US" sz="1500" dirty="0"/>
          </a:p>
          <a:p>
            <a:pPr algn="ctr" indent="0" marL="0">
              <a:buNone/>
            </a:pPr>
            <a:r>
              <a:rPr lang="en-US" sz="1500" dirty="0">
                <a:solidFill>
                  <a:schemeClr val="tx1"/>
                </a:solidFill>
              </a:rPr>
              <a:t>1–2 doses, + RIS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9"/>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Probable/proven PTLD</a:t>
            </a:r>
            <a:endParaRPr lang="en-US" sz="1400" dirty="0"/>
          </a:p>
        </p:txBody>
      </p:sp>
      <p:sp>
        <p:nvSpPr>
          <p:cNvPr id="21" name="Box 60"/>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First-line treatment</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61"/>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Rituximab 375 mg/m²</a:t>
            </a:r>
            <a:endParaRPr lang="en-US" sz="1500" dirty="0"/>
          </a:p>
          <a:p>
            <a:pPr algn="ctr" indent="0" marL="0">
              <a:buNone/>
            </a:pPr>
            <a:r>
              <a:rPr lang="en-US" sz="1500" dirty="0">
                <a:solidFill>
                  <a:schemeClr val="tx1"/>
                </a:solidFill>
              </a:rPr>
              <a:t>weekly + RIS ± EBV-CTL</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PTLD · RESPONSE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Rituximab, RIS and EBV-specific T cells give the best responses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17" name="Table 6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764024"/>
                <a:gridCol w="3026664"/>
                <a:gridCol w="3026664"/>
              </a:tblGrid>
              <a:tr h="0">
                <a:tc>
                  <a:txBody>
                    <a:bodyPr/>
                    <a:lstStyle/>
                    <a:p>
                      <a:pPr indent="0" marL="0">
                        <a:buNone/>
                      </a:pPr>
                      <a:r>
                        <a:rPr lang="en-US" sz="1600" b="1" dirty="0">
                          <a:solidFill>
                            <a:schemeClr val="tx1"/>
                          </a:solidFill>
                        </a:rPr>
                        <a:t>Strategy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Preemptive therapy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Treatment of PTLD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 + RIS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EBV-CTL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94–100%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71–75%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RIS alone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DLI (with other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Chemotherapy (with other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Cidofovir (with other 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After rituximab failure: DLI or EBV-CTL, or chemo ± rituximab; tabelecleucel (EMA 2022)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CMV DNAemia after letermovir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Text 64"/>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48-year-old CMV-seropositive woman had a matched unrelated donor allo-HCT for AML and took letermovir until day 100. On day 128, weekly plasma CMV qPCR has risen on two consecutive samples. She is asymptomatic, with normal counts and renal function and no GVHD. What is the most appropriate next step?</a:t>
            </a:r>
            <a:endParaRPr lang="en-US" sz="1900" dirty="0"/>
          </a:p>
        </p:txBody>
      </p:sp>
      <p:sp>
        <p:nvSpPr>
          <p:cNvPr id="7" name="Text 65"/>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Stop CMV monitoring, since prophylaxis has been completed</a:t>
            </a:r>
            <a:endParaRPr lang="en-US" sz="1800" dirty="0"/>
          </a:p>
          <a:p>
            <a:pPr indent="0" marL="0">
              <a:spcAft>
                <a:spcPts val="800"/>
              </a:spcAft>
              <a:buNone/>
            </a:pPr>
            <a:r>
              <a:rPr lang="en-US" sz="1800" dirty="0">
                <a:solidFill>
                  <a:schemeClr val="tx1"/>
                </a:solidFill>
              </a:rPr>
              <a:t>B.  Preemptive valganciclovir, ganciclovir or foscarnet for ≥ 2 weeks</a:t>
            </a:r>
            <a:endParaRPr lang="en-US" sz="1800" dirty="0"/>
          </a:p>
          <a:p>
            <a:pPr indent="0" marL="0">
              <a:spcAft>
                <a:spcPts val="800"/>
              </a:spcAft>
              <a:buNone/>
            </a:pPr>
            <a:r>
              <a:rPr lang="en-US" sz="1800" dirty="0">
                <a:solidFill>
                  <a:schemeClr val="tx1"/>
                </a:solidFill>
              </a:rPr>
              <a:t>C.  Maribavir as first-line preemptive therapy</a:t>
            </a:r>
            <a:endParaRPr lang="en-US" sz="1800" dirty="0"/>
          </a:p>
          <a:p>
            <a:pPr indent="0" marL="0">
              <a:spcAft>
                <a:spcPts val="800"/>
              </a:spcAft>
              <a:buNone/>
            </a:pPr>
            <a:r>
              <a:rPr lang="en-US" sz="1800" dirty="0">
                <a:solidFill>
                  <a:schemeClr val="tx1"/>
                </a:solidFill>
              </a:rPr>
              <a:t>D.  High-dose immunoglobulin alone</a:t>
            </a:r>
            <a:endParaRPr lang="en-US" sz="1800" dirty="0"/>
          </a:p>
          <a:p>
            <a:pPr indent="0" marL="0">
              <a:spcAft>
                <a:spcPts val="800"/>
              </a:spcAft>
              <a:buNone/>
            </a:pPr>
            <a:r>
              <a:rPr lang="en-US" sz="1800" dirty="0">
                <a:solidFill>
                  <a:schemeClr val="tx1"/>
                </a:solidFill>
              </a:rPr>
              <a:t>E.  Withhold treatment until a biopsy proves CMV disease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start preemptive therapy now</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Box 66"/>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Preemptive valganciclovir, ganciclovir or foscarnet for ≥ 2 weeks</a:t>
            </a:r>
            <a:endParaRPr lang="en-US" sz="2000" dirty="0"/>
          </a:p>
        </p:txBody>
      </p:sp>
      <p:sp>
        <p:nvSpPr>
          <p:cNvPr id="7" name="Text 67"/>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Reactivation is common after letermovir stops, so monitoring must continue. Ganciclovir, valganciclovir and foscarnet are similarly effective as preemptive therapy; choose by side effects and practicality, usually for ≥ 2 weeks. Maribavir is for resistant or refractory infection. Ig is not supported; preemptive therapy is given before disease.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encephalitis after cord blood 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Text 68"/>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26-year-old woman with ALL is 24 days after a cord blood transplant. She develops confusion, memory loss and a seizure. MRI shows bilateral medial temporal (limbic) signal change, and CSF PCR is positive for HHV-6 DNA; CSF HSV and CMV PCR are negative. What is the most appropriate treatment?</a:t>
            </a:r>
            <a:endParaRPr lang="en-US" sz="1900" dirty="0"/>
          </a:p>
        </p:txBody>
      </p:sp>
      <p:sp>
        <p:nvSpPr>
          <p:cNvPr id="7" name="Text 69"/>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IV acyclovir 10 mg/kg q8h for 14–21 days</a:t>
            </a:r>
            <a:endParaRPr lang="en-US" sz="1800" dirty="0"/>
          </a:p>
          <a:p>
            <a:pPr indent="0" marL="0">
              <a:spcAft>
                <a:spcPts val="800"/>
              </a:spcAft>
              <a:buNone/>
            </a:pPr>
            <a:r>
              <a:rPr lang="en-US" sz="1800" dirty="0">
                <a:solidFill>
                  <a:schemeClr val="tx1"/>
                </a:solidFill>
              </a:rPr>
              <a:t>B.  Ganciclovir or foscarnet</a:t>
            </a:r>
            <a:endParaRPr lang="en-US" sz="1800" dirty="0"/>
          </a:p>
          <a:p>
            <a:pPr indent="0" marL="0">
              <a:spcAft>
                <a:spcPts val="800"/>
              </a:spcAft>
              <a:buNone/>
            </a:pPr>
            <a:r>
              <a:rPr lang="en-US" sz="1800" dirty="0">
                <a:solidFill>
                  <a:schemeClr val="tx1"/>
                </a:solidFill>
              </a:rPr>
              <a:t>C.  Cidofovir 5 mg/kg weekly with probenecid</a:t>
            </a:r>
            <a:endParaRPr lang="en-US" sz="1800" dirty="0"/>
          </a:p>
          <a:p>
            <a:pPr indent="0" marL="0">
              <a:spcAft>
                <a:spcPts val="800"/>
              </a:spcAft>
              <a:buNone/>
            </a:pPr>
            <a:r>
              <a:rPr lang="en-US" sz="1800" dirty="0">
                <a:solidFill>
                  <a:schemeClr val="tx1"/>
                </a:solidFill>
              </a:rPr>
              <a:t>D.  No antiviral, as strong HHV-6 PCR reflects germline integration</a:t>
            </a:r>
            <a:endParaRPr lang="en-US" sz="1800" dirty="0"/>
          </a:p>
          <a:p>
            <a:pPr indent="0" marL="0">
              <a:spcAft>
                <a:spcPts val="800"/>
              </a:spcAft>
              <a:buNone/>
            </a:pPr>
            <a:r>
              <a:rPr lang="en-US" sz="1800" dirty="0">
                <a:solidFill>
                  <a:schemeClr val="tx1"/>
                </a:solidFill>
              </a:rPr>
              <a:t>E.  Ribavirin plus IVIG</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ganciclovir or foscarnet for HHV-6</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sp>
        <p:nvSpPr>
          <p:cNvPr id="6" name="Box 70"/>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Ganciclovir or foscarnet</a:t>
            </a:r>
            <a:endParaRPr lang="en-US" sz="2000" dirty="0"/>
          </a:p>
        </p:txBody>
      </p:sp>
      <p:sp>
        <p:nvSpPr>
          <p:cNvPr id="7" name="Text 71"/>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HHV-6B is the main cause of viral encephalitis after allo-HCT, and CBT raises the risk. MRI typically shows limbic encephalitis and CSF HHV-6 DNA is usually positive. Either ganciclovir or foscarnet can be used. Option A is the HSV encephalitis regimen; germline integration explains strong blood qPCR, not this clinical syndrome.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first-line therapy for EBV-PTLD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sp>
        <p:nvSpPr>
          <p:cNvPr id="6" name="Text 72"/>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34-year-old man is 75 days after a 9/10 HLA-mismatched unrelated donor allo-HCT with ATG. He has fever and cervical lymphadenopathy; blood EBV DNA has risen sharply over 2 weeks. A node biopsy shows a monomorphic B-cell lesion positive for EBER-ISH. He has stage 1 skin GVHD on tacrolimus. Best first-line therapy?</a:t>
            </a:r>
            <a:endParaRPr lang="en-US" sz="1900" dirty="0"/>
          </a:p>
        </p:txBody>
      </p:sp>
      <p:sp>
        <p:nvSpPr>
          <p:cNvPr id="7" name="Text 73"/>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IV ganciclovir until EBV DNA is negative</a:t>
            </a:r>
            <a:endParaRPr lang="en-US" sz="1800" dirty="0"/>
          </a:p>
          <a:p>
            <a:pPr indent="0" marL="0">
              <a:spcAft>
                <a:spcPts val="800"/>
              </a:spcAft>
              <a:buNone/>
            </a:pPr>
            <a:r>
              <a:rPr lang="en-US" sz="1800" dirty="0">
                <a:solidFill>
                  <a:schemeClr val="tx1"/>
                </a:solidFill>
              </a:rPr>
              <a:t>B.  Rituximab 375 mg/m² weekly with reduction of immunosuppression</a:t>
            </a:r>
            <a:endParaRPr lang="en-US" sz="1800" dirty="0"/>
          </a:p>
          <a:p>
            <a:pPr indent="0" marL="0">
              <a:spcAft>
                <a:spcPts val="800"/>
              </a:spcAft>
              <a:buNone/>
            </a:pPr>
            <a:r>
              <a:rPr lang="en-US" sz="1800" dirty="0">
                <a:solidFill>
                  <a:schemeClr val="tx1"/>
                </a:solidFill>
              </a:rPr>
              <a:t>C.  IVIG plus interferon-α</a:t>
            </a:r>
            <a:endParaRPr lang="en-US" sz="1800" dirty="0"/>
          </a:p>
          <a:p>
            <a:pPr indent="0" marL="0">
              <a:spcAft>
                <a:spcPts val="800"/>
              </a:spcAft>
              <a:buNone/>
            </a:pPr>
            <a:r>
              <a:rPr lang="en-US" sz="1800" dirty="0">
                <a:solidFill>
                  <a:schemeClr val="tx1"/>
                </a:solidFill>
              </a:rPr>
              <a:t>D.  Immediate R-CHOP chemotherapy</a:t>
            </a:r>
            <a:endParaRPr lang="en-US" sz="1800" dirty="0"/>
          </a:p>
          <a:p>
            <a:pPr indent="0" marL="0">
              <a:spcAft>
                <a:spcPts val="800"/>
              </a:spcAft>
              <a:buNone/>
            </a:pPr>
            <a:r>
              <a:rPr lang="en-US" sz="1800" dirty="0">
                <a:solidFill>
                  <a:schemeClr val="tx1"/>
                </a:solidFill>
              </a:rPr>
              <a:t>E.  Observation with repeat EBV PCR in one week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rituximab plus RIS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sp>
        <p:nvSpPr>
          <p:cNvPr id="6" name="Box 74"/>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Rituximab 375 mg/m² weekly with reduction of immunosuppression</a:t>
            </a:r>
            <a:endParaRPr lang="en-US" sz="2000" dirty="0"/>
          </a:p>
        </p:txBody>
      </p:sp>
      <p:sp>
        <p:nvSpPr>
          <p:cNvPr id="7" name="Text 75"/>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Symptoms plus EBER-ISH in tissue = proven EBV-PTLD; treat at once. First line: rituximab 375 mg/m² weekly, with RIS unless GVHD is severe and uncontrolled, or EBV-CTL if available. Response: rituximab 65%, with RIS 78%. Chemotherapy ± rituximab is second line. Antivirals, IVIG and interferon have no role.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a:t>
            </a:r>
            <a:endParaRPr lang="en-US" sz="3600" dirty="0"/>
          </a:p>
        </p:txBody>
      </p:sp>
      <p:sp>
        <p:nvSpPr>
          <p:cNvPr id="5" name="Text 7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Ljungman P, Piñana JL, Cesaro S, de la Cámara R. Viral infections. In: Sureda A, Corbacioglu S, Greco R, Kröger N, Carreras E, editors. The EBMT Handbook: Hematopoietic Cell Transplantation and Cellular Therapies. 8th ed. Cham: Springer; 2024. p. 331–43. https://doi.org/10.1007/978-3-031-44080-9_38</a:t>
            </a:r>
            <a:endParaRPr lang="en-US" sz="1100" dirty="0"/>
          </a:p>
          <a:p>
            <a:pPr indent="0" marL="0">
              <a:spcAft>
                <a:spcPts val="700"/>
              </a:spcAft>
              <a:buNone/>
            </a:pPr>
            <a:r>
              <a:rPr lang="en-US" sz="1100" dirty="0">
                <a:solidFill>
                  <a:schemeClr val="tx1"/>
                </a:solidFill>
              </a:rPr>
              <a:t>2. Styczynski J, Giebel S. Posttransplant lymphoproliferative syndromes. In: Sureda A, Corbacioglu S, Greco R, Kröger N, Carreras E, editors. The EBMT Handbook: Hematopoietic Cell Transplantation and Cellular Therapies. 8th ed. Cham: Springer; 2024. p. 411–17. https://doi.org/10.1007/978-3-031-44080-9_45</a:t>
            </a:r>
            <a:endParaRPr lang="en-US" sz="1100" dirty="0"/>
          </a:p>
          <a:p>
            <a:pPr indent="0" marL="0">
              <a:spcAft>
                <a:spcPts val="700"/>
              </a:spcAft>
              <a:buNone/>
            </a:pPr>
            <a:r>
              <a:rPr lang="en-US" sz="1100" dirty="0">
                <a:solidFill>
                  <a:schemeClr val="tx1"/>
                </a:solidFill>
              </a:rPr>
              <a:t>3. Marty FM, Ljungman P, Chemaly RF, et al. Letermovir prophylaxis for cytomegalovirus in hematopoietic-cell transplantation. N Engl J Med. 2017;377(25):2433–44.</a:t>
            </a:r>
            <a:endParaRPr lang="en-US" sz="1100" dirty="0"/>
          </a:p>
        </p:txBody>
      </p:sp>
      <p:sp>
        <p:nvSpPr>
          <p:cNvPr id="6" name="Text 7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Avery RK, Alain S, Alexander BD, et al. Maribavir for refractory cytomegalovirus infections with or without resistance post-transplant: results from a phase 3 randomized clinical trial. Clin Infect Dis. 2022;75(4):690–701.</a:t>
            </a:r>
            <a:endParaRPr lang="en-US" sz="1100" dirty="0"/>
          </a:p>
          <a:p>
            <a:pPr indent="0" marL="0">
              <a:spcAft>
                <a:spcPts val="700"/>
              </a:spcAft>
              <a:buNone/>
            </a:pPr>
            <a:r>
              <a:rPr lang="en-US" sz="1100" dirty="0">
                <a:solidFill>
                  <a:schemeClr val="tx1"/>
                </a:solidFill>
              </a:rPr>
              <a:t>5. Cesaro S, Ljungman P, Mikulska M, et al. Recommendations for the management of COVID-19 in patients with haematological malignancies or haematopoietic cell transplantation, from the 2021 European conference on infections in Leukaemia (ECIL 9). Leukemia. 2022;36:1467–80.</a:t>
            </a:r>
            <a:endParaRPr lang="en-US" sz="1100" dirty="0"/>
          </a:p>
          <a:p>
            <a:pPr indent="0" marL="0">
              <a:spcAft>
                <a:spcPts val="700"/>
              </a:spcAft>
              <a:buNone/>
            </a:pPr>
            <a:r>
              <a:rPr lang="en-US" sz="1100" dirty="0">
                <a:solidFill>
                  <a:schemeClr val="tx1"/>
                </a:solidFill>
              </a:rPr>
              <a:t>6. Styczynski J, van der Velden W, Fox CP, et al. Management of Epstein-Barr virus infections and post-transplant lymphoproliferative disorders in patients after allogeneic hematopoietic stem cell transplantation: sixth European conference on infections in leukemia (ECIL-6) guidelines. Haematologica. 2016b;101:803–11.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VZV · TREATMENT DETAIL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Localized zoster is treated orally until the lesions crust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25" name="Table 7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600" b="1" dirty="0">
                          <a:solidFill>
                            <a:schemeClr val="tx1"/>
                          </a:solidFill>
                        </a:rPr>
                        <a:t>Situation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Regimen (Ch. 38)</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Localized or limited VZV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Valaciclovir 3 × 1000 mg, acyclovir 5 × 800 mg</a:t>
                      </a:r>
                      <a:endParaRPr lang="en-US" sz="1600" dirty="0"/>
                    </a:p>
                    <a:p>
                      <a:pPr indent="0" marL="0">
                        <a:buNone/>
                      </a:pPr>
                      <a:r>
                        <a:rPr lang="en-US" sz="1600" dirty="0">
                          <a:solidFill>
                            <a:schemeClr val="tx1"/>
                          </a:solidFill>
                        </a:rPr>
                        <a:t>(children 4 × 20 mg/kg) or famciclovir 3 × 500 mg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Duration, oral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Until lesions crust, usually 7–10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Acyclovir-resistant VZV (rare)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Foscarnet 60 mg/kg q12h, or cidofovir 5 mg/kg weekly</a:t>
                      </a:r>
                      <a:endParaRPr lang="en-US" sz="1600" dirty="0"/>
                    </a:p>
                    <a:p>
                      <a:pPr indent="0" marL="0">
                        <a:buNone/>
                      </a:pPr>
                      <a:r>
                        <a:rPr lang="en-US" sz="1600" dirty="0">
                          <a:solidFill>
                            <a:schemeClr val="tx1"/>
                          </a:solidFill>
                        </a:rPr>
                        <a:t>with probenecid and hydration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Less serious HSV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Acyclovir 5 × 200 to 5 × 400 mg/day, valaciclovir</a:t>
                      </a:r>
                      <a:endParaRPr lang="en-US" sz="1600" dirty="0"/>
                    </a:p>
                    <a:p>
                      <a:pPr indent="0" marL="0">
                        <a:buNone/>
                      </a:pPr>
                      <a:r>
                        <a:rPr lang="en-US" sz="1600" dirty="0">
                          <a:solidFill>
                            <a:schemeClr val="tx1"/>
                          </a:solidFill>
                        </a:rPr>
                        <a:t>or famciclovir 2 × 500 mg/day, 10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VZIg, cellular 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VZIg not recommended; cellular therapy case reports only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RARE VIRUSES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PML, norovirus and donor-borne viruses need specific checks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Ljungman P, et al. EBMT Handbook 8th ed. 2024; Ch. 38</a:t>
            </a:r>
            <a:endParaRPr lang="en-US" sz="1000" dirty="0"/>
          </a:p>
        </p:txBody>
      </p:sp>
      <p:graphicFrame>
        <p:nvGraphicFramePr>
          <p:cNvPr id="26"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5312664"/>
                <a:gridCol w="3300984"/>
              </a:tblGrid>
              <a:tr h="0">
                <a:tc>
                  <a:txBody>
                    <a:bodyPr/>
                    <a:lstStyle/>
                    <a:p>
                      <a:pPr indent="0" marL="0">
                        <a:buNone/>
                      </a:pPr>
                      <a:r>
                        <a:rPr lang="en-US" sz="1700" b="1" dirty="0">
                          <a:solidFill>
                            <a:schemeClr val="tx1"/>
                          </a:solidFill>
                        </a:rPr>
                        <a:t>Virus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Key point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Action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JCV (PML)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Definite: clinical + imaging + CSF JCV 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specific therapy;</a:t>
                      </a:r>
                      <a:endParaRPr lang="en-US" sz="1700" dirty="0"/>
                    </a:p>
                    <a:p>
                      <a:pPr indent="0" marL="0">
                        <a:buNone/>
                      </a:pPr>
                      <a:r>
                        <a:rPr lang="en-US" sz="1700" dirty="0">
                          <a:solidFill>
                            <a:schemeClr val="tx1"/>
                          </a:solidFill>
                        </a:rPr>
                        <a:t>restore immunity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Norovirus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Mimics gut GVHD; crypt apoptosis,</a:t>
                      </a:r>
                      <a:endParaRPr lang="en-US" sz="1700" dirty="0"/>
                    </a:p>
                    <a:p>
                      <a:pPr indent="0" marL="0">
                        <a:buNone/>
                      </a:pPr>
                      <a:r>
                        <a:rPr lang="en-US" sz="1700" dirty="0">
                          <a:solidFill>
                            <a:schemeClr val="tx1"/>
                          </a:solidFill>
                        </a:rPr>
                        <a:t>but small bowel only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Stool RT-PCR before</a:t>
                      </a:r>
                      <a:endParaRPr lang="en-US" sz="1700" dirty="0"/>
                    </a:p>
                    <a:p>
                      <a:pPr indent="0" marL="0">
                        <a:buNone/>
                      </a:pPr>
                      <a:r>
                        <a:rPr lang="en-US" sz="1700" dirty="0">
                          <a:solidFill>
                            <a:schemeClr val="tx1"/>
                          </a:solidFill>
                        </a:rPr>
                        <a:t>escalating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Zika, West Nile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Transmissible by blood and progenitor cells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Defer donor ≥ 28 days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HTLV-1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ATLL; spread by blood and progenitors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Screen donors from</a:t>
                      </a:r>
                      <a:endParaRPr lang="en-US" sz="1700" dirty="0"/>
                    </a:p>
                    <a:p>
                      <a:pPr indent="0" marL="0">
                        <a:buNone/>
                      </a:pPr>
                      <a:r>
                        <a:rPr lang="en-US" sz="1700" dirty="0">
                          <a:solidFill>
                            <a:schemeClr val="tx1"/>
                          </a:solidFill>
                        </a:rPr>
                        <a:t>endemic regions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PTLD · CNS AND RESPONSE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CNS PTLD lacks a standard; response is judged by EBV DNA and imaging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Styczynski J, Giebel S. EBMT Handbook 8th ed. 2024; Ch. 45</a:t>
            </a:r>
            <a:endParaRPr lang="en-US" sz="1000" dirty="0"/>
          </a:p>
        </p:txBody>
      </p:sp>
      <p:graphicFrame>
        <p:nvGraphicFramePr>
          <p:cNvPr id="27" name="Table 8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700" b="1" dirty="0">
                          <a:solidFill>
                            <a:schemeClr val="tx1"/>
                          </a:solidFill>
                        </a:rPr>
                        <a:t>Topic</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45</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CNS PTLD options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Rituximab IV or intrathecal (10–30 mg weekly); EBV-CTL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CNS PTLD, other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Radiotherapy; HD-MTX ± cytarabine ± rituximab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Early response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1 log fall in EBV DNA in the first week of rituximab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Complete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 PTLD symptoms resolved and EBV-DNA-emia cleared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Partial response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50% decrease of initial changes, including EBV DNA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Confirm response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PET-negative CR if avid; CT/MRI if non-avid or CNS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Viral infections and EBV-PTLD</dc:title>
  <dc:subject>PptxGenJS Presentation</dc:subject>
  <dc:creator>Hsieh-Ting Lin, MD</dc:creator>
  <cp:lastModifiedBy>Hsieh-Ting Lin, MD</cp:lastModifiedBy>
  <cp:revision>1</cp:revision>
  <dcterms:created xsi:type="dcterms:W3CDTF">2026-10-09T16:07:07Z</dcterms:created>
  <dcterms:modified xsi:type="dcterms:W3CDTF">2026-10-09T16:07:07Z</dcterms:modified>
</cp:coreProperties>
</file>