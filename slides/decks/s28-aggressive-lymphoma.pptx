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96f873c-bb83-0fcd-3c35-29472bca483a}">
          <p14:sldIdLst>
            <p14:sldId id="256"/>
            <p14:sldId id="257"/>
          </p14:sldIdLst>
        </p14:section>
        <p14:section name="Large B-cell lymphoma" id="{325e1f2b-b860-d673-3c1e-cb34e34cdb3e}">
          <p14:sldIdLst>
            <p14:sldId id="258"/>
            <p14:sldId id="259"/>
            <p14:sldId id="260"/>
            <p14:sldId id="261"/>
            <p14:sldId id="262"/>
            <p14:sldId id="263"/>
          </p14:sldIdLst>
        </p14:section>
        <p14:section name="Mantle cell lymphoma" id="{255cc63c-8c3f-862e-38fd-10003ec9dc85}">
          <p14:sldIdLst>
            <p14:sldId id="264"/>
            <p14:sldId id="265"/>
            <p14:sldId id="266"/>
          </p14:sldIdLst>
        </p14:section>
        <p14:section name="Other aggressive lymphomas" id="{a63874c0-2089-b314-6131-118335e10139}">
          <p14:sldIdLst>
            <p14:sldId id="267"/>
            <p14:sldId id="268"/>
            <p14:sldId id="269"/>
            <p14:sldId id="270"/>
          </p14:sldIdLst>
        </p14:section>
        <p14:section name="Board questions" id="{73a0a5a6-6d91-618a-473e-13c3e4f45129}">
          <p14:sldIdLst>
            <p14:sldId id="271"/>
            <p14:sldId id="272"/>
            <p14:sldId id="273"/>
            <p14:sldId id="274"/>
            <p14:sldId id="275"/>
            <p14:sldId id="276"/>
          </p14:sldIdLst>
        </p14:section>
        <p14:section name="References" id="{199d6e14-a7a7-3b6d-1615-2310892d359b}">
          <p14:sldIdLst>
            <p14:sldId id="277"/>
            <p14:sldId id="278"/>
            <p14:sldId id="279"/>
            <p14:sldId id="280"/>
            <p14:sldId id="281"/>
          </p14:sldIdLst>
        </p14:section>
        <p14:section name="Backup" id="{b4aa34f4-bb70-4f3e-113c-cf1aca271dd6}">
          <p14:sldIdLst>
            <p14:sldId id="282"/>
            <p14:sldId id="283"/>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各位好，第 28 堂講 aggressive lymphoma 的移植，對應 EBMT Handbook 第 86 到 88 章。先講 large B-cell lymphoma，再講 mantle cell，最後是 Burkitt、T-cell 和 HIV 相關淋巴瘤，結尾三題練習。</a:t>
            </a:r>
          </a:p>
          <a:p>
            <a:pPr>
              <a:spcAft>
                <a:spcPts val="600"/>
              </a:spcAft>
            </a:pPr>
            <a:r>
              <a:rPr lang="en-US" dirty="0"/>
              <a:t>Large B-cell 這段最長，大約十分鐘，因為 CAR-T 進到第二線之後，auto 的適應症整個改寫，題目也跟著改。</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 large B-cell lymphoma，占最多時間，從 IPI 和 first-line 開始，接著是第 86 章的治療流程圖、Table 86.3 的 auto 適應症、salvage 的選擇，最後把 CAR-T、auto、allo 三條路並排比較。</a:t>
            </a:r>
          </a:p>
          <a:p>
            <a:pPr>
              <a:spcAft>
                <a:spcPts val="600"/>
              </a:spcAft>
            </a:pPr>
            <a:r>
              <a:rPr lang="en-US" dirty="0"/>
              <a:t>第二段是 mantle cell lymphoma，first-line 從 HD-AraC、rituximab maintenance 一路走到 TRIANGLE 的 ibrutinib，復發之後則是 brexu-cel 和 RIC allo 的取捨。</a:t>
            </a:r>
          </a:p>
          <a:p>
            <a:pPr>
              <a:spcAft>
                <a:spcPts val="600"/>
              </a:spcAft>
            </a:pPr>
            <a:r>
              <a:rPr lang="en-US" dirty="0"/>
              <a:t>第三段是第 88 章的五種疾病，Burkitt、lymphoblastic lymphoma、PTCL、cutaneous T-cell lymphoma 和 HIV 相關淋巴瘤。這一章的考點多半在它的小表格，哪個 remission 做 auto、哪個做 allo、TRM 多少。最後三題 board-style，各對應一段。</a:t>
            </a:r>
          </a:p>
          <a:p>
            <a:pPr>
              <a:spcAft>
                <a:spcPts val="600"/>
              </a:spcAft>
            </a:pPr>
            <a:r>
              <a:rPr lang="en-US" dirty="0"/>
              <a:t>Burkitt 和 PTCL 的數字看起來零散，我會盡量並排，方便比較。</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診斷這一段，書上要求夠大的手術或 excisional lymph node biopsy，needle biopsy 不建議。免疫表現一定要記錄 CD19 和 CD20，因為後面的 rituximab 和 CD19 CAR-T 都要靠它。WHO 分類還要求 cell of origin，GCB 或 ABC，以及用 FISH 或 IHC 看 MYC 和 BCL2 rearrangement。</a:t>
            </a:r>
          </a:p>
          <a:p>
            <a:pPr>
              <a:spcAft>
                <a:spcPts val="600"/>
              </a:spcAft>
            </a:pPr>
            <a:r>
              <a:rPr lang="en-US" dirty="0"/>
              <a:t>預後仍以 IPI 為主，五個因子是年齡、stage、LDH、performance status、extranodal site 數目。用 R-CHOP 治療，IPI 0 到 1 的三年 OS 是 91.4%，IPI 2 是 80.9%，IPI 3 是 65.1%，IPI 4 到 5 是 59.0%。R-IPI 和 NCCN-IPI 書上認為優勢有限。</a:t>
            </a:r>
          </a:p>
          <a:p>
            <a:pPr>
              <a:spcAft>
                <a:spcPts val="600"/>
              </a:spcAft>
            </a:pPr>
            <a:r>
              <a:rPr lang="en-US" dirty="0"/>
              <a:t>First line 是 R-CHOP 六個 cycle，rituximab 375 mg/m²。IPI 2 以上加 polatuzumab 的 pola-R-CHP，PFS 比較好。First-line 做 auto consolidation 沒有證據支持，例外是 high-grade B-cell lymphoma 用 R-CHOP 類治療，或診斷時就有 CNS 侵犯、而且對化療有反應的病人。</a:t>
            </a:r>
          </a:p>
          <a:p>
            <a:pPr>
              <a:spcAft>
                <a:spcPts val="600"/>
              </a:spcAft>
            </a:pPr>
            <a:r>
              <a:rPr lang="en-US" dirty="0"/>
              <a:t>CD19 要特別記錄，是因為復發時要用 CD19 CAR-T，如果腫瘤已經失去 CD19，這條路就走不通。復發時書上也建議重新切片，確認組織型態和標記，不要只靠影像。</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3:00 至 5:00]</a:t>
            </a:r>
          </a:p>
          <a:p>
            <a:pPr>
              <a:spcAft>
                <a:spcPts val="600"/>
              </a:spcAft>
            </a:pPr>
            <a:r>
              <a:rPr lang="en-US" dirty="0"/>
              <a:t>這是第 86 章作者建議的流程，Fig. 86.1。病人復發時，先重新切片，core biopsy 可以接受，再用 PET-CT 評估。接下來只問一件事，是 primary refractory，或是 first-line 結束後 12 個月內復發嗎？</a:t>
            </a:r>
          </a:p>
          <a:p>
            <a:pPr>
              <a:spcAft>
                <a:spcPts val="600"/>
              </a:spcAft>
            </a:pPr>
            <a:r>
              <a:rPr lang="en-US" dirty="0"/>
              <a:t>答案是 yes，走左邊，直接 CAR-T，書上舉的是 axi-cel 和 liso-cel。這兩個 phase III 的對照組都是 salvage 加 auto，CAR-T 的 PFS 明顯較好，OS 有強烈趨勢，所以 refractory 和 early relapse 的 standard of care 變成 CAR-T。</a:t>
            </a:r>
          </a:p>
          <a:p>
            <a:pPr>
              <a:spcAft>
                <a:spcPts val="600"/>
              </a:spcAft>
            </a:pPr>
            <a:r>
              <a:rPr lang="en-US" dirty="0"/>
              <a:t>答案是 no，也就是超過 12 個月的 late relapse，走右邊先做 salvage chemotherapy，R-ICE、R-DHAP 或 R-GDP。Salvage 後 CR 或 PR，接 auto-HCT；如果只有 SD 或仍在進展，改走 CAR-T。Auto 之後復發，箭頭一樣指向 CAR-T。</a:t>
            </a:r>
          </a:p>
          <a:p>
            <a:pPr>
              <a:spcAft>
                <a:spcPts val="600"/>
              </a:spcAft>
            </a:pPr>
            <a:r>
              <a:rPr lang="en-US" dirty="0"/>
              <a:t>最下面是 CAR-T 之後再復發。這時要問兩件事，病人夠不夠 fit 做 allo，以及對最後一個治療至少達到 stable disease。兩者都成立就做 allo-HCT，否則走 clinical trial、targeted therapy 或支持性照顧。</a:t>
            </a:r>
          </a:p>
          <a:p>
            <a:pPr>
              <a:spcAft>
                <a:spcPts val="600"/>
              </a:spcAft>
            </a:pPr>
            <a:r>
              <a:rPr lang="en-US" dirty="0"/>
              <a:t>考試最常變化的是 12 個月這個數字，以及 salvage 後的反應，題目幾乎都在這兩個分歧點上做文章。</a:t>
            </a:r>
          </a:p>
          <a:p>
            <a:pPr>
              <a:spcAft>
                <a:spcPts val="600"/>
              </a:spcAft>
            </a:pPr>
            <a:r>
              <a:rPr lang="en-US" dirty="0"/>
              <a:t>這張圖還有一個容易漏掉的細節。Late relapse 的病人如果 salvage 失敗，並不是直接放棄，而是轉去 CAR-T，因為 CAR-T 不要求 chemosensitivity。所以 auto 只收 salvage 有反應的人，其餘的人都匯流到 CAR-T。病房裡常見的情況是 salvage 兩個 cycle 後 PET 仍是陽性，這時就要準備 CAR-T 的轉介。</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5:00 至 6:30]</a:t>
            </a:r>
          </a:p>
          <a:p>
            <a:pPr>
              <a:spcAft>
                <a:spcPts val="600"/>
              </a:spcAft>
            </a:pPr>
            <a:r>
              <a:rPr lang="en-US" dirty="0"/>
              <a:t>Table 86.3 是 EBMT 2022 對 LBCL 做 auto 的建議。四列裡只有一列寫 standard of care，就是 chemosensitive late relapse，超過 12 個月復發、salvage 後達到 CR2 以上，evidence level II。</a:t>
            </a:r>
          </a:p>
          <a:p>
            <a:pPr>
              <a:spcAft>
                <a:spcPts val="600"/>
              </a:spcAft>
            </a:pPr>
            <a:r>
              <a:rPr lang="en-US" dirty="0"/>
              <a:t>Chemosensitive early relapse 降為 clinical option，正文的意思是拿不到 CAR-T 的時候還可以做。Refractory disease 是 generally not recommended，作者明講不鼓勵對 salvage 沒反應的人做 auto。</a:t>
            </a:r>
          </a:p>
          <a:p>
            <a:pPr>
              <a:spcAft>
                <a:spcPts val="600"/>
              </a:spcAft>
            </a:pPr>
            <a:r>
              <a:rPr lang="en-US" dirty="0"/>
              <a:t>要小心第一列。表上 first CR 寫 clinical option、evidence I，但正文寫 first-line 不建議常規做 auto，多個研究都沒有看到好處，只有 high-grade B-cell lymphoma 或診斷時 CNS 侵犯的病人可以考慮。出題時以正文的立場為準。</a:t>
            </a:r>
          </a:p>
          <a:p>
            <a:pPr>
              <a:spcAft>
                <a:spcPts val="600"/>
              </a:spcAft>
            </a:pPr>
            <a:r>
              <a:rPr lang="en-US" dirty="0"/>
              <a:t>Auto 的幹細胞來源超過 90% 是 PBSC，conditioning 以 BEAM 為主，劑量細節放在 backup。</a:t>
            </a:r>
          </a:p>
          <a:p>
            <a:pPr>
              <a:spcAft>
                <a:spcPts val="600"/>
              </a:spcAft>
            </a:pPr>
            <a:r>
              <a:rPr lang="en-US" dirty="0"/>
              <a:t>Late relapse 還留給 auto，是因為這群人對化療的反應本來就比較好，salvage 加 auto 的長期結果已經足夠，第二線 CAR-T 的 phase III 也沒有收這群病人。反過來說，early relapse 做 auto 的結果差，所以讓位給 CAR-T。BEAM 的晚期毒性不少，第二癌是最常見的 NRM 原因，這也是為什麼不在 first line 常規做 auto。</a:t>
            </a:r>
          </a:p>
          <a:p>
            <a:pPr>
              <a:spcAft>
                <a:spcPts val="600"/>
              </a:spcAft>
            </a:pPr>
            <a:r>
              <a:rPr lang="en-US" b="1" dirty="0"/>
              <a:t>講者提醒（不念出來）：</a:t>
            </a:r>
          </a:p>
          <a:p>
            <a:pPr>
              <a:spcAft>
                <a:spcPts val="600"/>
              </a:spcAft>
            </a:pPr>
            <a:r>
              <a:rPr lang="en-US" dirty="0"/>
              <a:t>- Internal inconsistency: Table 86.3 lists first CR as 'Clinical option, level I', while the Ch. 86 text and key points say auto-HCT is generally not recommended in first line. Slide follows both and flags the text position.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6:30 至 8:00]</a:t>
            </a:r>
          </a:p>
          <a:p>
            <a:pPr>
              <a:spcAft>
                <a:spcPts val="600"/>
              </a:spcAft>
            </a:pPr>
            <a:r>
              <a:rPr lang="en-US" dirty="0"/>
              <a:t>Salvage regimen 的比較，書上用的是兩個 randomized trial。CORAL 比 R-DHAP 和 R-ICE，ORR 都在 63% 左右，CR 28% 對 24%。LY.12 比 R-GDP 和 R-DHAP，ORR 45.1% 對 44.1%，也沒有差別。所以選哪一個，看年齡、共病、累積毒性，以及能不能收集幹細胞。不管用哪一種，10 到 20% 的病人會 mobilization 失敗。</a:t>
            </a:r>
          </a:p>
          <a:p>
            <a:pPr>
              <a:spcAft>
                <a:spcPts val="600"/>
              </a:spcAft>
            </a:pPr>
            <a:r>
              <a:rPr lang="en-US" dirty="0"/>
              <a:t>Auto 之後的結果，CORAL 的 DHAP 組 NRM 只有 1.4%，三年 OS 51%、EFS 35%；LY.12 兩組合併三年 OS 39%、EFS 26%，書上說差異來自病人組成和設計。</a:t>
            </a:r>
          </a:p>
          <a:p>
            <a:pPr>
              <a:spcAft>
                <a:spcPts val="600"/>
              </a:spcAft>
            </a:pPr>
            <a:r>
              <a:rPr lang="en-US" dirty="0"/>
              <a:t>預後不良因子有四個，induction 後 12 個月內復發、secondary age-adjusted IPI、performance status 差、復發時兩處以上 extranodal。Salvage 後 PET 陰性代表 chemosensitive，也預測 auto 的結果。移植後 rituximab maintenance 在 CORAL 沒有好處，tandem auto 在 rituximab 時代沒有資料。</a:t>
            </a:r>
          </a:p>
          <a:p>
            <a:pPr>
              <a:spcAft>
                <a:spcPts val="600"/>
              </a:spcAft>
            </a:pPr>
            <a:r>
              <a:rPr lang="en-US" dirty="0"/>
              <a:t>實際選擇時，R-DHAP 含 cisplatin，腎功能差的人要小心；R-GDP 可以門診給，對年長病人比較方便。這些是書上「依個別病人特性選擇」的具體意思。治療前也要評估心、肺、腎、肝功能。</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8:00 至 10:00]</a:t>
            </a:r>
          </a:p>
          <a:p>
            <a:pPr>
              <a:spcAft>
                <a:spcPts val="600"/>
              </a:spcAft>
            </a:pPr>
            <a:r>
              <a:rPr lang="en-US" dirty="0"/>
              <a:t>這張把 LBCL 三種細胞治療並排，看它們各自對病人有什麼要求。</a:t>
            </a:r>
          </a:p>
          <a:p>
            <a:pPr>
              <a:spcAft>
                <a:spcPts val="600"/>
              </a:spcAft>
            </a:pPr>
            <a:r>
              <a:rPr lang="en-US" dirty="0"/>
              <a:t>Auto 要求最嚴的是 chemosensitivity，salvage 後一定要 PR 或 CR，而且病人要能承受 high-dose therapy。CAR-T 最大的優勢是不需要 chemosensitivity，年紀大或有共病、本來不能移植的人也有機會被救回來，這也是書上列出的 CAR-T 相對於 HCT 的好處。</a:t>
            </a:r>
          </a:p>
          <a:p>
            <a:pPr>
              <a:spcAft>
                <a:spcPts val="600"/>
              </a:spcAft>
            </a:pPr>
            <a:r>
              <a:rPr lang="en-US" dirty="0"/>
              <a:t>Allo 介於兩者之間。Disease status 仍是最重要的預後因子，但和 auto 不同，salvage 後只有 minor response 或 stable disease 的病人也可能受益，這反映 graft-versus-lymphoma 的效果。條件是年輕、沒有共病。</a:t>
            </a:r>
          </a:p>
          <a:p>
            <a:pPr>
              <a:spcAft>
                <a:spcPts val="600"/>
              </a:spcAft>
            </a:pPr>
            <a:r>
              <a:rPr lang="en-US" dirty="0"/>
              <a:t>證據等級也不一樣。CAR-T 在 auto 失敗後是 standard，grade of evidence I，在第二線有兩個 phase III 對 salvage 加 auto 的勝利。Real-world 資料顯示 axi-cel 效果比 tisa-cel 好，但毒性也比較高，這個比較可以出成選項。Allo 唯一的 prospective randomized 資料是 Glass 2014，用 MAC conditioning。</a:t>
            </a:r>
          </a:p>
          <a:p>
            <a:pPr>
              <a:spcAft>
                <a:spcPts val="600"/>
              </a:spcAft>
            </a:pPr>
            <a:r>
              <a:rPr lang="en-US" dirty="0"/>
              <a:t>臨床上，當 refractory 的病人來到門診，CAR-T 的製造需要時間，這段期間的 bridging 能不能控制疾病，往往決定後面還有沒有 allo 這條路。</a:t>
            </a:r>
          </a:p>
          <a:p>
            <a:pPr>
              <a:spcAft>
                <a:spcPts val="600"/>
              </a:spcAft>
            </a:pPr>
            <a:r>
              <a:rPr lang="en-US" dirty="0"/>
              <a:t>三欄的 fitness 要求也可以倒過來記。最不挑病人的是 CAR-T，其次是 auto，最挑的是 allo。題目給一位 75 歲、有心衰竭、對 salvage 沒反應的病人，能考慮的細胞治療只剩 CAR-T。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10:00 至 11:30]</a:t>
            </a:r>
          </a:p>
          <a:p>
            <a:pPr>
              <a:spcAft>
                <a:spcPts val="600"/>
              </a:spcAft>
            </a:pPr>
            <a:r>
              <a:rPr lang="en-US" dirty="0"/>
              <a:t>Allo 的結果，書上列了三個系列。NRM 都在 30 到 35%，三年 OS 從 26% 到 44%，PFS 從 25% 到 38%。數字不漂亮，但曲線後段有平台，所以作者仍稱它是 CAR-T 失敗後唯一有治癒可能的方法。</a:t>
            </a:r>
          </a:p>
          <a:p>
            <a:pPr>
              <a:spcAft>
                <a:spcPts val="600"/>
              </a:spcAft>
            </a:pPr>
            <a:r>
              <a:rPr lang="en-US" dirty="0"/>
              <a:t>Donor 的部分，PT-Cy 進來之後 haplo 大幅增加。EBMT 和 CIBMTR 的回溯分析顯示，HLA-identical sibling、unrelated 和 haplo 的結果相當，haplo 加 PT-Cy 的 chronic GVHD 還比較少，不過沒有 prospective 比較。幹細胞來源以 PBSC 為主。</a:t>
            </a:r>
          </a:p>
          <a:p>
            <a:pPr>
              <a:spcAft>
                <a:spcPts val="600"/>
              </a:spcAft>
            </a:pPr>
            <a:r>
              <a:rPr lang="en-US" dirty="0"/>
              <a:t>Conditioning 的 RIC 或 MAC 沒有定論，RIC 降低 NRM 但增加復發。Salvage 後沒有完全緩解、腫瘤量大的病人，書上建議考慮 MAC。Allo 之後再復發預後很差，可以考慮 bispecific antibody、polatuzumab、lenalidomide 的試驗，但很多病人最後只能接受 palliative care。</a:t>
            </a:r>
          </a:p>
          <a:p>
            <a:pPr>
              <a:spcAft>
                <a:spcPts val="600"/>
              </a:spcAft>
            </a:pPr>
            <a:r>
              <a:rPr lang="en-US" dirty="0"/>
              <a:t>三個系列的 NRM 都在三成左右，和 auto 的 1.4% 差了二十倍以上，這就是為什麼 allo 一直排在 CAR-T 之後。Glass 2014 是唯一的 randomized 資料，收的是 T 和 B 的 aggressive lymphoma，用 MAC，三年 PFS 只有 25%。</a:t>
            </a:r>
          </a:p>
          <a:p>
            <a:pPr>
              <a:spcAft>
                <a:spcPts val="600"/>
              </a:spcAft>
            </a:pPr>
            <a:r>
              <a:rPr lang="en-US" b="1" dirty="0"/>
              <a:t>講者提醒（不念出來）：</a:t>
            </a:r>
          </a:p>
          <a:p>
            <a:pPr>
              <a:spcAft>
                <a:spcPts val="600"/>
              </a:spcAft>
            </a:pPr>
            <a:r>
              <a:rPr lang="en-US" dirty="0"/>
              <a:t>- Ch. 86 text points to 'Table 85.9.6' for allo-HCT results; the table is in section 86.9.6 of the same chapter.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11:30 至 13:00]</a:t>
            </a:r>
          </a:p>
          <a:p>
            <a:pPr>
              <a:spcAft>
                <a:spcPts val="600"/>
              </a:spcAft>
            </a:pPr>
            <a:r>
              <a:rPr lang="en-US" dirty="0"/>
              <a:t>Mantle cell lymphoma 的特徵是 t(11;14) 和 cyclin D1 過度表現，多數病人診斷時已是 advanced stage。高風險因子有三個，Ki67 高、blastoid variant、TP53 突變。</a:t>
            </a:r>
          </a:p>
          <a:p>
            <a:pPr>
              <a:spcAft>
                <a:spcPts val="600"/>
              </a:spcAft>
            </a:pPr>
            <a:r>
              <a:rPr lang="en-US" dirty="0"/>
              <a:t>First-line 的演進可以排成四步。最早 EMCLN 的 randomized trial 在 rituximab 之前，就證明 auto consolidation 比 interferon maintenance 好。之後 induction 加入 rituximab 和 high-dose cytarabine，PFS 和 OS 再提升。LyMa trial 在 auto 之後給 rituximab maintenance，PFS 和 OS 都比觀察好，而且不論 PET 陽性或陰性都有好處。</a:t>
            </a:r>
          </a:p>
          <a:p>
            <a:pPr>
              <a:spcAft>
                <a:spcPts val="600"/>
              </a:spcAft>
            </a:pPr>
            <a:r>
              <a:rPr lang="en-US" dirty="0"/>
              <a:t>最後一步是 TRIANGLE，induction 和 maintenance 加入 ibrutinib，書上認為這是年輕 fit 病人新的 first-line standard。另一組 ibrutinib 加 HD-AraC 但不做 auto，結果比傳統 HD-AraC 加 auto 好；auto 能不能完全省略，要等更長的追蹤。MIPI low-risk 和 TP53 突變的病人，auto 的價值本來就要重新討論。</a:t>
            </a:r>
          </a:p>
          <a:p>
            <a:pPr>
              <a:spcAft>
                <a:spcPts val="600"/>
              </a:spcAft>
            </a:pPr>
            <a:r>
              <a:rPr lang="en-US" dirty="0"/>
              <a:t>補充一下 TP53。書上說 TP53 突變的 MCL 不太可能從 high-dose chemotherapy 和 auto 得到好處，key point 也寫，對化療沒反應的 TP53 病人，CR1 的 auto 要質疑。這是 MCL 很典型的考點。</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13:00 至 14:30]</a:t>
            </a:r>
          </a:p>
          <a:p>
            <a:pPr>
              <a:spcAft>
                <a:spcPts val="600"/>
              </a:spcAft>
            </a:pPr>
            <a:r>
              <a:rPr lang="en-US" dirty="0"/>
              <a:t>MCL 復發，尤其是 auto 之後早期復發，預後很差。EBMT 的資料裡，auto 後復發的病人將近 40% 是 chemorefractory，而且 clonal TP53 突變很常見。</a:t>
            </a:r>
          </a:p>
          <a:p>
            <a:pPr>
              <a:spcAft>
                <a:spcPts val="600"/>
              </a:spcAft>
            </a:pPr>
            <a:r>
              <a:rPr lang="en-US" dirty="0"/>
              <a:t>第一欄，auto 失敗後再做第二次 auto，只有 2% 的病人接受，只有一位長期存活，書上明白說不足以當作 salvage 策略。</a:t>
            </a:r>
          </a:p>
          <a:p>
            <a:pPr>
              <a:spcAft>
                <a:spcPts val="600"/>
              </a:spcAft>
            </a:pPr>
            <a:r>
              <a:rPr lang="en-US" dirty="0"/>
              <a:t>第二欄是現在的主流。BTK inhibitor 之後復發，brexu-cel 是新的 standard，理由是 safety profile 比 allo 好。因此多數病人在第三線或更後面才接受 CAR-T，CARMAN trial 正在測試 first-line 給 high-risk 病人。</a:t>
            </a:r>
          </a:p>
          <a:p>
            <a:pPr>
              <a:spcAft>
                <a:spcPts val="600"/>
              </a:spcAft>
            </a:pPr>
            <a:r>
              <a:rPr lang="en-US" dirty="0"/>
              <a:t>第三欄，CAR-T 之後復發，fit 的病人要評估 allo-HCT，這是第 87 章的 key point。最右邊是例外，有一小群 relapsed MCL 沒做 allo 也活過五年，Ki67 低、病程偏 indolent，這些人可能不需要 allo。</a:t>
            </a:r>
          </a:p>
          <a:p>
            <a:pPr>
              <a:spcAft>
                <a:spcPts val="600"/>
              </a:spcAft>
            </a:pPr>
            <a:r>
              <a:rPr lang="en-US" dirty="0"/>
              <a:t>這張樹狀圖的順序和 LBCL 很像，都是 CAR-T 先、allo 後，但理由不同。LBCL 是因為 phase III 證明 CAR-T 勝過 auto；MCL 則是因為 brexu-cel 比 allo 安全，而且對 auto 後早期復發的病人效果較好，兩者還沒有直接比較。</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14:30 至 16:00]</a:t>
            </a:r>
          </a:p>
          <a:p>
            <a:pPr>
              <a:spcAft>
                <a:spcPts val="600"/>
              </a:spcAft>
            </a:pPr>
            <a:r>
              <a:rPr lang="en-US" dirty="0"/>
              <a:t>這張比較 MCL 復發時的兩種細胞治療。Brexu-cel 用在 BTK inhibitor 之後，單次輸注，三年追蹤 ORR 91%、CR 68%，中位 PFS 28.2 個月。毒性方面，grade 3 以上 CRS 15%，neurologic events 31%，一年 NRM 可以到 9.1%。65 歲上下效果相近，所以不適合移植的人也能用；但 ECOG 2 以上的病人 ICANS 比較多。</a:t>
            </a:r>
          </a:p>
          <a:p>
            <a:pPr>
              <a:spcAft>
                <a:spcPts val="600"/>
              </a:spcAft>
            </a:pPr>
            <a:r>
              <a:rPr lang="en-US" dirty="0"/>
              <a:t>RIC allo 是 EBMT 的長期資料，五年 OS 40%，五年復發也是 40%。有 chronic GVHD，或沒有用 alemtuzumab 做 in vivo T-cell depletion 的病人復發較少，這就是 graft-versus-MCL effect 的證據。Auto 失敗後做 allo，三年 OS 43%。</a:t>
            </a:r>
          </a:p>
          <a:p>
            <a:pPr>
              <a:spcAft>
                <a:spcPts val="600"/>
              </a:spcAft>
            </a:pPr>
            <a:r>
              <a:rPr lang="en-US" dirty="0"/>
              <a:t>Allo 表現差的是 chemorefractory 和 auto 後早期復發的病人，書上認為這群人 CAR-T 結果更好，雖然沒有直接比較。</a:t>
            </a:r>
          </a:p>
          <a:p>
            <a:pPr>
              <a:spcAft>
                <a:spcPts val="600"/>
              </a:spcAft>
            </a:pPr>
            <a:r>
              <a:rPr lang="en-US" dirty="0"/>
              <a:t>數字的比較要小心解讀。Brexu-cel 的資料來自 BTKi 之後的單臂研究，allo 的資料是 registry，族群不同。書上的結論是 CAR-T 的 curative potential 還不清楚，所以 CAR-T 之後復發的病人，allo 仍要評估，這兩種治療是接力，不是二選一。</a:t>
            </a:r>
          </a:p>
          <a:p>
            <a:pPr>
              <a:spcAft>
                <a:spcPts val="600"/>
              </a:spcAft>
            </a:pPr>
            <a:r>
              <a:rPr lang="en-US" b="1" dirty="0"/>
              <a:t>講者提醒（不念出來）：</a:t>
            </a:r>
          </a:p>
          <a:p>
            <a:pPr>
              <a:spcAft>
                <a:spcPts val="600"/>
              </a:spcAft>
            </a:pPr>
            <a:r>
              <a:rPr lang="en-US" dirty="0"/>
              <a:t>- Ch. 87 cites the brexu-cel 3-year data (ORR 91%, CR 68%, median PFS 28.2 months) and the age comparison as 'Wang et al. 2023a', but its reference list labels the ZUMA-2 three-year paper 2023b and the US real-world consortium paper 2023a. Reference 17 here is the ZUMA-2 paper.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16:00 至 18:00]</a:t>
            </a:r>
          </a:p>
          <a:p>
            <a:pPr>
              <a:spcAft>
                <a:spcPts val="600"/>
              </a:spcAft>
            </a:pPr>
            <a:r>
              <a:rPr lang="en-US" dirty="0"/>
              <a:t>Burkitt 約占成人 NHL 的 2%，免疫不全和 HIV 病人較多，Ki67 接近 100%，必須馬上治療。分子特徵是 MYC 和 IgH 的 translocation，約 80%，其餘接 kappa 或 lambda light chain。BL-IPI 四個因子，年齡 40 以上、PS 2 以上、LDH 大於 3 倍 ULN、CNS 侵犯，這四個數字值得背。</a:t>
            </a:r>
          </a:p>
          <a:p>
            <a:pPr>
              <a:spcAft>
                <a:spcPts val="600"/>
              </a:spcAft>
            </a:pPr>
            <a:r>
              <a:rPr lang="en-US" dirty="0"/>
              <a:t>Burkitt 的 first-line 是 R-CODOX-M/R-IVAC、R-HyperCVAD 或 GMALL 這類密集方案，不能承受的人用 DA-EPOCH-R，很多人第一線就治癒。Auto 可行，但有反應的病人做 auto 並沒有比化療好，所以很少用。Allo 給 CR2 以上，RIC 優於 MAC，一年 TRM 30%，五年 OS 30 到 40%。CAR-T 要 4 到 6 週製造，疾病常常等不及。</a:t>
            </a:r>
          </a:p>
          <a:p>
            <a:pPr>
              <a:spcAft>
                <a:spcPts val="600"/>
              </a:spcAft>
            </a:pPr>
            <a:r>
              <a:rPr lang="en-US" dirty="0"/>
              <a:t>Lymphoblastic lymphoma 也約占 NHL 的 2%，成人九成是 T-LBL，TdT 陽性。治療比照 ALL protocol，加 intrathecal prophylaxis，CR 超過 80%。Auto 在 CR1 可以改善 RFS 但 OS 沒差；allo 的 TRM 較高、復發較低，五年復發 34% 對 auto 的 56%，OS 沒有顯著差異。復發時可以用 nelarabine 橋接 allo，是否移植依風險因子、緩解狀態和 MRD 決定。</a:t>
            </a:r>
          </a:p>
          <a:p>
            <a:pPr>
              <a:spcAft>
                <a:spcPts val="600"/>
              </a:spcAft>
            </a:pPr>
            <a:r>
              <a:rPr lang="en-US" dirty="0"/>
              <a:t>兩種疾病放在一起看，共同點是 first line 就要夠強，第一線失敗後的救援很困難。Burkitt 復發後要拿到足夠的反應去收集幹細胞都不容易，所以 auto 很少用；LBL 則因為多數中心偏好有 GVL 的 allo，auto 的資料很少，書上的結論是無法下定論。</a:t>
            </a:r>
          </a:p>
          <a:p>
            <a:pPr>
              <a:spcAft>
                <a:spcPts val="600"/>
              </a:spcAft>
            </a:pPr>
            <a:r>
              <a:rPr lang="en-US" b="1" dirty="0"/>
              <a:t>講者提醒（不念出來）：</a:t>
            </a:r>
          </a:p>
          <a:p>
            <a:pPr>
              <a:spcAft>
                <a:spcPts val="600"/>
              </a:spcAft>
            </a:pPr>
            <a:r>
              <a:rPr lang="en-US" dirty="0"/>
              <a:t>- Ch. 88 garbles the Burkitt translocation sentence ('MYC with IgH, 80% or less frequently, with kappa or lambda'); the slide reads it as MYC–IGH in about 80% and light-chain partners in the rest. The book does not name t(8;14).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18:00 至 20:00]</a:t>
            </a:r>
          </a:p>
          <a:p>
            <a:pPr>
              <a:spcAft>
                <a:spcPts val="600"/>
              </a:spcAft>
            </a:pPr>
            <a:r>
              <a:rPr lang="en-US" dirty="0"/>
              <a:t>PTCL 占 NHL 的 10 到 15%，異質性高，大型 randomized trial 很難做。預後工具是 IPI，年齡大於 60、ECOG 大於 1、LDH 上升、stage III 到 IV、extranodal 超過一處；另一個是 PIT score，用年齡、ECOG、LDH 和骨髓侵犯。ALCL 分 ALK 陽性和陰性，ALK 陽性預後較好。</a:t>
            </a:r>
          </a:p>
          <a:p>
            <a:pPr>
              <a:spcAft>
                <a:spcPts val="600"/>
              </a:spcAft>
            </a:pPr>
            <a:r>
              <a:rPr lang="en-US" dirty="0"/>
              <a:t>First line 是 CHOP 或 CHOEP，三年 EFS 50 到 70%，OS 75 到 80%。CD30 陽性加 brentuximab，ECHELON-2 顯示 PFS 和 OS 都改善。</a:t>
            </a:r>
          </a:p>
          <a:p>
            <a:pPr>
              <a:spcAft>
                <a:spcPts val="600"/>
              </a:spcAft>
            </a:pPr>
            <a:r>
              <a:rPr lang="en-US" dirty="0"/>
              <a:t>左欄是 auto。和 LBCL 最大的不同是 PTCL 在 CR1 就做 auto，條件是 IPI 大於 1。一年 TRM 5 到 7%，三年復發 40 到 50%，五年 OS 在 CR1 是 70%，CR2 以上是 50%。</a:t>
            </a:r>
          </a:p>
          <a:p>
            <a:pPr>
              <a:spcAft>
                <a:spcPts val="600"/>
              </a:spcAft>
            </a:pPr>
            <a:r>
              <a:rPr lang="en-US" dirty="0"/>
              <a:t>右欄是 allo，適應症是 CR2 以上或 auto 後復發。Donor 順序 matched sibling、MUD、mismatched URD，RIC 優於 MAC。一年 TRM 20 到 25%，但三年復發降到 20 到 40%，三年 OS 40 到 60%。</a:t>
            </a:r>
          </a:p>
          <a:p>
            <a:pPr>
              <a:spcAft>
                <a:spcPts val="600"/>
              </a:spcAft>
            </a:pPr>
            <a:r>
              <a:rPr lang="en-US" dirty="0"/>
              <a:t>這兩欄的比較是典型考法，auto 比較安全、allo 比較少復發。不能做強烈治療的復發病人，可以用 gemcitabine 或 CD30 陽性者用 brentuximab vedotin。</a:t>
            </a:r>
          </a:p>
          <a:p>
            <a:pPr>
              <a:spcAft>
                <a:spcPts val="600"/>
              </a:spcAft>
            </a:pPr>
            <a:r>
              <a:rPr lang="en-US" dirty="0"/>
              <a:t>另外，PTCL 的 allo 表格裡 graft failure 小於 10%，GVHD prophylaxis 用 CsA、CsA 加 MTX 或 CsA 加 MMF。表格的資料來源包括 Dodero 2012，DLI 有反應，支持 graft-versus-lymphoma effect 存在。考題常拿 auto 和 allo 的 TRM、復發率做對比，兩欄數字最好一起記。</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20:00 至 21:00]</a:t>
            </a:r>
          </a:p>
          <a:p>
            <a:pPr>
              <a:spcAft>
                <a:spcPts val="600"/>
              </a:spcAft>
            </a:pPr>
            <a:r>
              <a:rPr lang="en-US" dirty="0"/>
              <a:t>Cutaneous T-cell lymphoma 很少見，一百萬人約六例，七成是 mycosis fungoides 和 Sézary syndrome，用 ISCL/EORTC 的 TNMB 分期。</a:t>
            </a:r>
          </a:p>
          <a:p>
            <a:pPr>
              <a:spcAft>
                <a:spcPts val="600"/>
              </a:spcAft>
            </a:pPr>
            <a:r>
              <a:rPr lang="en-US" dirty="0"/>
              <a:t>Stage I 到 IIA 是 patch 和 plaque，病程緩慢，以 topical steroid、光照治療、total skin electron beam 等 skin-directed therapy 為主。IIB 到 IV 有 erythroderma、腫瘤或血液、淋巴結、內臟侵犯，中位存活只有 2 到 5 年。Brentuximab 和 mogamulizumab 有效但反應短，allo-HCT 是唯一可能治癒的方法，EBMT 長期追蹤可救回超過三分之一，失敗主因是復發。</a:t>
            </a:r>
          </a:p>
          <a:p>
            <a:pPr>
              <a:spcAft>
                <a:spcPts val="600"/>
              </a:spcAft>
            </a:pPr>
            <a:r>
              <a:rPr lang="en-US" dirty="0"/>
              <a:t>近年的趨勢是更早做 allo，年紀較大的病人和 unrelated donor 也越來越多。題目如果出現 Sézary syndrome 已用過多線全身治療的年輕病人，問唯一可能治癒的方法，答案就是 allo-HCT。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21:00 至 22:30]</a:t>
            </a:r>
          </a:p>
          <a:p>
            <a:pPr>
              <a:spcAft>
                <a:spcPts val="600"/>
              </a:spcAft>
            </a:pPr>
            <a:r>
              <a:rPr lang="en-US" dirty="0"/>
              <a:t>HIV 病人得 NHL 的風險比一般人高。最常見的是 DLBCL 和 Burkitt，兩者都是 AIDS-defining illness；Hodgkin lymphoma 則屬於 non-AIDS-defining malignancy。預後因子和一般病人相同，再加上 CD4 低和 HIV viral load 沒有控制。</a:t>
            </a:r>
          </a:p>
          <a:p>
            <a:pPr>
              <a:spcAft>
                <a:spcPts val="600"/>
              </a:spcAft>
            </a:pPr>
            <a:r>
              <a:rPr lang="en-US" dirty="0"/>
              <a:t>有了 cART 和更好的伺機感染處理，HIV 病人的淋巴瘤用和 HIV 陰性病人一樣的治療，關鍵是治療期間持續 cART。</a:t>
            </a:r>
          </a:p>
          <a:p>
            <a:pPr>
              <a:spcAft>
                <a:spcPts val="600"/>
              </a:spcAft>
            </a:pPr>
            <a:r>
              <a:rPr lang="en-US" dirty="0"/>
              <a:t>復發而且 chemosensitive 時，auto 的適應症和同型淋巴瘤的一般病人相同，conditioning 一樣用 BEAM、BEAC 這類。EBMT 資料顯示一年 TRM 5 到 7%，五年 OS 和 PFS 50 到 60%，和 HIV 陰性病人相當。HIV 本身不是 auto 的禁忌，這是常見的考點。</a:t>
            </a:r>
          </a:p>
          <a:p>
            <a:pPr>
              <a:spcAft>
                <a:spcPts val="600"/>
              </a:spcAft>
            </a:pPr>
            <a:r>
              <a:rPr lang="en-US" dirty="0"/>
              <a:t>Allo 經驗有限，目前沒有確定的建議。一個五位病人的報告沒有 TRM，持續 cART 下 viral load 測不到。CAR-T 也有少數 case report 顯示可行。</a:t>
            </a:r>
          </a:p>
          <a:p>
            <a:pPr>
              <a:spcAft>
                <a:spcPts val="600"/>
              </a:spcAft>
            </a:pPr>
            <a:r>
              <a:rPr lang="en-US" dirty="0"/>
              <a:t>題目常見的陷阱是 CD4 很低的病人，選項寫「HIV 陽性不能做 auto」。在 cART 和 rituximab 的時代，這個說法不成立，重點是治療全程不中斷 cART，並處理好伺機感染的預防。</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22:30 至 23:15]</a:t>
            </a:r>
          </a:p>
          <a:p>
            <a:pPr>
              <a:spcAft>
                <a:spcPts val="600"/>
              </a:spcAft>
            </a:pPr>
            <a:r>
              <a:rPr lang="en-US" dirty="0"/>
              <a:t>第一題。48 歲女性，DLBCL，IPI 2，R-CHOP 六個 cycle 後完全緩解，最後一次治療後 20 個月復發，core biopsy 證實。兩次 R-ICE 之後 PET-CT 又達到 complete metabolic response，ECOG 0。選項有 CAR-T、sibling 的 RIC allo、BEAM auto、再加兩次 R-ICE 接 rituximab maintenance，以及 tandem auto。</a:t>
            </a:r>
          </a:p>
          <a:p>
            <a:pPr>
              <a:spcAft>
                <a:spcPts val="600"/>
              </a:spcAft>
            </a:pPr>
            <a:r>
              <a:rPr lang="en-US" b="1" dirty="0"/>
              <a:t>[Pause for answers.]</a:t>
            </a:r>
          </a:p>
          <a:p>
            <a:pPr>
              <a:spcAft>
                <a:spcPts val="600"/>
              </a:spcAft>
            </a:pPr>
            <a:r>
              <a:rPr lang="en-US" dirty="0"/>
              <a:t>這題的資訊很多，但真正決定答案的是兩個，一個是復發距離 first-line 結束多久，另一個是 salvage 後有沒有反應。IPI 和 cell of origin 在這題用不到。</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23:15 至 24:15]</a:t>
            </a:r>
          </a:p>
          <a:p>
            <a:pPr>
              <a:spcAft>
                <a:spcPts val="600"/>
              </a:spcAft>
            </a:pPr>
            <a:r>
              <a:rPr lang="en-US" dirty="0"/>
              <a:t>答案是 C。關鍵數字是 20 個月，超過 12 個月，屬於 late relapse；salvage 後 CR，代表 chemosensitive。這正是 Table 86.3 唯一寫 standard of care 的情境。</a:t>
            </a:r>
          </a:p>
          <a:p>
            <a:pPr>
              <a:spcAft>
                <a:spcPts val="600"/>
              </a:spcAft>
            </a:pPr>
            <a:r>
              <a:rPr lang="en-US" dirty="0"/>
              <a:t>A 是最大的陷阱。CAR-T 在第二線勝過 auto 的兩個 phase III，收的是 refractory 或 12 個月內復發的病人。題目如果改成 7 個月復發，答案就變成 A。B 的 allo 留到 CAR-T 失敗後；D 的 rituximab maintenance 在 CORAL 沒有好處；E 的 tandem auto 在 rituximab 時代沒有資料。</a:t>
            </a:r>
          </a:p>
          <a:p>
            <a:pPr>
              <a:spcAft>
                <a:spcPts val="600"/>
              </a:spcAft>
            </a:pPr>
            <a:r>
              <a:rPr lang="en-US" dirty="0"/>
              <a:t>如果題目變成 R-ICE 後只有 stable disease，答案也會改成 CAR-T，因為 auto 需要 chemosensitivity，Fig. 86.1 也是這樣畫的。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24:15 至 25:00]</a:t>
            </a:r>
          </a:p>
          <a:p>
            <a:pPr>
              <a:spcAft>
                <a:spcPts val="600"/>
              </a:spcAft>
            </a:pPr>
            <a:r>
              <a:rPr lang="en-US" dirty="0"/>
              <a:t>第二題換 mantle cell。60 歲男性，HD-AraC 為主的 induction、BEAM auto、rituximab maintenance，第一次復發用 ibrutinib，現在 auto 後 30 個月在 ibrutinib 上惡化，ECOG 1。選項是第二次 auto、brexu-cel、重新 rituximab maintenance、觀察，以及用 alemtuzumab 的 MAC allo。</a:t>
            </a:r>
          </a:p>
          <a:p>
            <a:pPr>
              <a:spcAft>
                <a:spcPts val="600"/>
              </a:spcAft>
            </a:pPr>
            <a:r>
              <a:rPr lang="en-US" b="1" dirty="0"/>
              <a:t>[Pause for answers.]</a:t>
            </a:r>
          </a:p>
          <a:p>
            <a:pPr>
              <a:spcAft>
                <a:spcPts val="600"/>
              </a:spcAft>
            </a:pPr>
            <a:r>
              <a:rPr lang="en-US" dirty="0"/>
              <a:t>病人已經用過 ibrutinib，也已經做過一次 auto，體能狀態還不錯，器官功能正常。這三個條件都會影響答案，關鍵在第 87 章怎麼排 MCL 復發後的治療順序，以及每一種選擇各自的前提。</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25:00 至 26:00]</a:t>
            </a:r>
          </a:p>
          <a:p>
            <a:pPr>
              <a:spcAft>
                <a:spcPts val="600"/>
              </a:spcAft>
            </a:pPr>
            <a:r>
              <a:rPr lang="en-US" dirty="0"/>
              <a:t>答案是 B。BTK inhibitor 之後復發，brexu-cel 的 ORR 91%、CR 68%，中位 PFS 28.2 個月，加上 safety profile 比 allo 好，第 87 章把它列為新的 standard。</a:t>
            </a:r>
          </a:p>
          <a:p>
            <a:pPr>
              <a:spcAft>
                <a:spcPts val="600"/>
              </a:spcAft>
            </a:pPr>
            <a:r>
              <a:rPr lang="en-US" dirty="0"/>
              <a:t>E 是主要的干擾。Allo 對 MCL 確實有 graft-versus-MCL effect，但書上把它放在 CAR-T 之後；而且 in vivo T-cell depletion 用 alemtuzumab 的病人復發較多，這個細節也排除 E。A 的第二次 auto 只有 2% 病人做，僅一人長期存活。D 的觀察只適合 Ki67 低、病程 indolent 的少數人，不是正在惡化的病人。</a:t>
            </a:r>
          </a:p>
          <a:p>
            <a:pPr>
              <a:spcAft>
                <a:spcPts val="600"/>
              </a:spcAft>
            </a:pPr>
            <a:r>
              <a:rPr lang="en-US" dirty="0"/>
              <a:t>如果病人之後對 CAR-T 也失敗，而且仍然 fit、疾病有反應，這時才輪到 allo，最好選 RIC，避免 alemtuzumab。</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26:00 至 26:45]</a:t>
            </a:r>
          </a:p>
          <a:p>
            <a:pPr>
              <a:spcAft>
                <a:spcPts val="600"/>
              </a:spcAft>
            </a:pPr>
            <a:r>
              <a:rPr lang="en-US" dirty="0"/>
              <a:t>最後一題。54 歲女性，PTCL NOS，stage IV、LDH 上升、ECOG 1，IPI 3，CHOEP 六個 cycle 後 CR，CD30 陰性，有 HLA 相合的姊姊。選項是觀察、CR1 做 MAC allo、brentuximab maintenance、BEAM auto，以及 CD19 CAR-T。</a:t>
            </a:r>
          </a:p>
          <a:p>
            <a:pPr>
              <a:spcAft>
                <a:spcPts val="600"/>
              </a:spcAft>
            </a:pPr>
            <a:r>
              <a:rPr lang="en-US" b="1" dirty="0"/>
              <a:t>[Pause for answers.]</a:t>
            </a:r>
          </a:p>
          <a:p>
            <a:pPr>
              <a:spcAft>
                <a:spcPts val="600"/>
              </a:spcAft>
            </a:pPr>
            <a:r>
              <a:rPr lang="en-US" dirty="0"/>
              <a:t>這題的設計重點是 remission 的時間點和 IPI。PTCL 和 LBCL 在 CR1 的處理並不相同，另外題目特別給了一位 HLA 相合的姊姊，這個 donor 會不會改變答案，也是要判斷的地方。CD30 陰性這個條件也不是隨便給的。</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26:45 至 27:45]</a:t>
            </a:r>
          </a:p>
          <a:p>
            <a:pPr>
              <a:spcAft>
                <a:spcPts val="600"/>
              </a:spcAft>
            </a:pPr>
            <a:r>
              <a:rPr lang="en-US" dirty="0"/>
              <a:t>答案是 D。第 88 章的 PTCL auto 表格，適應症第一項就是 CR1 且 IPI 大於 1，這位病人 IPI 3。CR1 做 auto，一年 TRM 5 到 7%，五年 OS 70%。</a:t>
            </a:r>
          </a:p>
          <a:p>
            <a:pPr>
              <a:spcAft>
                <a:spcPts val="600"/>
              </a:spcAft>
            </a:pPr>
            <a:r>
              <a:rPr lang="en-US" dirty="0"/>
              <a:t>B 是最常被選的錯誤答案，因為她有 sibling donor。但 PTCL 的 allo 適應症是 CR2 以上或 auto 後復發，而且書上是 RIC 優於 MAC，一年 TRM 20 到 25%，CR1 不划算。C 的 brentuximab 要 CD30 陽性；E 的 CD19 CAR-T 對 T-cell lymphoma 沒有標靶。</a:t>
            </a:r>
          </a:p>
          <a:p>
            <a:pPr>
              <a:spcAft>
                <a:spcPts val="600"/>
              </a:spcAft>
            </a:pPr>
            <a:r>
              <a:rPr lang="en-US" dirty="0"/>
              <a:t>和 LBCL 對照，LBCL 在 CR1 一般不做 auto，PTCL 在 CR1 卻是適應症，這個差別正是本題要測的。如果她之後復發，再考慮 sibling 的 RIC allo。</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BEAM 的劑量照書上列出。Melphalan 的單位書上印成 mg/kg，報告前要確認。晚期死亡最常見的原因是第二癌，風險是一般人的 12 倍。</a:t>
            </a:r>
          </a:p>
          <a:p>
            <a:pPr>
              <a:spcAft>
                <a:spcPts val="600"/>
              </a:spcAft>
            </a:pPr>
            <a:r>
              <a:rPr lang="en-US" b="1" dirty="0"/>
              <a:t>講者提醒（不念出來）：</a:t>
            </a:r>
          </a:p>
          <a:p>
            <a:pPr>
              <a:spcAft>
                <a:spcPts val="600"/>
              </a:spcAft>
            </a:pPr>
            <a:r>
              <a:rPr lang="en-US" dirty="0"/>
              <a:t>- TO CONFIRM BEFORE PRESENTING: Ch. 86 prints BEAM melphalan as '140 mg/kg/day × 1, day −1'; the unit is almost certainly mg/m². Check before quoting a dose.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大多數 LBCL 亞型的處理相同，但這幾個例外要知道。Immune-privileged site 要用能進 CNS 的化療；PMBCL 和 plasmablastic 用比較強的方案；double-hit 的病人也偏向強化治療，必要時 CR1 考慮 auto。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這是講者自己把三章的數字並排。Auto 的 TRM 大約個位數，allo 落在 20 到 35%，存活則看疾病和緩解狀態。不同系列的年代和病人選擇不同，不能直接比較。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HCT for aggressive lymphomas</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Session 28 · Ch. 86, 87, 88</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AGGRESSIVE LYMPHOMA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parts, from large B-cell lymphoma to HIV lymphoma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EBMT Handbook 8th ed. 2024; Ch. 86–88</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Large B-cell lymphoma</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IPI, Fig. 86.1, Table 86.3, salvage, CAR-T versus auto, allo results</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10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Mantle cell lymphoma</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TRIANGLE and LyMa, brexu-cel, RIC allo-HCT after auto failure</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4.5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Burkitt, LBL, PTCL, CTCL and HIV lymphoma</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BL-IPI, Ch. 88 indication tables, cART during HCT</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6.5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Board-style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Three vignettes: LBCL, mantle cell and PTCL</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5.25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LBCL · DIAGNOSIS AND FIRST 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LBCL needs an excisional biopsy, and the IPI still sets the prognosis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 · Ziepert 2010; Tilly 2022</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23160"/>
                <a:gridCol w="8394192"/>
              </a:tblGrid>
              <a:tr h="0">
                <a:tc>
                  <a:txBody>
                    <a:bodyPr/>
                    <a:lstStyle/>
                    <a:p>
                      <a:pPr indent="0" marL="0">
                        <a:buNone/>
                      </a:pPr>
                      <a:r>
                        <a:rPr lang="en-US" sz="1600" b="1" dirty="0">
                          <a:solidFill>
                            <a:schemeClr val="tx1"/>
                          </a:solidFill>
                        </a:rPr>
                        <a:t>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What Ch. 86 says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Biopsy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Surgical or excisional specimen; needle biopsy not recommended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Phenotype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CD19 and CD20 must be documented (therapeutic consequence)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Molecular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Cell of origin (GCB vs ABC); MYC and BCL2 by FISH or IHC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IPI factors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Age, stage, LDH, performance status, extranodal sites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IPI 0–1 / IPI 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3-y OS 91.4% / 80.9% with R-CHOP</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IPI 3 / IPI 4–5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3-y OS 65.1% / 59.0%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First line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R-CHOP × 6 (RTX 375 mg/m²); pola-R-CHP improves PFS if IPI ≥ 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Auto-HCT in CR1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Not recommended; consider for HGBL or CNS involvement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LBCL · RELAPSE ALGORITHM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Fig. 86.1 routes R/R LBCL by refractoriness and time to relapse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 · Locke 2022; Kamdar 2021</a:t>
            </a:r>
            <a:endParaRPr lang="en-US" sz="1000" dirty="0"/>
          </a:p>
        </p:txBody>
      </p:sp>
      <p:pic>
        <p:nvPicPr>
          <p:cNvPr id="6" name="Figure ch86-fig1" descr="Flowchart for relapsed or refractory LBCL: CAR-T for primary refractory or relapse within 12 months; otherwise salvage chemotherapy, auto-HCT if CR or PR, CAR-T if SD or refractory; allo-HCT for relapse after CAR-T if fit and at least SD.">    </p:cNvPr>
          <p:cNvPicPr>
            <a:picLocks noChangeAspect="1"/>
          </p:cNvPicPr>
          <p:nvPr/>
        </p:nvPicPr>
        <p:blipFill>
          <a:blip r:embed="rId1"/>
          <a:stretch>
            <a:fillRect/>
          </a:stretch>
        </p:blipFill>
        <p:spPr>
          <a:xfrm>
            <a:off x="685800" y="2148840"/>
            <a:ext cx="6451746" cy="3749040"/>
          </a:xfrm>
          <a:prstGeom prst="rect">
            <a:avLst/>
          </a:prstGeom>
        </p:spPr>
      </p:pic>
      <p:sp>
        <p:nvSpPr>
          <p:cNvPr id="7" name="Text 21"/>
          <p:cNvSpPr txBox="1"/>
          <p:nvPr/>
        </p:nvSpPr>
        <p:spPr>
          <a:xfrm>
            <a:off x="7825252" y="2240280"/>
            <a:ext cx="3677900" cy="3657600"/>
          </a:xfrm>
          <a:prstGeom prst="rect">
            <a:avLst/>
          </a:prstGeom>
          <a:noFill/>
          <a:ln/>
        </p:spPr>
        <p:txBody>
          <a:bodyPr wrap="square" lIns="0" tIns="0" rIns="0" bIns="0" rtlCol="0" anchor="t"/>
          <a:lstStyle/>
          <a:p>
            <a:pPr indent="0" marL="0">
              <a:buNone/>
            </a:pPr>
            <a:r>
              <a:rPr lang="en-US" sz="1600" dirty="0">
                <a:solidFill>
                  <a:schemeClr val="tx1"/>
                </a:solidFill>
              </a:rPr>
              <a:t>Fig. 86.1. Refractory or relapse &lt; 12 months → CAR-T (axi-cel, liso-cel). Otherwise salvage: CR/PR → auto-HCT; SD/refractory → CAR-T. Relapse after auto → CAR-T. After CAR-T: allo-HCT if fit and at least SD.</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LBCL · AUTO-HCT INDICATIONS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Auto-HCT in LBCL is standard only for chemosensitive late relapse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graphicFrame>
        <p:nvGraphicFramePr>
          <p:cNvPr id="6" name="Table 2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4032504"/>
                <a:gridCol w="2386584"/>
                <a:gridCol w="1097280"/>
                <a:gridCol w="3300984"/>
              </a:tblGrid>
              <a:tr h="0">
                <a:tc>
                  <a:txBody>
                    <a:bodyPr/>
                    <a:lstStyle/>
                    <a:p>
                      <a:pPr indent="0" marL="0">
                        <a:buNone/>
                      </a:pPr>
                      <a:r>
                        <a:rPr lang="en-US" sz="1700" b="1" dirty="0">
                          <a:solidFill>
                            <a:schemeClr val="tx1"/>
                          </a:solidFill>
                        </a:rPr>
                        <a:t>Disease status</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EBMT 2022</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Evidence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Comment in Ch. 86</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First complete remission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Clinical option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Text: not routine; HGBL or CNS at diagnosis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Chemosensitive early relapse, ≥ CR2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Clinical option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When CAR-T is not available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Chemosensitive late relapse, ≥ CR2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Standard of care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 or CR after salvage required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Refractory disease</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Generally not recommended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I</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Discouraged; CAR-T instead</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3"/>
          <p:cNvSpPr txBox="1"/>
          <p:nvPr/>
        </p:nvSpPr>
        <p:spPr>
          <a:xfrm>
            <a:off x="685800" y="51206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Table 86.3. PBSC is the graft in &gt; 90% of auto-HCT; BEAM is the preferred EBMT high-dose regimen.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LBCL · SALVAGE BEFORE AUTO-HCT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Salvage regimens perform alike, so chemosensitivity decides the autograft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 · Gisselbrecht 2010, 2012; Crump 2014</a:t>
            </a:r>
            <a:endParaRPr lang="en-US" sz="1000" dirty="0"/>
          </a:p>
        </p:txBody>
      </p:sp>
      <p:graphicFrame>
        <p:nvGraphicFramePr>
          <p:cNvPr id="7" name="Table 24"/>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615184"/>
                <a:gridCol w="8202168"/>
              </a:tblGrid>
              <a:tr h="0">
                <a:tc>
                  <a:txBody>
                    <a:bodyPr/>
                    <a:lstStyle/>
                    <a:p>
                      <a:pPr indent="0" marL="0">
                        <a:buNone/>
                      </a:pPr>
                      <a:r>
                        <a:rPr lang="en-US" sz="1700" b="1" dirty="0">
                          <a:solidFill>
                            <a:schemeClr val="tx1"/>
                          </a:solidFill>
                        </a:rPr>
                        <a:t>Item</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Data in Ch. 86</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R-DHAP (CORAL)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62.8%, CR 28% (LY.12: ORR 44.1%, CR 14.3%)</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R-ICE (CORAL)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63.5%, CR 24%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R-GDP (LY.12)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ORR 45.1%, CR 13.5% after 2 cycles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Auto-HCT results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CORAL (DHAP): NRM 1.4%, 3-y OS 51%, EFS 35%</a:t>
                      </a:r>
                      <a:endParaRPr lang="en-US" sz="1700" dirty="0"/>
                    </a:p>
                    <a:p>
                      <a:pPr indent="0" marL="0">
                        <a:buNone/>
                      </a:pPr>
                      <a:r>
                        <a:rPr lang="en-US" sz="1700" dirty="0">
                          <a:solidFill>
                            <a:schemeClr val="tx1"/>
                          </a:solidFill>
                        </a:rPr>
                        <a:t>LY.12 (both arms): 3-y OS 39%, EFS 26%</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Mobilisation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Fails in 10–20% after any salvage regimen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Adverse factors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Relapse &lt; 12 mo, 2nd aaIPI, poor PS, ≥ 2 extranodal sites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5"/>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PET negativity after salvage = chemosensitivity. RTX maintenance after auto-HCT: no benefit (CORAL).</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LBCL · THREE CELLULAR OPTIONS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CAR-T, auto-HCT and allo-HCT ask different things of the patient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 · Locke 2022; Kamdar 2021; Glass 2014</a:t>
            </a:r>
            <a:endParaRPr lang="en-US" sz="1000" dirty="0"/>
          </a:p>
        </p:txBody>
      </p:sp>
      <p:graphicFrame>
        <p:nvGraphicFramePr>
          <p:cNvPr id="8" name="Table 26"/>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1801368"/>
                <a:gridCol w="2971800"/>
                <a:gridCol w="2971800"/>
                <a:gridCol w="3063240"/>
              </a:tblGrid>
              <a:tr h="0">
                <a:tc>
                  <a:txBody>
                    <a:bodyPr/>
                    <a:lstStyle/>
                    <a:p>
                      <a:pPr indent="0" marL="0">
                        <a:buNone/>
                      </a:pP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Auto-HCT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CAR-T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Allo-HCT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Main setting</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Late relapse (&gt; 12 mo)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Refractory, early relapse,</a:t>
                      </a:r>
                      <a:endParaRPr lang="en-US" sz="1500" dirty="0"/>
                    </a:p>
                    <a:p>
                      <a:pPr indent="0" marL="0">
                        <a:buNone/>
                      </a:pPr>
                      <a:r>
                        <a:rPr lang="en-US" sz="1500" dirty="0">
                          <a:solidFill>
                            <a:schemeClr val="tx1"/>
                          </a:solidFill>
                        </a:rPr>
                        <a:t>after auto-HCT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Relapse after CAR-T, or</a:t>
                      </a:r>
                      <a:endParaRPr lang="en-US" sz="1500" dirty="0"/>
                    </a:p>
                    <a:p>
                      <a:pPr indent="0" marL="0">
                        <a:buNone/>
                      </a:pPr>
                      <a:r>
                        <a:rPr lang="en-US" sz="1500" dirty="0">
                          <a:solidFill>
                            <a:schemeClr val="tx1"/>
                          </a:solidFill>
                        </a:rPr>
                        <a:t>no CAR-T available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Chemosensitivity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Required (PR or CR)</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required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Preferred; SD or minor</a:t>
                      </a:r>
                      <a:endParaRPr lang="en-US" sz="1500" dirty="0"/>
                    </a:p>
                    <a:p>
                      <a:pPr indent="0" marL="0">
                        <a:buNone/>
                      </a:pPr>
                      <a:r>
                        <a:rPr lang="en-US" sz="1500" dirty="0">
                          <a:solidFill>
                            <a:schemeClr val="tx1"/>
                          </a:solidFill>
                        </a:rPr>
                        <a:t>response may still benefit</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Fitness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Transplant-eligible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Also older or comorbid</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Younger, no comorbidities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Evidence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Standard of care,</a:t>
                      </a:r>
                      <a:endParaRPr lang="en-US" sz="1500" dirty="0"/>
                    </a:p>
                    <a:p>
                      <a:pPr indent="0" marL="0">
                        <a:buNone/>
                      </a:pPr>
                      <a:r>
                        <a:rPr lang="en-US" sz="1500" dirty="0">
                          <a:solidFill>
                            <a:schemeClr val="tx1"/>
                          </a:solidFill>
                        </a:rPr>
                        <a:t>level II (Table 86.3)</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Two phase III vs salvage</a:t>
                      </a:r>
                      <a:endParaRPr lang="en-US" sz="1500" dirty="0"/>
                    </a:p>
                    <a:p>
                      <a:pPr indent="0" marL="0">
                        <a:buNone/>
                      </a:pPr>
                      <a:r>
                        <a:rPr lang="en-US" sz="1500" dirty="0">
                          <a:solidFill>
                            <a:schemeClr val="tx1"/>
                          </a:solidFill>
                        </a:rPr>
                        <a:t>+ auto; grade I after auto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One randomised trial</a:t>
                      </a:r>
                      <a:endParaRPr lang="en-US" sz="1500" dirty="0"/>
                    </a:p>
                    <a:p>
                      <a:pPr indent="0" marL="0">
                        <a:buNone/>
                      </a:pPr>
                      <a:r>
                        <a:rPr lang="en-US" sz="1500" dirty="0">
                          <a:solidFill>
                            <a:schemeClr val="tx1"/>
                          </a:solidFill>
                        </a:rPr>
                        <a:t>(MAC, Glass 2014)</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Graft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PBSC in &gt; 90%</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Autologous anti-CD19</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PBSC preferred</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LBCL · ALLO-HCT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Allo-HCT cures a minority of R/R LBCL, mostly after CAR-T failure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 · Glass 2014; Fenske 2016; Bento 2021; Dreger 2019</a:t>
            </a:r>
            <a:endParaRPr lang="en-US" sz="1000" dirty="0"/>
          </a:p>
        </p:txBody>
      </p:sp>
      <p:graphicFrame>
        <p:nvGraphicFramePr>
          <p:cNvPr id="9" name="Table 2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40280"/>
                <a:gridCol w="4288536"/>
                <a:gridCol w="1399032"/>
                <a:gridCol w="1399032"/>
                <a:gridCol w="1490472"/>
              </a:tblGrid>
              <a:tr h="0">
                <a:tc>
                  <a:txBody>
                    <a:bodyPr/>
                    <a:lstStyle/>
                    <a:p>
                      <a:pPr indent="0" marL="0">
                        <a:buNone/>
                      </a:pPr>
                      <a:r>
                        <a:rPr lang="en-US" sz="1800" b="1" dirty="0">
                          <a:solidFill>
                            <a:schemeClr val="tx1"/>
                          </a:solidFill>
                        </a:rPr>
                        <a:t>Series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Setting</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NRM</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3-y OS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3-y PFS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Glass 2014</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Randomised (DSHNHL R3), MAC</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25%</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Fenske 2016</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Relapse after auto-HCT</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37%</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Bento 2021</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Spanish GETH/GELTAMO</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30%</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44%</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38%</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8"/>
          <p:cNvSpPr txBox="1"/>
          <p:nvPr/>
        </p:nvSpPr>
        <p:spPr>
          <a:xfrm>
            <a:off x="685800" y="40233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Haplo + PTCy ≈ MSD/MUD, with less chronic GVHD (Dreger 2019). RIC vs MAC unresolved;</a:t>
            </a:r>
            <a:endParaRPr lang="en-US" sz="1600" dirty="0"/>
          </a:p>
          <a:p>
            <a:pPr indent="0" marL="0">
              <a:buNone/>
            </a:pPr>
            <a:r>
              <a:rPr lang="en-US" sz="1600" b="1" dirty="0">
                <a:solidFill>
                  <a:schemeClr val="tx1"/>
                </a:solidFill>
              </a:rPr>
              <a:t>MAC if not in CR or high tumour burden. Relapse after allo-HCT: trials, bispecifics, palliation.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MCL · FIRST 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First-line MCL therapy added cytarabine, rituximab and then ibrutinib</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Baermann BN, et al. EBMT Handbook 8th ed. 2024; Ch. 87 · Le Gouill 2017; Dreyling 2022</a:t>
            </a:r>
            <a:endParaRPr lang="en-US" sz="1000" dirty="0"/>
          </a:p>
        </p:txBody>
      </p:sp>
      <p:sp>
        <p:nvSpPr>
          <p:cNvPr id="6" name="Box 29"/>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Auto-HCT beats interferon maintenance (EMCLN, pre-RTX)</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30"/>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R + high-dose cytarabine induction before auto-HCT</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31"/>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RTX maintenance after auto: better PFS and OS (LyMa)</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32"/>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Ibrutinib added to induction and maintenance (TRIANGLE)</a:t>
            </a:r>
            <a:endParaRPr lang="en-US" sz="1700" dirty="0"/>
          </a:p>
        </p:txBody>
      </p:sp>
      <p:sp>
        <p:nvSpPr>
          <p:cNvPr id="13" name="Text 33"/>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TRIANGLE: ibrutinib + HD-AraC without auto-HCT beat HD-AraC + auto-HCT. Question auto-HCT in MIPI low-risk and TP53-mutated MCL.</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MCL · RELAPSE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Relapsed MCL now goes to CAR-T first and allo-HCT after CAR-T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Baermann BN, et al. EBMT Handbook 8th ed. 2024; Ch. 87 · Dietrich 2014a</a:t>
            </a:r>
            <a:endParaRPr lang="en-US" sz="1000" dirty="0"/>
          </a:p>
        </p:txBody>
      </p:sp>
      <p:sp>
        <p:nvSpPr>
          <p:cNvPr id="6" name="Box 34"/>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MCL relapsing after first-line therapy</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35"/>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After auto-HCT</a:t>
            </a:r>
            <a:endParaRPr lang="en-US" sz="1400" dirty="0"/>
          </a:p>
        </p:txBody>
      </p:sp>
      <p:sp>
        <p:nvSpPr>
          <p:cNvPr id="11" name="Box 36"/>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Second auto-HCT not justified</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37"/>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Only 2% received it;</a:t>
            </a:r>
            <a:endParaRPr lang="en-US" sz="1400" dirty="0"/>
          </a:p>
          <a:p>
            <a:pPr algn="ctr" indent="0" marL="0">
              <a:buNone/>
            </a:pPr>
            <a:r>
              <a:rPr lang="en-US" sz="1400" dirty="0">
                <a:solidFill>
                  <a:schemeClr val="tx1"/>
                </a:solidFill>
              </a:rPr>
              <a:t>one long-term survivor</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38"/>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After BTKi</a:t>
            </a:r>
            <a:endParaRPr lang="en-US" sz="1400" dirty="0"/>
          </a:p>
        </p:txBody>
      </p:sp>
      <p:sp>
        <p:nvSpPr>
          <p:cNvPr id="16" name="Box 39"/>
          <p:cNvSpPr txBox="1"/>
          <p:nvPr/>
        </p:nvSpPr>
        <p:spPr>
          <a:xfrm>
            <a:off x="3481578"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Brexu-cel (CD19 CAR-T)</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40"/>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New standard; safer</a:t>
            </a:r>
            <a:endParaRPr lang="en-US" sz="1400" dirty="0"/>
          </a:p>
          <a:p>
            <a:pPr algn="ctr" indent="0" marL="0">
              <a:buNone/>
            </a:pPr>
            <a:r>
              <a:rPr lang="en-US" sz="1400" dirty="0">
                <a:solidFill>
                  <a:schemeClr val="tx1"/>
                </a:solidFill>
              </a:rPr>
              <a:t>than allo-HCT</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41"/>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After CAR-T</a:t>
            </a:r>
            <a:endParaRPr lang="en-US" sz="1400" dirty="0"/>
          </a:p>
        </p:txBody>
      </p:sp>
      <p:sp>
        <p:nvSpPr>
          <p:cNvPr id="21" name="Box 42"/>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Allo-HCT if fit</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43"/>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Graft-versus-MCL</a:t>
            </a:r>
            <a:endParaRPr lang="en-US" sz="1400" dirty="0"/>
          </a:p>
          <a:p>
            <a:pPr algn="ctr" indent="0" marL="0">
              <a:buNone/>
            </a:pPr>
            <a:r>
              <a:rPr lang="en-US" sz="1400" dirty="0">
                <a:solidFill>
                  <a:schemeClr val="tx1"/>
                </a:solidFill>
              </a:rPr>
              <a:t>effect</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44"/>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Low Ki67, slow course</a:t>
            </a:r>
            <a:endParaRPr lang="en-US" sz="1400" dirty="0"/>
          </a:p>
        </p:txBody>
      </p:sp>
      <p:sp>
        <p:nvSpPr>
          <p:cNvPr id="26" name="Box 45"/>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May not need allo-HCT</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46"/>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Some live &gt; 5 y</a:t>
            </a:r>
            <a:endParaRPr lang="en-US" sz="1400" dirty="0"/>
          </a:p>
          <a:p>
            <a:pPr algn="ctr" indent="0" marL="0">
              <a:buNone/>
            </a:pPr>
            <a:r>
              <a:rPr lang="en-US" sz="1400" dirty="0">
                <a:solidFill>
                  <a:schemeClr val="tx1"/>
                </a:solidFill>
              </a:rPr>
              <a:t>without allo-HCT</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MCL · BREXU-CEL VERSUS ALLO-HCT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Brexu-cel and RIC allo-HCT trade toxicity against durability in MCL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Baermann BN, et al. EBMT Handbook 8th ed. 2024; Ch. 87 · Wang 2023b; Robinson 2018</a:t>
            </a:r>
            <a:endParaRPr lang="en-US" sz="1000" dirty="0"/>
          </a:p>
        </p:txBody>
      </p:sp>
      <p:graphicFrame>
        <p:nvGraphicFramePr>
          <p:cNvPr id="12" name="Table 47"/>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4581144"/>
                <a:gridCol w="4032504"/>
              </a:tblGrid>
              <a:tr h="0">
                <a:tc>
                  <a:txBody>
                    <a:bodyPr/>
                    <a:lstStyle/>
                    <a:p>
                      <a:pPr indent="0" marL="0">
                        <a:buNone/>
                      </a:pP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Brexu-cel (CD19 CAR-T)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500" b="1" dirty="0">
                          <a:solidFill>
                            <a:schemeClr val="tx1"/>
                          </a:solidFill>
                        </a:rPr>
                        <a:t>RIC allo-HCT</a:t>
                      </a:r>
                      <a:endParaRPr lang="en-US" sz="15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Population</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R/R MCL after BTKi; 3-y follow-up</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EBMT registry, long-term follow-up</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Efficacy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ORR 91%, CR 68%; median PFS 28.2 mo</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5-y OS 40%; 5-y relapse 40%</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Toxicity</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Grade ≥ 3 CRS 15%, neurologic events 31%;</a:t>
                      </a:r>
                      <a:endParaRPr lang="en-US" sz="1500" dirty="0"/>
                    </a:p>
                    <a:p>
                      <a:pPr indent="0" marL="0">
                        <a:buNone/>
                      </a:pPr>
                      <a:r>
                        <a:rPr lang="en-US" sz="1500" dirty="0">
                          <a:solidFill>
                            <a:schemeClr val="tx1"/>
                          </a:solidFill>
                        </a:rPr>
                        <a:t>1-y NRM up to 9.1%</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Higher than CAR-T (no NRM</a:t>
                      </a:r>
                      <a:endParaRPr lang="en-US" sz="1500" dirty="0"/>
                    </a:p>
                    <a:p>
                      <a:pPr indent="0" marL="0">
                        <a:buNone/>
                      </a:pPr>
                      <a:r>
                        <a:rPr lang="en-US" sz="1500" dirty="0">
                          <a:solidFill>
                            <a:schemeClr val="tx1"/>
                          </a:solidFill>
                        </a:rPr>
                        <a:t>figure given in Ch. 87)</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Who does well</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&lt; 65 and ≥ 65 y alike;</a:t>
                      </a:r>
                      <a:endParaRPr lang="en-US" sz="1500" dirty="0"/>
                    </a:p>
                    <a:p>
                      <a:pPr indent="0" marL="0">
                        <a:buNone/>
                      </a:pPr>
                      <a:r>
                        <a:rPr lang="en-US" sz="1500" dirty="0">
                          <a:solidFill>
                            <a:schemeClr val="tx1"/>
                          </a:solidFill>
                        </a:rPr>
                        <a:t>ECOG ≥ 2: more ICANS</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cGVHD or no alemtuzumab:</a:t>
                      </a:r>
                      <a:endParaRPr lang="en-US" sz="1500" dirty="0"/>
                    </a:p>
                    <a:p>
                      <a:pPr indent="0" marL="0">
                        <a:buNone/>
                      </a:pPr>
                      <a:r>
                        <a:rPr lang="en-US" sz="1500" dirty="0">
                          <a:solidFill>
                            <a:schemeClr val="tx1"/>
                          </a:solidFill>
                        </a:rPr>
                        <a:t>less relapse</a:t>
                      </a:r>
                      <a:endParaRPr lang="en-US" sz="15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500" dirty="0">
                          <a:solidFill>
                            <a:schemeClr val="tx1"/>
                          </a:solidFill>
                        </a:rPr>
                        <a:t>Who does badly</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Not specified in Ch. 87</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500" dirty="0">
                          <a:solidFill>
                            <a:schemeClr val="tx1"/>
                          </a:solidFill>
                        </a:rPr>
                        <a:t>Chemorefractory; early relapse</a:t>
                      </a:r>
                      <a:endParaRPr lang="en-US" sz="1500" dirty="0"/>
                    </a:p>
                    <a:p>
                      <a:pPr indent="0" marL="0">
                        <a:buNone/>
                      </a:pPr>
                      <a:r>
                        <a:rPr lang="en-US" sz="1500" dirty="0">
                          <a:solidFill>
                            <a:schemeClr val="tx1"/>
                          </a:solidFill>
                        </a:rPr>
                        <a:t>after first-line auto-HCT</a:t>
                      </a:r>
                      <a:endParaRPr lang="en-US" sz="15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BURKITT AND LBL</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Burkitt and lymphoblastic lymphoma are cured mainly by first-line intensity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Hübel K, et al. EBMT Handbook 8th ed. 2024; Ch. 88 · Olszewski 2021; Peniket 2003; Levine 2003</a:t>
            </a:r>
            <a:endParaRPr lang="en-US" sz="1000" dirty="0"/>
          </a:p>
        </p:txBody>
      </p:sp>
      <p:graphicFrame>
        <p:nvGraphicFramePr>
          <p:cNvPr id="13" name="Table 48"/>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1645920"/>
                <a:gridCol w="4672584"/>
                <a:gridCol w="4489704"/>
              </a:tblGrid>
              <a:tr h="0">
                <a:tc>
                  <a:txBody>
                    <a:bodyPr/>
                    <a:lstStyle/>
                    <a:p>
                      <a:pPr indent="0" marL="0">
                        <a:buNone/>
                      </a:pP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Burkitt lymphoma</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Lymphoblastic lymphoma</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Biology</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MYC–IGH (≈ 80%) or MYC–light chain;</a:t>
                      </a:r>
                      <a:endParaRPr lang="en-US" sz="1400" dirty="0"/>
                    </a:p>
                    <a:p>
                      <a:pPr indent="0" marL="0">
                        <a:buNone/>
                      </a:pPr>
                      <a:r>
                        <a:rPr lang="en-US" sz="1400" dirty="0">
                          <a:solidFill>
                            <a:schemeClr val="tx1"/>
                          </a:solidFill>
                        </a:rPr>
                        <a:t>Ki67 ≈ 100%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Adults: ≈ 90% T-LBL;</a:t>
                      </a:r>
                      <a:endParaRPr lang="en-US" sz="1400" dirty="0"/>
                    </a:p>
                    <a:p>
                      <a:pPr indent="0" marL="0">
                        <a:buNone/>
                      </a:pPr>
                      <a:r>
                        <a:rPr lang="en-US" sz="1400" dirty="0">
                          <a:solidFill>
                            <a:schemeClr val="tx1"/>
                          </a:solidFill>
                        </a:rPr>
                        <a:t>TdT+, often CD7+ CD3+</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Risk</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BL-IPI: age ≥ 40, PS ≥ 2,</a:t>
                      </a:r>
                      <a:endParaRPr lang="en-US" sz="1400" dirty="0"/>
                    </a:p>
                    <a:p>
                      <a:pPr indent="0" marL="0">
                        <a:buNone/>
                      </a:pPr>
                      <a:r>
                        <a:rPr lang="en-US" sz="1400" dirty="0">
                          <a:solidFill>
                            <a:schemeClr val="tx1"/>
                          </a:solidFill>
                        </a:rPr>
                        <a:t>LDH &gt; 3 × ULN, CNS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No validated model; LDH, BM</a:t>
                      </a:r>
                      <a:endParaRPr lang="en-US" sz="1400" dirty="0"/>
                    </a:p>
                    <a:p>
                      <a:pPr indent="0" marL="0">
                        <a:buNone/>
                      </a:pPr>
                      <a:r>
                        <a:rPr lang="en-US" sz="1400" dirty="0">
                          <a:solidFill>
                            <a:schemeClr val="tx1"/>
                          </a:solidFill>
                        </a:rPr>
                        <a:t>or CNS, stage IV, MRD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First line</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R-CODOX-M/R-IVAC, R-HyperCVAD,</a:t>
                      </a:r>
                      <a:endParaRPr lang="en-US" sz="1400" dirty="0"/>
                    </a:p>
                    <a:p>
                      <a:pPr indent="0" marL="0">
                        <a:buNone/>
                      </a:pPr>
                      <a:r>
                        <a:rPr lang="en-US" sz="1400" dirty="0">
                          <a:solidFill>
                            <a:schemeClr val="tx1"/>
                          </a:solidFill>
                        </a:rPr>
                        <a:t>GMALL; DA-EPOCH-R if unfit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ALL-type protocols + intrathecal</a:t>
                      </a:r>
                      <a:endParaRPr lang="en-US" sz="1400" dirty="0"/>
                    </a:p>
                    <a:p>
                      <a:pPr indent="0" marL="0">
                        <a:buNone/>
                      </a:pPr>
                      <a:r>
                        <a:rPr lang="en-US" sz="1400" dirty="0">
                          <a:solidFill>
                            <a:schemeClr val="tx1"/>
                          </a:solidFill>
                        </a:rPr>
                        <a:t>prophylaxis; CR &gt; 80%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Auto-HCT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Feasible; no proven gain in CR1</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CR1: better RFS, no OS gain;</a:t>
                      </a:r>
                      <a:endParaRPr lang="en-US" sz="1400" dirty="0"/>
                    </a:p>
                    <a:p>
                      <a:pPr indent="0" marL="0">
                        <a:buNone/>
                      </a:pPr>
                      <a:r>
                        <a:rPr lang="en-US" sz="1400" dirty="0">
                          <a:solidFill>
                            <a:schemeClr val="tx1"/>
                          </a:solidFill>
                        </a:rPr>
                        <a:t>5-y relapse 56%</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Allo-HCT</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CR ≥ 2; RIC &gt; MAC;</a:t>
                      </a:r>
                      <a:endParaRPr lang="en-US" sz="1400" dirty="0"/>
                    </a:p>
                    <a:p>
                      <a:pPr indent="0" marL="0">
                        <a:buNone/>
                      </a:pPr>
                      <a:r>
                        <a:rPr lang="en-US" sz="1400" dirty="0">
                          <a:solidFill>
                            <a:schemeClr val="tx1"/>
                          </a:solidFill>
                        </a:rPr>
                        <a:t>1-y TRM 30%, 5-y OS 30–40%</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No established role;</a:t>
                      </a:r>
                      <a:endParaRPr lang="en-US" sz="1400" dirty="0"/>
                    </a:p>
                    <a:p>
                      <a:pPr indent="0" marL="0">
                        <a:buNone/>
                      </a:pPr>
                      <a:r>
                        <a:rPr lang="en-US" sz="1400" dirty="0">
                          <a:solidFill>
                            <a:schemeClr val="tx1"/>
                          </a:solidFill>
                        </a:rPr>
                        <a:t>5-y relapse 34%</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Other</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CAR-T: 4–6 wk to manufacture,</a:t>
                      </a:r>
                      <a:endParaRPr lang="en-US" sz="1400" dirty="0"/>
                    </a:p>
                    <a:p>
                      <a:pPr indent="0" marL="0">
                        <a:buNone/>
                      </a:pPr>
                      <a:r>
                        <a:rPr lang="en-US" sz="1400" dirty="0">
                          <a:solidFill>
                            <a:schemeClr val="tx1"/>
                          </a:solidFill>
                        </a:rPr>
                        <a:t>often too slow</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Relapse: nelarabine bridge</a:t>
                      </a:r>
                      <a:endParaRPr lang="en-US" sz="1400" dirty="0"/>
                    </a:p>
                    <a:p>
                      <a:pPr indent="0" marL="0">
                        <a:buNone/>
                      </a:pPr>
                      <a:r>
                        <a:rPr lang="en-US" sz="1400" dirty="0">
                          <a:solidFill>
                            <a:schemeClr val="tx1"/>
                          </a:solidFill>
                        </a:rPr>
                        <a:t>to allo-HCT</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PTCL · INDICATIONS AND RESULTS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PTCL uses auto-HCT in CR1 and keeps allo-HCT for relapse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Hübel K, et al. EBMT Handbook 8th ed. 2024; Ch. 88 · Horwitz 2022</a:t>
            </a:r>
            <a:endParaRPr lang="en-US" sz="1000" dirty="0"/>
          </a:p>
        </p:txBody>
      </p:sp>
      <p:graphicFrame>
        <p:nvGraphicFramePr>
          <p:cNvPr id="14" name="Table 49"/>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4398264"/>
                <a:gridCol w="4215384"/>
              </a:tblGrid>
              <a:tr h="0">
                <a:tc>
                  <a:txBody>
                    <a:bodyPr/>
                    <a:lstStyle/>
                    <a:p>
                      <a:pPr indent="0" marL="0">
                        <a:buNone/>
                      </a:pP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Auto-HCT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Allo-HCT</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Indication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CR1 (IPI &gt; 1); CR ≥ 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CR ≥ 2; relapse after auto-HCT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Regimen</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BEAC, BEAM, LEAM, CBV</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RIC &gt; MAC; MRS &gt; MUD &gt; mMUD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TRM (1 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5–7%</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20–25%</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Relapse (3 y)</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40–50%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20–40%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OS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 y: 70% (CR1), 50% (CR ≥ 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 y: 40–60%</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PFS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5 y: 50% (CR1), 20–35% (CR ≥ 2)</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3 y: 30–50%</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50"/>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First line CHOP or CHOEP: 3-y OS 75–80%; add brentuximab if CD30+ (ECHELON-2). ALK+ ALCL fares better.</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CTCL · MYCOSIS FUNGOIDES AND SÉZARY SYNDROME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In advanced mycosis fungoides and Sézary syndrome, only allo-HCT cures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Hübel K, et al. EBMT Handbook 8th ed. 2024; Ch. 88</a:t>
            </a:r>
            <a:endParaRPr lang="en-US" sz="1000" dirty="0"/>
          </a:p>
        </p:txBody>
      </p:sp>
      <p:sp>
        <p:nvSpPr>
          <p:cNvPr id="6" name="Box 51"/>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Stage I–IIA: patches, plaques; skin-directed therapy</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52"/>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Stage IIB–IV: median survival 2–5 years</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53"/>
          <p:cNvSpPr txBox="1"/>
          <p:nvPr/>
        </p:nvSpPr>
        <p:spPr>
          <a:xfrm>
            <a:off x="6345936"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Brentuximab, mogamulizumab: low, short responses</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54"/>
          <p:cNvSpPr txBox="1"/>
          <p:nvPr/>
        </p:nvSpPr>
        <p:spPr>
          <a:xfrm>
            <a:off x="9176004"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Allo-HCT rescues &gt; 1/3; relapse is the main failure</a:t>
            </a:r>
            <a:endParaRPr lang="en-US" sz="1700" dirty="0"/>
          </a:p>
        </p:txBody>
      </p:sp>
      <p:sp>
        <p:nvSpPr>
          <p:cNvPr id="13" name="Text 55"/>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MF and SS are 70% of CTCL (≈ 6 per million). ISCL/EORTC TNMB staging. Trend: earlier allo-HCT, older patients, more unrelated donors.</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HIV-ASSOCIATED LYMPHOMA</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HIV-associated lymphoma follows HIV-negative rules while cART continues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Hübel K, et al. EBMT Handbook 8th ed. 2024; Ch. 88 · Hübel 2019</a:t>
            </a:r>
            <a:endParaRPr lang="en-US" sz="1000" dirty="0"/>
          </a:p>
        </p:txBody>
      </p:sp>
      <p:sp>
        <p:nvSpPr>
          <p:cNvPr id="6" name="Box 56"/>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HIV lymphoma: DLBCL and BL (AIDS-defining), HL</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57"/>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First line</a:t>
            </a:r>
            <a:endParaRPr lang="en-US" sz="1400" dirty="0"/>
          </a:p>
        </p:txBody>
      </p:sp>
      <p:sp>
        <p:nvSpPr>
          <p:cNvPr id="11" name="Box 58"/>
          <p:cNvSpPr txBox="1"/>
          <p:nvPr/>
        </p:nvSpPr>
        <p:spPr>
          <a:xfrm>
            <a:off x="685800"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Same regimens as HIV-negative</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59"/>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Keep cART</a:t>
            </a:r>
            <a:endParaRPr lang="en-US" sz="1400" dirty="0"/>
          </a:p>
          <a:p>
            <a:pPr algn="ctr" indent="0" marL="0">
              <a:buNone/>
            </a:pPr>
            <a:r>
              <a:rPr lang="en-US" sz="1400" dirty="0">
                <a:solidFill>
                  <a:schemeClr val="tx1"/>
                </a:solidFill>
              </a:rPr>
              <a:t>throughout</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60"/>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Chemosensitive relapse</a:t>
            </a:r>
            <a:endParaRPr lang="en-US" sz="1400" dirty="0"/>
          </a:p>
        </p:txBody>
      </p:sp>
      <p:sp>
        <p:nvSpPr>
          <p:cNvPr id="16" name="Box 61"/>
          <p:cNvSpPr txBox="1"/>
          <p:nvPr/>
        </p:nvSpPr>
        <p:spPr>
          <a:xfrm>
            <a:off x="3481578"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Auto-HCT, same indications</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62"/>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1-y TRM 5–7%;</a:t>
            </a:r>
            <a:endParaRPr lang="en-US" sz="1400" dirty="0"/>
          </a:p>
          <a:p>
            <a:pPr algn="ctr" indent="0" marL="0">
              <a:buNone/>
            </a:pPr>
            <a:r>
              <a:rPr lang="en-US" sz="1400" dirty="0">
                <a:solidFill>
                  <a:schemeClr val="tx1"/>
                </a:solidFill>
              </a:rPr>
              <a:t>5-y OS 50–60%</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63"/>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Allo-HCT</a:t>
            </a:r>
            <a:endParaRPr lang="en-US" sz="1400" dirty="0"/>
          </a:p>
        </p:txBody>
      </p:sp>
      <p:sp>
        <p:nvSpPr>
          <p:cNvPr id="21" name="Box 64"/>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Case reports, small series</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65"/>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No definitive</a:t>
            </a:r>
            <a:endParaRPr lang="en-US" sz="1400" dirty="0"/>
          </a:p>
          <a:p>
            <a:pPr algn="ctr" indent="0" marL="0">
              <a:buNone/>
            </a:pPr>
            <a:r>
              <a:rPr lang="en-US" sz="1400" dirty="0">
                <a:solidFill>
                  <a:schemeClr val="tx1"/>
                </a:solidFill>
              </a:rPr>
              <a:t>recommendation</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66"/>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CAR-T</a:t>
            </a:r>
            <a:endParaRPr lang="en-US" sz="1400" dirty="0"/>
          </a:p>
        </p:txBody>
      </p:sp>
      <p:sp>
        <p:nvSpPr>
          <p:cNvPr id="26" name="Box 67"/>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A few case reports</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68"/>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Feasible</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choose consolidation for a late LBCL relapse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sp>
        <p:nvSpPr>
          <p:cNvPr id="6" name="Text 69"/>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48-year-old woman with DLBCL (GCB type, IPI 2) reached complete metabolic response after 6 cycles of R-CHOP. Twenty months after the last cycle, a core biopsy confirms CD20+ DLBCL relapse. After 2 cycles of R-ICE, PET-CT shows complete metabolic response. ECOG is 0. What is the most appropriate next step?</a:t>
            </a:r>
            <a:endParaRPr lang="en-US" sz="1900" dirty="0"/>
          </a:p>
        </p:txBody>
      </p:sp>
      <p:sp>
        <p:nvSpPr>
          <p:cNvPr id="7" name="Text 70"/>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Anti-CD19 CAR-T cell therapy</a:t>
            </a:r>
            <a:endParaRPr lang="en-US" sz="1800" dirty="0"/>
          </a:p>
          <a:p>
            <a:pPr indent="0" marL="0">
              <a:spcAft>
                <a:spcPts val="800"/>
              </a:spcAft>
              <a:buNone/>
            </a:pPr>
            <a:r>
              <a:rPr lang="en-US" sz="1800" dirty="0">
                <a:solidFill>
                  <a:schemeClr val="tx1"/>
                </a:solidFill>
              </a:rPr>
              <a:t>B.  Reduced-intensity allo-HCT from a matched sibling</a:t>
            </a:r>
            <a:endParaRPr lang="en-US" sz="1800" dirty="0"/>
          </a:p>
          <a:p>
            <a:pPr indent="0" marL="0">
              <a:spcAft>
                <a:spcPts val="800"/>
              </a:spcAft>
              <a:buNone/>
            </a:pPr>
            <a:r>
              <a:rPr lang="en-US" sz="1800" dirty="0">
                <a:solidFill>
                  <a:schemeClr val="tx1"/>
                </a:solidFill>
              </a:rPr>
              <a:t>C.  BEAM high-dose therapy with autologous stem cell rescue</a:t>
            </a:r>
            <a:endParaRPr lang="en-US" sz="1800" dirty="0"/>
          </a:p>
          <a:p>
            <a:pPr indent="0" marL="0">
              <a:spcAft>
                <a:spcPts val="800"/>
              </a:spcAft>
              <a:buNone/>
            </a:pPr>
            <a:r>
              <a:rPr lang="en-US" sz="1800" dirty="0">
                <a:solidFill>
                  <a:schemeClr val="tx1"/>
                </a:solidFill>
              </a:rPr>
              <a:t>D.  Two more cycles of R-ICE, then rituximab maintenance</a:t>
            </a:r>
            <a:endParaRPr lang="en-US" sz="1800" dirty="0"/>
          </a:p>
          <a:p>
            <a:pPr indent="0" marL="0">
              <a:spcAft>
                <a:spcPts val="800"/>
              </a:spcAft>
              <a:buNone/>
            </a:pPr>
            <a:r>
              <a:rPr lang="en-US" sz="1800" dirty="0">
                <a:solidFill>
                  <a:schemeClr val="tx1"/>
                </a:solidFill>
              </a:rPr>
              <a:t>E.  Tandem autologous 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chemosensitive late relapse is the standard autograft setting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sp>
        <p:nvSpPr>
          <p:cNvPr id="6" name="Box 71"/>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BEAM high-dose therapy with autologous stem cell rescue</a:t>
            </a:r>
            <a:endParaRPr lang="en-US" sz="2000" dirty="0"/>
          </a:p>
        </p:txBody>
      </p:sp>
      <p:sp>
        <p:nvSpPr>
          <p:cNvPr id="7" name="Text 72"/>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Relapse &gt; 12 months after first line with CR after salvage is the one setting where Table 86.3 calls auto-HCT standard of care. CAR-T is standard for refractory disease, relapse ≤ 12 months, or relapse after auto-HCT. Allo-HCT is kept for relapse after CAR-T; RTX maintenance failed in CORAL; tandem auto has no data in the RTX era.</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treat mantle cell lymphoma progressing on ibrutinib</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Baermann BN, et al. EBMT Handbook 8th ed. 2024; Ch. 87</a:t>
            </a:r>
            <a:endParaRPr lang="en-US" sz="1000" dirty="0"/>
          </a:p>
        </p:txBody>
      </p:sp>
      <p:sp>
        <p:nvSpPr>
          <p:cNvPr id="6" name="Text 73"/>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60-year-old man with mantle cell lymphoma received R + high-dose cytarabine induction, BEAM auto-HCT and rituximab maintenance. At first relapse he started ibrutinib; 30 months after auto-HCT he now progresses on it. ECOG is 1 and organ function is normal. Which next step does the EBMT Handbook favour?</a:t>
            </a:r>
            <a:endParaRPr lang="en-US" sz="1900" dirty="0"/>
          </a:p>
        </p:txBody>
      </p:sp>
      <p:sp>
        <p:nvSpPr>
          <p:cNvPr id="7" name="Text 74"/>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Salvage chemotherapy, then a second auto-HCT</a:t>
            </a:r>
            <a:endParaRPr lang="en-US" sz="1800" dirty="0"/>
          </a:p>
          <a:p>
            <a:pPr indent="0" marL="0">
              <a:spcAft>
                <a:spcPts val="800"/>
              </a:spcAft>
              <a:buNone/>
            </a:pPr>
            <a:r>
              <a:rPr lang="en-US" sz="1800" dirty="0">
                <a:solidFill>
                  <a:schemeClr val="tx1"/>
                </a:solidFill>
              </a:rPr>
              <a:t>B.  Brexucabtagene autoleucel (anti-CD19 CAR-T)</a:t>
            </a:r>
            <a:endParaRPr lang="en-US" sz="1800" dirty="0"/>
          </a:p>
          <a:p>
            <a:pPr indent="0" marL="0">
              <a:spcAft>
                <a:spcPts val="800"/>
              </a:spcAft>
              <a:buNone/>
            </a:pPr>
            <a:r>
              <a:rPr lang="en-US" sz="1800" dirty="0">
                <a:solidFill>
                  <a:schemeClr val="tx1"/>
                </a:solidFill>
              </a:rPr>
              <a:t>C.  Restart rituximab maintenance for 3 years</a:t>
            </a:r>
            <a:endParaRPr lang="en-US" sz="1800" dirty="0"/>
          </a:p>
          <a:p>
            <a:pPr indent="0" marL="0">
              <a:spcAft>
                <a:spcPts val="800"/>
              </a:spcAft>
              <a:buNone/>
            </a:pPr>
            <a:r>
              <a:rPr lang="en-US" sz="1800" dirty="0">
                <a:solidFill>
                  <a:schemeClr val="tx1"/>
                </a:solidFill>
              </a:rPr>
              <a:t>D.  Observation, as relapsed MCL is often indolent</a:t>
            </a:r>
            <a:endParaRPr lang="en-US" sz="1800" dirty="0"/>
          </a:p>
          <a:p>
            <a:pPr indent="0" marL="0">
              <a:spcAft>
                <a:spcPts val="800"/>
              </a:spcAft>
              <a:buNone/>
            </a:pPr>
            <a:r>
              <a:rPr lang="en-US" sz="1800" dirty="0">
                <a:solidFill>
                  <a:schemeClr val="tx1"/>
                </a:solidFill>
              </a:rPr>
              <a:t>E.  Myeloablative allo-HCT with alemtuzumab T-cell depletion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CAR-T is the standard after ibrutinib failure in MCL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Baermann BN, et al. EBMT Handbook 8th ed. 2024; Ch. 87</a:t>
            </a:r>
            <a:endParaRPr lang="en-US" sz="1000" dirty="0"/>
          </a:p>
        </p:txBody>
      </p:sp>
      <p:sp>
        <p:nvSpPr>
          <p:cNvPr id="6" name="Box 7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Brexucabtagene autoleucel (anti-CD19 CAR-T)</a:t>
            </a:r>
            <a:endParaRPr lang="en-US" sz="2000" dirty="0"/>
          </a:p>
        </p:txBody>
      </p:sp>
      <p:sp>
        <p:nvSpPr>
          <p:cNvPr id="7" name="Text 7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After BTKi, brexu-cel gave ORR 91%, CR 68% and median PFS 28.2 months; with its better safety profile, Ch. 87 calls CAR-T the new standard. A second auto-HCT is not justified (2% of patients, one long-term survivor). Allo-HCT is evaluated after CAR-T failure, and alemtuzumab raised relapse after RIC allo-HCT.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choose consolidation for PTCL in first remission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Hübel K, et al. EBMT Handbook 8th ed. 2024; Ch. 88</a:t>
            </a:r>
            <a:endParaRPr lang="en-US" sz="1000" dirty="0"/>
          </a:p>
        </p:txBody>
      </p:sp>
      <p:sp>
        <p:nvSpPr>
          <p:cNvPr id="6" name="Text 77"/>
          <p:cNvSpPr txBox="1"/>
          <p:nvPr/>
        </p:nvSpPr>
        <p:spPr>
          <a:xfrm>
            <a:off x="685800" y="2194560"/>
            <a:ext cx="10817352" cy="1124712"/>
          </a:xfrm>
          <a:prstGeom prst="rect">
            <a:avLst/>
          </a:prstGeom>
          <a:noFill/>
          <a:ln/>
        </p:spPr>
        <p:txBody>
          <a:bodyPr wrap="square" lIns="0" tIns="0" rIns="0" bIns="0" rtlCol="0" anchor="t"/>
          <a:lstStyle/>
          <a:p>
            <a:pPr indent="0" marL="0">
              <a:buNone/>
            </a:pPr>
            <a:r>
              <a:rPr lang="en-US" sz="1900" dirty="0">
                <a:solidFill>
                  <a:schemeClr val="tx1"/>
                </a:solidFill>
              </a:rPr>
              <a:t>A 54-year-old woman with peripheral T-cell lymphoma NOS, stage IV, raised LDH and ECOG 1 (IPI 3), reaches complete remission after 6 cycles of CHOEP. CD30 is negative. She has an HLA-identical sister. Which consolidation is supported by the EBMT Handbook?</a:t>
            </a:r>
            <a:endParaRPr lang="en-US" sz="1900" dirty="0"/>
          </a:p>
        </p:txBody>
      </p:sp>
      <p:sp>
        <p:nvSpPr>
          <p:cNvPr id="7" name="Text 78"/>
          <p:cNvSpPr txBox="1"/>
          <p:nvPr/>
        </p:nvSpPr>
        <p:spPr>
          <a:xfrm>
            <a:off x="960120" y="3593592"/>
            <a:ext cx="10543032" cy="2304288"/>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Observation with PET-CT surveillance</a:t>
            </a:r>
            <a:endParaRPr lang="en-US" sz="1800" dirty="0"/>
          </a:p>
          <a:p>
            <a:pPr indent="0" marL="0">
              <a:spcAft>
                <a:spcPts val="800"/>
              </a:spcAft>
              <a:buNone/>
            </a:pPr>
            <a:r>
              <a:rPr lang="en-US" sz="1800" dirty="0">
                <a:solidFill>
                  <a:schemeClr val="tx1"/>
                </a:solidFill>
              </a:rPr>
              <a:t>B.  Myeloablative allo-HCT from her sister in CR1</a:t>
            </a:r>
            <a:endParaRPr lang="en-US" sz="1800" dirty="0"/>
          </a:p>
          <a:p>
            <a:pPr indent="0" marL="0">
              <a:spcAft>
                <a:spcPts val="800"/>
              </a:spcAft>
              <a:buNone/>
            </a:pPr>
            <a:r>
              <a:rPr lang="en-US" sz="1800" dirty="0">
                <a:solidFill>
                  <a:schemeClr val="tx1"/>
                </a:solidFill>
              </a:rPr>
              <a:t>C.  Brentuximab vedotin maintenance</a:t>
            </a:r>
            <a:endParaRPr lang="en-US" sz="1800" dirty="0"/>
          </a:p>
          <a:p>
            <a:pPr indent="0" marL="0">
              <a:spcAft>
                <a:spcPts val="800"/>
              </a:spcAft>
              <a:buNone/>
            </a:pPr>
            <a:r>
              <a:rPr lang="en-US" sz="1800" dirty="0">
                <a:solidFill>
                  <a:schemeClr val="tx1"/>
                </a:solidFill>
              </a:rPr>
              <a:t>D.  Autologous HCT with BEAM conditioning in CR1</a:t>
            </a:r>
            <a:endParaRPr lang="en-US" sz="1800" dirty="0"/>
          </a:p>
          <a:p>
            <a:pPr indent="0" marL="0">
              <a:spcAft>
                <a:spcPts val="800"/>
              </a:spcAft>
              <a:buNone/>
            </a:pPr>
            <a:r>
              <a:rPr lang="en-US" sz="1800" dirty="0">
                <a:solidFill>
                  <a:schemeClr val="tx1"/>
                </a:solidFill>
              </a:rPr>
              <a:t>E.  Anti-CD19 CAR-T cell consolidation</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D: PTCL with IPI &gt; 1 is consolidated by auto-HCT in CR1</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Hübel K, et al. EBMT Handbook 8th ed. 2024; Ch. 88</a:t>
            </a:r>
            <a:endParaRPr lang="en-US" sz="1000" dirty="0"/>
          </a:p>
        </p:txBody>
      </p:sp>
      <p:sp>
        <p:nvSpPr>
          <p:cNvPr id="6" name="Box 7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D.  Autologous HCT with BEAM conditioning in CR1</a:t>
            </a:r>
            <a:endParaRPr lang="en-US" sz="2000" dirty="0"/>
          </a:p>
        </p:txBody>
      </p:sp>
      <p:sp>
        <p:nvSpPr>
          <p:cNvPr id="7" name="Text 8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Ch. 88 lists auto-HCT for PTCL in CR1 when IPI &gt; 1 (BEAC, BEAM, LEAM or CBV; 1-y TRM 5–7%, 5-y OS 70% in CR1). Allo-HCT is indicated in CR ≥ 2 or relapse after auto-HCT, with RIC preferred and 1-y TRM 20–25%. Brentuximab is for CD30+ disease; PTCL is a T-cell lymphoma, so anti-CD19 CAR-T has no target.</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5</a:t>
            </a:r>
            <a:endParaRPr lang="en-US" sz="3600" dirty="0"/>
          </a:p>
        </p:txBody>
      </p:sp>
      <p:sp>
        <p:nvSpPr>
          <p:cNvPr id="5" name="Text 8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Bento L, Glass B, Schmitz N. Large B-cell lymphoma. In: The EBMT Handbook, 8th ed. Springer; 2024. pp. 777–785. doi:10.1007/978-3-031-44080-9_86</a:t>
            </a:r>
            <a:endParaRPr lang="en-US" sz="1100" dirty="0"/>
          </a:p>
          <a:p>
            <a:pPr indent="0" marL="0">
              <a:spcAft>
                <a:spcPts val="700"/>
              </a:spcAft>
              <a:buNone/>
            </a:pPr>
            <a:r>
              <a:rPr lang="en-US" sz="1100" dirty="0">
                <a:solidFill>
                  <a:schemeClr val="tx1"/>
                </a:solidFill>
              </a:rPr>
              <a:t>2. Baermann BN, Dietrich S. Mantle cell lymphoma. In: The EBMT Handbook, 8th ed. Springer; 2024. pp. 787–790. doi:10.1007/978-3-031-44080-9_87</a:t>
            </a:r>
            <a:endParaRPr lang="en-US" sz="1100" dirty="0"/>
          </a:p>
          <a:p>
            <a:pPr indent="0" marL="0">
              <a:spcAft>
                <a:spcPts val="700"/>
              </a:spcAft>
              <a:buNone/>
            </a:pPr>
            <a:r>
              <a:rPr lang="en-US" sz="1100" dirty="0">
                <a:solidFill>
                  <a:schemeClr val="tx1"/>
                </a:solidFill>
              </a:rPr>
              <a:t>3. Hübel K, Montoto S, Güven M, Duarte RF. Other B- and T-aggressive lymphomas and lymphomas associated with HIV. In: The EBMT Handbook, 8th ed. Springer; 2024. pp. 791–797. doi:10.1007/978-3-031-44080-9_88</a:t>
            </a:r>
            <a:endParaRPr lang="en-US" sz="1100" dirty="0"/>
          </a:p>
        </p:txBody>
      </p:sp>
      <p:sp>
        <p:nvSpPr>
          <p:cNvPr id="6" name="Text 8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4. Ziepert M, Hasenclever D, Kuhnt E, Glass B, Schmitz N, Pfreundschuh M, Loeffler M. Standard international prognostic index remains a valid predictor of outcome for patients with aggressive CD20+ B-cell lymphoma in the rituximab era. J Clin Oncol. 2010;28:2373–80.</a:t>
            </a:r>
            <a:endParaRPr lang="en-US" sz="1100" dirty="0"/>
          </a:p>
          <a:p>
            <a:pPr indent="0" marL="0">
              <a:spcAft>
                <a:spcPts val="700"/>
              </a:spcAft>
              <a:buNone/>
            </a:pPr>
            <a:r>
              <a:rPr lang="en-US" sz="1100" dirty="0">
                <a:solidFill>
                  <a:schemeClr val="tx1"/>
                </a:solidFill>
              </a:rPr>
              <a:t>5. Tilly H, Morschhauser F, Sehn LH, Friedberg JW, Trněný M, Sharman JP, Herbaux C, Burke JM, Matasar M, Rai S, Izutsu K, Mehta-Shah N, Oberic L, Chauchet A, Jurczak W, Song Y, Greil R, Mykhalska L, Bergua-Burgués JM, Cheung MC, et al. Polatuzumab vedotin in previously untreated diffuse large B-cell lymphoma. N Engl J Med. 2022;386:351–63.</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5</a:t>
            </a:r>
            <a:endParaRPr lang="en-US" sz="3600" dirty="0"/>
          </a:p>
        </p:txBody>
      </p:sp>
      <p:sp>
        <p:nvSpPr>
          <p:cNvPr id="5" name="Text 8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6. Gisselbrecht C, Glass B, Mounier N, Singh Gill D, Linch DC, Trneny M, Bosly A, Ketterer N, Shpilberg O, Hagberg H, Ma D, Brière J, Moskowitz CH, Schmitz N. Salvage regimens with autologous transplantation for relapsed large B-cell lymphoma in the rituximab era. J Clin Oncol. 2010;28:4184–90.</a:t>
            </a:r>
            <a:endParaRPr lang="en-US" sz="1100" dirty="0"/>
          </a:p>
          <a:p>
            <a:pPr indent="0" marL="0">
              <a:spcAft>
                <a:spcPts val="700"/>
              </a:spcAft>
              <a:buNone/>
            </a:pPr>
            <a:r>
              <a:rPr lang="en-US" sz="1100" dirty="0">
                <a:solidFill>
                  <a:schemeClr val="tx1"/>
                </a:solidFill>
              </a:rPr>
              <a:t>7. Crump M, Kuruvilla J, Couban S, MacDonald DA, Kukreti V, Kouroukis CT, Rubinger M, Buckstein R, Imrie KR, Federico M, Di Renzo N, Howson-Jan K, Baetz T, Kaizer L, Voralia M, Olney HJ, Turner AR, Sussman J, Hay AE, Djurfeldt MS, et al. Randomized comparison of gemcitabine, dexamethasone, and cisplatin versus dexamethasone, cytarabine, and cisplatin chemotherapy before autologous stem-cell transplantation for relapsed and refractory aggressive lymphomas: NCIC-CTG LY.12. J Clin Oncol. 2014;32:3490–6.</a:t>
            </a:r>
            <a:endParaRPr lang="en-US" sz="1100" dirty="0"/>
          </a:p>
          <a:p>
            <a:pPr indent="0" marL="0">
              <a:spcAft>
                <a:spcPts val="700"/>
              </a:spcAft>
              <a:buNone/>
            </a:pPr>
            <a:r>
              <a:rPr lang="en-US" sz="1100" dirty="0">
                <a:solidFill>
                  <a:schemeClr val="tx1"/>
                </a:solidFill>
              </a:rPr>
              <a:t>8. Gisselbrecht C, Schmitz N, Mounier N, Singh Gill D, Linch DC, Trneny M, Bosly A, Milpied NJ, Radford J, Ketterer N, Shpilberg O, Dührsen U, Hagberg H, Ma DD, Viardot A, Lowenthal R, Brière J, Salles G, Moskowitz CH, Glass B. Rituximab maintenance therapy after autologous stem-cell transplantation in patients with relapsed CD20(+) diffuse large B-cell lymphoma: final analysis of the collaborative trial in relapsed aggressive lymphoma. J Clin Oncol. 2012;30:4462–9.</a:t>
            </a:r>
            <a:endParaRPr lang="en-US" sz="1100" dirty="0"/>
          </a:p>
        </p:txBody>
      </p:sp>
      <p:sp>
        <p:nvSpPr>
          <p:cNvPr id="6" name="Text 8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Locke FL, Miklos DB, Jacobson CA, Perales M-A, Kersten M-J, Oluwole OO, Ghobadi A, Rapoport AP, McGuirk J, Pagel JM, Muñoz J, Farooq U, van Meerten T, Reagan PM, Sureda A, Flinn IW, Vandenberghe P, Song KW, Dickinson M, Minnema MC, et al. Axicabtagene ciloleucel as second-line therapy for large B-cell lymphoma. N Engl J Med. 2022;386:640–54.</a:t>
            </a:r>
            <a:endParaRPr lang="en-US" sz="1100" dirty="0"/>
          </a:p>
          <a:p>
            <a:pPr indent="0" marL="0">
              <a:spcAft>
                <a:spcPts val="700"/>
              </a:spcAft>
              <a:buNone/>
            </a:pPr>
            <a:r>
              <a:rPr lang="en-US" sz="1100" dirty="0">
                <a:solidFill>
                  <a:schemeClr val="tx1"/>
                </a:solidFill>
              </a:rPr>
              <a:t>10. Kamdar M, Solomon SR, Arnason JE, Johnston PB, Glass B, Bachanova V, Ibrahimi S, Mielke S, Mutsaers PGNJ, Hernandez-Ilizaliturri FJ, Izutsu K, Morschhauser F, Lunning MA, Maloney DG, Crotta A, Montheard S, Previtali A, Stepan L, Ogasawara K, Mack T, et al. Lisocabtagene maraleucel (liso-cel), a CD19-directed chimeric antigen receptor (CAR) T cell therapy, versus standard of care (SOC) with salvage chemotherapy (CT) followed by autologous stem cell transplantation (ASCT) as second-line (2L) treatment in patients (Pts) with relapsed or refractory (R/R) large B-cell lymphoma (LBCL): results from the randomized phase 3 transform study. Blood. 2021;138:91.</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3 of 5</a:t>
            </a:r>
            <a:endParaRPr lang="en-US" sz="3600" dirty="0"/>
          </a:p>
        </p:txBody>
      </p:sp>
      <p:sp>
        <p:nvSpPr>
          <p:cNvPr id="5" name="Text 85"/>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11. Glass B, Hasenkamp J, Wulf G, Dreger P, Pfreundschuh M, Gramatzki M, Silling G, Wilhelm C, Zeis M, Görlitz A, Pfeiffer S, Hilgers R, Truemper L, Schmitz N, German High-Grade Lymphoma Study Group. Rituximab after lymphoma-directed conditioning and allogeneic stem-cell transplantation for relapsed and refractory aggressive non-Hodgkin lymphoma (DSHNHL R3): an open-label, randomised, phase 2 trial. Lancet Oncol. 2014;15:757–66.</a:t>
            </a:r>
            <a:endParaRPr lang="en-US" sz="1100" dirty="0"/>
          </a:p>
          <a:p>
            <a:pPr indent="0" marL="0">
              <a:spcAft>
                <a:spcPts val="700"/>
              </a:spcAft>
              <a:buNone/>
            </a:pPr>
            <a:r>
              <a:rPr lang="en-US" sz="1100" dirty="0">
                <a:solidFill>
                  <a:schemeClr val="tx1"/>
                </a:solidFill>
              </a:rPr>
              <a:t>12. Fenske TS, Ahn KW, Graff TM, DiGilio A, Bashir Q, Kamble RT, Ayala E, Bacher U, Brammer JE, Cairo M, Chen A, Chen Y-B, Chhabra S, D’Souza A, Farooq U, Freytes C, Ganguly S, Hertzberg M, Inwards D, Jaglowski S, et al. Allogeneic transplantation provides durable remission in a subset of DLBCL patients relapsing after autologous transplantation. Br J Haematol. 2016;174:235–48.</a:t>
            </a:r>
            <a:endParaRPr lang="en-US" sz="1100" dirty="0"/>
          </a:p>
          <a:p>
            <a:pPr indent="0" marL="0">
              <a:spcAft>
                <a:spcPts val="700"/>
              </a:spcAft>
              <a:buNone/>
            </a:pPr>
            <a:r>
              <a:rPr lang="en-US" sz="1100" dirty="0">
                <a:solidFill>
                  <a:schemeClr val="tx1"/>
                </a:solidFill>
              </a:rPr>
              <a:t>13. Bento L, Gutiérrez A, Novelli S, Montoro J, Piñana JL, López-Corral L, Cabrero M, Martín-Sancho A, Gutiérrez-García G, Ortiz-Moscovich M, Bastos-Oreiro M, Dorado N, Pérez A, Hernani R, Ferrà C, Parody R, García-Cadenas I, Herrera P, Rodríguez G, Rodríguez N, et al. Allogeneic stem cell transplantation as a curative option in relapse/refractory diffuse large B cell lymphoma: Spanish multicenter GETH/GELTAMO study. Bone Marrow Transplant. 2021;56:1919–28.</a:t>
            </a:r>
            <a:endParaRPr lang="en-US" sz="1100" dirty="0"/>
          </a:p>
        </p:txBody>
      </p:sp>
      <p:sp>
        <p:nvSpPr>
          <p:cNvPr id="6" name="Text 86"/>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14. Dreger P, Sureda A, Ahn KW, Eapen M, Litovich C, Finel H, Boumendil A, Gopal A, Herrera AF, Schmid C, Diez-Martin JL, Fuchs E, Bolaños-Meade J, Gooptu M, Al Malki MM, Castagna L, Ciurea SO, Dominietto A, Blaise D, Ciceri F, et al. PTCy-based haploidentical vs matched related or unrelated donor reduced-intensity conditioning transplant for DLBCL. Blood Adv. 2019;3:360–9.</a:t>
            </a:r>
            <a:endParaRPr lang="en-US" sz="1100" dirty="0"/>
          </a:p>
          <a:p>
            <a:pPr indent="0" marL="0">
              <a:spcAft>
                <a:spcPts val="700"/>
              </a:spcAft>
              <a:buNone/>
            </a:pPr>
            <a:r>
              <a:rPr lang="en-US" sz="1100" dirty="0">
                <a:solidFill>
                  <a:schemeClr val="tx1"/>
                </a:solidFill>
              </a:rPr>
              <a:t>15. Le Gouill S, Thieblemont C, Oberic L, et al. Rituximab after autologous stem-cell transplantation in mantle-cell lymphoma. N Engl J Med. 2017;377:1250–60.</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4 of 5</a:t>
            </a:r>
            <a:endParaRPr lang="en-US" sz="3600" dirty="0"/>
          </a:p>
        </p:txBody>
      </p:sp>
      <p:sp>
        <p:nvSpPr>
          <p:cNvPr id="5" name="Text 87"/>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16. Dreyling M, Doorduijn JK, Gine E, Jerkeman M, Walewski J, Hutchings M, Hoster E. Efficacy and safety of ibrutinib combined with standard first-line treatment or as substitute for autologous stem cell transplantation in younger patients with mantle cell lymphoma: results from the randomized triangle trial by the European MCL Network. Blood. 2022;140(Supplement 1):1–3. https://doi.org/10.1182/blood-2022-163018.</a:t>
            </a:r>
            <a:endParaRPr lang="en-US" sz="1100" dirty="0"/>
          </a:p>
          <a:p>
            <a:pPr indent="0" marL="0">
              <a:spcAft>
                <a:spcPts val="700"/>
              </a:spcAft>
              <a:buNone/>
            </a:pPr>
            <a:r>
              <a:rPr lang="en-US" sz="1100" dirty="0">
                <a:solidFill>
                  <a:schemeClr val="tx1"/>
                </a:solidFill>
              </a:rPr>
              <a:t>17. Wang M, Munoz J, Goy A, Locke FL, Jacobson CA, Hill BT, Reagan PM. Three-year follow-up of KTE-X19 in patients with relapsed/refractory mantle cell lymphoma, including high-risk subgroups, in the ZUMA-2 study. J Clin Oncol. 2023b;41(3):555–67. https://doi.org/10.1200/JCO.21.02370.</a:t>
            </a:r>
            <a:endParaRPr lang="en-US" sz="1100" dirty="0"/>
          </a:p>
          <a:p>
            <a:pPr indent="0" marL="0">
              <a:spcAft>
                <a:spcPts val="700"/>
              </a:spcAft>
              <a:buNone/>
            </a:pPr>
            <a:r>
              <a:rPr lang="en-US" sz="1100" dirty="0">
                <a:solidFill>
                  <a:schemeClr val="tx1"/>
                </a:solidFill>
              </a:rPr>
              <a:t>18. Dietrich S, Boumendil A, Finel H, et al. Outcome and prognostic factors in patients with mantle-cell lymphoma relapsing after autologous stem-cell transplantation: a retrospective study of the European Group for Blood and Marrow Transplantation (EBMT). Ann Oncol. 2014a;25:1053–8.</a:t>
            </a:r>
            <a:endParaRPr lang="en-US" sz="1100" dirty="0"/>
          </a:p>
        </p:txBody>
      </p:sp>
      <p:sp>
        <p:nvSpPr>
          <p:cNvPr id="6" name="Text 88"/>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19. Robinson SP, Boumendil A, Finel H, et al. Long-term outcome analysis of reduced-intensity allogeneic stem cell transplantation in patients with mantle cell lymphoma: a retrospective study from the EBMT Lymphoma Working Party. Bone Marrow Transplant. 2018;53:617–24.</a:t>
            </a:r>
            <a:endParaRPr lang="en-US" sz="1100" dirty="0"/>
          </a:p>
          <a:p>
            <a:pPr indent="0" marL="0">
              <a:spcAft>
                <a:spcPts val="700"/>
              </a:spcAft>
              <a:buNone/>
            </a:pPr>
            <a:r>
              <a:rPr lang="en-US" sz="1100" dirty="0">
                <a:solidFill>
                  <a:schemeClr val="tx1"/>
                </a:solidFill>
              </a:rPr>
              <a:t>20. Olszewski AJ, Jakobsen LH, Collins GP, Cwynarski K, Bachanova V, Blum KA, et al. Burkitt lymphoma international prognostic index. J Clin Oncol. 2021;39(10):1129–38.</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5 of 5</a:t>
            </a:r>
            <a:endParaRPr lang="en-US" sz="3600" dirty="0"/>
          </a:p>
        </p:txBody>
      </p:sp>
      <p:sp>
        <p:nvSpPr>
          <p:cNvPr id="5" name="Text 89"/>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21. Peniket AJ, Ruiz de Elvira MC, Taghipour G, Cordonnier C, Gluckman E, de Witte T, et al. An EBMT registry matched study of allogeneic stem cell transplants for lymphoma: allogeneic transplantation is associated with a lower relapse rate but a higher procedure-related mortality rate than autologous transplantation. Bone Marrow Transplant. 2003;31(8):667–78.</a:t>
            </a:r>
            <a:endParaRPr lang="en-US" sz="1100" dirty="0"/>
          </a:p>
          <a:p>
            <a:pPr indent="0" marL="0">
              <a:spcAft>
                <a:spcPts val="700"/>
              </a:spcAft>
              <a:buNone/>
            </a:pPr>
            <a:r>
              <a:rPr lang="en-US" sz="1100" dirty="0">
                <a:solidFill>
                  <a:schemeClr val="tx1"/>
                </a:solidFill>
              </a:rPr>
              <a:t>22. Levine JE, Harris RE, Loberiza FR Jr, Armitage JO, Vose JM, Van Besien K, et al. A comparison of allogeneic and autologous bone marrow transplantation for lymphoblastic lymphoma. Blood. 2003;101(7):2476–82.</a:t>
            </a:r>
            <a:endParaRPr lang="en-US" sz="1100" dirty="0"/>
          </a:p>
        </p:txBody>
      </p:sp>
      <p:sp>
        <p:nvSpPr>
          <p:cNvPr id="6" name="Text 90"/>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23. Horwitz S, O'Connor OA, Pro B, Trümper L, Iyer S, Advani R, et al. The ECHELON-2 trial: 5-year results of a randomized, phase III study of brentuximab vedotin with chemotherapy for CD30-positive peripheral T-cell lymphoma. Ann Oncol. 2022;33(3):288–98.</a:t>
            </a:r>
            <a:endParaRPr lang="en-US" sz="1100" dirty="0"/>
          </a:p>
          <a:p>
            <a:pPr indent="0" marL="0">
              <a:spcAft>
                <a:spcPts val="700"/>
              </a:spcAft>
              <a:buNone/>
            </a:pPr>
            <a:r>
              <a:rPr lang="en-US" sz="1100" dirty="0">
                <a:solidFill>
                  <a:schemeClr val="tx1"/>
                </a:solidFill>
              </a:rPr>
              <a:t>24. Hübel K, Re A, Boumendil A, Finel H, Hentrich M, Robinson S, at al. Autologous stem cell transplantation for HIV-associated lymphoma in the antiretroviral and rituximab era: a retrospective study by the EBMT Lymphoma Working Party. Bone Marrow Transplant. 2019;54:1625–32.</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LBCL · BEAM</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BEAM is the EBMT standard, and second cancers lead its late deaths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graphicFrame>
        <p:nvGraphicFramePr>
          <p:cNvPr id="28" name="Table 91"/>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23160"/>
                <a:gridCol w="8394192"/>
              </a:tblGrid>
              <a:tr h="0">
                <a:tc>
                  <a:txBody>
                    <a:bodyPr/>
                    <a:lstStyle/>
                    <a:p>
                      <a:pPr indent="0" marL="0">
                        <a:buNone/>
                      </a:pPr>
                      <a:r>
                        <a:rPr lang="en-US" sz="1600" b="1" dirty="0">
                          <a:solidFill>
                            <a:schemeClr val="tx1"/>
                          </a:solidFill>
                        </a:rPr>
                        <a:t>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Data in Ch. 86</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BCNU</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300 mg/m² × 1, day −6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Etoposide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200 mg/m², days −5 to −2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Cytarabine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200 mg/m² bid, days −5 to −2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Melphalan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140 mg/kg [verify: printed unit; mg/m² expected] × 1, day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Acute toxicity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Mucositis, GI, liver, kidney, noninfective lung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Late effects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Lung 21%, infection 30%, metabolic 17%, CV 12%, 2nd tumours 20%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Late NRM</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Subsequent malignancy leads (12-fold); cardiac 2%, lung 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Alternatives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BEAC (CY) and TEAM (thiotepa) similar to BEAM</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LBCL · SUBTYPES TREATED DIFFERENTLY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Some LBCL subtypes need a different first line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Bento L, et al. EBMT Handbook 8th ed. 2024; Ch. 86</a:t>
            </a:r>
            <a:endParaRPr lang="en-US" sz="1000" dirty="0"/>
          </a:p>
        </p:txBody>
      </p:sp>
      <p:sp>
        <p:nvSpPr>
          <p:cNvPr id="6" name="Text 92"/>
          <p:cNvSpPr txBox="1"/>
          <p:nvPr/>
        </p:nvSpPr>
        <p:spPr>
          <a:xfrm>
            <a:off x="685800" y="2240280"/>
            <a:ext cx="10817352" cy="3657600"/>
          </a:xfrm>
          <a:prstGeom prst="rect">
            <a:avLst/>
          </a:prstGeom>
          <a:noFill/>
          <a:ln/>
        </p:spPr>
        <p:txBody>
          <a:bodyPr wrap="square" lIns="0" tIns="0" rIns="0" bIns="0" rtlCol="0" anchor="t"/>
          <a:lstStyle/>
          <a:p>
            <a:pPr marL="342900" indent="-342900">
              <a:spcAft>
                <a:spcPts val="800"/>
              </a:spcAft>
              <a:buSzPct val="100000"/>
              <a:buChar char="•"/>
            </a:pPr>
            <a:r>
              <a:rPr lang="en-US" sz="2000" dirty="0">
                <a:solidFill>
                  <a:schemeClr val="tx1"/>
                </a:solidFill>
              </a:rPr>
              <a:t>Immune-privileged sites (CNS, testis, vitreoretina): chemotherapy that penetrates the CNS</a:t>
            </a:r>
            <a:endParaRPr lang="en-US" sz="2000" dirty="0"/>
          </a:p>
          <a:p>
            <a:pPr marL="342900" indent="-342900">
              <a:spcAft>
                <a:spcPts val="800"/>
              </a:spcAft>
              <a:buSzPct val="100000"/>
              <a:buChar char="•"/>
            </a:pPr>
            <a:r>
              <a:rPr lang="en-US" sz="2000" dirty="0">
                <a:solidFill>
                  <a:schemeClr val="tx1"/>
                </a:solidFill>
              </a:rPr>
              <a:t>PMBCL and plasmablastic lymphoma: RTX + CHOEP, DA-EPOCH or ACVBP, ± RT</a:t>
            </a:r>
            <a:endParaRPr lang="en-US" sz="2000" dirty="0"/>
          </a:p>
          <a:p>
            <a:pPr marL="342900" indent="-342900">
              <a:spcAft>
                <a:spcPts val="800"/>
              </a:spcAft>
              <a:buSzPct val="100000"/>
              <a:buChar char="•"/>
            </a:pPr>
            <a:r>
              <a:rPr lang="en-US" sz="2000" dirty="0">
                <a:solidFill>
                  <a:schemeClr val="tx1"/>
                </a:solidFill>
              </a:rPr>
              <a:t>MYC and BCL2 rearranged (HGBL): more intensive therapy, mainly retrospective data</a:t>
            </a:r>
            <a:endParaRPr lang="en-US" sz="2000" dirty="0"/>
          </a:p>
          <a:p>
            <a:pPr marL="342900" indent="-342900">
              <a:spcAft>
                <a:spcPts val="800"/>
              </a:spcAft>
              <a:buSzPct val="100000"/>
              <a:buChar char="•"/>
            </a:pPr>
            <a:r>
              <a:rPr lang="en-US" sz="2000" dirty="0">
                <a:solidFill>
                  <a:schemeClr val="tx1"/>
                </a:solidFill>
              </a:rPr>
              <a:t>HGBL after R-CHOP-like therapy or CNS involvement: auto-HCT in CR1 may be considered</a:t>
            </a:r>
            <a:endParaRPr lang="en-US" sz="2000" dirty="0"/>
          </a:p>
          <a:p>
            <a:pPr marL="342900" indent="-342900">
              <a:spcAft>
                <a:spcPts val="800"/>
              </a:spcAft>
              <a:buSzPct val="100000"/>
              <a:buChar char="•"/>
            </a:pPr>
            <a:r>
              <a:rPr lang="en-US" sz="2000" dirty="0">
                <a:solidFill>
                  <a:schemeClr val="tx1"/>
                </a:solidFill>
              </a:rPr>
              <a:t>IPI 0–1: abbreviated chemotherapy ± involved-field RT; role of RT disputed</a:t>
            </a:r>
            <a:endParaRPr lang="en-US" sz="2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SPEAKER'S SUMMARY · NUMBERS SIDE BY SIDE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Transplant outcomes across aggressive lymphomas, side by side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EBMT Handbook 8th ed. 2024; Ch. 86 (Bento) · 87 (Baermann) · 88 (Hübel)</a:t>
            </a:r>
            <a:endParaRPr lang="en-US" sz="1000" dirty="0"/>
          </a:p>
        </p:txBody>
      </p:sp>
      <p:graphicFrame>
        <p:nvGraphicFramePr>
          <p:cNvPr id="30" name="Table 9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423160"/>
                <a:gridCol w="3355848"/>
                <a:gridCol w="2423160"/>
                <a:gridCol w="2615184"/>
              </a:tblGrid>
              <a:tr h="0">
                <a:tc>
                  <a:txBody>
                    <a:bodyPr/>
                    <a:lstStyle/>
                    <a:p>
                      <a:pPr indent="0" marL="0">
                        <a:buNone/>
                      </a:pPr>
                      <a:r>
                        <a:rPr lang="en-US" sz="1600" b="1" dirty="0">
                          <a:solidFill>
                            <a:schemeClr val="tx1"/>
                          </a:solidFill>
                        </a:rPr>
                        <a:t>Disease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Transplant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TRM / NRM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Survival</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LBCL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Auto (CORAL, DHAP)</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3-y OS 51%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LBCL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Allo (3 series)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30–35%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3-y OS 26–44%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MCL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RIC allo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Not given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OS 40%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Burkitt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Allo, CR ≥ 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1-y 30%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OS 30–40%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PTCL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Auto, CR1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1-y 5–7%</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OS 70%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PTCL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Allo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1-y 20–25%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3-y OS 40–60%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HIV lymphoma</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Auto</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1-y 5–7%</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5-y OS 50–60%</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94"/>
          <p:cNvSpPr txBox="1"/>
          <p:nvPr/>
        </p:nvSpPr>
        <p:spPr>
          <a:xfrm>
            <a:off x="685800" y="534924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Speaker's summary from Ch. 86–88 tables; series differ in era and selection.</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29</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HCT for aggressive lymphomas</dc:title>
  <dc:subject>PptxGenJS Presentation</dc:subject>
  <dc:creator>Hsieh-Ting Lin, MD</dc:creator>
  <cp:lastModifiedBy>Hsieh-Ting Lin, MD</cp:lastModifiedBy>
  <cp:revision>1</cp:revision>
  <dcterms:created xsi:type="dcterms:W3CDTF">2026-10-09T16:08:54Z</dcterms:created>
  <dcterms:modified xsi:type="dcterms:W3CDTF">2026-10-09T16:08:54Z</dcterms:modified>
</cp:coreProperties>
</file>