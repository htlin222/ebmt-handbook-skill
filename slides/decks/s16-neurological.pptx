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5fee39f-2e5d-77fe-719b-4371d239a9b8}">
          <p14:sldIdLst>
            <p14:sldId id="256"/>
            <p14:sldId id="257"/>
          </p14:sldIdLst>
        </p14:section>
        <p14:section name="Scope and causes" id="{661ee6bc-fd7c-73fe-31a6-c99d43ecfc88}">
          <p14:sldIdLst>
            <p14:sldId id="258"/>
            <p14:sldId id="259"/>
            <p14:sldId id="260"/>
          </p14:sldIdLst>
        </p14:section>
        <p14:section name="Neurotoxic drugs and PRES" id="{db64a90d-d6df-1e12-3778-d52f278059f1}">
          <p14:sldIdLst>
            <p14:sldId id="261"/>
            <p14:sldId id="262"/>
            <p14:sldId id="263"/>
            <p14:sldId id="264"/>
          </p14:sldIdLst>
        </p14:section>
        <p14:section name="Infection, vascular, metabolic, immune" id="{f1cf36a1-d3a3-a91e-332e-8be9f4cc7726}">
          <p14:sldIdLst>
            <p14:sldId id="265"/>
            <p14:sldId id="266"/>
            <p14:sldId id="267"/>
            <p14:sldId id="268"/>
            <p14:sldId id="269"/>
          </p14:sldIdLst>
        </p14:section>
        <p14:section name="Work-up" id="{3f120cba-37f4-bc74-04a6-5a0cfa61b68d}">
          <p14:sldIdLst>
            <p14:sldId id="270"/>
            <p14:sldId id="271"/>
          </p14:sldIdLst>
        </p14:section>
        <p14:section name="Board questions" id="{075e5961-e302-4235-ba16-811f2848be7b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6bb0496f-1a95-6edd-51cc-92eae5eadc62}">
          <p14:sldIdLst>
            <p14:sldId id="278"/>
          </p14:sldIdLst>
        </p14:section>
        <p14:section name="Backup" id="{d4a29e2d-97bc-0cc0-dcf5-8733b621a3d3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16 堂，主題是移植後的神經併發症，內容來自 EBMT Handbook 第八版第 53 章，必要的地方會補充第 42 章的 PRES，以及第 37 到 39 章的 CNS 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神經併發症原因很雜，今天的重點是怎麼分類、怎麼一步步找原因，最後三題練習。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今天分四段。第一段先看規模和原因，神經併發症的發生率範圍很寬，書上用 Table 53.1 把原因分成七大類，再加上一個很實用的觀念，就是發生的時間點可以幫忙縮小鑑別診斷。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第二段是藥物。這一段最常考，包括 Table 53.2 每個藥的典型神經毒性、幾個經典的 drug-drug interaction，以及 PRES。PRES 在第 13 堂已經從內皮的角度講過，今天只比較第 53 章和第 42 章說法不同的地方，再把 fludarabine leukoencephalopathy 拿出來做鑑別。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第三段是感染、腦血管、代謝和免疫相關的疾病，包括 Guillain-Barré、myositis、myasthenia gravis、CNS chronic GVHD，以及 haplo 移植後的 CRS。CAR-T 之後的 ICANS 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最後一段是書上的十步驟診斷流程，然後三題練習。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1:30 至 2:30]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先看三個數字。移植後神經併發症的發生率，文獻報告從 8% 到 65%，差距這麼大，是因為每篇研究算進去的表現不同，移植型態和病人族群也不一樣。輕的只是短暫的手抖，重的會致命。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第二個數字是 CNI。用 cyclosporine 或 tacrolimus 的病人，25 到 59% 會出現神經方面的副作用，所以只要是 allo 移植病人，CNI 永遠是第一個要懷疑的藥。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PRES，第 53 章寫 1.6 到 7.2%。等一下會看到，第 42 章給的數字不一樣，考試時要知道兩個數字的出處。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書上強調一點，大部分神經併發症是暫時的，但有一部分會留下永久後遺症甚至死亡，所以早診斷、早治療，再加上神經科的參與，是整章的主軸。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2:30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53.1，把移植後神經併發症的原因分成七類。第一類是藥物，CNI 造成的 PRES 最有名，另外還有 MTX、busulfan、fludarabine 這些化療藥，抗感染藥物，以及常被忽略的 opioid 和 benzodiazepine。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第二類是感染，病毒、黴菌、寄生蟲、細菌都有。病毒裡面要記 EBV、HHV-6、CMV、VZV、HSV 和 JC virus；黴菌以 Aspergillus 最多；寄生蟲是 Toxoplasma；細菌除了一般的革蘭氏陰性桿菌和陽性球菌，還有結核和 Nocardia。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第三類代謝，包括尿毒性和肝性腦病變，以及 diabetic ketoacidosis。第四類腦血管，分出血和缺血性中風。第五類是免疫相關，從脫髓鞘疾病、myositis、myasthenia gravis 到 CNS chronic GVHD 和 CRS。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最後兩類常被漏掉。TMA 會同時傷到腎和腦，PTLD 和原本血液疾病的 CNS relapse 也要排除。書上的 key points 特別把 TMA、CNS PTLD、CRS 和 CNS relapse 點名，要放進每一個病人的鑑別診斷。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這張表在病房最大的用處，是提醒我們原因常常不只一個。同一個病人可能同時有 CNI 濃度偏高、腎功能變差和感染，所以找到一個原因之後，還要把其他類別排除。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4:00 至 5:00]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書上提到一個很實用的分類，就是看發生的時間。早期事件主要來自 conditioning 的藥物和免疫抑制劑，例如 busulfan 的癲癇、CNI 引起的 PRES、fludarabine 的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比較晚發生的，多半是免疫缺乏的後果，最主要就是感染。CNS 感染裡最常見的是 Aspergillus 這類黴菌，以及 EBV 和 HHV-6。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第三支是我把第 53 章的內容整理出來的，屬於 speaker's summary。Myositis 常伴隨 chronic GVHD，myasthenia gravis 通常在 GVHD 出現之後才發生，CNS chronic GVHD 更不用說。Guillain-Barré 則例外，多在前三個月。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臨床症狀常常不典型，時間點是少數可以快速縮小範圍的線索。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5:00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Table 53.2 很長，我拆成兩張。第一張是 conditioning、GVHD 預防和標靶藥物。</a:t>
            </a:r>
          </a:p>
          <a:p>
            <a:pPr>
              <a:spcAft>
                <a:spcPts val="600"/>
              </a:spcAft>
            </a:pPr>
            <a:r>
              <a:rPr lang="en-US" dirty="0"/>
              <a:t>Busulfan 最重要的是癲癇，所以要給 benzodiazepine 預防，這是常考題。Fludarabine 是 acute toxic leukoencephalopathy，後面會專門比較。Thiotepa 有頭痛、腦病變和癲癇，treosulfan 比較特別，表上列了顱內出血和感覺神經病變。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短療程的 MTX 通常只造成輕微症狀，像倦怠、構音障礙和頭痛，非常少數會出現 diffuse necrotizing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CSA 和 TAC 這一列最完整，從 PRES、意識混亂、手抖、步態不穩、癲癇，到 cortical blindness 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最下面兩列是移植後越來越常用的藥。Blinatumomab 會造成腦病變、失語、癲癇；rituximab 和 PML 有關；sorafenib 也會引起 PRES，加上周邊感覺神經病變。移植後做 maintenance 的病人，這些都要記得。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這張表考試的出法通常是給一個症狀，問最可能的藥。例如移植前 conditioning 期間全身性癲癇，第一個想 busulfan；移植後幾週出現 cortical blindness 和高血壓，第一個想 CNI。記藥物和代表症狀的配對，比背完整清單有用。另外，接受 blinatumomab 或 sorafenib 的病人如果之前做過移植，神經症狀的鑑別就要把這些藥加進去。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第二張是抗感染藥物。書上說抗感染藥物是神經併發症的主要原因之一，而且常常不是單一藥物，而是 drug-drug interaction 或腎功能變差造成濃度上升。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抗病毒藥裡面，acyclovir 會有幻覺和腦病變，ganciclovir 和 foscarnet 都會引起癲癇和手抖。Azole 類 voriconazole 的視覺改變和幻覺最有特色，posaconazole 和 isavuconazole 則以嗜睡、感覺異常和癲癇為主。β-lactam 裡 cefepime 和 imipenem 都會造成腦病變，imipenem 特別容易引發癲癇。</a:t>
            </a:r>
          </a:p>
          <a:p>
            <a:pPr>
              <a:spcAft>
                <a:spcPts val="600"/>
              </a:spcAft>
            </a:pPr>
            <a:r>
              <a:rPr lang="en-US" dirty="0"/>
              <a:t>右下角和下面這行是兩個經典的交互作用，考試很常出。Imipenem/cilastatin 加 ganciclovir 可能誘發全身性癲癇；開始 voriconazole 之後，CSA 或 tacrolimus 濃度上升，可能引發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所以病人出現新的神經症狀，第一步一定是把整張藥單從頭看一遍，看最近加了什麼藥、腎功能有沒有變化、CNI 濃度多少。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書上也提醒，抗感染藥物在腎功能不好或有交互作用時要調整劑量。像 acyclovir、ganciclovir、foscarnet 都靠腎臟排除，病人肌酸酐一上升，神經毒性就跟著出現，這種情況下調降劑量往往比加抗癲癇藥更重要。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PRES 在第 13 堂已經講過內皮的部分，這裡把兩章並排，因為兩章的說法並不完全一致。</a:t>
            </a:r>
          </a:p>
          <a:p>
            <a:pPr>
              <a:spcAft>
                <a:spcPts val="600"/>
              </a:spcAft>
            </a:pPr>
            <a:r>
              <a:rPr lang="en-US" dirty="0"/>
              <a:t>發生率，第 53 章寫 1.6 到 7.2%，第 42 章寫 allo 移植大約 8%，haplo 只有 1%，sickle cell 移植可以到 25%。機轉兩章都提到血壓和內皮傷害，第 42 章補充，大約 30% 的 PRES 病人血壓是正常或只有輕微上升，所以血壓正常不能排除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臨床上，頭痛、視覺異常、癲癇、意識改變，加上腎衰竭或血壓波動，就要高度懷疑。MRI 比 CT 敏感得多，典型是雙側頂枕葉皮質下白質的 T2 或 FLAIR 高訊號；第 53 章也提到 superior frontal sulcus 和 holohemispheric watershed 兩種變異型。CSF 在 PRES 是正常的，它的價值是排除感染。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差別在 CNI。第 53 章說早期診斷、停掉 CNI 就會恢復；第 42 章則說，少數比較停藥、換藥或繼續使用的研究，病程並沒有差別，治療是症狀性的，控制血壓、抗癲癇、補鎂。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預後也不太一樣。第 42 章說八成以上很快恢復，PRES 本身不影響 TRM 和存活；第 53 章則提醒延遲診斷會留下永久後遺症。考試若問 PRES 的處置，控制血壓、處理癲癇、處理誘因，兩章都支持。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病房的做法是兩者兼顧。先控制血壓和癲癇、補鎂，同時檢查 CNI 濃度，濃度太高就調整；是否完全停藥，要看 GVHD 的風險，和團隊一起決定。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says PRES is reversible after CNI withdrawal (incidence 1.6–7.2%); Ch. 42 says stopping or switching the CNI did not change the course in the few comparative studies (incidence about 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Fludarabine 的 acute toxic leukoencephalopathy 是 PRES 最重要的鑑別診斷，兩者的 MRI 都是雙側白質 T2 高訊號，乍看很像。</a:t>
            </a:r>
          </a:p>
          <a:p>
            <a:pPr>
              <a:spcAft>
                <a:spcPts val="600"/>
              </a:spcAft>
            </a:pPr>
            <a:r>
              <a:rPr lang="en-US" dirty="0"/>
              <a:t>關鍵在位置。PRES 從皮質下白質開始，以頂枕葉為主；fludarabine 的病灶在腦室周圍白質。症狀也有重疊，fludarabine 這邊是視覺障礙、感覺缺損和認知功能下降。</a:t>
            </a:r>
          </a:p>
          <a:p>
            <a:pPr>
              <a:spcAft>
                <a:spcPts val="600"/>
              </a:spcAft>
            </a:pPr>
            <a:r>
              <a:rPr lang="en-US" dirty="0"/>
              <a:t>危險因子要背。腎功能差、年紀大、fludarabine 劑量高、之前有 CNS 疾病，或之前已經接受過 fludarabine-based 的 conditioning。所以腎功能差的老年病人用 Flu-based RIC 時要特別小心，這是我從危險因子推出來的。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預後差別最大。PRES 早期處理多半可逆；fludarabine leukoencephalopathy 會留下不可逆的神經後遺症，中位存活只有兩個月，資料來自 Beitinjaneh 2011。</a:t>
            </a:r>
          </a:p>
          <a:p>
            <a:pPr>
              <a:spcAft>
                <a:spcPts val="600"/>
              </a:spcAft>
            </a:pPr>
            <a:r>
              <a:rPr lang="en-US" dirty="0"/>
              <a:t>病史欄位很有用。PRES 這邊要問最近有沒有加 voriconazole 這類會拉高 CNI 濃度的藥；fludarabine 這邊要問以前有沒有做過含 fludarabine 的 conditioning，或有沒有 CNS 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在病房，如果一位老年、腎功能不好、用過 Flu-based conditioning 的病人出現認知退化，MRI 病灶在腦室周圍，就不要把它當成 PRES 等著恢復，而要及早跟家屬說明預後。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章說，CNS 感染最常見的是黴菌，例如 Aspergillus，以及病毒，主要是 EBV 和 HHV-6。不明原因的神經症狀，都要做 MRI 和腰椎穿刺，並對照移植後的時間點。這張表把第 38 和 39 章的細節補進來。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用 voriconazole 或 isavuconazole。Mucorales 這裡兩章不一致，第 53 章說 isavuconazole 或 voriconazole 可以用在 CNS 的 aspergillosis 和 zygomycosis，但第 37 章的 mucormycosis 首選是 liposomal amphotericin B，而且 CNS 感染要優先用 liposomal 劑型。</a:t>
            </a:r>
          </a:p>
          <a:p>
            <a:pPr>
              <a:spcAft>
                <a:spcPts val="600"/>
              </a:spcAft>
            </a:pPr>
            <a:r>
              <a:rPr lang="en-US" dirty="0"/>
              <a:t>HHV-6B 是 allo 移植後病毒性腦炎的主要原因，cord blood 移植風險更高。MRI 典型是 limbic encephalitis，CSF HHV-6 DNA 通常陽性，治療用 ganciclovir 或 foscarnet，這是考試重點。HSV 腦炎用 IV acyclovir 10 mg/kg 每八小時，至少 14 到 21 天。</a:t>
            </a:r>
          </a:p>
          <a:p>
            <a:pPr>
              <a:spcAft>
                <a:spcPts val="600"/>
              </a:spcAft>
            </a:pPr>
            <a:r>
              <a:rPr lang="en-US" dirty="0"/>
              <a:t>PML 是 JC virus，中位發生在移植後八個月，和 rituximab 等藥物有關，沒有特效藥。Toxoplasma 表現為局部神經缺損合併多發病灶，用 PCR 診斷，pyrimethamine 加 sulfadiazine 或 clindamycin。Nocardia 有三分之一一開始就侵犯 CNS，所以肺部 nocardiosis 的病人都要做腦部影像。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EBV 相關的 PTLD 在第 12 堂。</a:t>
            </a:r>
          </a:p>
          <a:p>
            <a:pPr>
              <a:spcAft>
                <a:spcPts val="600"/>
              </a:spcAft>
            </a:pPr>
            <a:r>
              <a:rPr lang="en-US" dirty="0"/>
              <a:t>使用這張表的方法是先看影像型態，再決定 CSF 要送哪些 PCR。多發局部病灶想 Toxoplasma 或 Nocardia 的腦膿瘍；limbic encephalitis 的型態想 HHV-6；移植後數個月、用過 rituximab 的病人要想 PML。書上也說，早期的 preemptive 或標靶治療，是改善 CNS 感染預後的關鍵，不要等培養結果才開始用藥。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lists isavuconazole or voriconazole for CNS zygomycosis; Ch. 37 makes lipid amphotericin B first line for mucormycosis and prefers liposomal AmB 5 mg/kg in CNS infection.</a:t>
            </a:r>
          </a:p>
          <a:p>
            <a:pPr>
              <a:spcAft>
                <a:spcPts val="600"/>
              </a:spcAft>
            </a:pPr>
            <a:r>
              <a:rPr lang="en-US" dirty="0"/>
              <a:t>- Nocardia treatment: Ch. 39 says only 'prolonged antibiotic therapy'; no regimen is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左邊是代謝性原因。尿毒性腦病變通常來自 CNI 腎毒性或 TMA；肝性腦病變來自 SOS/VOD 或嚴重的肝臟 GVHD；另外還有 diabetic ketoacidosis。書上提醒，鑑別時要想到 opioid 鎮靜、CNS 感染、CRS、全身性發炎反應和 HLH，不要一看到肝腎功能差就停在代謝性。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中間是出血。硬腦膜下血腫是最常見的一種，發生率 2.6%。危險因子包括移植後跌倒、長期嚴重血小板低下或輸注無效、grade III 到 IV 的 aGVHD，以及高血壓。要記住一個數字，CT 通常可以確診，但 20 到 25% 的 CNS 出血病人 CT 是陰性的，臨床懷疑高時，不能因為 CT 陰性就排除出血。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右邊是血栓。危險因子有活動性感染、心房顫動、高凝狀態、之前有 VTE、高風險的惡性疾病、TMA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病房實務上，血小板低又跌倒的病人，即使只是輕微頭痛，也要安排影像。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考題常把 CT 陰性和持續頭痛放在一起，問下一步，答案是不能因為 CT 陰性就排除出血。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免疫相關的神經肌肉疾病少見，但三種都有明確的治療，而且容易考。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第一列是脫髓鞘多發神經病變，包括 Guillain-Barré，發生在 1 到 4% 的病人，多在移植後前三個月。典型是對稱的上行性運動無力、麻木、反射減弱，嚴重時呼吸衰竭。要盡快做 MRI、腰椎穿刺和神經傳導檢查。治療先給 IVIG，沒有反應再考慮 plasma exchange 或 rituximab，順序是考點。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第二列 myositis，發生率 2 到 3%，常和 chronic GVHD 一起出現，以前用過 immune checkpoint inhibitor 的病人風險較高。表現是近端肌無力，CK 上升，EMG 是 myopathic pattern，MRI 可以診斷也可以追蹤治療反應，肌肉切片確診。類固醇通常一到六週有反應。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第三列 myasthenia gravis 不到 1%，通常在 GVHD 之後出現。眼瞼下垂、臉部無力、複視、構音和吞嚥困難；EMG 看到動作電位遞減或 jitter 增加。治療是 cholinesterase inhibitor 加類固醇。</a:t>
            </a:r>
          </a:p>
          <a:p>
            <a:pPr>
              <a:spcAft>
                <a:spcPts val="600"/>
              </a:spcAft>
            </a:pPr>
            <a:r>
              <a:rPr lang="en-US" dirty="0"/>
              <a:t>三者的鑑別，看無力的分布和時間點，就能先猜到一半。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考試常把三者放在同一題當選項。表現是對稱性上行性無力加反射消失，就是 Guillain-Barré，先給 IVIG；近端肌無力加 CK 上升，是 myositis，用類固醇；眼瞼下垂、複視和吞嚥困難，出現在 GVHD 之後，就要想 myasthenia，用 cholinesterase inhibitor 加類固醇。Guillain-Barré 的病人可能出現呼吸功能不全，書上把它列為最常見的症狀之一，所以要盡快完成 MRI、腰椎穿刺和神經傳導檢查，不要拖延治療。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CNS 的 GVHD 被認為很少見，但書上說真實發生率可能被低估。NIH chronic GVHD 臨床試驗的共識承認三種型態。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第一種是脫髓鞘疾病，可以出現在大腦白質、視神經和脊髓，病程像 multiple sclerosis 一樣 relapsing-remitting。治療用類固醇脈衝，難治或復發的病人可以考慮 sphingosine-1-phosphate receptor agonist，例如 fingolimod，證據來自病例報告。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第二種是腦血管型，最常見的是血管炎，可以侵犯腦實質和腦膜的小到大動脈。MRI 看到缺血病灶、微出血和白質多發訊號變化，腦切片可以確診，治療是類固醇加 cyclophosphamide。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第三種是免疫媒介的腦炎，書上沒有給特定治療，重點是要重複做 CSF，一方面確認診斷，一方面排除感染性腦炎。三種都是排除診斷，先把感染和藥物排除乾淨，才輪到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這三型都沒有大型試驗，書上的建議來自病例報告和小型系列，所以治療前最好有神經科一起討論，切片的時機也要個別評估。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最後一個免疫相關的是 CRS。Haplo 移植，特別是用 PBSC 當幹細胞來源時，輸注後頭幾天 CRS 可以高達九成，表現和 CAR-T 或 bispecific antibody 之後的 CRS 類似，從單純發燒到危及生命都有。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輕度 CRS 常見發燒合併頭痛，但嚴重的神經症狀，例如腦病變，不到 10%，這是 Abboud 2021 的國際多中心分析。</a:t>
            </a:r>
          </a:p>
          <a:p>
            <a:pPr>
              <a:spcAft>
                <a:spcPts val="600"/>
              </a:spcAft>
            </a:pPr>
            <a:r>
              <a:rPr lang="en-US" dirty="0"/>
              <a:t>治療是 cytokine blockade，用抗 IL-6 receptor 的 tocilizumab，或 IL-1 receptor antagonist anakinra。CAR-T 之後的 ICANS 機轉和處理不同，留到第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病房上，haplo 移植後頭幾天發燒合併頭痛很常見，先想到 CRS，也要同時排除感染，不要因為是 CRS 就停掉抗生素。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書上第 53.3 節給了十個步驟，我濃縮成五格，這是 speaker's summary。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第一步永遠是藥單和代謝。仔細看用藥史，找代謝異常，前面講的 CNI、azole、imipenem、busulfan 都在這一步被抓出來。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第二步判斷是全面性還是局部性。意識改變、癲癇屬於全面性；中風、腫塊屬於局部性。同時對照移植後的時間點，早期偏藥物，後期偏感染。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第三步是影像，CT 或 MRI，用來排除 PRES、感染或免疫性腦炎、實質浸潤、腦血管事件和疾病復發，接著做 CSF。第四步依表現選 EEG 或 EMG。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最後一步最容易被忽略。早期檢查可能是陰性，症狀也會波動，所以要重複；仍不清楚時考慮腦或神經肌肉切片。神經科在每一步都應該參與，複雜的病人更是如此。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這個流程最常被跳過的是第一步。很多病人一有神經症狀就直接排 MRI，結果藥單上明明有 imipenem 加 ganciclovir，或 voriconazole 剛加上去，CNI 濃度已經超標。先看藥單，往往能省下很多檢查，也能更早把誘因拿掉。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這張把十步驟的後半段拆開，看每個檢查要回答什麼問題。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影像要排除的有五件事，PRES、感染性或免疫性腦炎、實質浸潤、腦血管事件和血液疾病復發。MRI 對 PRES 和早期感染都比 CT 敏感。CSF 用來找感染、脫髓鞘神經病變和疾病復發；送檢時記得想到 HHV-6、HSV、JC virus 的 PCR。</a:t>
            </a:r>
          </a:p>
          <a:p>
            <a:pPr>
              <a:spcAft>
                <a:spcPts val="600"/>
              </a:spcAft>
            </a:pPr>
            <a:r>
              <a:rPr lang="en-US" dirty="0"/>
              <a:t>EEG 用在意識改變、幻覺或癲癇的病人，可以抓到 nonconvulsive seizure。EMG 用在神經病變、肌病變或神經肌肉型態的無力，也就是前面 Guillain-Barré、myositis 和 myasthenia 那一張。</a:t>
            </a:r>
          </a:p>
          <a:p>
            <a:pPr>
              <a:spcAft>
                <a:spcPts val="600"/>
              </a:spcAft>
            </a:pPr>
            <a:r>
              <a:rPr lang="en-US" dirty="0"/>
              <a:t>第八步是重複，第九步是切片。切片可以確認或排除伺機性感染、PML、血管炎、PTLD 和其他惡性疾病。第十步，神經科會診，書上說在每一步都很重要。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考試若問第一步做什麼，答案通常是回顧用藥史和代謝問題，而不是直接做切片。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第一題。55 歲男性，Bu/Cy 的 MAC 加 matched unrelated 移植，用 cyclosporine 和 MTX 預防 GVHD，day 14 因疑似麴菌開始 voriconazole。Day 20 出現頭痛、皮質盲和癲癇，血壓 182/104，肌酸酐加倍，MRI 雙側頂枕葉皮質下 T2 高訊號。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 A 停 cyclosporine、控制血壓和癲癇，B 用 foscarnet 治 HHV-6，C 是 CNS GVHD 的類固醇脈衝，D 是 toxic leukoencephalopathy 只做支持治療，E 是先做腦切片。</a:t>
            </a:r>
          </a:p>
          <a:p>
            <a:pPr>
              <a:spcAft>
                <a:spcPts val="600"/>
              </a:spcAft>
            </a:pPr>
            <a:r>
              <a:rPr lang="en-US" dirty="0"/>
              <a:t>提示一下，先看用藥史，再看影像的位置。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A。頭痛、視覺喪失、癲癇，加上高血壓和腎衰竭，MRI 又是頂枕葉皮質下病灶，這是典型的 PRES。誘因是 voriconazole 讓 cyclosporine 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章說早期停掉 CNI 就能恢復；第 42 章說停不停 CNI 病程差不多，但控制血壓、治療癲癇、補鎂一定要做。不管依哪一章，A 都是最好的答案。停 CNI 之後要換成其他 GVHD 預防，這點要和移植團隊討論。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是主要陷阱。Fludarabine 的 toxic leukoencephalopathy 病灶在腦室周圍，這位病人的 conditioning 是 Bu/Cy，根本沒有用 fludarabine。B 的 HHV-6 腦炎影像是 limbic pattern，C 的 CNS GVHD 在 day 20 不合理，E 的切片在 PRES 不需要。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第二題。28 歲女性 AML，接受 double-unit cord blood 移植，day 24 出現意識混亂、新的記憶喪失和一次局部癲癇。血壓和 tacrolimus 濃度都正常。MRI 雙側內側顳葉 T2 高訊號，CSF HHV-6 DNA PCR 陽性。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acyclovir、ganciclovir 或 foscarnet、停 tacrolimus 當 PRES 處理、類固醇脈衝，以及 voriconazole。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cord blood 移植和這種影像型態最有關的病毒是哪一個，以及同一家族的病毒治療藥物有什麼差別。這題考的是藥物的選擇，而不只是診斷。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B。HHV-6B 是 allo 移植後病毒性腦炎的主要原因，cord blood 移植的風險更高。MRI 典型是 limbic encephalitis，也就是這題的內側顳葉病灶，加上 CSF PCR 陽性，診斷就成立。第 53 章和第 38 章都寫，治療用 foscarnet 或 ganciclovir。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是主要陷阱。Acyclovir 10 mg/kg 每八小時是 HSV 腦炎的劑量，對 HHV-6 不是建議用藥。C 不對，因為血壓和 CNI 濃度正常，影像也不是頂枕葉。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還有一個細節，HHV-6 可以整合在生殖細胞，這種人血中 qPCR 會強陽性，但不代表病毒在複製，所以診斷要靠臨床、MRI 和 CSF，而不是單看血液。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 E 的 voriconazole 是 cerebral aspergillosis 的治療，影像會是局部病灶，不是對稱的 limbic pattern。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第三題。45 歲男性，ALL，matched sibling 移植後七週。五天內出現對稱性雙腿無力，往上延伸到雙手，遠端麻木，反射消失，肺活量持續下降。腦部 MRI 正常，神經傳導檢查顯示脫髓鞘。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IVIG、類固醇脈衝再接 fingolimod、pyridostigmine 加 prednisone、第一線 rituximab，以及停 cyclosporine 當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注意時間點，移植後七週，以及這是周邊神經還是中樞神經的問題。另外想一想，這幾個選項分別是哪一種免疫相關疾病的治療。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A，IVIG。脫髓鞘多發神經病變，包括 Guillain-Barré，發生在 1 到 4% 的病人，多在移植後前三個月，這位病人第七週、上行性無力、反射消失、呼吸功能下降，完全符合。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是陷阱。Rituximab 和 plasma exchange 是給 IVIG 沒有反應的病人，不是第一線。B 的類固醇脈衝加 fingolimod 是 CNS GVHD 脫髓鞘型的治療，病灶在中樞，不是周邊神經。C 是 myasthenia gravis 的治療，表現應該是眼瞼下垂和複視。</a:t>
            </a:r>
          </a:p>
          <a:p>
            <a:pPr>
              <a:spcAft>
                <a:spcPts val="600"/>
              </a:spcAft>
            </a:pPr>
            <a:r>
              <a:rPr lang="en-US" dirty="0"/>
              <a:t>肺活量在掉，代表呼吸功能不全已經開始，書上把它列為最常見的症狀之一，在病房要和選藥同時處理。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這題也提醒一個原則，同樣是脫髓鞘，周邊和中樞的治療完全不同，先定位，再選藥。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PML 的診斷分級來自第 38 章。Definite 要臨床、影像和 CSF JCV PCR 三者都有；probable 和 possible 的定義在書上有重疊。</a:t>
            </a:r>
          </a:p>
          <a:p>
            <a:pPr>
              <a:spcAft>
                <a:spcPts val="600"/>
              </a:spcAft>
            </a:pPr>
            <a:r>
              <a:rPr lang="en-US" dirty="0"/>
              <a:t>沒有特效藥，靠免疫重建，G-CSF、JCV 特異性 CTL 和 PD-1 抗體只有初步經驗。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38 is internally inconsistent: it says biopsy is required for a definitive diagnosis, then defines 'definite' PML without biopsy; 'probable' and 'possible' overlap (CSF PCR alone fits both).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Toxoplasma 腦炎的治療和預防劑量來自第 39 章 Table 39.2。TMP/SMX 每週少於三天時曾有 breakthrough。</a:t>
            </a:r>
          </a:p>
          <a:p>
            <a:pPr>
              <a:spcAft>
                <a:spcPts val="600"/>
              </a:spcAft>
            </a:pPr>
            <a:r>
              <a:rPr lang="en-US" dirty="0"/>
              <a:t>血清陽性又沒有用 TMP/SMX 預防的病人，可以每週驗血液 qPCR 做 preemptive 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第 37 章的劑量。Cerebral aspergillosis 首選 voriconazole 或 isavuconazole，posaconazole 的 CNS 穿透有限。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首選 lipid-based amphotericin B，CNS 感染優先用 liposomal 劑型，和第 53 章的寫法不同。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Neurological complications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16 · Ch. 53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causes to the work-up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057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103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Scope, causes and timing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496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Incidence, the seven cause categories of Table 53.1, early versus late events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148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2871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2971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017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Neurotoxic drugs and PRES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410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Table 53.2, drug interactions, PRES in Ch. 53 and Ch. 42, fludarabine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063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37856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8862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931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Infection, vascular, metabolic, immune-mediated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3251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CNS pathogens, bleeds, GBS, myositis, myasthenia, CNS GVHD, CRS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39776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47000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800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4846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Ten-step work-up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239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From the drug chart to biopsy and neurology review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4892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Neurological complications are frequent, and the range is wide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20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8–65%</a:t>
            </a:r>
            <a:endParaRPr lang="en-US" sz="6000" dirty="0"/>
          </a:p>
        </p:txBody>
      </p:sp>
      <p:sp>
        <p:nvSpPr>
          <p:cNvPr id="7" name="Text 21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with neurological complications, by series</a:t>
            </a:r>
            <a:endParaRPr lang="en-US" sz="1800" dirty="0"/>
          </a:p>
        </p:txBody>
      </p:sp>
      <p:sp>
        <p:nvSpPr>
          <p:cNvPr id="8" name="Text 22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25–59%</a:t>
            </a:r>
            <a:endParaRPr lang="en-US" sz="6000" dirty="0"/>
          </a:p>
        </p:txBody>
      </p:sp>
      <p:sp>
        <p:nvSpPr>
          <p:cNvPr id="9" name="Text 23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Patients on cyclosporine or tacrolimus with neurotoxicity</a:t>
            </a:r>
            <a:endParaRPr lang="en-US" sz="1800" dirty="0"/>
          </a:p>
        </p:txBody>
      </p:sp>
      <p:sp>
        <p:nvSpPr>
          <p:cNvPr id="10" name="Text 24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1.6–7.2%</a:t>
            </a:r>
            <a:endParaRPr lang="en-US" sz="6000" dirty="0"/>
          </a:p>
        </p:txBody>
      </p:sp>
      <p:sp>
        <p:nvSpPr>
          <p:cNvPr id="11" name="Text 25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who develop PRES (Ch. 53 figure)</a:t>
            </a:r>
            <a:endParaRPr lang="en-US" sz="1800" dirty="0"/>
          </a:p>
        </p:txBody>
      </p:sp>
      <p:sp>
        <p:nvSpPr>
          <p:cNvPr id="12" name="Rule 26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27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range depends on which manifestations are counted, the transplant setting and the patient population (Maffini 2017).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TABLE 53.1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Seven categories cover the causes of neurological events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5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7690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Main causes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Drug-related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(PRES); MTX, busulfan, fludarabine; anti-infectives; opioids, benzodiazepines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Viruses (EBV, HHV-6, CMV, VZV, HSV, JCV, WNV, adenovirus), fungi, Toxoplasma, bacteria incl. TB and Nocardia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Metabolic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Uremic or hepatic encephalopathy; diabetic ketoacidosis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Cerebrovascular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Hemorrhage; ischemic stroke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Immune-mediated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 disease, myositis, myasthenia gravis, CNS chronic GVHD, CRS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Thrombotic microangiopathy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Calcineurin inhibitors; infectious pathogens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PTLD; relapse of the hematological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Time since HCT narrows the list of likely causes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New neurological sign after HCT: when did it start?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Conditioning drugs, CNI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Seizures, PRES, leukoencephalopathy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Later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Immunodeficiency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CNS infection: fungi, EBV, HHV-6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With or after GVHD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disease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Myositis, myasthenia, CNS chronic GVHD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(1)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Conditioning, GVHD and targeted drugs each have a signature toxicity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7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90088"/>
                <a:gridCol w="7827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Most common neurological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Seizures, headache, dizziness: benzodiazepine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Acute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Thiotepa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encephalopathy, seizures, paresthesia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Treosulfan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dizziness, intracranial hemorrhage,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lethargy, dysarthria; rarely necrotizing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Cyclosporine, tacrolimus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confusion, tremor, ataxia, seizures, cortical blindness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Blinatumomab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Encephalopathy, headache, aphasia, ataxia, tremor,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 · sorafenib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PML · PRES and peripheral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Anti-infectives cause seizures and encephalopathy, often by interaction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8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901952"/>
                <a:gridCol w="3502152"/>
                <a:gridCol w="1901952"/>
                <a:gridCol w="3502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Acyclovir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tremor, dysarthria,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seizures, vision changes,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Ganciclovir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numbness, tremor,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Paresthesia, dizziness, somnolence, seizures, tremor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Foscarnet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vertigo, paresthesia, seizures, tremor,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Somnolence, encephalopathy, seizures, peripheral neuropathy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Amphotericin 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encephalopathy, numbness, vision changes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Cefepime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paresthesia,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/ cilastatin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Seizures, tremor, vertigo, somnolence,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Interaction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+ ganciclovir: generalized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Voriconazole raises CSA/TAC levels and can precipitate PRES · Adapt doses to renal function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PRES · TWO CHAPTERS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Ch. 53 and Ch. 42 agree on PRES imaging but differ on stopping the CNI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graphicFrame>
        <p:nvGraphicFramePr>
          <p:cNvPr id="9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39826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Ch. 53 (neurological)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Ch. 42 (endothelial)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Incidence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1.6–7.2% of HCT recipients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About 8% after allo-HCT; 1% haplo, 25% sickle cell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Abrupt BP change or cytokine injury to endothelium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BP surge (30% normal BP) or endothelial leak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Clues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visual change, seizures + renal failure or BP swings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Encephalopathy, seizures, visual change; CSF normal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Bilateral parieto-occipital T2 lesions; MRI more sensitive than 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Bilateral parieto-occipital edema on T2/FLAIR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Risk factors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Renal failure, BP swings; voriconazole raises CNI levels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Hypertension, CNI, fludarabine, low Mg, aGVHD II–IV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CNI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Reversible after CNI withdrawal if diagnosed early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Stopping or switching the CNI did not change the course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Sequelae if not rapidly diagnosed and treated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&gt;80% resolve rapidly; no effect on TRM or survival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FLUDARABINE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Fludarabine leukoencephalopathy is periventricular and rarely reversible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0" name="Tab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224528"/>
                <a:gridCol w="45628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PRES (CSA or TAC)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Fludarabine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MRI (T2)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Subcortical white matter, parieto-occipital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Periventricular white matter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Symptoms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visual loss, seizures, 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Visual disturbance, sensory deficits, cognitive impairment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BP fluctuation, renal failure, high CNI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Poor renal function, older age, higher FLU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History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Voriconazole can raise CSA/TAC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Prior CNS disease or prior FLU-based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Reversible if diagnosed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Irreversible sequelae; median OS 2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4"/>
          <p:cNvSpPr txBox="1"/>
          <p:nvPr/>
        </p:nvSpPr>
        <p:spPr>
          <a:xfrm>
            <a:off x="685800" y="48463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Beitinjaneh 2011. Both show bilateral T2 hyperintensity; the location differs.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CNS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Fungi, EBV and HHV-6 are the most frequent CNS pathogens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 · Martino R. EBMT Handbook 8th ed. 2024; Ch. 39</a:t>
            </a:r>
            <a:endParaRPr lang="en-US" sz="1000" dirty="0"/>
          </a:p>
        </p:txBody>
      </p:sp>
      <p:graphicFrame>
        <p:nvGraphicFramePr>
          <p:cNvPr id="11" name="Table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2834640"/>
                <a:gridCol w="2688336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Diagnosis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Aspergillus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Most prevalent CNS 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 (see backup)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Voriconazole or isavuconazole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Zygomycosis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tissue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Ch. 53: azole; Ch. 37: liposomal AmB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HHV-6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Main viral encephalitis; cord blood risk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 limbic pattern; 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Ganciclovir or foscarnet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EBV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Encephalitis, myelitis or CNS PTLD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See PTLD (session 12)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HSV-1 encephalitis; HSV-2 meningitis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IV acyclovir 10 mg/kg q8h, 14–21 days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JCV (PML)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Median onset 8 months; rituximab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PCR; brain biopsy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None specific; restore immunity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Toxoplasma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Focal deficits; multiple lesions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PCR in blood or CSF; MRI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Pyrimethamine + sulfadiazine or clindamycin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Nocardia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abscess with lung nodules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CT/MRI in every lung case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Prolonged antibiotics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METABOLIC AND CEREBROVASCULAR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bleeds track platelets and falls, and CT misses 20–25% of them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46"/>
          <p:cNvSpPr txBox="1"/>
          <p:nvPr/>
        </p:nvSpPr>
        <p:spPr>
          <a:xfrm>
            <a:off x="685800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Metabolic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Text 47"/>
          <p:cNvSpPr txBox="1"/>
          <p:nvPr/>
        </p:nvSpPr>
        <p:spPr>
          <a:xfrm>
            <a:off x="685800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Uremia: CNI toxicity, TMA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Hepatic: SOS/VOD, liver GVHD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Diabetic ketoacidosis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opioids, CRS, SIRS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CNS infection, HLH</a:t>
            </a:r>
            <a:endParaRPr lang="en-US" sz="1600" dirty="0"/>
          </a:p>
        </p:txBody>
      </p:sp>
      <p:sp>
        <p:nvSpPr>
          <p:cNvPr id="9" name="Text 48"/>
          <p:cNvSpPr txBox="1"/>
          <p:nvPr/>
        </p:nvSpPr>
        <p:spPr>
          <a:xfrm>
            <a:off x="4443984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Hemorrhagic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443984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Text 49"/>
          <p:cNvSpPr txBox="1"/>
          <p:nvPr/>
        </p:nvSpPr>
        <p:spPr>
          <a:xfrm>
            <a:off x="4443984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Subdural hematoma in 2.6%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Falls after HCT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Prolonged low platelets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Platelet refractoriness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aGVHD III–IV, hypertension</a:t>
            </a:r>
            <a:endParaRPr lang="en-US" sz="1600" dirty="0"/>
          </a:p>
        </p:txBody>
      </p:sp>
      <p:sp>
        <p:nvSpPr>
          <p:cNvPr id="12" name="Text 50"/>
          <p:cNvSpPr txBox="1"/>
          <p:nvPr/>
        </p:nvSpPr>
        <p:spPr>
          <a:xfrm>
            <a:off x="8202168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Thrombotic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02168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Text 51"/>
          <p:cNvSpPr txBox="1"/>
          <p:nvPr/>
        </p:nvSpPr>
        <p:spPr>
          <a:xfrm>
            <a:off x="8202168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Active infection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Atrial fibrillation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Hypercoagulability, prior VTE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High-risk malignancy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TMA and GVHD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NEUROMUSCULAR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IVIG treats GBS, while steroids treat myositis and myasthenia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3" name="Table 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664208"/>
                <a:gridCol w="1783080"/>
                <a:gridCol w="2496312"/>
                <a:gridCol w="23774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Disorder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Frequency, timing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Clinical clues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Tests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Demyelinating PNP incl. GBS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1–4%; first 3 months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Ascending weakness, numbness, hyporeflexia, respiratory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MRI, lumbar puncture, nerve conduction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IVIG; plasma exchange or rituximab if no response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Myositis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2–3%; with cGVHD; prior ICI raises risk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Proximal muscle weakness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 CK, myopathic EMG, MRI; biopsy confirms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Corticosteroids; response in 1–6 weeks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Myasthenia gravis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&lt;1%; after GVHD onset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Ptosis, facial weakness, diplopia, dysarthria, dysphagia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EMG: decrement or increased jitter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Cholinesterase inhibitor + corticosteroids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3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ICI, immune checkpoint inhibitor; PNP, polyneuropathy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CNS GVHD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chronic GVHD takes three forms recognized by the NIH consensus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54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CNS chronic GVHD: rare, likely underestimated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5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Demyelinating</a:t>
            </a:r>
            <a:endParaRPr lang="en-US" sz="1400" dirty="0"/>
          </a:p>
        </p:txBody>
      </p:sp>
      <p:sp>
        <p:nvSpPr>
          <p:cNvPr id="11" name="Box 56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White matter, optic nerve, cord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7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Steroid pulses; fingolimod if refractory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8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Cerebrovascular</a:t>
            </a:r>
            <a:endParaRPr lang="en-US" sz="1400" dirty="0"/>
          </a:p>
        </p:txBody>
      </p:sp>
      <p:sp>
        <p:nvSpPr>
          <p:cNvPr id="16" name="Box 59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Vasculitis: ischemia, microbleeds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0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Brain biopsy; steroids + cyclophosphamide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1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Encephalitis</a:t>
            </a:r>
            <a:endParaRPr lang="en-US" sz="1400" dirty="0"/>
          </a:p>
        </p:txBody>
      </p:sp>
      <p:sp>
        <p:nvSpPr>
          <p:cNvPr id="21" name="Box 62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encephalitis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3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 CSF to exclude infection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CRS after haplo-HCT is common, but encephalopathy is uncommon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64"/>
          <p:cNvSpPr txBox="1"/>
          <p:nvPr/>
        </p:nvSpPr>
        <p:spPr>
          <a:xfrm>
            <a:off x="685800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≤90%</a:t>
            </a:r>
            <a:endParaRPr lang="en-US" sz="6000" dirty="0"/>
          </a:p>
        </p:txBody>
      </p:sp>
      <p:sp>
        <p:nvSpPr>
          <p:cNvPr id="7" name="Text 65"/>
          <p:cNvSpPr txBox="1"/>
          <p:nvPr/>
        </p:nvSpPr>
        <p:spPr>
          <a:xfrm>
            <a:off x="685800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Haplo-HCT recipients with CRS in the first days, especially with PBSC</a:t>
            </a:r>
            <a:endParaRPr lang="en-US" sz="1800" dirty="0"/>
          </a:p>
        </p:txBody>
      </p:sp>
      <p:sp>
        <p:nvSpPr>
          <p:cNvPr id="8" name="Text 66"/>
          <p:cNvSpPr txBox="1"/>
          <p:nvPr/>
        </p:nvSpPr>
        <p:spPr>
          <a:xfrm>
            <a:off x="6323076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&lt;10%</a:t>
            </a:r>
            <a:endParaRPr lang="en-US" sz="6000" dirty="0"/>
          </a:p>
        </p:txBody>
      </p:sp>
      <p:sp>
        <p:nvSpPr>
          <p:cNvPr id="9" name="Text 67"/>
          <p:cNvSpPr txBox="1"/>
          <p:nvPr/>
        </p:nvSpPr>
        <p:spPr>
          <a:xfrm>
            <a:off x="6323076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With severe CRS-related neurological symptoms such as encephalopathy</a:t>
            </a:r>
            <a:endParaRPr lang="en-US" sz="1800" dirty="0"/>
          </a:p>
        </p:txBody>
      </p:sp>
      <p:sp>
        <p:nvSpPr>
          <p:cNvPr id="10" name="Rule 68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9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Treat with tocilizumab (anti-IL-6 receptor) or anakinra (IL-1 receptor antagonist). Abboud 2021. ICANS after CAR-T: session 20.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ten-step work-up condenses into five moves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70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 drugs, metabolic state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71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Generalized or focal; timing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72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CT or MRI, then CSF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73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EEG or EMG as indicated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74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Repeat; biopsy; neurologist</a:t>
            </a:r>
            <a:endParaRPr lang="en-US" sz="1500" dirty="0"/>
          </a:p>
        </p:txBody>
      </p:sp>
      <p:sp>
        <p:nvSpPr>
          <p:cNvPr id="15" name="Text 7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Speaker's summary of the ten steps in §53.3. Early tests can be negative; repeat them as symptoms evolve.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 ·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test answers a specific diagnostic question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7" name="Table 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118104"/>
                <a:gridCol w="6556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it looks 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CT or MRI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encephalitis, parenchymal infiltrates, vascular events,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analysis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demyelinating neuropathy, relapse of the underlying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Electroencephalography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Altered consciousness, hallucinations,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Electromyography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Neuropathy, myopathy, neuromuscular pattern of weakness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Repeat steps 1–7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Early studies may be negative; symptoms evolve or fluctuate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Brain or neuromuscular 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Opportunistic infection, PML, vasculitis, PTLD, other malignancy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Neurology review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 every step; essential in complex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seizure and blindness on day 20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on cyclosporine and methotrexate is 20 days after busulfan-cyclophosphamide MAC and MUD HCT; voriconazole began on day 14. He develops headache, cortical blindness and a seizure. BP is 182/104 mmHg; creatinine has doubled. MRI: bilateral subcortical parieto-occipital T2 hyperintensity.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Stop cyclosporine, control blood pressure and treat seizures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Start foscarnet for presumed HHV-6 encephalitis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Diagnose toxic leukoencephalopathy; supportive care only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Perform a brain biopsy before any change in therapy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treat PRES and remove its trigger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Stop cyclosporine, control blood pressure and treat seizures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Headache, visual loss and seizures with hypertension and renal failure, plus subcortical parieto-occipital T2 lesions, are typical of PRES. Voriconazole raises CSA levels. Ch. 53: reversible after CNI withdrawal if diagnosed early; Ch. 42: treat BP, seizures and low Mg. Fludarabine leukoencephalopathy is periventricular; he had no fludarabine.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confusion after cord blood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Text 81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woman with AML is on day +24 after double-unit cord blood HCT. She becomes confused, with new memory loss and one focal seizure. BP and tacrolimus levels are normal. MRI: bilateral mesial temporal T2 hyperintensity. CSF is positive for HHV-6 DNA by PCR. Which treatment is most appropriate?</a:t>
            </a:r>
            <a:endParaRPr lang="en-US" sz="1900" dirty="0"/>
          </a:p>
        </p:txBody>
      </p:sp>
      <p:sp>
        <p:nvSpPr>
          <p:cNvPr id="7" name="Text 82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IV acyclovir 10 mg/kg every 8 hours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Ganciclovir or foscarnet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Stop tacrolimus and manage as PRES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 for cerebral aspergillosis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HHV-6 encephalitis needs ganciclovir or foscarnet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Box 8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Ganciclovir or foscarnet</a:t>
            </a:r>
            <a:endParaRPr lang="en-US" sz="2000" dirty="0"/>
          </a:p>
        </p:txBody>
      </p:sp>
      <p:sp>
        <p:nvSpPr>
          <p:cNvPr id="7" name="Text 8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HHV-6B is the main cause of viral encephalitis after allo-HCT and cord blood recipients are at higher risk. MRI typically shows limbic encephalitis and CSF HHV-6 DNA is usually positive. Ch. 53 and Ch. 38 recommend foscarnet or ganciclovir. Acyclovir is the drug for HSV encephalitis.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ascending weakness at week 7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85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45-year-old man is 7 weeks after matched sibling HCT for ALL. Over 5 days he develops symmetric leg weakness ascending to the arms, distal numbness and absent reflexes; vital capacity is falling. Brain MRI is normal and nerve conduction studies show demyelination. What is the best initial treatment?</a:t>
            </a:r>
            <a:endParaRPr lang="en-US" sz="1900" dirty="0"/>
          </a:p>
        </p:txBody>
      </p:sp>
      <p:sp>
        <p:nvSpPr>
          <p:cNvPr id="7" name="Text 86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Intravenous immunoglobulin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Methylprednisolone pulses, then fingolimod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Pyridostigmine plus prednisone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Rituximab as first-line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cyclosporine and treat as PRES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IVIG first for post-HCT Guillain-Barré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8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Intravenous immunoglobulin</a:t>
            </a:r>
            <a:endParaRPr lang="en-US" sz="2000" dirty="0"/>
          </a:p>
        </p:txBody>
      </p:sp>
      <p:sp>
        <p:nvSpPr>
          <p:cNvPr id="7" name="Text 8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Demyelinating polyneuropathy, including Guillain-Barré syndrome, occurs in 1–4% of patients, mostly within 3 months of HCT. Symptoms may resolve with IVIG; plasma exchange or rituximab are for unresponsive patients. Steroid pulses with fingolimod treat demyelinating CNS GVHD; cholinesterase inhibitors treat myasthenia.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5" name="Text 8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Duléry R, Schmidt-Hieber M, Sharrack B. Neurological complications. In: Sureda A, Corbacioglu S, Greco R, Kröger N, Carreras E, editors. The EBMT Handbook: Hematopoietic Cell Transplantation and Cellular Therapies. 8th ed. Cham: Springer; 2024. p. 481–7. https://doi.org/10.1007/978-3-031-44080-9_53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Carreras E, Diaz-Ricart M, Jodele S, Penack O, Vasu S. Early complications of endothelial origin. In: Sureda A, Corbacioglu S, Greco R, Kröger N, Carreras E, editors. The EBMT Handbook: Hematopoietic Cell Transplantation and Cellular Therapies. 8th ed. Cham: Springer; 2024. p. 373–83. https://doi.org/10.1007/978-3-031-44080-9_42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Ljungman P, Piñana JL, Cesaro S, de la Cámara R. Viral infections. In: Sureda A, Corbacioglu S, Greco R, Kröger N, Carreras E, editors. The EBMT Handbook: Hematopoietic Cell Transplantation and Cellular Therapies. 8th ed. Cham: Springer; 2024. p. 331–43. https://doi.org/10.1007/978-3-031-44080-9_38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Martino R. Other life-threatening infections. In: Sureda A, Corbacioglu S, Greco R, Kröger N, Carreras E, editors. The EBMT Handbook: Hematopoietic Cell Transplantation and Cellular Therapies. 8th ed. Cham: Springer; 2024. p. 345–54. https://doi.org/10.1007/978-3-031-44080-9_39</a:t>
            </a:r>
            <a:endParaRPr lang="en-US" sz="1100" dirty="0"/>
          </a:p>
        </p:txBody>
      </p:sp>
      <p:sp>
        <p:nvSpPr>
          <p:cNvPr id="6" name="Text 9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Maffini E, Festuccia M, Brunello L, et al. Neurologic complications after allogeneic hematopoietic stem cell transplantation. Biol Blood Marrow Transplant. 2017;23:388–97.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Beitinjaneh A, McKinney AM, Cao Q, Weisdorf DJ. Toxic leukoencephalopathy following fludarabine-associated hematopoietic cell transplantation. Biol Blood Marrow Transplant. 2011;17:300–8.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Abboud R, Wan F, Mariotti J, et al. Cytokine release syndrome after haploidentical hematopoietic cell transplantation: an international multicenter analysis. Bone Marrow Transplant. 2021;56:2763–70.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PML is graded definite, probable or possible on CSF PCR and imaging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Ljungman P, et al. EBMT Handbook 8th ed. 2024; Ch. 38</a:t>
            </a:r>
            <a:endParaRPr lang="en-US" sz="1000" dirty="0"/>
          </a:p>
        </p:txBody>
      </p:sp>
      <p:graphicFrame>
        <p:nvGraphicFramePr>
          <p:cNvPr id="25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Level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Requirements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Definite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Compatible clinical features + compatible imaging + JCV PCR positive in 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PCR positive in CSF; clinical or imaging criteria may be missing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Possible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PCR positive alone, or clinical + imaging if PCR negative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DNA or JCV antigen in CNS: required for a definitive diagnosis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None specific; restore immunity; G-CSF, JCV-specific CTLs, PD-1 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2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35 per 100,000 person-years after HCT; onset 1–60 months (median 8)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TOXOPLASMA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Toxoplasma encephalitis responds to pyrimethamine-based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Martino R. EBMT Handbook 8th ed. 2024; Ch. 39</a:t>
            </a:r>
            <a:endParaRPr lang="en-US" sz="1000" dirty="0"/>
          </a:p>
        </p:txBody>
      </p:sp>
      <p:graphicFrame>
        <p:nvGraphicFramePr>
          <p:cNvPr id="26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3191256"/>
                <a:gridCol w="5678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Pyrimethamine + folinic acid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load, then 50–75 mg daily; folinic acid 10–15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Sulfadiazine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1–1.5 g orally q6–8h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600 mg orally or IV q6h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TMP/SMX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DS 4 days/week, 2 DS 3 days/week, or 1 SS tablet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Dapsone · atovaquone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100 mg daily · 1500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4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Incidence about 0.8% (&lt;0.4% to 2–3% by seroprevalence). Neurological improvement usually within 7 days.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CNS MOULD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Cerebral aspergillosis is treated with voriconazole or isavuconazole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4325112"/>
                <a:gridCol w="39959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Adult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 mg/kg ×2 on day 1, then 4 mg/kg ×2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 incl. cerebral; TDM; interactions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t.i.d. for 2 days, then 200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effective as voriconazole; better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Drug of choice for IA, but CNS penetration limited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mg/kg (IA); 5 mg/kg (mucormycosis)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Preferred 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cut-off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 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Neurological complications</dc:title>
  <dc:subject>PptxGenJS Presentation</dc:subject>
  <dc:creator>Hsieh-Ting Lin, MD</dc:creator>
  <cp:lastModifiedBy>Hsieh-Ting Lin, MD</cp:lastModifiedBy>
  <cp:revision>1</cp:revision>
  <dcterms:created xsi:type="dcterms:W3CDTF">2026-10-09T16:09:53Z</dcterms:created>
  <dcterms:modified xsi:type="dcterms:W3CDTF">2026-10-09T16:09:53Z</dcterms:modified>
</cp:coreProperties>
</file>