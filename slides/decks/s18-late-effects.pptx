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b6e863d-f2de-c12e-3a78-57b3defaa7f3}">
          <p14:sldIdLst>
            <p14:sldId id="256"/>
            <p14:sldId id="257"/>
          </p14:sldIdLst>
        </p14:section>
        <p14:section name="Follow-up framework" id="{fda6f152-10bf-8d23-30d7-51272175472e}">
          <p14:sldIdLst>
            <p14:sldId id="258"/>
            <p14:sldId id="259"/>
          </p14:sldIdLst>
        </p14:section>
        <p14:section name="Iron overload" id="{8c081bbb-06e1-620d-627a-b67987f47c43}">
          <p14:sldIdLst>
            <p14:sldId id="260"/>
            <p14:sldId id="261"/>
            <p14:sldId id="262"/>
          </p14:sldIdLst>
        </p14:section>
        <p14:section name="Secondary neoplasia" id="{04956057-9dd6-3d2d-fe06-b6181d51e6ce}">
          <p14:sldIdLst>
            <p14:sldId id="263"/>
            <p14:sldId id="264"/>
            <p14:sldId id="265"/>
            <p14:sldId id="266"/>
          </p14:sldIdLst>
        </p14:section>
        <p14:section name="Cardiometabolic disease" id="{8acd714c-a3ef-7606-d1ff-69cf8794c4b7}">
          <p14:sldIdLst>
            <p14:sldId id="267"/>
            <p14:sldId id="268"/>
          </p14:sldIdLst>
        </p14:section>
        <p14:section name="Endocrine and fertility" id="{7a2baefd-41f2-ee12-2998-66b1f659221e}">
          <p14:sldIdLst>
            <p14:sldId id="269"/>
            <p14:sldId id="270"/>
            <p14:sldId id="271"/>
          </p14:sldIdLst>
        </p14:section>
        <p14:section name="Board questions" id="{e54adebc-1b4b-c510-bbcf-cf339b7998c7}">
          <p14:sldIdLst>
            <p14:sldId id="272"/>
            <p14:sldId id="273"/>
            <p14:sldId id="274"/>
            <p14:sldId id="275"/>
            <p14:sldId id="276"/>
            <p14:sldId id="277"/>
          </p14:sldIdLst>
        </p14:section>
        <p14:section name="References" id="{fc1332bd-3a46-7f57-1272-95bf6c57707f}">
          <p14:sldIdLst>
            <p14:sldId id="278"/>
            <p14:sldId id="279"/>
          </p14:sldIdLst>
        </p14:section>
        <p14:section name="Backup" id="{3938c673-6142-c219-21a1-b68bce61c51a}">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各位早安，今天是第 18 堂，主題是移植後的長期追蹤和 late effects。內容來自五個章節，Ch. 22 的追蹤時程，Ch. 46 的 iron overload，Ch. 47 的 secondary neoplasia，還有 Ch. 55 和 56 的心血管、代謝、內分泌與生育。疫苗在第 17 堂已經講過，今天不重複，最後一樣用三題收尾。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規定出院後多久回診、每個器官在六個月、一年和之後每年要查什麼。</a:t>
            </a:r>
          </a:p>
          <a:p>
            <a:pPr>
              <a:spcAft>
                <a:spcPts val="600"/>
              </a:spcAft>
            </a:pPr>
            <a:r>
              <a:rPr lang="en-US" dirty="0"/>
              <a:t>第二段是 iron overload，重點是 transferrin saturation 70% 這個門檻，以及移植前、中、後三個階段的不同處理。第三段最長，談三種 secondary neoplasm、Table 47.1 的數字和 Table 47.2 的篩檢規則。</a:t>
            </a:r>
          </a:p>
          <a:p>
            <a:pPr>
              <a:spcAft>
                <a:spcPts val="600"/>
              </a:spcAft>
            </a:pPr>
            <a:r>
              <a:rPr lang="en-US" dirty="0"/>
              <a:t>最後一段把 Ch. 55 和 56 拆成五張，代謝症候群的定義、心血管危險因子、甲狀腺和腎上腺、性腺功能，以及 fertility preservation，接著是三題練習。這一堂的考點多半是具體的門檻和時間點，聽的時候可以把數字記下來。</a:t>
            </a:r>
          </a:p>
          <a:p>
            <a:pPr>
              <a:spcAft>
                <a:spcPts val="600"/>
              </a:spcAft>
            </a:pPr>
            <a:r>
              <a:rPr lang="en-US" dirty="0"/>
              <a:t>Ch. 22 的表會一路串起後面各章，ferritin 接 Ch. 46，第二癌接 Ch. 47，代謝和內分泌接 Ch. 55、56。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的追蹤時程，左邊 allo，右邊 auto。Allo-HCT 的病人，建議前三到六個月住在移植中心附近。第一個月每週回診，到第三個月每兩週一次，之後每月一次，持續到六到十二個月。每次看診都要特別注意 acute GVHD、感染和肺部併發症。</a:t>
            </a:r>
          </a:p>
          <a:p>
            <a:pPr>
              <a:spcAft>
                <a:spcPts val="600"/>
              </a:spcAft>
            </a:pPr>
            <a:r>
              <a:rPr lang="en-US" dirty="0"/>
              <a:t>這段期間的抽血包括 CBC、肝腎功能、Mg、免疫抑制劑濃度和 CMV PCR，用過 ATG 的人加驗 EBV。Chimerism 在第一和第二個月各做一次，原本骨髓有侵犯的疾病，大約一個月時做骨髓。</a:t>
            </a:r>
          </a:p>
          <a:p>
            <a:pPr>
              <a:spcAft>
                <a:spcPts val="600"/>
              </a:spcAft>
            </a:pPr>
            <a:r>
              <a:rPr lang="en-US" dirty="0"/>
              <a:t>三個月是轉折點，沒有大問題的病人可以交回原本的醫師，但仍要定期回移植中心，第一年每三到四個月，第二年每四到六個月。沒有併發症的話，每六個月一次到第三年，之後每年。十七歲以下的孩子每三個月量身高體重。</a:t>
            </a:r>
          </a:p>
          <a:p>
            <a:pPr>
              <a:spcAft>
                <a:spcPts val="600"/>
              </a:spcAft>
            </a:pPr>
            <a:r>
              <a:rPr lang="en-US" dirty="0"/>
              <a:t>Auto-HCT 在三個月時重新評估疾病，包括 MRD 和影像，NHL、HL 這類原本骨髓有侵犯的做骨髓切片。之後每六個月到第二年，然後每年，復發至少追五年。接受過化療加放療的病人，不論 auto 或 allo，都要把第二癌和 MDS 列入長期追蹤。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3:00 至 5:00]</a:t>
            </a:r>
          </a:p>
          <a:p>
            <a:pPr>
              <a:spcAft>
                <a:spcPts val="600"/>
              </a:spcAft>
            </a:pPr>
            <a:r>
              <a:rPr lang="en-US" dirty="0"/>
              <a:t>Table 22.1 把長期追蹤按器官排開，改編自 Majhail 2012。原表用三個符號，1 是所有病人都做，2 是只針對仍有 chronic GVHD 或還在用免疫抑制的人，加號是前一次異常或出現新症狀才重做。表的註腳寫明，有 chronic GVHD 的人，所有項目都要加密。</a:t>
            </a:r>
          </a:p>
          <a:p>
            <a:pPr>
              <a:spcAft>
                <a:spcPts val="600"/>
              </a:spcAft>
            </a:pPr>
            <a:r>
              <a:rPr lang="en-US" dirty="0"/>
              <a:t>口腔有 chronic GVHD 的人，squamous cell cancer 風險高，每六個月檢查一次。肺有 chronic GVHD 時，很多作者建議每次回診都做 spirometry。Ferritin 在一年時驗，偏高就安排 MRI 或 FerriScan，這會接到下一段的 iron overload。腎臟每次都量血壓、驗尿蛋白和 BUN/creatinine，高血壓要找原因，也要避開腎毒性藥物。</a:t>
            </a:r>
          </a:p>
          <a:p>
            <a:pPr>
              <a:spcAft>
                <a:spcPts val="600"/>
              </a:spcAft>
            </a:pPr>
            <a:r>
              <a:rPr lang="en-US" dirty="0"/>
              <a:t>Bone density 在一年時做，對象是成年女性、所有 allo-HCT 和骨質流失高風險的人，用運動、vitamin D 和鈣預防骨折。甲狀腺從一年開始每年驗，女性每年做婦科檢查。PJP 和莢膜菌的預防在 chronic GVHD 或免疫抑制期間持續，疫苗的細節在第 17 堂。</a:t>
            </a:r>
          </a:p>
          <a:p>
            <a:pPr>
              <a:spcAft>
                <a:spcPts val="600"/>
              </a:spcAft>
            </a:pPr>
            <a:r>
              <a:rPr lang="en-US" dirty="0"/>
              <a:t>第二癌從一年開始衛教和自我檢查，做過 TBI 的人 mammography 要更頻繁。眼睛的部分，每次都問症狀，一年時做視力和眼底，特別注意 sicca。表上最後還有心理社會、生活品質和性功能，六個月、一年、之後每年都要評估。</a:t>
            </a:r>
          </a:p>
          <a:p>
            <a:pPr>
              <a:spcAft>
                <a:spcPts val="600"/>
              </a:spcAft>
            </a:pPr>
            <a:r>
              <a:rPr lang="en-US" dirty="0"/>
              <a:t>肌肉和結締組織也在表上，有 chronic GVHD 風險的人要測關節活動度、摸皮膚找硬化。這張表的用法，是把它當成每年門診的 checklist，一列一列打勾，比靠記憶可靠。</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Iron overload 的傷害不只看鐵有多少。真正有毒的是沒有和 transferrin 結合的 NTBI，其中的 labile plasma iron，也就是 LPI，會不受控制地進入細胞，產生 reactive oxygen species，傷害 DNA、脂質、蛋白和粒線體。毒性還取決於暴露時間、個人的抗氧化基因和環境因素，書上強調最重要的是暴露時間。</a:t>
            </a:r>
          </a:p>
          <a:p>
            <a:pPr>
              <a:spcAft>
                <a:spcPts val="600"/>
              </a:spcAft>
            </a:pPr>
            <a:r>
              <a:rPr lang="en-US" dirty="0"/>
              <a:t>NTBI 和 LPI 只在 transferrin saturation 超過 70% 時出現，可是目前只有研究實驗室能測。所以臨床上用 transferrin saturation 當替代指標，超過 70% 就表示血清中有毒性鐵。70% 這個數字是本章最常被考的門檻。</a:t>
            </a:r>
          </a:p>
          <a:p>
            <a:pPr>
              <a:spcAft>
                <a:spcPts val="600"/>
              </a:spcAft>
            </a:pPr>
            <a:r>
              <a:rPr lang="en-US" dirty="0"/>
              <a:t>Ferritin 便宜、可看趨勢，和總鐵量與預後相關。缺點是發炎、感染、肝病都會讓它升高，鐵量很高時也不再呈線性，而且 ferritin 沒下降不代表 chelation 無效。</a:t>
            </a:r>
          </a:p>
          <a:p>
            <a:pPr>
              <a:spcAft>
                <a:spcPts val="600"/>
              </a:spcAft>
            </a:pPr>
            <a:r>
              <a:rPr lang="en-US" dirty="0"/>
              <a:t>Liver biopsy 仍是 liver iron concentration 的 gold standard，但樣本至少要 1 mg dry weight，不適合重複追蹤。MRI T2 或 T2* 是目前的 standard of care，非侵入、可重複，但每個器官要各自校正，體內有金屬植入物的人不能做。</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chelation、肝纖維化和肝腫大會影響移植結果，三者都反映毒性鐵暴露的強度和時間。這些病人各風險組的 GVHD 發生率沒有差別，可是高風險組 grade III 到 IV GVHD 的存活差很多。GITMO 在 MDS 和 acute leukemia 的研究中，輸血負擔只影響 myeloablative 的病人，RIC 沒有影響。</a:t>
            </a:r>
          </a:p>
          <a:p>
            <a:pPr>
              <a:spcAft>
                <a:spcPts val="600"/>
              </a:spcAft>
            </a:pPr>
            <a:r>
              <a:rPr lang="en-US" dirty="0"/>
              <a:t>所以任何正在輸血、將來可能移植的病人，chelation 要盡早開始、長期規則使用。反過來，移植前短期密集 chelation 的根據有限，除非有足夠時間讓組織修復，大概只適用於年輕病人。</a:t>
            </a:r>
          </a:p>
          <a:p>
            <a:pPr>
              <a:spcAft>
                <a:spcPts val="600"/>
              </a:spcAft>
            </a:pPr>
            <a:r>
              <a:rPr lang="en-US" dirty="0"/>
              <a:t>Conditioning 時紅血球系大量破壞，NTBI 和 LPI 湧入血液。等紅血球系恢復、transferrin 重新空出來，三到四週內自然清掉，除非本來就有 iron overload。動物實驗顯示毒性鐵會傷害造血 niche，所以移植期間的 chelation 屬於實驗性，只有骨髓恢復慢、transferrin saturation 又高時才考慮。</a:t>
            </a:r>
          </a:p>
          <a:p>
            <a:pPr>
              <a:spcAft>
                <a:spcPts val="600"/>
              </a:spcAft>
            </a:pPr>
            <a:r>
              <a:rPr lang="en-US" dirty="0"/>
              <a:t>Engraftment 之後不再輸血，但累積的鐵不會自己離開，下一張談怎麼移除。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Angelucci 在 thalassemia 移植後病人的前瞻性資料顯示，不治療的話 transferrin saturation 會無限期維持在高點，即使沒有其他共病，肝病也會持續進展。所以移植後的目標是正常鐵量，更精確地說是正常的 transferrin saturation，確保血中沒有毒性鐵。</a:t>
            </a:r>
          </a:p>
          <a:p>
            <a:pPr>
              <a:spcAft>
                <a:spcPts val="600"/>
              </a:spcAft>
            </a:pPr>
            <a:r>
              <a:rPr lang="en-US" dirty="0"/>
              <a:t>移植後造血有效，phlebotomy 就可以取代 chelation。書上的做法是每 14 天抽 6 mL/kg，來自 Angelucci 1997。Phlebotomy 有效、安全、便宜，能把鐵完全移除。缺點是需要穩定的 engraftment，移植早期不能用，病人要常回醫院，對 NTBI 的立即效果也還沒證實。</a:t>
            </a:r>
          </a:p>
          <a:p>
            <a:pPr>
              <a:spcAft>
                <a:spcPts val="600"/>
              </a:spcAft>
            </a:pPr>
            <a:r>
              <a:rPr lang="en-US" dirty="0"/>
              <a:t>Chelation 一樣有效安全，對 NTBI 和 LPI 有立即作用，在家吃藥就好。要注意和 cyclosporine 併用的腎毒性，以及鐵量不高時毒性可能增加。Deferiprone 有 agranulocytosis 的報告，在造血幹細胞疾病通常不用，三種 chelator 的比較放在 backup。</a:t>
            </a:r>
          </a:p>
          <a:p>
            <a:pPr>
              <a:spcAft>
                <a:spcPts val="600"/>
              </a:spcAft>
            </a:pPr>
            <a:r>
              <a:rPr lang="en-US" dirty="0"/>
              <a:t>門診常見的情境，是移植後不再輸血、ferritin 還很高的 thalassemia 病人，正確做法是主動去鐵，終點看 transferrin saturation 回到正常。</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(Angelucci 1997a) it is the phlebotomy programme.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9:30 至 11:30]</a:t>
            </a:r>
          </a:p>
          <a:p>
            <a:pPr>
              <a:spcAft>
                <a:spcPts val="600"/>
              </a:spcAft>
            </a:pPr>
            <a:r>
              <a:rPr lang="en-US" dirty="0"/>
              <a:t>Secondary neoplasm 指移植後發生的任何惡性疾病，不論和移植是否相關，PTLD 另外在第 12 堂討論。書上分三種。</a:t>
            </a:r>
          </a:p>
          <a:p>
            <a:pPr>
              <a:spcAft>
                <a:spcPts val="600"/>
              </a:spcAft>
            </a:pPr>
            <a:r>
              <a:rPr lang="en-US" dirty="0"/>
              <a:t>Therapy-related myeloid neoplasm 主要在 auto-HCT 之後，大多在十年內，和移植前或 conditioning 的 alkylating agents、anthracyclines、topoisomerase II inhibitors 以及 TBI 有關。Lymphoma 做 auto 之後最多，報告從兩年 1% 到 43 個月 24% 都有，因為這群人移植前化療最多。Myeloma 用 lenalidomide，包括移植後維持，也會增加 t-MN。冷凍細胞裡就有 clonal hematopoiesis 的人，風險也較高。預後很差，中位存活六個月，治療比照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來源。超過 20% 的 donor-derived myeloid neoplasm 帶第七號染色體異常。</a:t>
            </a:r>
          </a:p>
          <a:p>
            <a:pPr>
              <a:spcAft>
                <a:spcPts val="600"/>
              </a:spcAft>
            </a:pPr>
            <a:r>
              <a:rPr lang="en-US" dirty="0"/>
              <a:t>DDM 的危險因子書上列了四個可能，移植物裡本來就有惡性 donor clone、G-CSF、in vivo T-cell depletion 和多次移植。機轉包括 donor 的 germline 或 somatic mutation、骨髓微環境受損，以及移植後快速擴增的壓力。Donor 帶 clonal hematopoiesis 要不要排除，書上認為仍有爭議。t-MN 方面，15 到 20% 帶 germline 癌症易感性，化療造成的 CHIP 常是多重打擊的第一步。</a:t>
            </a:r>
          </a:p>
          <a:p>
            <a:pPr>
              <a:spcAft>
                <a:spcPts val="600"/>
              </a:spcAft>
            </a:pPr>
            <a:r>
              <a:rPr lang="en-US" dirty="0"/>
              <a:t>Second solid neoplasm 在 auto 和 allo 都會出現，追得越久越多，十年 2.2%、十五年 6.7%，預後主要看癌別。PTCy 目前看起來不增加 t-MN，移植後 maintenance 會不會增加，書上說還不知道。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Second solid cancer 依 Rizzo 2009 分成三類，機轉不同，出現的時間也不同。</a:t>
            </a:r>
          </a:p>
          <a:p>
            <a:pPr>
              <a:spcAft>
                <a:spcPts val="600"/>
              </a:spcAft>
            </a:pPr>
            <a:r>
              <a:rPr lang="en-US" dirty="0"/>
              <a:t>左邊和放射線有關，已證實的是甲狀腺、乳癌和腦瘤。潛伏期長，放射後十年以上才出現，而且和劑量相關。</a:t>
            </a:r>
          </a:p>
          <a:p>
            <a:pPr>
              <a:spcAft>
                <a:spcPts val="600"/>
              </a:spcAft>
            </a:pPr>
            <a:r>
              <a:rPr lang="en-US" dirty="0"/>
              <a:t>中間和 chronic GVHD 及其免疫抑制有關，典型是皮膚和口咽的 squamous cell carcinoma。這類潛伏期短，移植後任何時間都可能發生，危險因子是 chronic GVHD、長期 GVHD 治療、包括 azathioprine 的免疫抑制，以及男性，和放射線無關。</a:t>
            </a:r>
          </a:p>
          <a:p>
            <a:pPr>
              <a:spcAft>
                <a:spcPts val="600"/>
              </a:spcAft>
            </a:pPr>
            <a:r>
              <a:rPr lang="en-US" dirty="0"/>
              <a:t>右邊和病毒有關。HCV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看放射、晚發。另一個陷阱是 RIC，書上的 key point 寫 RIC 似乎沒有降低第二癌，一個單中心研究在 RIC 之後十年的累積發生率達 12.9%。</a:t>
            </a:r>
          </a:p>
          <a:p>
            <a:pPr>
              <a:spcAft>
                <a:spcPts val="600"/>
              </a:spcAft>
            </a:pPr>
            <a:r>
              <a:rPr lang="en-US" dirty="0"/>
              <a:t>臨床上，有 chronic GVHD 的人每次回診都要看皮膚和口腔；十年之後，做過 TBI 的人要開始注意甲狀腺和乳房。</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這是 Table 47.1 的數字和危險因子。Allo 之後 t-MN 很少，三年 0.06 到 0.67%，和移植前化療量、TBI、年紀大有關。</a:t>
            </a:r>
          </a:p>
          <a:p>
            <a:pPr>
              <a:spcAft>
                <a:spcPts val="600"/>
              </a:spcAft>
            </a:pPr>
            <a:r>
              <a:rPr lang="en-US" dirty="0"/>
              <a:t>乳癌在移植後二十五年累積 11%，甲狀腺癌的 SIR 是 3.2，basal cell carcinoma 二十年 6.5%。這三種都和放射線、年輕時接受放射有關，BCC 再加上膚色淺，melanoma 則和 T-cell depletion 有關。</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有關，子宮頸 SIR 2.13、肛門 4.85，外陰陰道高達 22.76。</a:t>
            </a:r>
          </a:p>
          <a:p>
            <a:pPr>
              <a:spcAft>
                <a:spcPts val="600"/>
              </a:spcAft>
            </a:pPr>
            <a:r>
              <a:rPr lang="en-US" dirty="0"/>
              <a:t>大腸直腸癌在移植後沒有被證實增加。一位病人可以發生好幾個不同的第二癌，最多報告過五個。第二癌通常比原發癌發生得更年輕，所以篩檢要比一般人提早，這就是下一張的內容。</a:t>
            </a:r>
          </a:p>
          <a:p>
            <a:pPr>
              <a:spcAft>
                <a:spcPts val="600"/>
              </a:spcAft>
            </a:pPr>
            <a:r>
              <a:rPr lang="en-US" dirty="0"/>
              <a:t>考題常把危險因子和癌別配對，例如 BuCy 配肺癌、HCV 配 HCC、HPV 配外陰和肛門，記得配對就能刪掉大部分選項。</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a:p>
            <a:pPr>
              <a:spcAft>
                <a:spcPts val="600"/>
              </a:spcAft>
            </a:pPr>
            <a:r>
              <a:rPr lang="en-US" dirty="0"/>
              <a:t>- Table 47.1 also gives penile SIR 22.76, identical to vulvar/vaginal; possibly a copying error, so it is left off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篩檢原則是 auto 和 allo 都要終身篩檢。每年回診時問症狀、做檢查，其餘照各國一般族群的癌症篩檢，再對高風險族群加強，也要讓病人知道自己的風險。</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歲或開始性行為三年內，取較早者，兩條規則方向相反，很容易搞混。</a:t>
            </a:r>
          </a:p>
          <a:p>
            <a:pPr>
              <a:spcAft>
                <a:spcPts val="600"/>
              </a:spcAft>
            </a:pPr>
            <a:r>
              <a:rPr lang="en-US" dirty="0"/>
              <a:t>高劑量 busulfan 加上抽菸的人考慮 chest CT。HCV 病人在移植後 8 到 10 年評估肝纖維化。大腸直腸癌在沒有家族史時從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Metabolic syndrome 是五項符合三項。腰圍依族群和國家定義，書上沒有給數字；三酸甘油酯 1.7 mmol/L 以上；HDL 男性低於 1.0、女性低於 1.3；血壓 130/85 以上；空腹血糖 5.6 以上。全球大約 25% 的人有 MetS，移植後盛行率 31 到 49%。</a:t>
            </a:r>
          </a:p>
          <a:p>
            <a:pPr>
              <a:spcAft>
                <a:spcPts val="600"/>
              </a:spcAft>
            </a:pPr>
            <a:r>
              <a:rPr lang="en-US" dirty="0"/>
              <a:t>Greenfield 2021 收了 453 位存活至少兩年的成人，MetS 盛行率 37.5%，50 歲以上 53%。有 MetS 的人心血管事件 26.7%，沒有的 9%。</a:t>
            </a:r>
          </a:p>
          <a:p>
            <a:pPr>
              <a:spcAft>
                <a:spcPts val="600"/>
              </a:spcAft>
            </a:pPr>
            <a:r>
              <a:rPr lang="en-US" dirty="0"/>
              <a:t>個別成分也都上升。Dyslipidemia 移植後 43 到 73%，allo 比 auto 的 RR 2.1，TBI 也增加風險。Allo 之後高血壓是 sibling donor 或 auto 的 2.06 倍。糖尿病 allo 的 OR 3.65，prednisone 累積劑量每天超過 0.25 mg/kg，RR 3.6，TBI 讓風險增加 3.42 倍。</a:t>
            </a:r>
          </a:p>
          <a:p>
            <a:pPr>
              <a:spcAft>
                <a:spcPts val="600"/>
              </a:spcAft>
            </a:pPr>
            <a:r>
              <a:rPr lang="en-US" dirty="0"/>
              <a:t>右欄是成人移植存活者的篩檢，血脂每五年，男性 35 歲、女性 45 歲起；血壓至少兩年一次；45 歲以上或血壓高於 135/80 的人，每三年篩第二型糖尿病。</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a:p>
            <a:pPr>
              <a:spcAft>
                <a:spcPts val="600"/>
              </a:spcAft>
            </a:pPr>
            <a:r>
              <a:rPr lang="en-US" dirty="0"/>
              <a:t>- Ch. 55 gives the MetS blood-pressure criterion as ≥ 130/85 in the definition list but as ≥ 135/85 in §55.2.3; the slide uses the definition list.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55.1 把心血管危險因子分成五類。第一類是病人本身，家族史、女性、抽菸、高血壓、血脂、糖尿病、肥胖、少動和慢性腎病。</a:t>
            </a:r>
          </a:p>
          <a:p>
            <a:pPr>
              <a:spcAft>
                <a:spcPts val="600"/>
              </a:spcAft>
            </a:pPr>
            <a:r>
              <a:rPr lang="en-US" dirty="0"/>
              <a:t>第二類是治療。Anthracycline 累積超過 doxorubicin 250 mg/m²；放射線照到心臟的區域超過 35 Gy，或 15 到 35 Gy 再加 doxorubicin 超過 100 mg/m²。TBI、steroid，以及 cyclophosphamide、busulfan、melphalan、thiotepa 也有心毒性。PTCy 的平台，100 天內的 early cardiac events 較多，年紀大、sequential conditioning 和移植前用過 CY 是額外的危險因子。</a:t>
            </a:r>
          </a:p>
          <a:p>
            <a:pPr>
              <a:spcAft>
                <a:spcPts val="600"/>
              </a:spcAft>
            </a:pPr>
            <a:r>
              <a:rPr lang="en-US" dirty="0"/>
              <a:t>第三、四類是 GVHD 的預防和 GVHD 本身，steroid、calcineurin inhibitor、grade II 到 IV 的 acute GVHD，以及任何程度的 chronic GVHD。最後是其他 late effects，性腺低下、提早停經和甲狀腺低下，所以下一段的內分泌問題也算心血管風險。</a:t>
            </a:r>
          </a:p>
          <a:p>
            <a:pPr>
              <a:spcAft>
                <a:spcPts val="600"/>
              </a:spcAft>
            </a:pPr>
            <a:r>
              <a:rPr lang="en-US" dirty="0"/>
              <a:t>EBMT 的回溯分析，十五年第一次心血管事件最高 6%。Tichelli 2007 是 allo 7.5%、auto 2.3%，但 Greenfield 2021 沒有看到差別。Framingham 這類分數沒有在 HCT 病人驗證，可能低估風險，只能當起點。</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內分泌異常在長期存活者很常見，兒童有 58.7% 至少一項異常。最常見的是 primary compensated hypothyroidism，allo-HCT 後大約四分之一，女性較多，常常不需治療、會自己恢復。一個追蹤 38 年的研究，移植後 28 年仍有新個案，所以追蹤沒有終點。</a:t>
            </a:r>
          </a:p>
          <a:p>
            <a:pPr>
              <a:spcAft>
                <a:spcPts val="600"/>
              </a:spcAft>
            </a:pPr>
            <a:r>
              <a:rPr lang="en-US" dirty="0"/>
              <a:t>危險因子裡最常考的是 single-dose TBI，比 fractionated 高五到六倍。Busulfan 比只用 cyclophosphamide 更容易傷甲狀腺，惡性疾病比 aplastic anemia 多，長期免疫抑制治療 chronic GVHD 也增加風險。每年驗 TSH 和 FT4、觸診，超音波的門檻要低。甲狀腺癌的 RR 約 3 倍，十歲前移植超過 20 倍。</a:t>
            </a:r>
          </a:p>
          <a:p>
            <a:pPr>
              <a:spcAft>
                <a:spcPts val="600"/>
              </a:spcAft>
            </a:pPr>
            <a:r>
              <a:rPr lang="en-US" dirty="0"/>
              <a:t>Hypoadrenalism 主要來自 glucocorticoid 造成的 central 缺乏。超生理劑量用一個月以上就有風險，外用、吸入、鼻噴、口服、注射都算。症狀不明顯，疲倦、噁心、體重減輕、低血壓，還會和 GVHD 混淆。診斷要配對早上的 cortisol 和 ACTH，確診給 hydrocortisone，生病、感染、手術時加量。</a:t>
            </a:r>
          </a:p>
          <a:p>
            <a:pPr>
              <a:spcAft>
                <a:spcPts val="600"/>
              </a:spcAft>
            </a:pPr>
            <a:r>
              <a:rPr lang="en-US" dirty="0"/>
              <a:t>兒童生長要每次量身高體重，頭部放射和 single-dose TBI 是主因。GH 治療因為第二癌的疑慮，目前沒有明確指引。</a:t>
            </a:r>
          </a:p>
          <a:p>
            <a:pPr>
              <a:spcAft>
                <a:spcPts val="600"/>
              </a:spcAft>
            </a:pPr>
            <a:r>
              <a:rPr lang="en-US" b="1" dirty="0"/>
              <a:t>講者提醒（不念出來）：</a:t>
            </a:r>
          </a:p>
          <a:p>
            <a:pPr>
              <a:spcAft>
                <a:spcPts val="600"/>
              </a:spcAft>
            </a:pPr>
            <a:r>
              <a:rPr lang="en-US" dirty="0"/>
              <a:t>- Ch. 56 prints 'height standard deviation score is less than 2' for GH consideration; the slide reads this as −2 and labels it as the speaker's reading.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女性天生卵子數量有限，化放療透過 apoptosis、間質血管纖維化和 burnout 讓卵泡更快耗盡。Alkylating agents 的卵巢衰竭風險最高，busulfan 加 cyclophosphamide 特別傷，只用 cyclophosphamide 的年輕女性可能保留功能，懷孕的報告也不少。Treosulfan 的 gonadotrophin 比 busulfan 低，但還沒有證據顯示懷孕率較高。</a:t>
            </a:r>
          </a:p>
          <a:p>
            <a:pPr>
              <a:spcAft>
                <a:spcPts val="600"/>
              </a:spcAft>
            </a:pPr>
            <a:r>
              <a:rPr lang="en-US" dirty="0"/>
              <a:t>放射線的數字常考。人類卵母細胞的半致死劑量低於 2 Gy。Effective sterilizing dose 隨年齡下降，十歲是 18.4 Gy，三十歲約 14.3 Gy，四十歲以上只要 6 Gy，出自 Wallace 2003。</a:t>
            </a:r>
          </a:p>
          <a:p>
            <a:pPr>
              <a:spcAft>
                <a:spcPts val="600"/>
              </a:spcAft>
            </a:pPr>
            <a:r>
              <a:rPr lang="en-US" dirty="0"/>
              <a:t>男性的精子生成很容易受損，但 Leydig cell 相對耐受，testosterone 和 LH 通常正常，第二性徵也正常。只是少數人仍有荷爾蒙缺乏，所以每一到兩年要驗 testosterone。1 Gy 單次照射後，精子數大約兩年才恢復；MAC TBI 之後大多數無精，busulfan 之後約一半，只用 cyclophosphamide 較常恢復。</a:t>
            </a:r>
          </a:p>
          <a:p>
            <a:pPr>
              <a:spcAft>
                <a:spcPts val="600"/>
              </a:spcAft>
            </a:pPr>
            <a:r>
              <a:rPr lang="en-US" dirty="0"/>
              <a:t>懷孕方面，做過 TBI 或骨盆放射的人流產、早產和低出生體重較多。卵子成熟期約六個月，理論上完成 gonadotoxic 治療後延後六個月再懷孕較好。</a:t>
            </a:r>
          </a:p>
          <a:p>
            <a:pPr>
              <a:spcAft>
                <a:spcPts val="600"/>
              </a:spcAft>
            </a:pPr>
            <a:r>
              <a:rPr lang="en-US" b="1" dirty="0"/>
              <a:t>講者提醒（不念出來）：</a:t>
            </a:r>
          </a:p>
          <a:p>
            <a:pPr>
              <a:spcAft>
                <a:spcPts val="600"/>
              </a:spcAft>
            </a:pPr>
            <a:r>
              <a:rPr lang="en-US" dirty="0"/>
              <a:t>- Ch. 56 says testosterone should be monitored 'on an annual or biannual basis'; the slide says yearly and the script says every one to two years.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開始任何化放療之前，都要先和病人談生育，以及有哪些保存方法，有些國家還要求生殖醫學專科的獨立諮詢。</a:t>
            </a:r>
          </a:p>
          <a:p>
            <a:pPr>
              <a:spcAft>
                <a:spcPts val="600"/>
              </a:spcAft>
            </a:pPr>
            <a:r>
              <a:rPr lang="en-US" dirty="0"/>
              <a:t>成年男性做精子冷凍，無法射精時可用 penile vibratory stimulation 或電刺激射精，再不行就 TESE。移植時小於 25 歲、沒有 TBI、沒有 chronic GVHD 的人，精子比較有機會自己恢復，要定期重新評估。青春期前的男孩只能做睪丸組織冷凍，目前仍是實驗性，還沒有人類活產的報告。</a:t>
            </a:r>
          </a:p>
          <a:p>
            <a:pPr>
              <a:spcAft>
                <a:spcPts val="600"/>
              </a:spcAft>
            </a:pPr>
            <a:r>
              <a:rPr lang="en-US" dirty="0"/>
              <a:t>成年女性首選胚胎或卵子冷凍，但刺激排卵至少要兩週，很多血液惡性疾病等不了；胚胎冷凍還需要伴侶或捐贈精子。GnRH agonist 的效果不確定，Cochrane review 的結論是可以考慮。</a:t>
            </a:r>
          </a:p>
          <a:p>
            <a:pPr>
              <a:spcAft>
                <a:spcPts val="600"/>
              </a:spcAft>
            </a:pPr>
            <a:r>
              <a:rPr lang="en-US" dirty="0"/>
              <a:t>黑色框是 ovarian tissue cryopreservation，青春期前女孩唯一的選項，也適用於不能延後治療的女性。最大的問題是回植可能把腫瘤帶回去，白血病病人的卵巢組織 PCR 曾驗出疾病，所以目前不建議回植；lymphoma 病人有組織學陰性樣本回植沒有復發的報告。</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iron overload。19 歲女性，β-thalassemia major，兩年前做了 matched sibling allo-HCT。現在不需輸血、已停免疫抑制，Hb 12.5，腎功能正常。Ferritin 2400，transferrin saturation 82%，肝臟 MRI 顯示明顯鐵沉積。下一步最適當的是什麼。</a:t>
            </a:r>
          </a:p>
          <a:p>
            <a:pPr>
              <a:spcAft>
                <a:spcPts val="600"/>
              </a:spcAft>
            </a:pPr>
            <a:r>
              <a:rPr lang="en-US" dirty="0"/>
              <a:t>這題要想的是移植之後鐵會不會自己消失，以及去鐵的方法和目標。</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是主要陷阱，以為不輸血鐵就會慢慢降，這在門診很常見。Angelucci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a:t>
            </a:r>
          </a:p>
          <a:p>
            <a:pPr>
              <a:spcAft>
                <a:spcPts val="600"/>
              </a:spcAft>
            </a:pPr>
            <a:r>
              <a:rPr lang="en-US" dirty="0"/>
              <a:t>記住終點是正常的 transferrin saturation，不是某個 ferritin 數值。若她仍在用 cyclosporine 或造血還不穩，才比較會選 chelation。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第二題考第二癌篩檢。30 歲女性，21 歲時因 ALL 接受 cyclophosphamide 加 TBI 的 myeloablative allo-HCT。目前緩解、已停免疫抑制，沒有 chronic GVHD，也沒有乳癌家族史。今天是她的年度 late-effects 門診，乳房篩檢該怎麼安排。</a:t>
            </a:r>
          </a:p>
          <a:p>
            <a:pPr>
              <a:spcAft>
                <a:spcPts val="600"/>
              </a:spcAft>
            </a:pPr>
            <a:r>
              <a:rPr lang="en-US" dirty="0"/>
              <a:t>題目刻意給了她接受 TBI 的年紀，請算一下什麼時候該開始。</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不是這裡的條件。子宮頸抹片的規則是取較早者，和乳房相反。</a:t>
            </a:r>
          </a:p>
          <a:p>
            <a:pPr>
              <a:spcAft>
                <a:spcPts val="600"/>
              </a:spcAft>
            </a:pPr>
            <a:r>
              <a:rPr lang="en-US" dirty="0"/>
              <a:t>算的時候記住兩個數字，25 歲和 8 年，取晚的，上限 40 歲。如果她是 15 歲照 TBI，加 8 年是 23 歲，比 25 早，那就從 25 歲開始。</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第三題換到內分泌。38 歲女性，AML 做 allo-HCT 後 14 個月。因為皮膚和肝臟的 chronic GVHD 用了八個月 prednisolone，三週前停掉，目前還在擦外用 steroid。現在疲倦、噁心、體重減輕，血壓 92/58，皮膚和肝功能沒有變化。下一步最適當的是什麼。</a:t>
            </a:r>
          </a:p>
          <a:p>
            <a:pPr>
              <a:spcAft>
                <a:spcPts val="600"/>
              </a:spcAft>
            </a:pPr>
            <a:r>
              <a:rPr lang="en-US" dirty="0"/>
              <a:t>A 是重新給 prednisolone 每公斤 1 mg 治療 GVHD flare，B 是配對的早上 cortisol 和 ACTH，C 是胃鏡切片找 GI GVHD，D 是只驗 TSH 和 FT4，E 是安撫病人、不需檢查。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B。超生理劑量的 glucocorticoid 用了一個月以上，不論口服或外用，都有 central hypoadrenalism 的風險。她的症狀非特異，而且會和 GVHD 混淆，診斷要靠配對的早上 cortisol 和 ACTH，結果不明確再找內分泌科。確診後給 hydrocortisone，壓力時加量，之後定期評估能不能減量。</a:t>
            </a:r>
          </a:p>
          <a:p>
            <a:pPr>
              <a:spcAft>
                <a:spcPts val="600"/>
              </a:spcAft>
            </a:pPr>
            <a:r>
              <a:rPr lang="en-US" dirty="0"/>
              <a:t>A 是最大的陷阱，皮膚和肝臟都沒有惡化，卻直接回到高劑量 steroid，等於沒有找原因。C 的 GI GVHD 不是第一個要排除的。D 的甲狀腺功能低下也會疲倦，但解釋不了低血壓和停藥的時間關係。</a:t>
            </a:r>
          </a:p>
          <a:p>
            <a:pPr>
              <a:spcAft>
                <a:spcPts val="600"/>
              </a:spcAft>
            </a:pPr>
            <a:r>
              <a:rPr lang="en-US" dirty="0"/>
              <a:t>E 也不對，停藥後的症狀不能直接歸給 withdrawal，沒驗就不知道她的軸有沒有恢復。這種病人以後生病或手術，都要記得給 stress dose。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第二實體癌的預後主要看癌別，甲狀腺、乳癌、攝護腺、黑色素瘤和子宮頸癌較好，胰臟、肺、腦、肝膽和食道癌較差。治療比照同類型的 de novo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55.2，出自 DeFilipp 2017 的 EBMT-CIBMTR 建議。兒童移植存活者每年量體重和 BMI、每次量血壓，血脂和空腹血糖至少每五年，異常就改每年。這是專家共識，沒有結果面的證據。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性功能障礙是移植後最常見的問題之一。移植指引建議六個月、一年、之後每年主動詢問。Syrjala 的兩個篩檢問題都回答是，就做完整評估，先處理荷爾蒙缺乏、勃起功能障礙、陰道乾燥或生殖道 GVHD，再做個人或伴侶諮商。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18 · Ch. 22, 46, 47,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fertility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22, 46, 47, 55, 56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calendar and organ checklist</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22: visit intervals after auto- and allo-HCT; Table 22.1 by organ</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46: TSAT &gt; 70%, three phases, phlebotomy versus chelation</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47: t-MN, donor-derived malignancy, solid cancers and screening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fertility; MCQs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55–56: MetS, CV risk, thyroid, adrenal, gonads; three questions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12.75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306824"/>
                <a:gridCol w="375818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 weekly in</a:t>
                      </a:r>
                      <a:endParaRPr lang="en-US" sz="1500" dirty="0"/>
                    </a:p>
                    <a:p>
                      <a:pPr indent="0" marL="0">
                        <a:buNone/>
                      </a:pPr>
                      <a:r>
                        <a:rPr lang="en-US" sz="1500" dirty="0">
                          <a:solidFill>
                            <a:schemeClr val="tx1"/>
                          </a:solidFill>
                        </a:rPr>
                        <a:t>month 1, 2-weekly to month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Chimerism at months 1 and 2;</a:t>
                      </a:r>
                      <a:endParaRPr lang="en-US" sz="1500" dirty="0"/>
                    </a:p>
                    <a:p>
                      <a:pPr indent="0" marL="0">
                        <a:buNone/>
                      </a:pPr>
                      <a:r>
                        <a:rPr lang="en-US" sz="1500" dirty="0">
                          <a:solidFill>
                            <a:schemeClr val="tx1"/>
                          </a:solidFill>
                        </a:rPr>
                        <a:t>marrow ~1 m if involved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Marrow at 3 months if previously</a:t>
                      </a:r>
                      <a:endParaRPr lang="en-US" sz="1500" dirty="0"/>
                    </a:p>
                    <a:p>
                      <a:pPr indent="0" marL="0">
                        <a:buNone/>
                      </a:pPr>
                      <a:r>
                        <a:rPr lang="en-US" sz="1500" dirty="0">
                          <a:solidFill>
                            <a:schemeClr val="tx1"/>
                          </a:solidFill>
                        </a:rPr>
                        <a:t>involved (NHL, HL, MPS)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Back to referring doctor; age &lt; 17:</a:t>
                      </a:r>
                      <a:endParaRPr lang="en-US" sz="1500" dirty="0"/>
                    </a:p>
                    <a:p>
                      <a:pPr indent="0" marL="0">
                        <a:buNone/>
                      </a:pPr>
                      <a:r>
                        <a:rPr lang="en-US" sz="1500" dirty="0">
                          <a:solidFill>
                            <a:schemeClr val="tx1"/>
                          </a:solidFill>
                        </a:rPr>
                        <a:t>height, weight every 3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imaging</a:t>
                      </a:r>
                      <a:endParaRPr lang="en-US" sz="1500" dirty="0"/>
                    </a:p>
                    <a:p>
                      <a:pPr indent="0" marL="0">
                        <a:buNone/>
                      </a:pPr>
                      <a:r>
                        <a:rPr lang="en-US" sz="1500" dirty="0">
                          <a:solidFill>
                            <a:schemeClr val="tx1"/>
                          </a:solidFill>
                        </a:rPr>
                        <a:t>by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CHECKLIST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tightens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19072"/>
                <a:gridCol w="3346704"/>
                <a:gridCol w="2057400"/>
                <a:gridCol w="3694176"/>
              </a:tblGrid>
              <a:tr h="0">
                <a:tc>
                  <a:txBody>
                    <a:bodyPr/>
                    <a:lstStyle/>
                    <a:p>
                      <a:pPr indent="0" marL="0">
                        <a:buNone/>
                      </a:pPr>
                      <a:r>
                        <a:rPr lang="en-US" sz="1400" b="1" dirty="0">
                          <a:solidFill>
                            <a:schemeClr val="tx1"/>
                          </a:solidFill>
                        </a:rPr>
                        <a:t>Organ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Screening</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When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Point to remember</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Mouth</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Oral and dental assessment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Oral cGVHD: SCC risk, exam every 6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Lung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Clinical review; no smoking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cGVHD: spirometry at every visit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Liver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Liver tests; ferritin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Ferritin at 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High ferritin: MRI / FerriScan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Kidney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BP, urine protein, BUN/creatinine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hypertension; avoid nephrotoxins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Bone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Bone density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Adult women, all allo-HCT, high risk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Endocrine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Thyroid; gonads; growth in children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 then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Yearly gynaecological exam in women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Immunity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PJP, encapsulated-organism cover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While cGVHD or 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Vaccines: Session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Second cancer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Counselling, population screening</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From 1 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After TBI: more frequent mammography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2"/>
          <p:cNvSpPr txBox="1"/>
          <p:nvPr/>
        </p:nvSpPr>
        <p:spPr>
          <a:xfrm>
            <a:off x="685800" y="5504688"/>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22.1, adapted from Majhail 2012; all controls are tightened in chronic GVHD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3941064"/>
                <a:gridCol w="412394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 iron pool;</a:t>
                      </a:r>
                      <a:endParaRPr lang="en-US" sz="1500" dirty="0"/>
                    </a:p>
                    <a:p>
                      <a:pPr indent="0" marL="0">
                        <a:buNone/>
                      </a:pPr>
                      <a:r>
                        <a:rPr lang="en-US" sz="1500" dirty="0">
                          <a:solidFill>
                            <a:schemeClr val="tx1"/>
                          </a:solidFill>
                        </a:rPr>
                        <a:t>limited if poly-transfused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 infection</a:t>
                      </a:r>
                      <a:endParaRPr lang="en-US" sz="1500" dirty="0"/>
                    </a:p>
                    <a:p>
                      <a:pPr indent="0" marL="0">
                        <a:buNone/>
                      </a:pPr>
                      <a:r>
                        <a:rPr lang="en-US" sz="1500" dirty="0">
                          <a:solidFill>
                            <a:schemeClr val="tx1"/>
                          </a:solidFill>
                        </a:rPr>
                        <a:t>or liver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shows histology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no ferromagnetic implants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on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25"/>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7"/>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2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marrow recovery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8" name="Table 3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1"/>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9"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t-MN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Donor-derived (DDM)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Second solid (SSN)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Definition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t-MDS / t-AML after</a:t>
                      </a:r>
                      <a:endParaRPr lang="en-US" sz="1400" dirty="0"/>
                    </a:p>
                    <a:p>
                      <a:pPr indent="0" marL="0">
                        <a:buNone/>
                      </a:pPr>
                      <a:r>
                        <a:rPr lang="en-US" sz="1400" dirty="0">
                          <a:solidFill>
                            <a:schemeClr val="tx1"/>
                          </a:solidFill>
                        </a:rPr>
                        <a:t>chemo- or radiotherapy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Haematologic neoplasm</a:t>
                      </a:r>
                      <a:endParaRPr lang="en-US" sz="1400" dirty="0"/>
                    </a:p>
                    <a:p>
                      <a:pPr indent="0" marL="0">
                        <a:buNone/>
                      </a:pPr>
                      <a:r>
                        <a:rPr lang="en-US" sz="1400" dirty="0">
                          <a:solidFill>
                            <a:schemeClr val="tx1"/>
                          </a:solidFill>
                        </a:rPr>
                        <a:t>in donor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Solid cancer of any site</a:t>
                      </a:r>
                      <a:endParaRPr lang="en-US" sz="1400" dirty="0"/>
                    </a:p>
                    <a:p>
                      <a:pPr indent="0" marL="0">
                        <a:buNone/>
                      </a:pPr>
                      <a:r>
                        <a:rPr lang="en-US" sz="1400" dirty="0">
                          <a:solidFill>
                            <a:schemeClr val="tx1"/>
                          </a:solidFill>
                        </a:rPr>
                        <a:t>after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Setting, timing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Mainly auto-HCT;</a:t>
                      </a:r>
                      <a:endParaRPr lang="en-US" sz="1400" dirty="0"/>
                    </a:p>
                    <a:p>
                      <a:pPr indent="0" marL="0">
                        <a:buNone/>
                      </a:pPr>
                      <a:r>
                        <a:rPr lang="en-US" sz="1400" dirty="0">
                          <a:solidFill>
                            <a:schemeClr val="tx1"/>
                          </a:solidFill>
                        </a:rPr>
                        <a:t>mostly within 10 years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Allo-HCT only;</a:t>
                      </a:r>
                      <a:endParaRPr lang="en-US" sz="1400" dirty="0"/>
                    </a:p>
                    <a:p>
                      <a:pPr indent="0" marL="0">
                        <a:buNone/>
                      </a:pPr>
                      <a:r>
                        <a:rPr lang="en-US" sz="1400" dirty="0">
                          <a:solidFill>
                            <a:schemeClr val="tx1"/>
                          </a:solidFill>
                        </a:rPr>
                        <a:t>timing variable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Auto and allo; rises</a:t>
                      </a:r>
                      <a:endParaRPr lang="en-US" sz="1400" dirty="0"/>
                    </a:p>
                    <a:p>
                      <a:pPr indent="0" marL="0">
                        <a:buNone/>
                      </a:pPr>
                      <a:r>
                        <a:rPr lang="en-US" sz="1400" dirty="0">
                          <a:solidFill>
                            <a:schemeClr val="tx1"/>
                          </a:solidFill>
                        </a:rPr>
                        <a:t>with longer follow-up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Frequency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Lymphoma auto: 1% at 2 y</a:t>
                      </a:r>
                      <a:endParaRPr lang="en-US" sz="1400" dirty="0"/>
                    </a:p>
                    <a:p>
                      <a:pPr indent="0" marL="0">
                        <a:buNone/>
                      </a:pPr>
                      <a:r>
                        <a:rPr lang="en-US" sz="1400" dirty="0">
                          <a:solidFill>
                            <a:schemeClr val="tx1"/>
                          </a:solidFill>
                        </a:rPr>
                        <a:t>up to 24% at 43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&lt; 1% at 15 y; up to 5%</a:t>
                      </a:r>
                      <a:endParaRPr lang="en-US" sz="1400" dirty="0"/>
                    </a:p>
                    <a:p>
                      <a:pPr indent="0" marL="0">
                        <a:buNone/>
                      </a:pPr>
                      <a:r>
                        <a:rPr lang="en-US" sz="1400" dirty="0">
                          <a:solidFill>
                            <a:schemeClr val="tx1"/>
                          </a:solidFill>
                        </a:rPr>
                        <a:t>of leukaemia 'relapses'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2.2% at 10 y,</a:t>
                      </a:r>
                      <a:endParaRPr lang="en-US" sz="1400" dirty="0"/>
                    </a:p>
                    <a:p>
                      <a:pPr indent="0" marL="0">
                        <a:buNone/>
                      </a:pPr>
                      <a:r>
                        <a:rPr lang="en-US" sz="1400" dirty="0">
                          <a:solidFill>
                            <a:schemeClr val="tx1"/>
                          </a:solidFill>
                        </a:rPr>
                        <a:t>6.7% at 15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Risk factors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Pre-HCT alkylators, TBI,</a:t>
                      </a:r>
                      <a:endParaRPr lang="en-US" sz="1400" dirty="0"/>
                    </a:p>
                    <a:p>
                      <a:pPr indent="0" marL="0">
                        <a:buNone/>
                      </a:pPr>
                      <a:r>
                        <a:rPr lang="en-US" sz="1400" dirty="0">
                          <a:solidFill>
                            <a:schemeClr val="tx1"/>
                          </a:solidFill>
                        </a:rPr>
                        <a:t>older age, lenalidomide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Donor clone, G-CSF,</a:t>
                      </a:r>
                      <a:endParaRPr lang="en-US" sz="1400" dirty="0"/>
                    </a:p>
                    <a:p>
                      <a:pPr indent="0" marL="0">
                        <a:buNone/>
                      </a:pPr>
                      <a:r>
                        <a:rPr lang="en-US" sz="1400" dirty="0">
                          <a:solidFill>
                            <a:schemeClr val="tx1"/>
                          </a:solidFill>
                        </a:rPr>
                        <a:t>in vivo TCD, multiple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Radiation, cGVHD and IS,</a:t>
                      </a:r>
                      <a:endParaRPr lang="en-US" sz="1400" dirty="0"/>
                    </a:p>
                    <a:p>
                      <a:pPr indent="0" marL="0">
                        <a:buNone/>
                      </a:pPr>
                      <a:r>
                        <a:rPr lang="en-US" sz="1400" dirty="0">
                          <a:solidFill>
                            <a:schemeClr val="tx1"/>
                          </a:solidFill>
                        </a:rPr>
                        <a:t>HCV, HPV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Outcome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Poor; median survival</a:t>
                      </a:r>
                      <a:endParaRPr lang="en-US" sz="1400" dirty="0"/>
                    </a:p>
                    <a:p>
                      <a:pPr indent="0" marL="0">
                        <a:buNone/>
                      </a:pPr>
                      <a:r>
                        <a:rPr lang="en-US" sz="1400" dirty="0">
                          <a:solidFill>
                            <a:schemeClr val="tx1"/>
                          </a:solidFill>
                        </a:rPr>
                        <a:t>6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Poor; few data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Depends on cancer type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Treatment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de novo; early donor</a:t>
                      </a:r>
                      <a:endParaRPr lang="en-US" sz="1400" dirty="0"/>
                    </a:p>
                    <a:p>
                      <a:pPr indent="0" marL="0">
                        <a:buNone/>
                      </a:pPr>
                      <a:r>
                        <a:rPr lang="en-US" sz="1400" dirty="0">
                          <a:solidFill>
                            <a:schemeClr val="tx1"/>
                          </a:solidFill>
                        </a:rPr>
                        <a:t>search and allo-HCT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standard: re-HCT,</a:t>
                      </a:r>
                      <a:endParaRPr lang="en-US" sz="1400" dirty="0"/>
                    </a:p>
                    <a:p>
                      <a:pPr indent="0" marL="0">
                        <a:buNone/>
                      </a:pPr>
                      <a:r>
                        <a:rPr lang="en-US" sz="1400" dirty="0">
                          <a:solidFill>
                            <a:schemeClr val="tx1"/>
                          </a:solidFill>
                        </a:rPr>
                        <a:t>chemo, DLI, palliation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a de novo cancer</a:t>
                      </a:r>
                      <a:endParaRPr lang="en-US" sz="1400" dirty="0"/>
                    </a:p>
                    <a:p>
                      <a:pPr indent="0" marL="0">
                        <a:buNone/>
                      </a:pPr>
                      <a:r>
                        <a:rPr lang="en-US" sz="1400" dirty="0">
                          <a:solidFill>
                            <a:schemeClr val="tx1"/>
                          </a:solidFill>
                        </a:rPr>
                        <a:t>of the same type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35"/>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38"/>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41"/>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78024"/>
                <a:gridCol w="3758184"/>
                <a:gridCol w="458114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Cervix 2.13, anal 4.85, vulvar 22.76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 women and men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2"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123944"/>
                <a:gridCol w="476402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 FNA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busulfan + smoking: chest 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5"/>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CARDIOMETABOLIC · METABOLIC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syndrome needs three of five criteria and affects 31–49%</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02536"/>
                <a:gridCol w="3090672"/>
                <a:gridCol w="3090672"/>
                <a:gridCol w="2633472"/>
              </a:tblGrid>
              <a:tr h="0">
                <a:tc>
                  <a:txBody>
                    <a:bodyPr/>
                    <a:lstStyle/>
                    <a:p>
                      <a:pPr indent="0" marL="0">
                        <a:buNone/>
                      </a:pPr>
                      <a:r>
                        <a:rPr lang="en-US" sz="1400" b="1" dirty="0">
                          <a:solidFill>
                            <a:schemeClr val="tx1"/>
                          </a:solidFill>
                        </a:rPr>
                        <a:t>Component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MetS threshold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After HCT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Screening, adult survivors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Waist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Population-specific</a:t>
                      </a:r>
                      <a:endParaRPr lang="en-US" sz="1400" dirty="0"/>
                    </a:p>
                    <a:p>
                      <a:pPr indent="0" marL="0">
                        <a:buNone/>
                      </a:pPr>
                      <a:r>
                        <a:rPr lang="en-US" sz="1400" dirty="0">
                          <a:solidFill>
                            <a:schemeClr val="tx1"/>
                          </a:solidFill>
                        </a:rPr>
                        <a:t>[verify: Taiwan cut-off]</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Rises with steroids,</a:t>
                      </a:r>
                      <a:endParaRPr lang="en-US" sz="1400" dirty="0"/>
                    </a:p>
                    <a:p>
                      <a:pPr indent="0" marL="0">
                        <a:buNone/>
                      </a:pPr>
                      <a:r>
                        <a:rPr lang="en-US" sz="1400" dirty="0">
                          <a:solidFill>
                            <a:schemeClr val="tx1"/>
                          </a:solidFill>
                        </a:rPr>
                        <a:t>sarcopenic obesity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specific rule</a:t>
                      </a:r>
                      <a:endParaRPr lang="en-US" sz="1400" dirty="0"/>
                    </a:p>
                    <a:p>
                      <a:pPr indent="0" marL="0">
                        <a:buNone/>
                      </a:pPr>
                      <a:r>
                        <a:rPr lang="en-US" sz="1400" dirty="0">
                          <a:solidFill>
                            <a:schemeClr val="tx1"/>
                          </a:solidFill>
                        </a:rPr>
                        <a:t>for weight or BMI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Triglycerides,</a:t>
                      </a:r>
                      <a:endParaRPr lang="en-US" sz="1400" dirty="0"/>
                    </a:p>
                    <a:p>
                      <a:pPr indent="0" marL="0">
                        <a:buNone/>
                      </a:pPr>
                      <a:r>
                        <a:rPr lang="en-US" sz="1400" dirty="0">
                          <a:solidFill>
                            <a:schemeClr val="tx1"/>
                          </a:solidFill>
                        </a:rPr>
                        <a:t>HDL-C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TG ≥ 1.7; HDL &lt; 1.0 (men),</a:t>
                      </a:r>
                      <a:endParaRPr lang="en-US" sz="1400" dirty="0"/>
                    </a:p>
                    <a:p>
                      <a:pPr indent="0" marL="0">
                        <a:buNone/>
                      </a:pPr>
                      <a:r>
                        <a:rPr lang="en-US" sz="1400" dirty="0">
                          <a:solidFill>
                            <a:schemeClr val="tx1"/>
                          </a:solidFill>
                        </a:rPr>
                        <a:t>&lt; 1.3 (women) mmol/L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Dyslipidaemia 43–73%;</a:t>
                      </a:r>
                      <a:endParaRPr lang="en-US" sz="1400" dirty="0"/>
                    </a:p>
                    <a:p>
                      <a:pPr indent="0" marL="0">
                        <a:buNone/>
                      </a:pPr>
                      <a:r>
                        <a:rPr lang="en-US" sz="1400" dirty="0">
                          <a:solidFill>
                            <a:schemeClr val="tx1"/>
                          </a:solidFill>
                        </a:rPr>
                        <a:t>allo vs auto RR 2.1; TBI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Lipids every 5 y:</a:t>
                      </a:r>
                      <a:endParaRPr lang="en-US" sz="1400" dirty="0"/>
                    </a:p>
                    <a:p>
                      <a:pPr indent="0" marL="0">
                        <a:buNone/>
                      </a:pPr>
                      <a:r>
                        <a:rPr lang="en-US" sz="1400" dirty="0">
                          <a:solidFill>
                            <a:schemeClr val="tx1"/>
                          </a:solidFill>
                        </a:rPr>
                        <a:t>men ≥ 35, women ≥ 45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Blood pressure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130/85 mmHg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HTN 2.06× vs siblings</a:t>
                      </a:r>
                      <a:endParaRPr lang="en-US" sz="1400" dirty="0"/>
                    </a:p>
                    <a:p>
                      <a:pPr indent="0" marL="0">
                        <a:buNone/>
                      </a:pPr>
                      <a:r>
                        <a:rPr lang="en-US" sz="1400" dirty="0">
                          <a:solidFill>
                            <a:schemeClr val="tx1"/>
                          </a:solidFill>
                        </a:rPr>
                        <a:t>or auto-HCT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least every 2 years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Fasting glucose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5.6 mmol/L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DM: allo OR 3.65; PRD</a:t>
                      </a:r>
                      <a:endParaRPr lang="en-US" sz="1400" dirty="0"/>
                    </a:p>
                    <a:p>
                      <a:pPr indent="0" marL="0">
                        <a:buNone/>
                      </a:pPr>
                      <a:r>
                        <a:rPr lang="en-US" sz="1400" dirty="0">
                          <a:solidFill>
                            <a:schemeClr val="tx1"/>
                          </a:solidFill>
                        </a:rPr>
                        <a:t>&gt; 0.25 mg/kg/d RR 3.6; TBI 3.42×</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Type 2 DM every 3 y if</a:t>
                      </a:r>
                      <a:endParaRPr lang="en-US" sz="1400" dirty="0"/>
                    </a:p>
                    <a:p>
                      <a:pPr indent="0" marL="0">
                        <a:buNone/>
                      </a:pPr>
                      <a:r>
                        <a:rPr lang="en-US" sz="1400" dirty="0">
                          <a:solidFill>
                            <a:schemeClr val="tx1"/>
                          </a:solidFill>
                        </a:rPr>
                        <a:t>≥ 45 y or BP &gt; 135/80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MetS overall</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of 5</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37.5%; 53% if &gt; 50 y</a:t>
                      </a:r>
                      <a:endParaRPr lang="en-US" sz="1400" dirty="0"/>
                    </a:p>
                    <a:p>
                      <a:pPr indent="0" marL="0">
                        <a:buNone/>
                      </a:pPr>
                      <a:r>
                        <a:rPr lang="en-US" sz="1400" dirty="0">
                          <a:solidFill>
                            <a:schemeClr val="tx1"/>
                          </a:solidFill>
                        </a:rPr>
                        <a:t>(Greenfield 2021)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CV events 26.7%</a:t>
                      </a:r>
                      <a:endParaRPr lang="en-US" sz="1400" dirty="0"/>
                    </a:p>
                    <a:p>
                      <a:pPr indent="0" marL="0">
                        <a:buNone/>
                      </a:pPr>
                      <a:r>
                        <a:rPr lang="en-US" sz="1400" dirty="0">
                          <a:solidFill>
                            <a:schemeClr val="tx1"/>
                          </a:solidFill>
                        </a:rPr>
                        <a:t>vs 9% without MetS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CARDIOMETABOLIC · CV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Cardiovascular risk adds treatment and GVHD to baseline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14"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764024"/>
                <a:gridCol w="4032504"/>
              </a:tblGrid>
              <a:tr h="0">
                <a:tc>
                  <a:txBody>
                    <a:bodyPr/>
                    <a:lstStyle/>
                    <a:p>
                      <a:pPr indent="0" marL="0">
                        <a:buNone/>
                      </a:pPr>
                      <a:r>
                        <a:rPr lang="en-US" sz="1400" b="1" dirty="0">
                          <a:solidFill>
                            <a:schemeClr val="tx1"/>
                          </a:solidFill>
                        </a:rPr>
                        <a:t>Category</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Risk factors (Table 55.1)</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Threshold or 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Baseline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Family history, female sex, smoking, HTN, DM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Also dyslipidaemia, obesity, inactivity, CKD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Anthracyclines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Doxorubicin or equivalent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&gt; 250 mg/m²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Radiotherapy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Field including the heart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&gt; 35 Gy, or &gt; 15–35 Gy plus</a:t>
                      </a:r>
                      <a:endParaRPr lang="en-US" sz="1400" dirty="0"/>
                    </a:p>
                    <a:p>
                      <a:pPr indent="0" marL="0">
                        <a:buNone/>
                      </a:pPr>
                      <a:r>
                        <a:rPr lang="en-US" sz="1400" dirty="0">
                          <a:solidFill>
                            <a:schemeClr val="tx1"/>
                          </a:solidFill>
                        </a:rPr>
                        <a:t>doxorubicin &gt; 100 mg/m²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Other therapy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TBI, steroids, CY, Bu, melphalan, thiotepa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PTCy: more early cardiac events</a:t>
                      </a:r>
                      <a:endParaRPr lang="en-US" sz="1400" dirty="0"/>
                    </a:p>
                    <a:p>
                      <a:pPr indent="0" marL="0">
                        <a:buNone/>
                      </a:pPr>
                      <a:r>
                        <a:rPr lang="en-US" sz="1400" dirty="0">
                          <a:solidFill>
                            <a:schemeClr val="tx1"/>
                          </a:solidFill>
                        </a:rPr>
                        <a:t>(within 100 days)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Prophylaxis with steroids or CNI;</a:t>
                      </a:r>
                      <a:endParaRPr lang="en-US" sz="1400" dirty="0"/>
                    </a:p>
                    <a:p>
                      <a:pPr indent="0" marL="0">
                        <a:buNone/>
                      </a:pPr>
                      <a:r>
                        <a:rPr lang="en-US" sz="1400" dirty="0">
                          <a:solidFill>
                            <a:schemeClr val="tx1"/>
                          </a:solidFill>
                        </a:rPr>
                        <a:t>aGVHD II–IV, any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Screen for TBI, GVHD and CNI use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Other late effects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Hypogonadism, early menopause, hypothyroidism</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as CV risk factors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349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First CV event by 15 years: up to 6% (EBMT); 7.5% allo vs 2.3% auto (Tichelli 2007a)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ENDOCRINE · THYROID, ADRENAL, GROWTH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Thyroid, adrenal and growth problems need lifelong screening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15"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48840"/>
                <a:gridCol w="3035808"/>
                <a:gridCol w="2953512"/>
                <a:gridCol w="2679192"/>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facts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 factors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in 4 after allo; mostly</a:t>
                      </a:r>
                      <a:endParaRPr lang="en-US" sz="1500" dirty="0"/>
                    </a:p>
                    <a:p>
                      <a:pPr indent="0" marL="0">
                        <a:buNone/>
                      </a:pPr>
                      <a:r>
                        <a:rPr lang="en-US" sz="1500" dirty="0">
                          <a:solidFill>
                            <a:schemeClr val="tx1"/>
                          </a:solidFill>
                        </a:rPr>
                        <a:t>compensated, may resolve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Single-dose TBI 5–6× vs</a:t>
                      </a:r>
                      <a:endParaRPr lang="en-US" sz="1500" dirty="0"/>
                    </a:p>
                    <a:p>
                      <a:pPr indent="0" marL="0">
                        <a:buNone/>
                      </a:pPr>
                      <a:r>
                        <a:rPr lang="en-US" sz="1500" dirty="0">
                          <a:solidFill>
                            <a:schemeClr val="tx1"/>
                          </a:solidFill>
                        </a:rPr>
                        <a:t>fractionated; Bu &gt; CY;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 and</a:t>
                      </a:r>
                      <a:endParaRPr lang="en-US" sz="1500" dirty="0"/>
                    </a:p>
                    <a:p>
                      <a:pPr indent="0" marL="0">
                        <a:buNone/>
                      </a:pPr>
                      <a:r>
                        <a:rPr lang="en-US" sz="1500" dirty="0">
                          <a:solidFill>
                            <a:schemeClr val="tx1"/>
                          </a:solidFill>
                        </a:rPr>
                        <a:t>palpation; low US threshold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~3; &gt; 20 if HCT before</a:t>
                      </a:r>
                      <a:endParaRPr lang="en-US" sz="1500" dirty="0"/>
                    </a:p>
                    <a:p>
                      <a:pPr indent="0" marL="0">
                        <a:buNone/>
                      </a:pPr>
                      <a:r>
                        <a:rPr lang="en-US" sz="1500" dirty="0">
                          <a:solidFill>
                            <a:schemeClr val="tx1"/>
                          </a:solidFill>
                        </a:rPr>
                        <a:t>10 y; ~5 if 11–20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 age, female sex,</a:t>
                      </a:r>
                      <a:endParaRPr lang="en-US" sz="1500" dirty="0"/>
                    </a:p>
                    <a:p>
                      <a:pPr indent="0" marL="0">
                        <a:buNone/>
                      </a:pPr>
                      <a:r>
                        <a:rPr lang="en-US" sz="1500" dirty="0">
                          <a:solidFill>
                            <a:schemeClr val="tx1"/>
                          </a:solidFill>
                        </a:rPr>
                        <a:t>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second-cancer</a:t>
                      </a:r>
                      <a:endParaRPr lang="en-US" sz="1500" dirty="0"/>
                    </a:p>
                    <a:p>
                      <a:pPr indent="0" marL="0">
                        <a:buNone/>
                      </a:pPr>
                      <a:r>
                        <a:rPr lang="en-US" sz="1500" dirty="0">
                          <a:solidFill>
                            <a:schemeClr val="tx1"/>
                          </a:solidFill>
                        </a:rPr>
                        <a:t>screening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Central, from glucocorticoids;</a:t>
                      </a:r>
                      <a:endParaRPr lang="en-US" sz="1500" dirty="0"/>
                    </a:p>
                    <a:p>
                      <a:pPr indent="0" marL="0">
                        <a:buNone/>
                      </a:pPr>
                      <a:r>
                        <a:rPr lang="en-US" sz="1500" dirty="0">
                          <a:solidFill>
                            <a:schemeClr val="tx1"/>
                          </a:solidFill>
                        </a:rPr>
                        <a:t>symptoms mimic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dose</a:t>
                      </a:r>
                      <a:endParaRPr lang="en-US" sz="1500" dirty="0"/>
                    </a:p>
                    <a:p>
                      <a:pPr indent="0" marL="0">
                        <a:buNone/>
                      </a:pPr>
                      <a:r>
                        <a:rPr lang="en-US" sz="1500" dirty="0">
                          <a:solidFill>
                            <a:schemeClr val="tx1"/>
                          </a:solidFill>
                        </a:rPr>
                        <a:t>≥ 1 month, any route; 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Paired morning cortisol</a:t>
                      </a:r>
                      <a:endParaRPr lang="en-US" sz="1500" dirty="0"/>
                    </a:p>
                    <a:p>
                      <a:pPr indent="0" marL="0">
                        <a:buNone/>
                      </a:pPr>
                      <a:r>
                        <a:rPr lang="en-US" sz="1500" dirty="0">
                          <a:solidFill>
                            <a:schemeClr val="tx1"/>
                          </a:solidFill>
                        </a:rPr>
                        <a:t>+ ACTH; hydrocortisone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Growth</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Short stature: GH deficiency,</a:t>
                      </a:r>
                      <a:endParaRPr lang="en-US" sz="1500" dirty="0"/>
                    </a:p>
                    <a:p>
                      <a:pPr indent="0" marL="0">
                        <a:buNone/>
                      </a:pPr>
                      <a:r>
                        <a:rPr lang="en-US" sz="1500" dirty="0">
                          <a:solidFill>
                            <a:schemeClr val="tx1"/>
                          </a:solidFill>
                        </a:rPr>
                        <a:t>bone lesions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Cranial RT, single-dose TBI,</a:t>
                      </a:r>
                      <a:endParaRPr lang="en-US" sz="1500" dirty="0"/>
                    </a:p>
                    <a:p>
                      <a:pPr indent="0" marL="0">
                        <a:buNone/>
                      </a:pPr>
                      <a:r>
                        <a:rPr lang="en-US" sz="1500" dirty="0">
                          <a:solidFill>
                            <a:schemeClr val="tx1"/>
                          </a:solidFill>
                        </a:rPr>
                        <a:t>male, young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Height, weight each visit;</a:t>
                      </a:r>
                      <a:endParaRPr lang="en-US" sz="1500" dirty="0"/>
                    </a:p>
                    <a:p>
                      <a:pPr indent="0" marL="0">
                        <a:buNone/>
                      </a:pPr>
                      <a:r>
                        <a:rPr lang="en-US" sz="1500" dirty="0">
                          <a:solidFill>
                            <a:schemeClr val="tx1"/>
                          </a:solidFill>
                        </a:rPr>
                        <a:t>GH if height SDS &lt; −2*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Children: 58.7% have ≥ 1 endocrine abnormality. *Printed 'less than 2'; −2 is the speaker's reading.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FERTILITY · GONADAL DAMAGE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Ovaries fail at age-dependent doses; testes lose sperm, keep testosterone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16"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581144"/>
                <a:gridCol w="42153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Women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Alkylators worst, esp. BuCy;</a:t>
                      </a:r>
                      <a:endParaRPr lang="en-US" sz="1500" dirty="0"/>
                    </a:p>
                    <a:p>
                      <a:pPr indent="0" marL="0">
                        <a:buNone/>
                      </a:pPr>
                      <a:r>
                        <a:rPr lang="en-US" sz="1500" dirty="0">
                          <a:solidFill>
                            <a:schemeClr val="tx1"/>
                          </a:solidFill>
                        </a:rPr>
                        <a:t>CY alone may preserve function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Bu: ~50% azoospermic;</a:t>
                      </a:r>
                      <a:endParaRPr lang="en-US" sz="1500" dirty="0"/>
                    </a:p>
                    <a:p>
                      <a:pPr indent="0" marL="0">
                        <a:buNone/>
                      </a:pPr>
                      <a:r>
                        <a:rPr lang="en-US" sz="1500" dirty="0">
                          <a:solidFill>
                            <a:schemeClr val="tx1"/>
                          </a:solidFill>
                        </a:rPr>
                        <a:t>CY alone: recovery more frequent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Treosulfan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Lower gonadotrophins than Bu;</a:t>
                      </a:r>
                      <a:endParaRPr lang="en-US" sz="1500" dirty="0"/>
                    </a:p>
                    <a:p>
                      <a:pPr indent="0" marL="0">
                        <a:buNone/>
                      </a:pPr>
                      <a:r>
                        <a:rPr lang="en-US" sz="1500" dirty="0">
                          <a:solidFill>
                            <a:schemeClr val="tx1"/>
                          </a:solidFill>
                        </a:rPr>
                        <a:t>no proof of more pregnancies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a:t>
                      </a:r>
                      <a:endParaRPr lang="en-US" sz="1500" dirty="0"/>
                    </a:p>
                    <a:p>
                      <a:pPr indent="0" marL="0">
                        <a:buNone/>
                      </a:pPr>
                      <a:r>
                        <a:rPr lang="en-US" sz="1500" dirty="0">
                          <a:solidFill>
                            <a:schemeClr val="tx1"/>
                          </a:solidFill>
                        </a:rPr>
                        <a:t>(age 10), 14.3 (30), 6 (&gt;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Gy: ~2 years to recover sperm;</a:t>
                      </a:r>
                      <a:endParaRPr lang="en-US" sz="1500" dirty="0"/>
                    </a:p>
                    <a:p>
                      <a:pPr indent="0" marL="0">
                        <a:buNone/>
                      </a:pPr>
                      <a:r>
                        <a:rPr lang="en-US" sz="1500" dirty="0">
                          <a:solidFill>
                            <a:schemeClr val="tx1"/>
                          </a:solidFill>
                        </a:rPr>
                        <a:t>MAC TBI: most azoospermic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Hormones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Premature ovarian failure,</a:t>
                      </a:r>
                      <a:endParaRPr lang="en-US" sz="1500" dirty="0"/>
                    </a:p>
                    <a:p>
                      <a:pPr indent="0" marL="0">
                        <a:buNone/>
                      </a:pPr>
                      <a:r>
                        <a:rPr lang="en-US" sz="1500" dirty="0">
                          <a:solidFill>
                            <a:schemeClr val="tx1"/>
                          </a:solidFill>
                        </a:rPr>
                        <a:t>early menopause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Testosterone usually normal</a:t>
                      </a:r>
                      <a:endParaRPr lang="en-US" sz="1500" dirty="0"/>
                    </a:p>
                    <a:p>
                      <a:pPr indent="0" marL="0">
                        <a:buNone/>
                      </a:pPr>
                      <a:r>
                        <a:rPr lang="en-US" sz="1500" dirty="0">
                          <a:solidFill>
                            <a:schemeClr val="tx1"/>
                          </a:solidFill>
                        </a:rPr>
                        <a:t>(Leydig spared); check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Pregnancy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 or pelvic RT: miscarriage,</a:t>
                      </a:r>
                      <a:endParaRPr lang="en-US" sz="1500" dirty="0"/>
                    </a:p>
                    <a:p>
                      <a:pPr indent="0" marL="0">
                        <a:buNone/>
                      </a:pPr>
                      <a:r>
                        <a:rPr lang="en-US" sz="1500" dirty="0">
                          <a:solidFill>
                            <a:schemeClr val="tx1"/>
                          </a:solidFill>
                        </a:rPr>
                        <a:t>preterm, low birth weight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Both: delay conception ~6 months</a:t>
                      </a:r>
                      <a:endParaRPr lang="en-US" sz="1500" dirty="0"/>
                    </a:p>
                    <a:p>
                      <a:pPr indent="0" marL="0">
                        <a:buNone/>
                      </a:pPr>
                      <a:r>
                        <a:rPr lang="en-US" sz="1500" dirty="0">
                          <a:solidFill>
                            <a:schemeClr val="tx1"/>
                          </a:solidFill>
                        </a:rPr>
                        <a:t>after gonadotoxic therapy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FERTILITY · PRESERVATION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puberty and time available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5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Discuss fertility before any chemoradiotherapy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Postpubertal male</a:t>
            </a:r>
            <a:endParaRPr lang="en-US" sz="1400" dirty="0"/>
          </a:p>
        </p:txBody>
      </p:sp>
      <p:sp>
        <p:nvSpPr>
          <p:cNvPr id="11" name="Box 54"/>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Sperm cryopreservation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TESE if needed; recovery likelier &lt; 25 y</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Prepubertal boy</a:t>
            </a:r>
            <a:endParaRPr lang="en-US" sz="1400" dirty="0"/>
          </a:p>
        </p:txBody>
      </p:sp>
      <p:sp>
        <p:nvSpPr>
          <p:cNvPr id="16" name="Box 5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Testicular tissue cryopreservation</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Experimental: no human live births yet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 woman</a:t>
            </a:r>
            <a:endParaRPr lang="en-US" sz="1400" dirty="0"/>
          </a:p>
        </p:txBody>
      </p:sp>
      <p:sp>
        <p:nvSpPr>
          <p:cNvPr id="21" name="Box 6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Embryo or oocyte cryopreservation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Preferred; needs ≥ 2 weeks stimulation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Girl, or no time</a:t>
            </a:r>
            <a:endParaRPr lang="en-US" sz="1400" dirty="0"/>
          </a:p>
        </p:txBody>
      </p:sp>
      <p:sp>
        <p:nvSpPr>
          <p:cNvPr id="26" name="Box 63"/>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Ovarian tissue cryopreservation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Do not reimplant in leukaemia</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and normal renal function.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17373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136392"/>
            <a:ext cx="10543032" cy="27614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fatigue after the steroid taper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is 14 months after allo-HCT for AML. Prednisolone for skin and liver chronic GVHD was given for 8 months and stopped 3 weeks ago; she still uses a topical steroid. She now has fatigue, nausea, weight loss and BP 92/58 mmHg. Skin and liver findings are unchanged.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Restart prednisolone 1 mg/kg/day for a presumed GVHD flare</a:t>
            </a:r>
            <a:endParaRPr lang="en-US" sz="1800" dirty="0"/>
          </a:p>
          <a:p>
            <a:pPr indent="0" marL="0">
              <a:spcAft>
                <a:spcPts val="800"/>
              </a:spcAft>
              <a:buNone/>
            </a:pPr>
            <a:r>
              <a:rPr lang="en-US" sz="1800" dirty="0">
                <a:solidFill>
                  <a:schemeClr val="tx1"/>
                </a:solidFill>
              </a:rPr>
              <a:t>B.  Paired morning serum cortisol and ACTH</a:t>
            </a:r>
            <a:endParaRPr lang="en-US" sz="1800" dirty="0"/>
          </a:p>
          <a:p>
            <a:pPr indent="0" marL="0">
              <a:spcAft>
                <a:spcPts val="800"/>
              </a:spcAft>
              <a:buNone/>
            </a:pPr>
            <a:r>
              <a:rPr lang="en-US" sz="1800" dirty="0">
                <a:solidFill>
                  <a:schemeClr val="tx1"/>
                </a:solidFill>
              </a:rPr>
              <a:t>C.  Upper endoscopy with biopsies for gastrointestinal GVHD</a:t>
            </a:r>
            <a:endParaRPr lang="en-US" sz="1800" dirty="0"/>
          </a:p>
          <a:p>
            <a:pPr indent="0" marL="0">
              <a:spcAft>
                <a:spcPts val="800"/>
              </a:spcAft>
              <a:buNone/>
            </a:pPr>
            <a:r>
              <a:rPr lang="en-US" sz="1800" dirty="0">
                <a:solidFill>
                  <a:schemeClr val="tx1"/>
                </a:solidFill>
              </a:rPr>
              <a:t>D.  TSH and free T4 only</a:t>
            </a:r>
            <a:endParaRPr lang="en-US" sz="1800" dirty="0"/>
          </a:p>
          <a:p>
            <a:pPr indent="0" marL="0">
              <a:spcAft>
                <a:spcPts val="800"/>
              </a:spcAft>
              <a:buNone/>
            </a:pPr>
            <a:r>
              <a:rPr lang="en-US" sz="1800" dirty="0">
                <a:solidFill>
                  <a:schemeClr val="tx1"/>
                </a:solidFill>
              </a:rPr>
              <a:t>E.  Reassure; steroid-withdrawal symptoms resolve without testing</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suspect central hypoadrenalism and test cortisol with ACTH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Paired morning serum cortisol and ACTH</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Supraphysiological glucocorticoids for ≥ 1 month, by any route including topical, put her at risk of central hypoadrenalism, whose nonspecific symptoms can mimic GVHD. Diagnosis requires paired morning cortisol and ACTH; if inconclusive, involve an endocrinologist. If confirmed: hydrocortisone with stress doses, then regular re-evaluation.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Sureda A, Corbacioglu S, Greco R, Kröger N, Carreras E, editors. The EBMT Handbook: Hematopoietic Cell Transplantation and Cellular Therapies. 8th ed. Cham: Springer; 2024. p. 189–93. https://doi.org/10.1007/978-3-031-44080-9_22</a:t>
            </a:r>
            <a:endParaRPr lang="en-US" sz="1100" dirty="0"/>
          </a:p>
          <a:p>
            <a:pPr indent="0" marL="0">
              <a:spcAft>
                <a:spcPts val="700"/>
              </a:spcAft>
              <a:buNone/>
            </a:pPr>
            <a:r>
              <a:rPr lang="en-US" sz="1100" dirty="0">
                <a:solidFill>
                  <a:schemeClr val="tx1"/>
                </a:solidFill>
              </a:rPr>
              <a:t>2. Angelucci E, Raiola AM. Iron overload. In: Sureda A, Corbacioglu S, Greco R, Kröger N, Carreras E, editors. The EBMT Handbook: Hematopoietic Cell Transplantation and Cellular Therapies. 8th ed. Cham: Springer; 2024. p. 419–23. https://doi.org/10.1007/978-3-031-44080-9_46</a:t>
            </a:r>
            <a:endParaRPr lang="en-US" sz="1100" dirty="0"/>
          </a:p>
          <a:p>
            <a:pPr indent="0" marL="0">
              <a:spcAft>
                <a:spcPts val="700"/>
              </a:spcAft>
              <a:buNone/>
            </a:pPr>
            <a:r>
              <a:rPr lang="en-US" sz="1100" dirty="0">
                <a:solidFill>
                  <a:schemeClr val="tx1"/>
                </a:solidFill>
              </a:rPr>
              <a:t>3. Tichelli A, Rovó A. Secondary neoplasia (other than PTLPS). In: Sureda A, Corbacioglu S, Greco R, Kröger N, Carreras E, editors. The EBMT Handbook: Hematopoietic Cell Transplantation and Cellular Therapies. 8th ed. Cham: Springer; 2024. p. 425–32. https://doi.org/10.1007/978-3-031-44080-9_47</a:t>
            </a:r>
            <a:endParaRPr lang="en-US" sz="1100" dirty="0"/>
          </a:p>
          <a:p>
            <a:pPr indent="0" marL="0">
              <a:spcAft>
                <a:spcPts val="700"/>
              </a:spcAft>
              <a:buNone/>
            </a:pPr>
            <a:r>
              <a:rPr lang="en-US" sz="1100" dirty="0">
                <a:solidFill>
                  <a:schemeClr val="tx1"/>
                </a:solidFill>
              </a:rPr>
              <a:t>4. Galvan ER, Snowden JA, Greenfield DM. Cardiovascular diseases and metabolic syndrome. In: Sureda A, Corbacioglu S, Greco R, Kröger N, Carreras E, editors. The EBMT Handbook: Hematopoietic Cell Transplantation and Cellular Therapies. 8th ed. Cham: Springer; 2024. p. 495–500. https://doi.org/10.1007/978-3-031-44080-9_55</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Salooja N, Rovó A, Dalle JH. Endocrine disorders, fertility, and sexual health. In: Sureda A, Corbacioglu S, Greco R, Kröger N, Carreras E, editors. The EBMT Handbook: Hematopoietic Cell Transplantation and Cellular Therapies. 8th ed. Cham: Springer; 2024. p. 501–9. https://doi.org/10.1007/978-3-031-44080-9_56</a:t>
            </a:r>
            <a:endParaRPr lang="en-US" sz="1100" dirty="0"/>
          </a:p>
          <a:p>
            <a:pPr indent="0" marL="0">
              <a:spcAft>
                <a:spcPts val="700"/>
              </a:spcAft>
              <a:buNone/>
            </a:pPr>
            <a:r>
              <a:rPr lang="en-US" sz="1100" dirty="0">
                <a:solidFill>
                  <a:schemeClr val="tx1"/>
                </a:solidFill>
              </a:rPr>
              <a:t>6. Majhail NS, Rizzo JD, Lee SJ, et al. Recommended screening and preventive practices for long-term survivors after hematopoietic cell transplantation. Biol Blood Marrow Transplant. 2012;18:348–71.</a:t>
            </a:r>
            <a:endParaRPr lang="en-US" sz="1100" dirty="0"/>
          </a:p>
          <a:p>
            <a:pPr indent="0" marL="0">
              <a:spcAft>
                <a:spcPts val="700"/>
              </a:spcAft>
              <a:buNone/>
            </a:pPr>
            <a:r>
              <a:rPr lang="en-US" sz="1100" dirty="0">
                <a:solidFill>
                  <a:schemeClr val="tx1"/>
                </a:solidFill>
              </a:rPr>
              <a:t>7.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9. Greenfield DM, Salooja N, Peczynski C, et al. Metabolic syndrome and cardiovascular disease after hematopoietic stem cell transplantation (HCT) in adults: an EBMT, cross-sectional non-interventional stud. Bone Marrow Transplant. 2021;56:2820–5.</a:t>
            </a:r>
            <a:endParaRPr lang="en-US" sz="1100" dirty="0"/>
          </a:p>
          <a:p>
            <a:pPr indent="0" marL="0">
              <a:spcAft>
                <a:spcPts val="700"/>
              </a:spcAft>
              <a:buNone/>
            </a:pPr>
            <a:r>
              <a:rPr lang="en-US" sz="1100" dirty="0">
                <a:solidFill>
                  <a:schemeClr val="tx1"/>
                </a:solidFill>
              </a:rPr>
              <a:t>10. Tichelli A, Bucher C, Rovo A, et al. Premature cardiovascular disease after allogeneic hematopoietic stem-cell transplantation. Blood. 2007a;110:3463–71.</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DeFilipp Z, Duarte RF, Snowden JA, et al. Complications and quality of life working party, metabolic syndrome and cardiovascular disease following hematopoietic cell transplantation: screening and preventive practice recommendations from CIBMTR and EBMT. Bone Marrow Transplant. 2017;52:173–82.</a:t>
            </a:r>
            <a:endParaRPr lang="en-US" sz="1100" dirty="0"/>
          </a:p>
          <a:p>
            <a:pPr indent="0" marL="0">
              <a:spcAft>
                <a:spcPts val="700"/>
              </a:spcAft>
              <a:buNone/>
            </a:pPr>
            <a:r>
              <a:rPr lang="en-US" sz="1100" dirty="0">
                <a:solidFill>
                  <a:schemeClr val="tx1"/>
                </a:solidFill>
              </a:rPr>
              <a:t>12. Wallace WH, Thomson AB, Saran F, Kelsey TW. Predicting age of ovarian failure after radiation to a field that includes the ovaries. Int J Radiat Oncol Biol Phys. 2003b;62:738–44.</a:t>
            </a:r>
            <a:endParaRPr lang="en-US" sz="1100" dirty="0"/>
          </a:p>
          <a:p>
            <a:pPr indent="0" marL="0">
              <a:spcAft>
                <a:spcPts val="700"/>
              </a:spcAft>
              <a:buNone/>
            </a:pPr>
            <a:r>
              <a:rPr lang="en-US" sz="1100" dirty="0">
                <a:solidFill>
                  <a:schemeClr val="tx1"/>
                </a:solidFill>
              </a:rPr>
              <a:t>13. Syrjala KL, Schoemans H, Yi JC, Langer SL, Mukherjee A, Onstad L, et al. Sexual functioning in long-term survivors of hematopoietic cell transplantation. Transplant Cell Ther. 2021;27:80.e1–80.e12.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8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Parenteral; 30 min;</a:t>
                      </a:r>
                      <a:endParaRPr lang="en-US" sz="1800" dirty="0"/>
                    </a:p>
                    <a:p>
                      <a:pPr indent="0" marL="0">
                        <a:buNone/>
                      </a:pPr>
                      <a:r>
                        <a:rPr lang="en-US" sz="1800" dirty="0">
                          <a:solidFill>
                            <a:schemeClr val="tx1"/>
                          </a:solidFill>
                        </a:rPr>
                        <a:t>continuous SC or IV infusion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SECOND CANCERS · OUTCOME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 solid cancer outcome depends mainly on the cancer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82"/>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Favourable</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83"/>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Thyroid</a:t>
            </a:r>
            <a:endParaRPr lang="en-US" sz="1600" dirty="0"/>
          </a:p>
          <a:p>
            <a:pPr marL="342900" indent="-342900">
              <a:spcAft>
                <a:spcPts val="800"/>
              </a:spcAft>
              <a:buSzPct val="100000"/>
              <a:buChar char="•"/>
            </a:pPr>
            <a:r>
              <a:rPr lang="en-US" sz="1600" dirty="0">
                <a:solidFill>
                  <a:schemeClr val="tx1"/>
                </a:solidFill>
              </a:rPr>
              <a:t>Breast</a:t>
            </a:r>
            <a:endParaRPr lang="en-US" sz="1600" dirty="0"/>
          </a:p>
          <a:p>
            <a:pPr marL="342900" indent="-342900">
              <a:spcAft>
                <a:spcPts val="800"/>
              </a:spcAft>
              <a:buSzPct val="100000"/>
              <a:buChar char="•"/>
            </a:pPr>
            <a:r>
              <a:rPr lang="en-US" sz="1600" dirty="0">
                <a:solidFill>
                  <a:schemeClr val="tx1"/>
                </a:solidFill>
              </a:rPr>
              <a:t>Prostate</a:t>
            </a:r>
            <a:endParaRPr lang="en-US" sz="1600" dirty="0"/>
          </a:p>
          <a:p>
            <a:pPr marL="342900" indent="-342900">
              <a:spcAft>
                <a:spcPts val="800"/>
              </a:spcAft>
              <a:buSzPct val="100000"/>
              <a:buChar char="•"/>
            </a:pPr>
            <a:r>
              <a:rPr lang="en-US" sz="1600" dirty="0">
                <a:solidFill>
                  <a:schemeClr val="tx1"/>
                </a:solidFill>
              </a:rPr>
              <a:t>Melanoma</a:t>
            </a:r>
            <a:endParaRPr lang="en-US" sz="1600" dirty="0"/>
          </a:p>
          <a:p>
            <a:pPr marL="342900" indent="-342900">
              <a:spcAft>
                <a:spcPts val="800"/>
              </a:spcAft>
              <a:buSzPct val="100000"/>
              <a:buChar char="•"/>
            </a:pPr>
            <a:r>
              <a:rPr lang="en-US" sz="1600" dirty="0">
                <a:solidFill>
                  <a:schemeClr val="tx1"/>
                </a:solidFill>
              </a:rPr>
              <a:t>Cervix</a:t>
            </a:r>
            <a:endParaRPr lang="en-US" sz="1600" dirty="0"/>
          </a:p>
        </p:txBody>
      </p:sp>
      <p:sp>
        <p:nvSpPr>
          <p:cNvPr id="9" name="Text 84"/>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Intermediate</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85"/>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Oropharyngeal</a:t>
            </a:r>
            <a:endParaRPr lang="en-US" sz="1600" dirty="0"/>
          </a:p>
          <a:p>
            <a:pPr marL="342900" indent="-342900">
              <a:spcAft>
                <a:spcPts val="800"/>
              </a:spcAft>
              <a:buSzPct val="100000"/>
              <a:buChar char="•"/>
            </a:pPr>
            <a:r>
              <a:rPr lang="en-US" sz="1600" dirty="0">
                <a:solidFill>
                  <a:schemeClr val="tx1"/>
                </a:solidFill>
              </a:rPr>
              <a:t>Colorectal, bladder</a:t>
            </a:r>
            <a:endParaRPr lang="en-US" sz="1600" dirty="0"/>
          </a:p>
          <a:p>
            <a:pPr marL="342900" indent="-342900">
              <a:spcAft>
                <a:spcPts val="800"/>
              </a:spcAft>
              <a:buSzPct val="100000"/>
              <a:buChar char="•"/>
            </a:pPr>
            <a:r>
              <a:rPr lang="en-US" sz="1600" dirty="0">
                <a:solidFill>
                  <a:schemeClr val="tx1"/>
                </a:solidFill>
              </a:rPr>
              <a:t>Renal</a:t>
            </a:r>
            <a:endParaRPr lang="en-US" sz="1600" dirty="0"/>
          </a:p>
          <a:p>
            <a:pPr marL="342900" indent="-342900">
              <a:spcAft>
                <a:spcPts val="800"/>
              </a:spcAft>
              <a:buSzPct val="100000"/>
              <a:buChar char="•"/>
            </a:pPr>
            <a:r>
              <a:rPr lang="en-US" sz="1600" dirty="0">
                <a:solidFill>
                  <a:schemeClr val="tx1"/>
                </a:solidFill>
              </a:rPr>
              <a:t>Ovarian</a:t>
            </a:r>
            <a:endParaRPr lang="en-US" sz="1600" dirty="0"/>
          </a:p>
          <a:p>
            <a:pPr marL="342900" indent="-342900">
              <a:spcAft>
                <a:spcPts val="800"/>
              </a:spcAft>
              <a:buSzPct val="100000"/>
              <a:buChar char="•"/>
            </a:pPr>
            <a:r>
              <a:rPr lang="en-US" sz="1600" dirty="0">
                <a:solidFill>
                  <a:schemeClr val="tx1"/>
                </a:solidFill>
              </a:rPr>
              <a:t>Endometrial</a:t>
            </a:r>
            <a:endParaRPr lang="en-US" sz="1600" dirty="0"/>
          </a:p>
        </p:txBody>
      </p:sp>
      <p:sp>
        <p:nvSpPr>
          <p:cNvPr id="12" name="Text 86"/>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Poor</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87"/>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Pancreas</a:t>
            </a:r>
            <a:endParaRPr lang="en-US" sz="1600" dirty="0"/>
          </a:p>
          <a:p>
            <a:pPr marL="342900" indent="-342900">
              <a:spcAft>
                <a:spcPts val="800"/>
              </a:spcAft>
              <a:buSzPct val="100000"/>
              <a:buChar char="•"/>
            </a:pPr>
            <a:r>
              <a:rPr lang="en-US" sz="1600" dirty="0">
                <a:solidFill>
                  <a:schemeClr val="tx1"/>
                </a:solidFill>
              </a:rPr>
              <a:t>Lung</a:t>
            </a:r>
            <a:endParaRPr lang="en-US" sz="1600" dirty="0"/>
          </a:p>
          <a:p>
            <a:pPr marL="342900" indent="-342900">
              <a:spcAft>
                <a:spcPts val="800"/>
              </a:spcAft>
              <a:buSzPct val="100000"/>
              <a:buChar char="•"/>
            </a:pPr>
            <a:r>
              <a:rPr lang="en-US" sz="1600" dirty="0">
                <a:solidFill>
                  <a:schemeClr val="tx1"/>
                </a:solidFill>
              </a:rPr>
              <a:t>Brain</a:t>
            </a:r>
            <a:endParaRPr lang="en-US" sz="1600" dirty="0"/>
          </a:p>
          <a:p>
            <a:pPr marL="342900" indent="-342900">
              <a:spcAft>
                <a:spcPts val="800"/>
              </a:spcAft>
              <a:buSzPct val="100000"/>
              <a:buChar char="•"/>
            </a:pPr>
            <a:r>
              <a:rPr lang="en-US" sz="1600" dirty="0">
                <a:solidFill>
                  <a:schemeClr val="tx1"/>
                </a:solidFill>
              </a:rPr>
              <a:t>Hepatobiliary</a:t>
            </a:r>
            <a:endParaRPr lang="en-US" sz="1600" dirty="0"/>
          </a:p>
          <a:p>
            <a:pPr marL="342900" indent="-342900">
              <a:spcAft>
                <a:spcPts val="800"/>
              </a:spcAft>
              <a:buSzPct val="100000"/>
              <a:buChar char="•"/>
            </a:pPr>
            <a:r>
              <a:rPr lang="en-US" sz="1600" dirty="0">
                <a:solidFill>
                  <a:schemeClr val="tx1"/>
                </a:solidFill>
              </a:rPr>
              <a:t>Oesophageal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CARDIOMETABOLIC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survivors are screened more often than the general population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28"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01952"/>
                <a:gridCol w="2944368"/>
                <a:gridCol w="3026664"/>
                <a:gridCol w="2944368"/>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General adults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Adult HCT survivors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Paediatric HCT survivors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Weight, BMI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adults; no interval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specific recommendation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Lipids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20 y if at increased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5 y: men ≥ 35, women ≥ 45;</a:t>
                      </a:r>
                      <a:endParaRPr lang="en-US" sz="1500" dirty="0"/>
                    </a:p>
                    <a:p>
                      <a:pPr indent="0" marL="0">
                        <a:buNone/>
                      </a:pPr>
                      <a:r>
                        <a:rPr lang="en-US" sz="1500" dirty="0">
                          <a:solidFill>
                            <a:schemeClr val="tx1"/>
                          </a:solidFill>
                        </a:rPr>
                        <a:t>from 20 y if at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least every 5 y;</a:t>
                      </a:r>
                      <a:endParaRPr lang="en-US" sz="1500" dirty="0"/>
                    </a:p>
                    <a:p>
                      <a:pPr indent="0" marL="0">
                        <a:buNone/>
                      </a:pPr>
                      <a:r>
                        <a:rPr lang="en-US" sz="1500" dirty="0">
                          <a:solidFill>
                            <a:schemeClr val="tx1"/>
                          </a:solidFill>
                        </a:rPr>
                        <a:t>yearly if abnormal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pressure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3–5 y at 18–39 if normal;</a:t>
                      </a:r>
                      <a:endParaRPr lang="en-US" sz="1500" dirty="0"/>
                    </a:p>
                    <a:p>
                      <a:pPr indent="0" marL="0">
                        <a:buNone/>
                      </a:pPr>
                      <a:r>
                        <a:rPr lang="en-US" sz="1500" dirty="0">
                          <a:solidFill>
                            <a:schemeClr val="tx1"/>
                          </a:solidFill>
                        </a:rPr>
                        <a:t>yearly from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least every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Each visit, at least</a:t>
                      </a:r>
                      <a:endParaRPr lang="en-US" sz="1500" dirty="0"/>
                    </a:p>
                    <a:p>
                      <a:pPr indent="0" marL="0">
                        <a:buNone/>
                      </a:pPr>
                      <a:r>
                        <a:rPr lang="en-US" sz="1500" dirty="0">
                          <a:solidFill>
                            <a:schemeClr val="tx1"/>
                          </a:solidFill>
                        </a:rPr>
                        <a:t>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Glucose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at 40–70 if</a:t>
                      </a:r>
                      <a:endParaRPr lang="en-US" sz="1500" dirty="0"/>
                    </a:p>
                    <a:p>
                      <a:pPr indent="0" marL="0">
                        <a:buNone/>
                      </a:pPr>
                      <a:r>
                        <a:rPr lang="en-US" sz="1500" dirty="0">
                          <a:solidFill>
                            <a:schemeClr val="tx1"/>
                          </a:solidFill>
                        </a:rPr>
                        <a:t>overweight or obese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if ≥ 45 y or</a:t>
                      </a:r>
                      <a:endParaRPr lang="en-US" sz="1500" dirty="0"/>
                    </a:p>
                    <a:p>
                      <a:pPr indent="0" marL="0">
                        <a:buNone/>
                      </a:pPr>
                      <a:r>
                        <a:rPr lang="en-US" sz="1500" dirty="0">
                          <a:solidFill>
                            <a:schemeClr val="tx1"/>
                          </a:solidFill>
                        </a:rPr>
                        <a:t>BP &gt; 135/80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Fasting glucose at least</a:t>
                      </a:r>
                      <a:endParaRPr lang="en-US" sz="1500" dirty="0"/>
                    </a:p>
                    <a:p>
                      <a:pPr indent="0" marL="0">
                        <a:buNone/>
                      </a:pPr>
                      <a:r>
                        <a:rPr lang="en-US" sz="1500" dirty="0">
                          <a:solidFill>
                            <a:schemeClr val="tx1"/>
                          </a:solidFill>
                        </a:rPr>
                        <a:t>every 5 y; yearly if abnormal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55.2 (DeFilipp 2017): consensus opinion without outcome evidence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SEXUAL HEALTH · APPROACH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Sexual dysfunction is common and should be asked about routinely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9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Ask at 6 months, 1 year, then yearly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91"/>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Two screening questions (Syrjala 2021)</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9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Treat medical causes: hormones, ED, GVHD</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9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Individual or couple counselling</a:t>
            </a:r>
            <a:endParaRPr lang="en-US" sz="1700" dirty="0"/>
          </a:p>
        </p:txBody>
      </p:sp>
      <p:sp>
        <p:nvSpPr>
          <p:cNvPr id="13" name="Text 9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1742 survivors, mean 11.9 years: 40% of women and 27% of men sexually inactive; low function in 64% of active women and 32% of men.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and late effects</dc:title>
  <dc:subject>PptxGenJS Presentation</dc:subject>
  <dc:creator>Hsieh-Ting Lin, MD</dc:creator>
  <cp:lastModifiedBy>Hsieh-Ting Lin, MD</cp:lastModifiedBy>
  <cp:revision>1</cp:revision>
  <dcterms:created xsi:type="dcterms:W3CDTF">2026-10-09T16:09:36Z</dcterms:created>
  <dcterms:modified xsi:type="dcterms:W3CDTF">2026-10-09T16:09:36Z</dcterms:modified>
</cp:coreProperties>
</file>