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cf01893-834e-aab1-fc21-f7cedd8463d7}">
          <p14:sldIdLst>
            <p14:sldId id="256"/>
            <p14:sldId id="257"/>
          </p14:sldIdLst>
        </p14:section>
        <p14:section name="Follow-up framework" id="{5a396199-593c-4322-e132-dcfbf7e50abc}">
          <p14:sldIdLst>
            <p14:sldId id="258"/>
            <p14:sldId id="259"/>
          </p14:sldIdLst>
        </p14:section>
        <p14:section name="Iron overload" id="{c7246153-e45c-a53f-95fe-d58b1c0d5de0}">
          <p14:sldIdLst>
            <p14:sldId id="260"/>
            <p14:sldId id="261"/>
            <p14:sldId id="262"/>
          </p14:sldIdLst>
        </p14:section>
        <p14:section name="Secondary neoplasia" id="{b8aa829a-e17d-4aab-1ae9-3e14af048604}">
          <p14:sldIdLst>
            <p14:sldId id="263"/>
            <p14:sldId id="264"/>
            <p14:sldId id="265"/>
            <p14:sldId id="266"/>
          </p14:sldIdLst>
        </p14:section>
        <p14:section name="Cardiometabolic disease" id="{dde81a40-bfff-6eb2-7c0d-b8f707367428}">
          <p14:sldIdLst>
            <p14:sldId id="267"/>
            <p14:sldId id="268"/>
          </p14:sldIdLst>
        </p14:section>
        <p14:section name="Endocrine and fertility" id="{d906355c-0cde-543a-96bd-355c34dddee6}">
          <p14:sldIdLst>
            <p14:sldId id="269"/>
            <p14:sldId id="270"/>
            <p14:sldId id="271"/>
          </p14:sldIdLst>
        </p14:section>
        <p14:section name="Board questions" id="{7104862d-9856-02ee-a79c-d93b8d071b46}">
          <p14:sldIdLst>
            <p14:sldId id="272"/>
            <p14:sldId id="273"/>
            <p14:sldId id="274"/>
            <p14:sldId id="275"/>
            <p14:sldId id="276"/>
            <p14:sldId id="277"/>
          </p14:sldIdLst>
        </p14:section>
        <p14:section name="References" id="{8854c332-84b3-b5d6-dc2c-c553ebcf30b4}">
          <p14:sldIdLst>
            <p14:sldId id="278"/>
            <p14:sldId id="279"/>
          </p14:sldIdLst>
        </p14:section>
        <p14:section name="Backup" id="{2daef122-0a7d-f76a-098b-7dd528221782}">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各位早安，今天是第 18 堂，主題是移植後的長期追蹤和 late effects。內容來自五個章節，Ch. 22 的追蹤時程，Ch. 46 的 iron overload，Ch. 47 的 secondary neoplasia，還有 Ch. 55 和 56 的心血管、代謝、內分泌與生育。疫苗在第 17 堂已經講過，今天不重複，最後一樣用三題收尾。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今天分四段。第一段是追蹤的骨架，Ch. 22 規定出院後多久回診、每個器官在六個月、一年和之後每年要查什麼。</a:t>
            </a:r>
          </a:p>
          <a:p>
            <a:pPr>
              <a:spcAft>
                <a:spcPts val="600"/>
              </a:spcAft>
            </a:pPr>
            <a:r>
              <a:rPr lang="en-US" dirty="0"/>
              <a:t>第二段是 iron overload，重點是 transferrin saturation 70% 這個門檻，以及移植前、中、後三個階段的不同處理。第三段最長，談三種 secondary neoplasm、Table 47.1 的數字和 Table 47.2 的篩檢規則。</a:t>
            </a:r>
          </a:p>
          <a:p>
            <a:pPr>
              <a:spcAft>
                <a:spcPts val="600"/>
              </a:spcAft>
            </a:pPr>
            <a:r>
              <a:rPr lang="en-US" dirty="0"/>
              <a:t>最後一段把 Ch. 55 和 56 拆成五張，代謝症候群的定義、心血管危險因子、甲狀腺和腎上腺、性腺功能，以及 fertility preservation，接著是三題練習。這一堂的考點多半是具體的門檻和時間點，聽的時候可以把數字記下來。</a:t>
            </a:r>
          </a:p>
          <a:p>
            <a:pPr>
              <a:spcAft>
                <a:spcPts val="600"/>
              </a:spcAft>
            </a:pPr>
            <a:r>
              <a:rPr lang="en-US" dirty="0"/>
              <a:t>Ch. 22 的表會一路串起後面各章，ferritin 接 Ch. 46，第二癌接 Ch. 47，代謝和內分泌接 Ch. 55、56。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這張是 Ch. 22 的追蹤時程，左邊 allo，右邊 auto。Allo-HCT 的病人，建議前三到六個月住在移植中心附近。第一個月每週回診，到第三個月每兩週一次，之後每月一次，持續到六到十二個月。每次看診都要特別注意 acute GVHD、感染和肺部併發症。</a:t>
            </a:r>
          </a:p>
          <a:p>
            <a:pPr>
              <a:spcAft>
                <a:spcPts val="600"/>
              </a:spcAft>
            </a:pPr>
            <a:r>
              <a:rPr lang="en-US" dirty="0"/>
              <a:t>這段期間的抽血包括 CBC、肝腎功能、Mg、免疫抑制劑濃度和 CMV PCR，用過 ATG 的人加驗 EBV。Chimerism 在第一和第二個月各做一次，原本骨髓有侵犯的疾病，大約一個月時做骨髓。</a:t>
            </a:r>
          </a:p>
          <a:p>
            <a:pPr>
              <a:spcAft>
                <a:spcPts val="600"/>
              </a:spcAft>
            </a:pPr>
            <a:r>
              <a:rPr lang="en-US" dirty="0"/>
              <a:t>三個月是轉折點，沒有大問題的病人可以交回原本的醫師，但仍要定期回移植中心，第一年每三到四個月，第二年每四到六個月。沒有併發症的話，每六個月一次到第三年，之後每年。十七歲以下的孩子每三個月量身高體重。</a:t>
            </a:r>
          </a:p>
          <a:p>
            <a:pPr>
              <a:spcAft>
                <a:spcPts val="600"/>
              </a:spcAft>
            </a:pPr>
            <a:r>
              <a:rPr lang="en-US" dirty="0"/>
              <a:t>Auto-HCT 在三個月時重新評估疾病，包括 MRD 和影像，NHL、HL 這類原本骨髓有侵犯的做骨髓切片。之後每六個月到第二年，然後每年，復發至少追五年。接受過化療加放療的病人，不論 auto 或 allo，都要把第二癌和 MDS 列入長期追蹤。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3:00 至 5:00]</a:t>
            </a:r>
          </a:p>
          <a:p>
            <a:pPr>
              <a:spcAft>
                <a:spcPts val="600"/>
              </a:spcAft>
            </a:pPr>
            <a:r>
              <a:rPr lang="en-US" dirty="0"/>
              <a:t>Table 22.1 把長期追蹤按器官排開，改編自 Majhail 2012。原表用三個符號，1 是所有病人都做，2 是只針對仍有 chronic GVHD 或還在用免疫抑制的人，加號是前一次異常或出現新症狀才重做。表的註腳寫明，有 chronic GVHD 的人，所有項目都要加密。</a:t>
            </a:r>
          </a:p>
          <a:p>
            <a:pPr>
              <a:spcAft>
                <a:spcPts val="600"/>
              </a:spcAft>
            </a:pPr>
            <a:r>
              <a:rPr lang="en-US" dirty="0"/>
              <a:t>口腔有 chronic GVHD 的人，squamous cell cancer 風險高，每六個月檢查一次。肺有 chronic GVHD 時，很多作者建議每次回診都做 spirometry。Ferritin 在一年時驗，偏高就安排 MRI 或 FerriScan，這會接到下一段的 iron overload。腎臟每次都量血壓、驗尿蛋白和 BUN/creatinine，高血壓要找原因，也要避開腎毒性藥物。</a:t>
            </a:r>
          </a:p>
          <a:p>
            <a:pPr>
              <a:spcAft>
                <a:spcPts val="600"/>
              </a:spcAft>
            </a:pPr>
            <a:r>
              <a:rPr lang="en-US" dirty="0"/>
              <a:t>Bone density 在一年時做，對象是成年女性、所有 allo-HCT 和骨質流失高風險的人，用運動、vitamin D 和鈣預防骨折。甲狀腺從一年開始每年驗，女性每年做婦科檢查。PJP 和莢膜菌的預防在 chronic GVHD 或免疫抑制期間持續，疫苗的細節在第 17 堂。</a:t>
            </a:r>
          </a:p>
          <a:p>
            <a:pPr>
              <a:spcAft>
                <a:spcPts val="600"/>
              </a:spcAft>
            </a:pPr>
            <a:r>
              <a:rPr lang="en-US" dirty="0"/>
              <a:t>第二癌從一年開始衛教和自我檢查，做過 TBI 的人 mammography 要更頻繁。眼睛的部分，每次都問症狀，一年時做視力和眼底，特別注意 sicca。表上最後還有心理社會、生活品質和性功能，六個月、一年、之後每年都要評估。</a:t>
            </a:r>
          </a:p>
          <a:p>
            <a:pPr>
              <a:spcAft>
                <a:spcPts val="600"/>
              </a:spcAft>
            </a:pPr>
            <a:r>
              <a:rPr lang="en-US" dirty="0"/>
              <a:t>肌肉和結締組織也在表上，有 chronic GVHD 風險的人要測關節活動度、摸皮膚找硬化。這張表的用法，是把它當成每年門診的 checklist，一列一列打勾，比靠記憶可靠。</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5:00 至 6:30]</a:t>
            </a:r>
          </a:p>
          <a:p>
            <a:pPr>
              <a:spcAft>
                <a:spcPts val="600"/>
              </a:spcAft>
            </a:pPr>
            <a:r>
              <a:rPr lang="en-US" dirty="0"/>
              <a:t>Iron overload 的傷害不只看鐵有多少。真正有毒的是沒有和 transferrin 結合的 NTBI，其中的 labile plasma iron，也就是 LPI，會不受控制地進入細胞，產生 reactive oxygen species，傷害 DNA、脂質、蛋白和粒線體。毒性還取決於暴露時間、個人的抗氧化基因和環境因素，書上強調最重要的是暴露時間。</a:t>
            </a:r>
          </a:p>
          <a:p>
            <a:pPr>
              <a:spcAft>
                <a:spcPts val="600"/>
              </a:spcAft>
            </a:pPr>
            <a:r>
              <a:rPr lang="en-US" dirty="0"/>
              <a:t>NTBI 和 LPI 只在 transferrin saturation 超過 70% 時出現，可是目前只有研究實驗室能測。所以臨床上用 transferrin saturation 當替代指標，超過 70% 就表示血清中有毒性鐵。70% 這個數字是本章最常被考的門檻。</a:t>
            </a:r>
          </a:p>
          <a:p>
            <a:pPr>
              <a:spcAft>
                <a:spcPts val="600"/>
              </a:spcAft>
            </a:pPr>
            <a:r>
              <a:rPr lang="en-US" dirty="0"/>
              <a:t>Ferritin 便宜、可看趨勢，和總鐵量與預後相關。缺點是發炎、感染、肝病都會讓它升高，鐵量很高時也不再呈線性，而且 ferritin 沒下降不代表 chelation 無效。</a:t>
            </a:r>
          </a:p>
          <a:p>
            <a:pPr>
              <a:spcAft>
                <a:spcPts val="600"/>
              </a:spcAft>
            </a:pPr>
            <a:r>
              <a:rPr lang="en-US" dirty="0"/>
              <a:t>Liver biopsy 仍是 liver iron concentration 的 gold standard，但樣本至少要 1 mg dry weight，不適合重複追蹤。MRI T2 或 T2* 是目前的 standard of care，非侵入、可重複，但每個器官要各自校正，體內有金屬植入物的人不能做。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書上把鐵的影響分成移植前、中、後三段。移植前的關鍵是預防組織傷害。Thalassemia 的資料最清楚，不規則的 chelation、肝纖維化和肝腫大會影響移植結果，三者都反映毒性鐵暴露的強度和時間。這些病人各風險組的 GVHD 發生率沒有差別，可是高風險組 grade III 到 IV GVHD 的存活差很多。GITMO 在 MDS 和 acute leukemia 的研究中，輸血負擔只影響 myeloablative 的病人，RIC 沒有影響。</a:t>
            </a:r>
          </a:p>
          <a:p>
            <a:pPr>
              <a:spcAft>
                <a:spcPts val="600"/>
              </a:spcAft>
            </a:pPr>
            <a:r>
              <a:rPr lang="en-US" dirty="0"/>
              <a:t>所以任何正在輸血、將來可能移植的病人，chelation 要盡早開始、長期規則使用。反過來，移植前短期密集 chelation 的根據有限，除非有足夠時間讓組織修復，大概只適用於年輕病人。</a:t>
            </a:r>
          </a:p>
          <a:p>
            <a:pPr>
              <a:spcAft>
                <a:spcPts val="600"/>
              </a:spcAft>
            </a:pPr>
            <a:r>
              <a:rPr lang="en-US" dirty="0"/>
              <a:t>Conditioning 時紅血球系大量破壞，NTBI 和 LPI 湧入血液。等紅血球系恢復、transferrin 重新空出來，三到四週內自然清掉，除非本來就有 iron overload。動物實驗顯示毒性鐵會傷害造血 niche，所以移植期間的 chelation 屬於實驗性，只有骨髓恢復慢、transferrin saturation 又高時才考慮。</a:t>
            </a:r>
          </a:p>
          <a:p>
            <a:pPr>
              <a:spcAft>
                <a:spcPts val="600"/>
              </a:spcAft>
            </a:pPr>
            <a:r>
              <a:rPr lang="en-US" dirty="0"/>
              <a:t>Engraftment 之後不再輸血，但累積的鐵不會自己離開，下一張談怎麼移除。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Angelucci 在 thalassemia 移植後病人的前瞻性資料顯示，不治療的話 transferrin saturation 會無限期維持在高點，即使沒有其他共病，肝病也會持續進展。所以移植後的目標是正常鐵量，更精確地說是正常的 transferrin saturation，確保血中沒有毒性鐵。</a:t>
            </a:r>
          </a:p>
          <a:p>
            <a:pPr>
              <a:spcAft>
                <a:spcPts val="600"/>
              </a:spcAft>
            </a:pPr>
            <a:r>
              <a:rPr lang="en-US" dirty="0"/>
              <a:t>移植後造血有效，phlebotomy 就可以取代 chelation。書上的做法是每 14 天抽 6 mL/kg，來自 Angelucci 1997。Phlebotomy 有效、安全、便宜，能把鐵完全移除。缺點是需要穩定的 engraftment，移植早期不能用，病人要常回醫院，對 NTBI 的立即效果也還沒證實。</a:t>
            </a:r>
          </a:p>
          <a:p>
            <a:pPr>
              <a:spcAft>
                <a:spcPts val="600"/>
              </a:spcAft>
            </a:pPr>
            <a:r>
              <a:rPr lang="en-US" dirty="0"/>
              <a:t>Chelation 一樣有效安全，對 NTBI 和 LPI 有立即作用，在家吃藥就好。要注意和 cyclosporine 併用的腎毒性，以及鐵量不高時毒性可能增加。Deferiprone 有 agranulocytosis 的報告，在造血幹細胞疾病通常不用，三種 chelator 的比較放在 backup。</a:t>
            </a:r>
          </a:p>
          <a:p>
            <a:pPr>
              <a:spcAft>
                <a:spcPts val="600"/>
              </a:spcAft>
            </a:pPr>
            <a:r>
              <a:rPr lang="en-US" dirty="0"/>
              <a:t>門診常見的情境，是移植後不再輸血、ferritin 還很高的 thalassemia 病人，正確做法是主動去鐵，終點看 transferrin saturation 回到正常。</a:t>
            </a:r>
          </a:p>
          <a:p>
            <a:pPr>
              <a:spcAft>
                <a:spcPts val="600"/>
              </a:spcAft>
            </a:pPr>
            <a:r>
              <a:rPr lang="en-US" b="1" dirty="0"/>
              <a:t>講者提醒（不念出來）：</a:t>
            </a:r>
          </a:p>
          <a:p>
            <a:pPr>
              <a:spcAft>
                <a:spcPts val="600"/>
              </a:spcAft>
            </a:pPr>
            <a:r>
              <a:rPr lang="en-US" dirty="0"/>
              <a:t>- Ch. 46 text calls the 6 mL/kg every 14 days schedule the 'standard chelation program'; from context and the cited paper (Angelucci 1997a) it is the phlebotomy programme.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9:30 至 11:30]</a:t>
            </a:r>
          </a:p>
          <a:p>
            <a:pPr>
              <a:spcAft>
                <a:spcPts val="600"/>
              </a:spcAft>
            </a:pPr>
            <a:r>
              <a:rPr lang="en-US" dirty="0"/>
              <a:t>Secondary neoplasm 指移植後發生的任何惡性疾病，不論和移植是否相關，PTLD 另外在第 12 堂討論。書上分三種。</a:t>
            </a:r>
          </a:p>
          <a:p>
            <a:pPr>
              <a:spcAft>
                <a:spcPts val="600"/>
              </a:spcAft>
            </a:pPr>
            <a:r>
              <a:rPr lang="en-US" dirty="0"/>
              <a:t>Therapy-related myeloid neoplasm 主要在 auto-HCT 之後，大多在十年內，和移植前或 conditioning 的 alkylating agents、anthracyclines、topoisomerase II inhibitors 以及 TBI 有關。Lymphoma 做 auto 之後最多，報告從兩年 1% 到 43 個月 24% 都有，因為這群人移植前化療最多。Myeloma 用 lenalidomide，包括移植後維持，也會增加 t-MN。冷凍細胞裡就有 clonal hematopoiesis 的人，風險也較高。預後很差，中位存活六個月，治療比照 de novo，及早找 donor 做 allo-HCT，這是唯一能治癒的方法。</a:t>
            </a:r>
          </a:p>
          <a:p>
            <a:pPr>
              <a:spcAft>
                <a:spcPts val="600"/>
              </a:spcAft>
            </a:pPr>
            <a:r>
              <a:rPr lang="en-US" dirty="0"/>
              <a:t>Donor-derived malignancy 只發生在 allo-HCT，15 年累積不到 1%，卻可能占移植後 leukemia「復發」的 5%。所以移植後復發，要對惡性細胞做 chimerism，分清是 donor 還是 recipient 來源。超過 20% 的 donor-derived myeloid neoplasm 帶第七號染色體異常。</a:t>
            </a:r>
          </a:p>
          <a:p>
            <a:pPr>
              <a:spcAft>
                <a:spcPts val="600"/>
              </a:spcAft>
            </a:pPr>
            <a:r>
              <a:rPr lang="en-US" dirty="0"/>
              <a:t>DDM 的危險因子書上列了四個可能，移植物裡本來就有惡性 donor clone、G-CSF、in vivo T-cell depletion 和多次移植。機轉包括 donor 的 germline 或 somatic mutation、骨髓微環境受損，以及移植後快速擴增的壓力。Donor 帶 clonal hematopoiesis 要不要排除，書上認為仍有爭議。t-MN 方面，15 到 20% 帶 germline 癌症易感性，化療造成的 CHIP 常是多重打擊的第一步。</a:t>
            </a:r>
          </a:p>
          <a:p>
            <a:pPr>
              <a:spcAft>
                <a:spcPts val="600"/>
              </a:spcAft>
            </a:pPr>
            <a:r>
              <a:rPr lang="en-US" dirty="0"/>
              <a:t>Second solid neoplasm 在 auto 和 allo 都會出現，追得越久越多，十年 2.2%、十五年 6.7%，預後主要看癌別。PTCy 目前看起來不增加 t-MN，移植後 maintenance 會不會增加，書上說還不知道。</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Second solid cancer 依 Rizzo 2009 分成三類，機轉不同，出現的時間也不同。</a:t>
            </a:r>
          </a:p>
          <a:p>
            <a:pPr>
              <a:spcAft>
                <a:spcPts val="600"/>
              </a:spcAft>
            </a:pPr>
            <a:r>
              <a:rPr lang="en-US" dirty="0"/>
              <a:t>左邊和放射線有關，已證實的是甲狀腺、乳癌和腦瘤。潛伏期長，放射後十年以上才出現，而且和劑量相關。</a:t>
            </a:r>
          </a:p>
          <a:p>
            <a:pPr>
              <a:spcAft>
                <a:spcPts val="600"/>
              </a:spcAft>
            </a:pPr>
            <a:r>
              <a:rPr lang="en-US" dirty="0"/>
              <a:t>中間和 chronic GVHD 及其免疫抑制有關，典型是皮膚和口咽的 squamous cell carcinoma。這類潛伏期短，移植後任何時間都可能發生，危險因子是 chronic GVHD、長期 GVHD 治療、包括 azathioprine 的免疫抑制，以及男性，和放射線無關。</a:t>
            </a:r>
          </a:p>
          <a:p>
            <a:pPr>
              <a:spcAft>
                <a:spcPts val="600"/>
              </a:spcAft>
            </a:pPr>
            <a:r>
              <a:rPr lang="en-US" dirty="0"/>
              <a:t>右邊和病毒有關。HCV 病人二十年 HCC 累積 16%；HPV 則牽涉子宮頸、頭頸、外陰、陰道、肛門和陰莖癌。</a:t>
            </a:r>
          </a:p>
          <a:p>
            <a:pPr>
              <a:spcAft>
                <a:spcPts val="600"/>
              </a:spcAft>
            </a:pPr>
            <a:r>
              <a:rPr lang="en-US" dirty="0"/>
              <a:t>Squamous 和 non-squamous 的對比很常考，squamous 看 chronic GVHD、早發，non-squamous 看放射、晚發。另一個陷阱是 RIC，書上的 key point 寫 RIC 似乎沒有降低第二癌，一個單中心研究在 RIC 之後十年的累積發生率達 12.9%。</a:t>
            </a:r>
          </a:p>
          <a:p>
            <a:pPr>
              <a:spcAft>
                <a:spcPts val="600"/>
              </a:spcAft>
            </a:pPr>
            <a:r>
              <a:rPr lang="en-US" dirty="0"/>
              <a:t>臨床上，有 chronic GVHD 的人每次回診都要看皮膚和口腔；十年之後，做過 TBI 的人要開始注意甲狀腺和乳房。</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13:00 至 14:30]</a:t>
            </a:r>
          </a:p>
          <a:p>
            <a:pPr>
              <a:spcAft>
                <a:spcPts val="600"/>
              </a:spcAft>
            </a:pPr>
            <a:r>
              <a:rPr lang="en-US" dirty="0"/>
              <a:t>這是 Table 47.1 的數字和危險因子。Allo 之後 t-MN 很少，三年 0.06 到 0.67%，和移植前化療量、TBI、年紀大有關。</a:t>
            </a:r>
          </a:p>
          <a:p>
            <a:pPr>
              <a:spcAft>
                <a:spcPts val="600"/>
              </a:spcAft>
            </a:pPr>
            <a:r>
              <a:rPr lang="en-US" dirty="0"/>
              <a:t>乳癌在移植後二十五年累積 11%，甲狀腺癌的 SIR 是 3.2，basal cell carcinoma 二十年 6.5%。這三種都和放射線、年輕時接受放射有關，BCC 再加上膚色淺，melanoma 則和 T-cell depletion 有關。</a:t>
            </a:r>
          </a:p>
          <a:p>
            <a:pPr>
              <a:spcAft>
                <a:spcPts val="600"/>
              </a:spcAft>
            </a:pPr>
            <a:r>
              <a:rPr lang="en-US" dirty="0"/>
              <a:t>皮膚 squamous cell carcinoma 書上寫二十年 3.4，沒有標單位，危險因子是 chronic GVHD 和長期免疫抑制。肺癌在 BuCy 之後 SIR 2.59，加上移植前抽菸。生殖器和肛門癌和 HPV reactivation 有關，子宮頸 SIR 2.13、肛門 4.85，外陰陰道高達 22.76。</a:t>
            </a:r>
          </a:p>
          <a:p>
            <a:pPr>
              <a:spcAft>
                <a:spcPts val="600"/>
              </a:spcAft>
            </a:pPr>
            <a:r>
              <a:rPr lang="en-US" dirty="0"/>
              <a:t>大腸直腸癌在移植後沒有被證實增加。一位病人可以發生好幾個不同的第二癌，最多報告過五個。第二癌通常比原發癌發生得更年輕，所以篩檢要比一般人提早，這就是下一張的內容。</a:t>
            </a:r>
          </a:p>
          <a:p>
            <a:pPr>
              <a:spcAft>
                <a:spcPts val="600"/>
              </a:spcAft>
            </a:pPr>
            <a:r>
              <a:rPr lang="en-US" dirty="0"/>
              <a:t>考題常把危險因子和癌別配對，例如 BuCy 配肺癌、HCV 配 HCC、HPV 配外陰和肛門，記得配對就能刪掉大部分選項。</a:t>
            </a:r>
          </a:p>
          <a:p>
            <a:pPr>
              <a:spcAft>
                <a:spcPts val="600"/>
              </a:spcAft>
            </a:pPr>
            <a:r>
              <a:rPr lang="en-US" b="1" dirty="0"/>
              <a:t>講者提醒（不念出來）：</a:t>
            </a:r>
          </a:p>
          <a:p>
            <a:pPr>
              <a:spcAft>
                <a:spcPts val="600"/>
              </a:spcAft>
            </a:pPr>
            <a:r>
              <a:rPr lang="en-US" dirty="0"/>
              <a:t>- Table 47.1 prints SCC of the skin as '3.4 at 20 years' with no unit (Curtis 2005); say so if asked rather than quoting a percentage.</a:t>
            </a:r>
          </a:p>
          <a:p>
            <a:pPr>
              <a:spcAft>
                <a:spcPts val="600"/>
              </a:spcAft>
            </a:pPr>
            <a:r>
              <a:rPr lang="en-US" dirty="0"/>
              <a:t>- Table 47.1 also gives penile SIR 22.76, identical to vulvar/vaginal; possibly a copying error, so it is left off the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14:30 至 16:00]</a:t>
            </a:r>
          </a:p>
          <a:p>
            <a:pPr>
              <a:spcAft>
                <a:spcPts val="600"/>
              </a:spcAft>
            </a:pPr>
            <a:r>
              <a:rPr lang="en-US" dirty="0"/>
              <a:t>篩檢原則是 auto 和 allo 都要終身篩檢。每年回診時問症狀、做檢查，其餘照各國一般族群的癌症篩檢，再對高風險族群加強，也要讓病人知道自己的風險。</a:t>
            </a:r>
          </a:p>
          <a:p>
            <a:pPr>
              <a:spcAft>
                <a:spcPts val="600"/>
              </a:spcAft>
            </a:pPr>
            <a:r>
              <a:rPr lang="en-US" dirty="0"/>
              <a:t>皮膚，所有人自我檢查、避免紫外線，每一到兩年看皮膚科；得過皮膚癌或有皮膚 chronic GVHD 的人要更頻繁。甲狀腺每年觸診，做過 TBI 或局部放射的人定期超音波，可疑結節就做 FNA。</a:t>
            </a:r>
          </a:p>
          <a:p>
            <a:pPr>
              <a:spcAft>
                <a:spcPts val="600"/>
              </a:spcAft>
            </a:pPr>
            <a:r>
              <a:rPr lang="en-US" dirty="0"/>
              <a:t>乳房最常考。做過 TBI 或局部放射的女性，mammography 每一到兩年一次，從 25 歲或放射後 8 年開始，取較晚者，但不晚於 40 歲。子宮頸抹片每一到三年，從 21 歲或開始性行為三年內，取較早者，兩條規則方向相反，很容易搞混。</a:t>
            </a:r>
          </a:p>
          <a:p>
            <a:pPr>
              <a:spcAft>
                <a:spcPts val="600"/>
              </a:spcAft>
            </a:pPr>
            <a:r>
              <a:rPr lang="en-US" dirty="0"/>
              <a:t>高劑量 busulfan 加上抽菸的人考慮 chest CT。HCV 病人在移植後 8 到 10 年評估肝纖維化。大腸直腸癌在沒有家族史時從 50 歲開始，和一般人相同。最後一列是血液，auto-HCT 之後頭十年每年驗 CBC，MCV 上升、血球低下或單核球增加，就做骨髓、染色體和 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16:00 至 17:30]</a:t>
            </a:r>
          </a:p>
          <a:p>
            <a:pPr>
              <a:spcAft>
                <a:spcPts val="600"/>
              </a:spcAft>
            </a:pPr>
            <a:r>
              <a:rPr lang="en-US" dirty="0"/>
              <a:t>Metabolic syndrome 是五項符合三項。腰圍依族群和國家定義，書上沒有給數字；三酸甘油酯 1.7 mmol/L 以上；HDL 男性低於 1.0、女性低於 1.3；血壓 130/85 以上；空腹血糖 5.6 以上。全球大約 25% 的人有 MetS，移植後盛行率 31 到 49%。</a:t>
            </a:r>
          </a:p>
          <a:p>
            <a:pPr>
              <a:spcAft>
                <a:spcPts val="600"/>
              </a:spcAft>
            </a:pPr>
            <a:r>
              <a:rPr lang="en-US" dirty="0"/>
              <a:t>Greenfield 2021 收了 453 位存活至少兩年的成人，MetS 盛行率 37.5%，50 歲以上 53%。有 MetS 的人心血管事件 26.7%，沒有的 9%。</a:t>
            </a:r>
          </a:p>
          <a:p>
            <a:pPr>
              <a:spcAft>
                <a:spcPts val="600"/>
              </a:spcAft>
            </a:pPr>
            <a:r>
              <a:rPr lang="en-US" dirty="0"/>
              <a:t>個別成分也都上升。Dyslipidemia 移植後 43 到 73%，allo 比 auto 的 RR 2.1，TBI 也增加風險。Allo 之後高血壓是 sibling donor 或 auto 的 2.06 倍。糖尿病 allo 的 OR 3.65，prednisone 累積劑量每天超過 0.25 mg/kg，RR 3.6，TBI 讓風險增加 3.42 倍。</a:t>
            </a:r>
          </a:p>
          <a:p>
            <a:pPr>
              <a:spcAft>
                <a:spcPts val="600"/>
              </a:spcAft>
            </a:pPr>
            <a:r>
              <a:rPr lang="en-US" dirty="0"/>
              <a:t>右欄是成人移植存活者的篩檢，血脂每五年，男性 35 歲、女性 45 歲起；血壓至少兩年一次；45 歲以上或血壓高於 135/80 的人，每三年篩第二型糖尿病。</a:t>
            </a:r>
          </a:p>
          <a:p>
            <a:pPr>
              <a:spcAft>
                <a:spcPts val="600"/>
              </a:spcAft>
            </a:pPr>
            <a:r>
              <a:rPr lang="en-US" b="1" dirty="0"/>
              <a:t>講者提醒（不念出來）：</a:t>
            </a:r>
          </a:p>
          <a:p>
            <a:pPr>
              <a:spcAft>
                <a:spcPts val="600"/>
              </a:spcAft>
            </a:pPr>
            <a:r>
              <a:rPr lang="en-US" dirty="0"/>
              <a:t>- TO CONFIRM BEFORE PRESENTING: Ch. 55 gives waist circumference only as population- and country-specific; confirm the Taiwan cut-off before quoting a number.</a:t>
            </a:r>
          </a:p>
          <a:p>
            <a:pPr>
              <a:spcAft>
                <a:spcPts val="600"/>
              </a:spcAft>
            </a:pPr>
            <a:r>
              <a:rPr lang="en-US" dirty="0"/>
              <a:t>- Ch. 55 gives the MetS blood-pressure criterion as ≥ 130/85 in the definition list but as ≥ 135/85 in §55.2.3; the slide uses the definition list.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Table 55.1 把心血管危險因子分成五類。第一類是病人本身，家族史、女性、抽菸、高血壓、血脂、糖尿病、肥胖、少動和慢性腎病。</a:t>
            </a:r>
          </a:p>
          <a:p>
            <a:pPr>
              <a:spcAft>
                <a:spcPts val="600"/>
              </a:spcAft>
            </a:pPr>
            <a:r>
              <a:rPr lang="en-US" dirty="0"/>
              <a:t>第二類是治療。Anthracycline 累積超過 doxorubicin 250 mg/m²；放射線照到心臟的區域超過 35 Gy，或 15 到 35 Gy 再加 doxorubicin 超過 100 mg/m²。TBI、steroid，以及 cyclophosphamide、busulfan、melphalan、thiotepa 也有心毒性。PTCy 的平台，100 天內的 early cardiac events 較多，年紀大、sequential conditioning 和移植前用過 CY 是額外的危險因子。</a:t>
            </a:r>
          </a:p>
          <a:p>
            <a:pPr>
              <a:spcAft>
                <a:spcPts val="600"/>
              </a:spcAft>
            </a:pPr>
            <a:r>
              <a:rPr lang="en-US" dirty="0"/>
              <a:t>第三、四類是 GVHD 的預防和 GVHD 本身，steroid、calcineurin inhibitor、grade II 到 IV 的 acute GVHD，以及任何程度的 chronic GVHD。最後是其他 late effects，性腺低下、提早停經和甲狀腺低下，所以下一段的內分泌問題也算心血管風險。</a:t>
            </a:r>
          </a:p>
          <a:p>
            <a:pPr>
              <a:spcAft>
                <a:spcPts val="600"/>
              </a:spcAft>
            </a:pPr>
            <a:r>
              <a:rPr lang="en-US" dirty="0"/>
              <a:t>EBMT 的回溯分析，十五年第一次心血管事件最高 6%。Tichelli 2007 是 allo 7.5%、auto 2.3%，但 Greenfield 2021 沒有看到差別。Framingham 這類分數沒有在 HCT 病人驗證，可能低估風險，只能當起點。</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19:00 至 20:30]</a:t>
            </a:r>
          </a:p>
          <a:p>
            <a:pPr>
              <a:spcAft>
                <a:spcPts val="600"/>
              </a:spcAft>
            </a:pPr>
            <a:r>
              <a:rPr lang="en-US" dirty="0"/>
              <a:t>內分泌異常在長期存活者很常見，兒童有 58.7% 至少一項異常。最常見的是 primary compensated hypothyroidism，allo-HCT 後大約四分之一，女性較多，常常不需治療、會自己恢復。一個追蹤 38 年的研究，移植後 28 年仍有新個案，所以追蹤沒有終點。</a:t>
            </a:r>
          </a:p>
          <a:p>
            <a:pPr>
              <a:spcAft>
                <a:spcPts val="600"/>
              </a:spcAft>
            </a:pPr>
            <a:r>
              <a:rPr lang="en-US" dirty="0"/>
              <a:t>危險因子裡最常考的是 single-dose TBI，比 fractionated 高五到六倍。Busulfan 比只用 cyclophosphamide 更容易傷甲狀腺，惡性疾病比 aplastic anemia 多，長期免疫抑制治療 chronic GVHD 也增加風險。每年驗 TSH 和 FT4、觸診，超音波的門檻要低。甲狀腺癌的 RR 約 3 倍，十歲前移植超過 20 倍。</a:t>
            </a:r>
          </a:p>
          <a:p>
            <a:pPr>
              <a:spcAft>
                <a:spcPts val="600"/>
              </a:spcAft>
            </a:pPr>
            <a:r>
              <a:rPr lang="en-US" dirty="0"/>
              <a:t>Hypoadrenalism 主要來自 glucocorticoid 造成的 central 缺乏。超生理劑量用一個月以上就有風險，外用、吸入、鼻噴、口服、注射都算。症狀不明顯，疲倦、噁心、體重減輕、低血壓，還會和 GVHD 混淆。診斷要配對早上的 cortisol 和 ACTH，確診給 hydrocortisone，生病、感染、手術時加量。</a:t>
            </a:r>
          </a:p>
          <a:p>
            <a:pPr>
              <a:spcAft>
                <a:spcPts val="600"/>
              </a:spcAft>
            </a:pPr>
            <a:r>
              <a:rPr lang="en-US" dirty="0"/>
              <a:t>兒童生長要每次量身高體重，頭部放射和 single-dose TBI 是主因。GH 治療因為第二癌的疑慮，目前沒有明確指引。</a:t>
            </a:r>
          </a:p>
          <a:p>
            <a:pPr>
              <a:spcAft>
                <a:spcPts val="600"/>
              </a:spcAft>
            </a:pPr>
            <a:r>
              <a:rPr lang="en-US" b="1" dirty="0"/>
              <a:t>講者提醒（不念出來）：</a:t>
            </a:r>
          </a:p>
          <a:p>
            <a:pPr>
              <a:spcAft>
                <a:spcPts val="600"/>
              </a:spcAft>
            </a:pPr>
            <a:r>
              <a:rPr lang="en-US" dirty="0"/>
              <a:t>- Ch. 56 prints 'height standard deviation score is less than 2' for GH consideration; the slide reads this as −2 and labels it as the speaker's reading.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女性天生卵子數量有限，化放療透過 apoptosis、間質血管纖維化和 burnout 讓卵泡更快耗盡。Alkylating agents 的卵巢衰竭風險最高，busulfan 加 cyclophosphamide 特別傷，只用 cyclophosphamide 的年輕女性可能保留功能，懷孕的報告也不少。Treosulfan 的 gonadotrophin 比 busulfan 低，但還沒有證據顯示懷孕率較高。</a:t>
            </a:r>
          </a:p>
          <a:p>
            <a:pPr>
              <a:spcAft>
                <a:spcPts val="600"/>
              </a:spcAft>
            </a:pPr>
            <a:r>
              <a:rPr lang="en-US" dirty="0"/>
              <a:t>放射線的數字常考。人類卵母細胞的半致死劑量低於 2 Gy。Effective sterilizing dose 隨年齡下降，十歲是 18.4 Gy，三十歲約 14.3 Gy，四十歲以上只要 6 Gy，出自 Wallace 2003。</a:t>
            </a:r>
          </a:p>
          <a:p>
            <a:pPr>
              <a:spcAft>
                <a:spcPts val="600"/>
              </a:spcAft>
            </a:pPr>
            <a:r>
              <a:rPr lang="en-US" dirty="0"/>
              <a:t>男性的精子生成很容易受損，但 Leydig cell 相對耐受，testosterone 和 LH 通常正常，第二性徵也正常。只是少數人仍有荷爾蒙缺乏，所以每一到兩年要驗 testosterone。1 Gy 單次照射後，精子數大約兩年才恢復；MAC TBI 之後大多數無精，busulfan 之後約一半，只用 cyclophosphamide 較常恢復。</a:t>
            </a:r>
          </a:p>
          <a:p>
            <a:pPr>
              <a:spcAft>
                <a:spcPts val="600"/>
              </a:spcAft>
            </a:pPr>
            <a:r>
              <a:rPr lang="en-US" dirty="0"/>
              <a:t>懷孕方面，做過 TBI 或骨盆放射的人流產、早產和低出生體重較多。卵子成熟期約六個月，理論上完成 gonadotoxic 治療後延後六個月再懷孕較好。</a:t>
            </a:r>
          </a:p>
          <a:p>
            <a:pPr>
              <a:spcAft>
                <a:spcPts val="600"/>
              </a:spcAft>
            </a:pPr>
            <a:r>
              <a:rPr lang="en-US" b="1" dirty="0"/>
              <a:t>講者提醒（不念出來）：</a:t>
            </a:r>
          </a:p>
          <a:p>
            <a:pPr>
              <a:spcAft>
                <a:spcPts val="600"/>
              </a:spcAft>
            </a:pPr>
            <a:r>
              <a:rPr lang="en-US" dirty="0"/>
              <a:t>- Ch. 56 says testosterone should be monitored 'on an annual or biannual basis'; the slide says yearly and the script says every one to two years.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開始任何化放療之前，都要先和病人談生育，以及有哪些保存方法，有些國家還要求生殖醫學專科的獨立諮詢。</a:t>
            </a:r>
          </a:p>
          <a:p>
            <a:pPr>
              <a:spcAft>
                <a:spcPts val="600"/>
              </a:spcAft>
            </a:pPr>
            <a:r>
              <a:rPr lang="en-US" dirty="0"/>
              <a:t>成年男性做精子冷凍，無法射精時可用 penile vibratory stimulation 或電刺激射精，再不行就 TESE。移植時小於 25 歲、沒有 TBI、沒有 chronic GVHD 的人，精子比較有機會自己恢復，要定期重新評估。青春期前的男孩只能做睪丸組織冷凍，目前仍是實驗性，還沒有人類活產的報告。</a:t>
            </a:r>
          </a:p>
          <a:p>
            <a:pPr>
              <a:spcAft>
                <a:spcPts val="600"/>
              </a:spcAft>
            </a:pPr>
            <a:r>
              <a:rPr lang="en-US" dirty="0"/>
              <a:t>成年女性首選胚胎或卵子冷凍，但刺激排卵至少要兩週，很多血液惡性疾病等不了；胚胎冷凍還需要伴侶或捐贈精子。GnRH agonist 的效果不確定，Cochrane review 的結論是可以考慮。</a:t>
            </a:r>
          </a:p>
          <a:p>
            <a:pPr>
              <a:spcAft>
                <a:spcPts val="600"/>
              </a:spcAft>
            </a:pPr>
            <a:r>
              <a:rPr lang="en-US" dirty="0"/>
              <a:t>黑色框是 ovarian tissue cryopreservation，青春期前女孩唯一的選項，也適用於不能延後治療的女性。最大的問題是回植可能把腫瘤帶回去，白血病病人的卵巢組織 PCR 曾驗出疾病，所以目前不建議回植；lymphoma 病人有組織學陰性樣本回植沒有復發的報告。</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第一題是 iron overload。19 歲女性，β-thalassemia major，兩年前做了 matched sibling allo-HCT。現在不需輸血、已停免疫抑制，Hb 12.5，腎功能正常。Ferritin 2400，transferrin saturation 82%，肝臟 MRI 顯示明顯鐵沉積。下一步最適當的是什麼。</a:t>
            </a:r>
          </a:p>
          <a:p>
            <a:pPr>
              <a:spcAft>
                <a:spcPts val="600"/>
              </a:spcAft>
            </a:pPr>
            <a:r>
              <a:rPr lang="en-US" dirty="0"/>
              <a:t>這題要想的是移植之後鐵會不會自己消失，以及去鐵的方法和目標。</a:t>
            </a:r>
          </a:p>
          <a:p>
            <a:pPr>
              <a:spcAft>
                <a:spcPts val="600"/>
              </a:spcAft>
            </a:pPr>
            <a:r>
              <a:rPr lang="en-US" dirty="0"/>
              <a:t>A 是觀察，B 是每 14 天放血 6 mL/kg，C 是 deferiprone 一天三次，D 是每六個月肝切片，E 是 ferritin 再升高才治療。</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B。Engraftment 之後病人不再輸血，可是已經累積的鐵不會自己離開，transferrin saturation 會一直偏高，肝病繼續進展。她的造血有效，可以用 phlebotomy，每 14 天 6 mL/kg，目標是正常的 transferrin saturation。</a:t>
            </a:r>
          </a:p>
          <a:p>
            <a:pPr>
              <a:spcAft>
                <a:spcPts val="600"/>
              </a:spcAft>
            </a:pPr>
            <a:r>
              <a:rPr lang="en-US" dirty="0"/>
              <a:t>A 是主要陷阱，以為不輸血鐵就會慢慢降，這在門診很常見。Angelucci 的前瞻性資料正好相反，不治療的話 transferrin saturation 無限期維持在高點。C 的 deferiprone 因為 agranulocytosis，在造血幹細胞疾病通常不用。D 肝切片不適合重複追蹤，E 等 ferritin 再升只會延長毒性鐵的暴露。</a:t>
            </a:r>
          </a:p>
          <a:p>
            <a:pPr>
              <a:spcAft>
                <a:spcPts val="600"/>
              </a:spcAft>
            </a:pPr>
            <a:r>
              <a:rPr lang="en-US" dirty="0"/>
              <a:t>記住終點是正常的 transferrin saturation，不是某個 ferritin 數值。若她仍在用 cyclosporine 或造血還不穩，才比較會選 chelation。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第二題考第二癌篩檢。30 歲女性，21 歲時因 ALL 接受 cyclophosphamide 加 TBI 的 myeloablative allo-HCT。目前緩解、已停免疫抑制，沒有 chronic GVHD，也沒有乳癌家族史。今天是她的年度 late-effects 門診，乳房篩檢該怎麼安排。</a:t>
            </a:r>
          </a:p>
          <a:p>
            <a:pPr>
              <a:spcAft>
                <a:spcPts val="600"/>
              </a:spcAft>
            </a:pPr>
            <a:r>
              <a:rPr lang="en-US" dirty="0"/>
              <a:t>題目刻意給了她接受 TBI 的年紀，請算一下什麼時候該開始。</a:t>
            </a:r>
          </a:p>
          <a:p>
            <a:pPr>
              <a:spcAft>
                <a:spcPts val="600"/>
              </a:spcAft>
            </a:pPr>
            <a:r>
              <a:rPr lang="en-US" dirty="0"/>
              <a:t>A 是只做自我檢查到 40 歲，B 是現在開始每一到兩年 mammography，C 是比照一般人 50 歲開始，D 是不用篩，E 是有 BRCA 突變才做。</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B。做過 TBI 或局部放射的人，mammography 從 25 歲或放射後 8 年開始，取較晚者，但不晚於 40 歲。她 21 歲照 TBI，加 8 年是 29 歲，比 25 晚，所以 29 歲就該開始，現在 30 歲，已經到期了。</a:t>
            </a:r>
          </a:p>
          <a:p>
            <a:pPr>
              <a:spcAft>
                <a:spcPts val="600"/>
              </a:spcAft>
            </a:pPr>
            <a:r>
              <a:rPr lang="en-US" dirty="0"/>
              <a:t>C 是最常見的錯，把一般族群的建議直接套上去。乳癌是 radiation-related、潛伏期長的第二癌，移植後二十五年累積 11%，所以書上要求提早。D 正好相反，E 的 BRCA 不是這裡的條件。子宮頸抹片的規則是取較早者，和乳房相反。</a:t>
            </a:r>
          </a:p>
          <a:p>
            <a:pPr>
              <a:spcAft>
                <a:spcPts val="600"/>
              </a:spcAft>
            </a:pPr>
            <a:r>
              <a:rPr lang="en-US" dirty="0"/>
              <a:t>算的時候記住兩個數字，25 歲和 8 年，取晚的，上限 40 歲。如果她是 15 歲照 TBI，加 8 年是 23 歲，比 25 早，那就從 25 歲開始。</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第三題換到內分泌。38 歲女性，AML 做 allo-HCT 後 14 個月。因為皮膚和肝臟的 chronic GVHD 用了八個月 prednisolone，三週前停掉，目前還在擦外用 steroid。現在疲倦、噁心、體重減輕，血壓 92/58，皮膚和肝功能沒有變化。下一步最適當的是什麼。</a:t>
            </a:r>
          </a:p>
          <a:p>
            <a:pPr>
              <a:spcAft>
                <a:spcPts val="600"/>
              </a:spcAft>
            </a:pPr>
            <a:r>
              <a:rPr lang="en-US" dirty="0"/>
              <a:t>A 是重新給 prednisolone 每公斤 1 mg 治療 GVHD flare，B 是配對的早上 cortisol 和 ACTH，C 是胃鏡切片找 GI GVHD，D 是只驗 TSH 和 FT4，E 是安撫病人、不需檢查。</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B。超生理劑量的 glucocorticoid 用了一個月以上，不論口服或外用，都有 central hypoadrenalism 的風險。她的症狀非特異，而且會和 GVHD 混淆，診斷要靠配對的早上 cortisol 和 ACTH，結果不明確再找內分泌科。確診後給 hydrocortisone，壓力時加量，之後定期評估能不能減量。</a:t>
            </a:r>
          </a:p>
          <a:p>
            <a:pPr>
              <a:spcAft>
                <a:spcPts val="600"/>
              </a:spcAft>
            </a:pPr>
            <a:r>
              <a:rPr lang="en-US" dirty="0"/>
              <a:t>A 是最大的陷阱，皮膚和肝臟都沒有惡化，卻直接回到高劑量 steroid，等於沒有找原因。C 的 GI GVHD 不是第一個要排除的。D 的甲狀腺功能低下也會疲倦，但解釋不了低血壓和停藥的時間關係。</a:t>
            </a:r>
          </a:p>
          <a:p>
            <a:pPr>
              <a:spcAft>
                <a:spcPts val="600"/>
              </a:spcAft>
            </a:pPr>
            <a:r>
              <a:rPr lang="en-US" dirty="0"/>
              <a:t>E 也不對，停藥後的症狀不能直接歸給 withdrawal，沒驗就不知道她的軸有沒有恢復。這種病人以後生病或手術，都要記得給 stress dose。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46.2。Deferoxamine 要持續皮下或靜脈輸注，deferasirox 一天一次口服，主要毒性在腎臟；deferiprone 因為 agranulocytosis，在造血幹細胞疾病通常不用。適應症和劑量依各國核准而不同。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第二實體癌的預後主要看癌別，甲狀腺、乳癌、攝護腺、黑色素瘤和子宮頸癌較好，胰臟、肺、腦、肝膽和食道癌較差。治療比照同類型的 de novo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55.2，出自 DeFilipp 2017 的 EBMT-CIBMTR 建議。兒童移植存活者每年量體重和 BMI、每次量血壓，血脂和空腹血糖至少每五年，異常就改每年。這是專家共識，沒有結果面的證據。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性功能障礙是移植後最常見的問題之一。移植指引建議六個月、一年、之後每年主動詢問。Syrjala 的兩個篩檢問題都回答是，就做完整評估，先處理荷爾蒙缺乏、勃起功能障礙、陰道乾燥或生殖道 GVHD，再做個人或伴侶諮商。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Long-term follow-up and late effects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18 · Ch. 22, 46, 47, 55, 56</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LATE EFFECTS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the follow-up calendar to fertility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EBMT Handbook 8th ed. 2024; Ch. 22, 46, 47, 55, 56</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Follow-up calendar and organ checklist</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Ch. 22: visit intervals after auto- and allo-HCT; Table 22.1 by organ</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Iron overload</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Ch. 46: TSAT &gt; 70%, three phases, phlebotomy versus chelation</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Secondary neoplasia</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Ch. 47: t-MN, donor-derived malignancy, solid cancers and screening</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Cardiometabolic, endocrine, fertility; MCQs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Ch. 55–56: MetS, CV risk, thyroid, adrenal, gonads; three questions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12.75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FOLLOW-UP · VISIT CALENDAR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recipients stay near the centre, then visits widen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Suárez-Lledó M, et al. EBMT Handbook 8th ed. 2024; Ch. 22</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306824"/>
                <a:gridCol w="3758184"/>
              </a:tblGrid>
              <a:tr h="0">
                <a:tc>
                  <a:txBody>
                    <a:bodyPr/>
                    <a:lstStyle/>
                    <a:p>
                      <a:pPr indent="0" marL="0">
                        <a:buNone/>
                      </a:pPr>
                      <a:r>
                        <a:rPr lang="en-US" sz="1500" b="1" dirty="0">
                          <a:solidFill>
                            <a:schemeClr val="tx1"/>
                          </a:solidFill>
                        </a:rPr>
                        <a:t>Phase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Allogeneic 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Autologous 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Discharge to day +100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Live near centre 3–6 months; weekly in</a:t>
                      </a:r>
                      <a:endParaRPr lang="en-US" sz="1500" dirty="0"/>
                    </a:p>
                    <a:p>
                      <a:pPr indent="0" marL="0">
                        <a:buNone/>
                      </a:pPr>
                      <a:r>
                        <a:rPr lang="en-US" sz="1500" dirty="0">
                          <a:solidFill>
                            <a:schemeClr val="tx1"/>
                          </a:solidFill>
                        </a:rPr>
                        <a:t>month 1, every 2 weeks to month 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Live near hospital until full</a:t>
                      </a:r>
                      <a:endParaRPr lang="en-US" sz="1500" dirty="0"/>
                    </a:p>
                    <a:p>
                      <a:pPr indent="0" marL="0">
                        <a:buNone/>
                      </a:pPr>
                      <a:r>
                        <a:rPr lang="en-US" sz="1500" dirty="0">
                          <a:solidFill>
                            <a:schemeClr val="tx1"/>
                          </a:solidFill>
                        </a:rPr>
                        <a:t>haematologic recovery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Bloods in this phase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CBC, liver, kidney, Mg, IS levels,</a:t>
                      </a:r>
                      <a:endParaRPr lang="en-US" sz="1500" dirty="0"/>
                    </a:p>
                    <a:p>
                      <a:pPr indent="0" marL="0">
                        <a:buNone/>
                      </a:pPr>
                      <a:r>
                        <a:rPr lang="en-US" sz="1500" dirty="0">
                          <a:solidFill>
                            <a:schemeClr val="tx1"/>
                          </a:solidFill>
                        </a:rPr>
                        <a:t>CMV PCR (EBV if ATG)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Basic tests, disease markers,</a:t>
                      </a:r>
                      <a:endParaRPr lang="en-US" sz="1500" dirty="0"/>
                    </a:p>
                    <a:p>
                      <a:pPr indent="0" marL="0">
                        <a:buNone/>
                      </a:pPr>
                      <a:r>
                        <a:rPr lang="en-US" sz="1500" dirty="0">
                          <a:solidFill>
                            <a:schemeClr val="tx1"/>
                          </a:solidFill>
                        </a:rPr>
                        <a:t>transfusions as needed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Marrow, chimerism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Chimerism at months 1 and 2; marrow</a:t>
                      </a:r>
                      <a:endParaRPr lang="en-US" sz="1500" dirty="0"/>
                    </a:p>
                    <a:p>
                      <a:pPr indent="0" marL="0">
                        <a:buNone/>
                      </a:pPr>
                      <a:r>
                        <a:rPr lang="en-US" sz="1500" dirty="0">
                          <a:solidFill>
                            <a:schemeClr val="tx1"/>
                          </a:solidFill>
                        </a:rPr>
                        <a:t>~1 month if previously involved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Marrow at 3 months if previously</a:t>
                      </a:r>
                      <a:endParaRPr lang="en-US" sz="1500" dirty="0"/>
                    </a:p>
                    <a:p>
                      <a:pPr indent="0" marL="0">
                        <a:buNone/>
                      </a:pPr>
                      <a:r>
                        <a:rPr lang="en-US" sz="1500" dirty="0">
                          <a:solidFill>
                            <a:schemeClr val="tx1"/>
                          </a:solidFill>
                        </a:rPr>
                        <a:t>involved (NHL, HL, MPS)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Around 3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Care may return to referring doctor;</a:t>
                      </a:r>
                      <a:endParaRPr lang="en-US" sz="1500" dirty="0"/>
                    </a:p>
                    <a:p>
                      <a:pPr indent="0" marL="0">
                        <a:buNone/>
                      </a:pPr>
                      <a:r>
                        <a:rPr lang="en-US" sz="1500" dirty="0">
                          <a:solidFill>
                            <a:schemeClr val="tx1"/>
                          </a:solidFill>
                        </a:rPr>
                        <a:t>children &lt; 17 y: height, weight every 3 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Restage: MRD, imaging</a:t>
                      </a:r>
                      <a:endParaRPr lang="en-US" sz="1500" dirty="0"/>
                    </a:p>
                    <a:p>
                      <a:pPr indent="0" marL="0">
                        <a:buNone/>
                      </a:pPr>
                      <a:r>
                        <a:rPr lang="en-US" sz="1500" dirty="0">
                          <a:solidFill>
                            <a:schemeClr val="tx1"/>
                          </a:solidFill>
                        </a:rPr>
                        <a:t>by disease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Centre review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3–4 months in year 1,</a:t>
                      </a:r>
                      <a:endParaRPr lang="en-US" sz="1500" dirty="0"/>
                    </a:p>
                    <a:p>
                      <a:pPr indent="0" marL="0">
                        <a:buNone/>
                      </a:pPr>
                      <a:r>
                        <a:rPr lang="en-US" sz="1500" dirty="0">
                          <a:solidFill>
                            <a:schemeClr val="tx1"/>
                          </a:solidFill>
                        </a:rPr>
                        <a:t>every 4–6 months in year 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6 months up to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Long term, no complications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6 months up to 3 years,</a:t>
                      </a:r>
                      <a:endParaRPr lang="en-US" sz="1500" dirty="0"/>
                    </a:p>
                    <a:p>
                      <a:pPr indent="0" marL="0">
                        <a:buNone/>
                      </a:pPr>
                      <a:r>
                        <a:rPr lang="en-US" sz="1500" dirty="0">
                          <a:solidFill>
                            <a:schemeClr val="tx1"/>
                          </a:solidFill>
                        </a:rPr>
                        <a:t>then annually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Annually; watch for relapse</a:t>
                      </a:r>
                      <a:endParaRPr lang="en-US" sz="1500" dirty="0"/>
                    </a:p>
                    <a:p>
                      <a:pPr indent="0" marL="0">
                        <a:buNone/>
                      </a:pPr>
                      <a:r>
                        <a:rPr lang="en-US" sz="1500" dirty="0">
                          <a:solidFill>
                            <a:schemeClr val="tx1"/>
                          </a:solidFill>
                        </a:rPr>
                        <a:t>for at least 5 years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FOLLOW-UP · ORGAN CHECKLIST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Organ screening starts at 6 months and tightens in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Suárez-Lledó M, et al. EBMT Handbook 8th ed. 2024; Ch. 22</a:t>
            </a:r>
            <a:endParaRPr lang="en-US" sz="1000" dirty="0"/>
          </a:p>
        </p:txBody>
      </p:sp>
      <p:graphicFrame>
        <p:nvGraphicFramePr>
          <p:cNvPr id="5" name="Table 2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719072"/>
                <a:gridCol w="3346704"/>
                <a:gridCol w="2057400"/>
                <a:gridCol w="3694176"/>
              </a:tblGrid>
              <a:tr h="0">
                <a:tc>
                  <a:txBody>
                    <a:bodyPr/>
                    <a:lstStyle/>
                    <a:p>
                      <a:pPr indent="0" marL="0">
                        <a:buNone/>
                      </a:pPr>
                      <a:r>
                        <a:rPr lang="en-US" sz="1400" b="1" dirty="0">
                          <a:solidFill>
                            <a:schemeClr val="tx1"/>
                          </a:solidFill>
                        </a:rPr>
                        <a:t>Organ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Screening</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When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Point to remember</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Mouth</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Oral and dental assessment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 m, 1 y, yearly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Oral cGVHD: SCC risk, exam every 6 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Lung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Clinical review; no smoking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 m, 1 y, yearly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cGVHD: spirometry at every visit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Liver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Liver tests; ferritin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Ferritin at 1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High ferritin: MRI / FerriScan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Kidney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BP, urine protein, BUN/creatinine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 m, 1 y, yearly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Treat hypertension; avoid nephrotoxins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Bone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Bone density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Adult women, all allo-HCT, high risk</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Endocrine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Thyroid; gonads; growth in children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 y, then yearly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Yearly gynaecological exam in women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Immunity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PJP, encapsulated-organism cover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While cGVHD or IS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Vaccines: Session 17</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Second cancer</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Counselling, population screening</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From 1 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After TBI: more frequent mammography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2"/>
          <p:cNvSpPr txBox="1"/>
          <p:nvPr/>
        </p:nvSpPr>
        <p:spPr>
          <a:xfrm>
            <a:off x="685800" y="5504688"/>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22.1, adapted from Majhail 2012; all controls are tightened in chronic GVHD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IRON OVERLOAD · MEASUREMENT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Transferrin saturation above 70% signals toxic NTBI and LPI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graphicFrame>
        <p:nvGraphicFramePr>
          <p:cNvPr id="6" name="Table 2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3941064"/>
                <a:gridCol w="4123944"/>
              </a:tblGrid>
              <a:tr h="0">
                <a:tc>
                  <a:txBody>
                    <a:bodyPr/>
                    <a:lstStyle/>
                    <a:p>
                      <a:pPr indent="0" marL="0">
                        <a:buNone/>
                      </a:pPr>
                      <a:r>
                        <a:rPr lang="en-US" sz="1500" b="1" dirty="0">
                          <a:solidFill>
                            <a:schemeClr val="tx1"/>
                          </a:solidFill>
                        </a:rPr>
                        <a:t>Method</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Strength</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Limitation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Transferrin saturation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70% = NTBI/LPI in serum;</a:t>
                      </a:r>
                      <a:endParaRPr lang="en-US" sz="1500" dirty="0"/>
                    </a:p>
                    <a:p>
                      <a:pPr indent="0" marL="0">
                        <a:buNone/>
                      </a:pPr>
                      <a:r>
                        <a:rPr lang="en-US" sz="1500" dirty="0">
                          <a:solidFill>
                            <a:schemeClr val="tx1"/>
                          </a:solidFill>
                        </a:rPr>
                        <a:t>cheap, repeatable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quantitative link to the iron pool;</a:t>
                      </a:r>
                      <a:endParaRPr lang="en-US" sz="1500" dirty="0"/>
                    </a:p>
                    <a:p>
                      <a:pPr indent="0" marL="0">
                        <a:buNone/>
                      </a:pPr>
                      <a:r>
                        <a:rPr lang="en-US" sz="1500" dirty="0">
                          <a:solidFill>
                            <a:schemeClr val="tx1"/>
                          </a:solidFill>
                        </a:rPr>
                        <a:t>less reliable if poly-transfused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Serum ferritin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Tracks total iron and outcome;</a:t>
                      </a:r>
                      <a:endParaRPr lang="en-US" sz="1500" dirty="0"/>
                    </a:p>
                    <a:p>
                      <a:pPr indent="0" marL="0">
                        <a:buNone/>
                      </a:pPr>
                      <a:r>
                        <a:rPr lang="en-US" sz="1500" dirty="0">
                          <a:solidFill>
                            <a:schemeClr val="tx1"/>
                          </a:solidFill>
                        </a:rPr>
                        <a:t>shows trends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Raised by inflammation, infection,</a:t>
                      </a:r>
                      <a:endParaRPr lang="en-US" sz="1500" dirty="0"/>
                    </a:p>
                    <a:p>
                      <a:pPr indent="0" marL="0">
                        <a:buNone/>
                      </a:pPr>
                      <a:r>
                        <a:rPr lang="en-US" sz="1500" dirty="0">
                          <a:solidFill>
                            <a:schemeClr val="tx1"/>
                          </a:solidFill>
                        </a:rPr>
                        <a:t>liver disease; nonlinear when high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NTBI / LPI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The toxic circulating iron species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Research laboratories only;</a:t>
                      </a:r>
                      <a:endParaRPr lang="en-US" sz="1500" dirty="0"/>
                    </a:p>
                    <a:p>
                      <a:pPr indent="0" marL="0">
                        <a:buNone/>
                      </a:pPr>
                      <a:r>
                        <a:rPr lang="en-US" sz="1500" dirty="0">
                          <a:solidFill>
                            <a:schemeClr val="tx1"/>
                          </a:solidFill>
                        </a:rPr>
                        <a:t>labile, unvalidated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Liver biopsy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Gold standard for liver iron;</a:t>
                      </a:r>
                      <a:endParaRPr lang="en-US" sz="1500" dirty="0"/>
                    </a:p>
                    <a:p>
                      <a:pPr indent="0" marL="0">
                        <a:buNone/>
                      </a:pPr>
                      <a:r>
                        <a:rPr lang="en-US" sz="1500" dirty="0">
                          <a:solidFill>
                            <a:schemeClr val="tx1"/>
                          </a:solidFill>
                        </a:rPr>
                        <a:t>shows histology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Invasive; ≥ 1 mg dry weight;</a:t>
                      </a:r>
                      <a:endParaRPr lang="en-US" sz="1500" dirty="0"/>
                    </a:p>
                    <a:p>
                      <a:pPr indent="0" marL="0">
                        <a:buNone/>
                      </a:pPr>
                      <a:r>
                        <a:rPr lang="en-US" sz="1500" dirty="0">
                          <a:solidFill>
                            <a:schemeClr val="tx1"/>
                          </a:solidFill>
                        </a:rPr>
                        <a:t>not for repeated follow-up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MRI T2 / T2*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Current standard of care;</a:t>
                      </a:r>
                      <a:endParaRPr lang="en-US" sz="1500" dirty="0"/>
                    </a:p>
                    <a:p>
                      <a:pPr indent="0" marL="0">
                        <a:buNone/>
                      </a:pPr>
                      <a:r>
                        <a:rPr lang="en-US" sz="1500" dirty="0">
                          <a:solidFill>
                            <a:schemeClr val="tx1"/>
                          </a:solidFill>
                        </a:rPr>
                        <a:t>non-invasive, reproducible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Organ-specific calibration;</a:t>
                      </a:r>
                      <a:endParaRPr lang="en-US" sz="1500" dirty="0"/>
                    </a:p>
                    <a:p>
                      <a:pPr indent="0" marL="0">
                        <a:buNone/>
                      </a:pPr>
                      <a:r>
                        <a:rPr lang="en-US" sz="1500" dirty="0">
                          <a:solidFill>
                            <a:schemeClr val="tx1"/>
                          </a:solidFill>
                        </a:rPr>
                        <a:t>cost; no ferromagnetic implants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Damage depends on toxic iron species and duration of exposure, not on iron level alone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IRON OVERLOAD · THREE PHASES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Iron toxicity acts differently before, during and after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sp>
        <p:nvSpPr>
          <p:cNvPr id="6" name="Box 25"/>
          <p:cNvSpPr txBox="1"/>
          <p:nvPr/>
        </p:nvSpPr>
        <p:spPr>
          <a:xfrm>
            <a:off x="685800"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Before: chelate early and regularly for years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6"/>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Conditioning: marrow lysis floods NTBI/LPI</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7"/>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Engraftment: NTBI clears in 3–4 weeks</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8"/>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After: TSAT stays high; remove the iron</a:t>
            </a:r>
            <a:endParaRPr lang="en-US" sz="1700" dirty="0"/>
          </a:p>
        </p:txBody>
      </p:sp>
      <p:sp>
        <p:nvSpPr>
          <p:cNvPr id="13" name="Text 2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Chelation during the transplant phase is experimental; consider it only if marrow recovery is slow and TSAT is high.</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IRON OVERLOAD · AFTER ENGRAFTMENT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engraftment, phlebotomy or chelation aims for a normal TSAT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graphicFrame>
        <p:nvGraphicFramePr>
          <p:cNvPr id="8" name="Table 3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032504"/>
                <a:gridCol w="439826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Phlebotomy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Chelation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Schedule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 mL/kg every 14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Deferasirox oral daily;</a:t>
                      </a:r>
                      <a:endParaRPr lang="en-US" sz="1600" dirty="0"/>
                    </a:p>
                    <a:p>
                      <a:pPr indent="0" marL="0">
                        <a:buNone/>
                      </a:pPr>
                      <a:r>
                        <a:rPr lang="en-US" sz="1600" dirty="0">
                          <a:solidFill>
                            <a:schemeClr val="tx1"/>
                          </a:solidFill>
                        </a:rPr>
                        <a:t>deferoxamine SC/IV infusion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Efficient, safe, inexpensive;</a:t>
                      </a:r>
                      <a:endParaRPr lang="en-US" sz="1600" dirty="0"/>
                    </a:p>
                    <a:p>
                      <a:pPr indent="0" marL="0">
                        <a:buNone/>
                      </a:pPr>
                      <a:r>
                        <a:rPr lang="en-US" sz="1600" dirty="0">
                          <a:solidFill>
                            <a:schemeClr val="tx1"/>
                          </a:solidFill>
                        </a:rPr>
                        <a:t>complete iron removal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Immediate effect on NTBI/LPI;</a:t>
                      </a:r>
                      <a:endParaRPr lang="en-US" sz="1600" dirty="0"/>
                    </a:p>
                    <a:p>
                      <a:pPr indent="0" marL="0">
                        <a:buNone/>
                      </a:pPr>
                      <a:r>
                        <a:rPr lang="en-US" sz="1600" dirty="0">
                          <a:solidFill>
                            <a:schemeClr val="tx1"/>
                          </a:solidFill>
                        </a:rPr>
                        <a:t>no hospital visits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Needs sustained engraftment;</a:t>
                      </a:r>
                      <a:endParaRPr lang="en-US" sz="1600" dirty="0"/>
                    </a:p>
                    <a:p>
                      <a:pPr indent="0" marL="0">
                        <a:buNone/>
                      </a:pPr>
                      <a:r>
                        <a:rPr lang="en-US" sz="1600" dirty="0">
                          <a:solidFill>
                            <a:schemeClr val="tx1"/>
                          </a:solidFill>
                        </a:rPr>
                        <a:t>hospital visits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Renal toxicity with CSA; more</a:t>
                      </a:r>
                      <a:endParaRPr lang="en-US" sz="1600" dirty="0"/>
                    </a:p>
                    <a:p>
                      <a:pPr indent="0" marL="0">
                        <a:buNone/>
                      </a:pPr>
                      <a:r>
                        <a:rPr lang="en-US" sz="1600" dirty="0">
                          <a:solidFill>
                            <a:schemeClr val="tx1"/>
                          </a:solidFill>
                        </a:rPr>
                        <a:t>toxicity at low iron burden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Effect on NTBI/LPI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Immediate effect not yet verified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Immediate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Avoid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post-HCT period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Deferiprone: agranulocytosis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1"/>
          <p:cNvSpPr txBox="1"/>
          <p:nvPr/>
        </p:nvSpPr>
        <p:spPr>
          <a:xfrm>
            <a:off x="685800" y="52120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Target: normal transferrin saturation (Table 46.3; Angelucci 1997a)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THREE TYPES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Secondary neoplasms come in three types with different origins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graphicFrame>
        <p:nvGraphicFramePr>
          <p:cNvPr id="9" name="Table 3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1929384"/>
                <a:gridCol w="3026664"/>
                <a:gridCol w="3026664"/>
                <a:gridCol w="2843784"/>
              </a:tblGrid>
              <a:tr h="0">
                <a:tc>
                  <a:txBody>
                    <a:bodyPr/>
                    <a:lstStyle/>
                    <a:p>
                      <a:pPr indent="0" marL="0">
                        <a:buNone/>
                      </a:pP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t-MN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Donor-derived (DDM)</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Second solid (SSN)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Definition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t-MDS / t-AML after</a:t>
                      </a:r>
                      <a:endParaRPr lang="en-US" sz="1400" dirty="0"/>
                    </a:p>
                    <a:p>
                      <a:pPr indent="0" marL="0">
                        <a:buNone/>
                      </a:pPr>
                      <a:r>
                        <a:rPr lang="en-US" sz="1400" dirty="0">
                          <a:solidFill>
                            <a:schemeClr val="tx1"/>
                          </a:solidFill>
                        </a:rPr>
                        <a:t>chemo- or radiotherapy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Haematologic neoplasm</a:t>
                      </a:r>
                      <a:endParaRPr lang="en-US" sz="1400" dirty="0"/>
                    </a:p>
                    <a:p>
                      <a:pPr indent="0" marL="0">
                        <a:buNone/>
                      </a:pPr>
                      <a:r>
                        <a:rPr lang="en-US" sz="1400" dirty="0">
                          <a:solidFill>
                            <a:schemeClr val="tx1"/>
                          </a:solidFill>
                        </a:rPr>
                        <a:t>in donor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Solid cancer of any site</a:t>
                      </a:r>
                      <a:endParaRPr lang="en-US" sz="1400" dirty="0"/>
                    </a:p>
                    <a:p>
                      <a:pPr indent="0" marL="0">
                        <a:buNone/>
                      </a:pPr>
                      <a:r>
                        <a:rPr lang="en-US" sz="1400" dirty="0">
                          <a:solidFill>
                            <a:schemeClr val="tx1"/>
                          </a:solidFill>
                        </a:rPr>
                        <a:t>after HCT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Setting, timing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Mainly auto-HCT;</a:t>
                      </a:r>
                      <a:endParaRPr lang="en-US" sz="1400" dirty="0"/>
                    </a:p>
                    <a:p>
                      <a:pPr indent="0" marL="0">
                        <a:buNone/>
                      </a:pPr>
                      <a:r>
                        <a:rPr lang="en-US" sz="1400" dirty="0">
                          <a:solidFill>
                            <a:schemeClr val="tx1"/>
                          </a:solidFill>
                        </a:rPr>
                        <a:t>mostly within 10 years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Allo-HCT only;</a:t>
                      </a:r>
                      <a:endParaRPr lang="en-US" sz="1400" dirty="0"/>
                    </a:p>
                    <a:p>
                      <a:pPr indent="0" marL="0">
                        <a:buNone/>
                      </a:pPr>
                      <a:r>
                        <a:rPr lang="en-US" sz="1400" dirty="0">
                          <a:solidFill>
                            <a:schemeClr val="tx1"/>
                          </a:solidFill>
                        </a:rPr>
                        <a:t>timing variable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Auto and allo; rises</a:t>
                      </a:r>
                      <a:endParaRPr lang="en-US" sz="1400" dirty="0"/>
                    </a:p>
                    <a:p>
                      <a:pPr indent="0" marL="0">
                        <a:buNone/>
                      </a:pPr>
                      <a:r>
                        <a:rPr lang="en-US" sz="1400" dirty="0">
                          <a:solidFill>
                            <a:schemeClr val="tx1"/>
                          </a:solidFill>
                        </a:rPr>
                        <a:t>with longer follow-up</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Frequency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Lymphoma auto: 1% at 2 y</a:t>
                      </a:r>
                      <a:endParaRPr lang="en-US" sz="1400" dirty="0"/>
                    </a:p>
                    <a:p>
                      <a:pPr indent="0" marL="0">
                        <a:buNone/>
                      </a:pPr>
                      <a:r>
                        <a:rPr lang="en-US" sz="1400" dirty="0">
                          <a:solidFill>
                            <a:schemeClr val="tx1"/>
                          </a:solidFill>
                        </a:rPr>
                        <a:t>up to 24% at 43 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&lt; 1% at 15 y; up to 5%</a:t>
                      </a:r>
                      <a:endParaRPr lang="en-US" sz="1400" dirty="0"/>
                    </a:p>
                    <a:p>
                      <a:pPr indent="0" marL="0">
                        <a:buNone/>
                      </a:pPr>
                      <a:r>
                        <a:rPr lang="en-US" sz="1400" dirty="0">
                          <a:solidFill>
                            <a:schemeClr val="tx1"/>
                          </a:solidFill>
                        </a:rPr>
                        <a:t>of leukaemia 'relapses'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2.2% at 10 y,</a:t>
                      </a:r>
                      <a:endParaRPr lang="en-US" sz="1400" dirty="0"/>
                    </a:p>
                    <a:p>
                      <a:pPr indent="0" marL="0">
                        <a:buNone/>
                      </a:pPr>
                      <a:r>
                        <a:rPr lang="en-US" sz="1400" dirty="0">
                          <a:solidFill>
                            <a:schemeClr val="tx1"/>
                          </a:solidFill>
                        </a:rPr>
                        <a:t>6.7% at 15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Risk factors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Pre-HCT alkylators, TBI,</a:t>
                      </a:r>
                      <a:endParaRPr lang="en-US" sz="1400" dirty="0"/>
                    </a:p>
                    <a:p>
                      <a:pPr indent="0" marL="0">
                        <a:buNone/>
                      </a:pPr>
                      <a:r>
                        <a:rPr lang="en-US" sz="1400" dirty="0">
                          <a:solidFill>
                            <a:schemeClr val="tx1"/>
                          </a:solidFill>
                        </a:rPr>
                        <a:t>older age, lenalidomide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Donor clone, G-CSF,</a:t>
                      </a:r>
                      <a:endParaRPr lang="en-US" sz="1400" dirty="0"/>
                    </a:p>
                    <a:p>
                      <a:pPr indent="0" marL="0">
                        <a:buNone/>
                      </a:pPr>
                      <a:r>
                        <a:rPr lang="en-US" sz="1400" dirty="0">
                          <a:solidFill>
                            <a:schemeClr val="tx1"/>
                          </a:solidFill>
                        </a:rPr>
                        <a:t>in vivo TCD, multiple HCT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Radiation, cGVHD and IS,</a:t>
                      </a:r>
                      <a:endParaRPr lang="en-US" sz="1400" dirty="0"/>
                    </a:p>
                    <a:p>
                      <a:pPr indent="0" marL="0">
                        <a:buNone/>
                      </a:pPr>
                      <a:r>
                        <a:rPr lang="en-US" sz="1400" dirty="0">
                          <a:solidFill>
                            <a:schemeClr val="tx1"/>
                          </a:solidFill>
                        </a:rPr>
                        <a:t>HCV, HPV</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Outcome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Poor; median survival</a:t>
                      </a:r>
                      <a:endParaRPr lang="en-US" sz="1400" dirty="0"/>
                    </a:p>
                    <a:p>
                      <a:pPr indent="0" marL="0">
                        <a:buNone/>
                      </a:pPr>
                      <a:r>
                        <a:rPr lang="en-US" sz="1400" dirty="0">
                          <a:solidFill>
                            <a:schemeClr val="tx1"/>
                          </a:solidFill>
                        </a:rPr>
                        <a:t>6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Poor; few data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Depends on cancer type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Treatment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As de novo; early donor</a:t>
                      </a:r>
                      <a:endParaRPr lang="en-US" sz="1400" dirty="0"/>
                    </a:p>
                    <a:p>
                      <a:pPr indent="0" marL="0">
                        <a:buNone/>
                      </a:pPr>
                      <a:r>
                        <a:rPr lang="en-US" sz="1400" dirty="0">
                          <a:solidFill>
                            <a:schemeClr val="tx1"/>
                          </a:solidFill>
                        </a:rPr>
                        <a:t>search and allo-HCT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standard: re-HCT,</a:t>
                      </a:r>
                      <a:endParaRPr lang="en-US" sz="1400" dirty="0"/>
                    </a:p>
                    <a:p>
                      <a:pPr indent="0" marL="0">
                        <a:buNone/>
                      </a:pPr>
                      <a:r>
                        <a:rPr lang="en-US" sz="1400" dirty="0">
                          <a:solidFill>
                            <a:schemeClr val="tx1"/>
                          </a:solidFill>
                        </a:rPr>
                        <a:t>chemo, DLI, palliation</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As a de novo cancer</a:t>
                      </a:r>
                      <a:endParaRPr lang="en-US" sz="1400" dirty="0"/>
                    </a:p>
                    <a:p>
                      <a:pPr indent="0" marL="0">
                        <a:buNone/>
                      </a:pPr>
                      <a:r>
                        <a:rPr lang="en-US" sz="1400" dirty="0">
                          <a:solidFill>
                            <a:schemeClr val="tx1"/>
                          </a:solidFill>
                        </a:rPr>
                        <a:t>of the same type</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SOLID TUMOURS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Radiation, chronic GVHD and viruses drive second solid cancers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Box 3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Second solid neoplasm after HCT (Rizzo 2009)</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4"/>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Radiation / TBI</a:t>
            </a:r>
            <a:endParaRPr lang="en-US" sz="1400" dirty="0"/>
          </a:p>
        </p:txBody>
      </p:sp>
      <p:sp>
        <p:nvSpPr>
          <p:cNvPr id="11" name="Box 35"/>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Thyroid, breast, brain</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6"/>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Latency ≥ 10 years; dose related</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7"/>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cGVHD / IS</a:t>
            </a:r>
            <a:endParaRPr lang="en-US" sz="1400" dirty="0"/>
          </a:p>
        </p:txBody>
      </p:sp>
      <p:sp>
        <p:nvSpPr>
          <p:cNvPr id="16" name="Box 38"/>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SCC of skin and oropharynx</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9"/>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Short latency; any time after 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0"/>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Viral</a:t>
            </a:r>
            <a:endParaRPr lang="en-US" sz="1400" dirty="0"/>
          </a:p>
        </p:txBody>
      </p:sp>
      <p:sp>
        <p:nvSpPr>
          <p:cNvPr id="21" name="Box 41"/>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HCV → HCC; HPV → anogenital</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2"/>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HCC: 16% at 20 years if HCV</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NUMBERS AND RISKS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second cancer has its own driver and its own number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graphicFrame>
        <p:nvGraphicFramePr>
          <p:cNvPr id="11"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78024"/>
                <a:gridCol w="3758184"/>
                <a:gridCol w="4581144"/>
              </a:tblGrid>
              <a:tr h="0">
                <a:tc>
                  <a:txBody>
                    <a:bodyPr/>
                    <a:lstStyle/>
                    <a:p>
                      <a:pPr indent="0" marL="0">
                        <a:buNone/>
                      </a:pPr>
                      <a:r>
                        <a:rPr lang="en-US" sz="1600" b="1" dirty="0">
                          <a:solidFill>
                            <a:schemeClr val="tx1"/>
                          </a:solidFill>
                        </a:rPr>
                        <a:t>Cancer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Frequency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Risk factors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t-MN after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0.06–0.67% at 3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Pre-HCT chemo, TBI, older 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Breast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11% at 25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Radiation or TBI, young age at radiation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Thyroid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SIR 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Radiation or TBI, young 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Basal cell carcinoma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6.5% at 20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Radiation, light skin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SCC of skin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 at 20 years (as printed)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prolonged IS, azathioprine, male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Hepatocellular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16% at 20 years with HCV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Chronic HCV, cirrhosis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SIR 2.59 after BuCy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Bu-Cy conditioning, smoking before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Genital and anal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Cervix 2.13, anal 4.85, vulvar 22.76</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HPV reactivation, women and men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SCREENING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Second-cancer screening is lifelong and tighter for those at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graphicFrame>
        <p:nvGraphicFramePr>
          <p:cNvPr id="12" name="Table 4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929384"/>
                <a:gridCol w="4123944"/>
                <a:gridCol w="4764024"/>
              </a:tblGrid>
              <a:tr h="0">
                <a:tc>
                  <a:txBody>
                    <a:bodyPr/>
                    <a:lstStyle/>
                    <a:p>
                      <a:pPr indent="0" marL="0">
                        <a:buNone/>
                      </a:pPr>
                      <a:r>
                        <a:rPr lang="en-US" sz="1500" b="1" dirty="0">
                          <a:solidFill>
                            <a:schemeClr val="tx1"/>
                          </a:solidFill>
                        </a:rPr>
                        <a:t>Site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All patients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Patients at risk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Skin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Self-exam, avoid UV; dermatology every 1–2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More often after skin cancer or skin cGVHD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Mouth, pharynx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Exam at annual control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Specialist yearly if severe oral 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Thyroid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palpation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After TBI or RT: regular ultrasound, FNA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Breast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Discuss self-examination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After TBI or RT: mammography every 1–2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Cervix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Pap smear every 1–3 years from age 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HPV-positive: genital and anal review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Lung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Avoid active and passive smoking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busulfan + smoking: chest 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Blood (t-MN)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CBC for 10 y after auto-HCT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Abnormal CBC: marrow, cytogenetics, NGS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5"/>
          <p:cNvSpPr txBox="1"/>
          <p:nvPr/>
        </p:nvSpPr>
        <p:spPr>
          <a:xfrm>
            <a:off x="685800" y="50749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*Mammography from age 25 or 8 years after RT, whichever is later, but by 40 at the latest. Pap from 21, or within 3 years of first sexual activity if earlier.</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CARDIOMETABOLIC · METABOLIC SYNDROME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Metabolic syndrome needs three of five criteria and affects 31–49%</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Galvan ER, et al. EBMT Handbook 8th ed. 2024; Ch. 55</a:t>
            </a:r>
            <a:endParaRPr lang="en-US" sz="1000" dirty="0"/>
          </a:p>
        </p:txBody>
      </p:sp>
      <p:graphicFrame>
        <p:nvGraphicFramePr>
          <p:cNvPr id="13" name="Table 4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002536"/>
                <a:gridCol w="3090672"/>
                <a:gridCol w="3090672"/>
                <a:gridCol w="2633472"/>
              </a:tblGrid>
              <a:tr h="0">
                <a:tc>
                  <a:txBody>
                    <a:bodyPr/>
                    <a:lstStyle/>
                    <a:p>
                      <a:pPr indent="0" marL="0">
                        <a:buNone/>
                      </a:pPr>
                      <a:r>
                        <a:rPr lang="en-US" sz="1400" b="1" dirty="0">
                          <a:solidFill>
                            <a:schemeClr val="tx1"/>
                          </a:solidFill>
                        </a:rPr>
                        <a:t>Component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MetS threshold</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After HCT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Screening, adult survivors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Waist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Population-specific</a:t>
                      </a:r>
                      <a:endParaRPr lang="en-US" sz="1400" dirty="0"/>
                    </a:p>
                    <a:p>
                      <a:pPr indent="0" marL="0">
                        <a:buNone/>
                      </a:pPr>
                      <a:r>
                        <a:rPr lang="en-US" sz="1400" dirty="0">
                          <a:solidFill>
                            <a:schemeClr val="tx1"/>
                          </a:solidFill>
                        </a:rPr>
                        <a:t>[verify: Taiwan cut-off]</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Rises with steroids,</a:t>
                      </a:r>
                      <a:endParaRPr lang="en-US" sz="1400" dirty="0"/>
                    </a:p>
                    <a:p>
                      <a:pPr indent="0" marL="0">
                        <a:buNone/>
                      </a:pPr>
                      <a:r>
                        <a:rPr lang="en-US" sz="1400" dirty="0">
                          <a:solidFill>
                            <a:schemeClr val="tx1"/>
                          </a:solidFill>
                        </a:rPr>
                        <a:t>sarcopenic obesity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specific rule</a:t>
                      </a:r>
                      <a:endParaRPr lang="en-US" sz="1400" dirty="0"/>
                    </a:p>
                    <a:p>
                      <a:pPr indent="0" marL="0">
                        <a:buNone/>
                      </a:pPr>
                      <a:r>
                        <a:rPr lang="en-US" sz="1400" dirty="0">
                          <a:solidFill>
                            <a:schemeClr val="tx1"/>
                          </a:solidFill>
                        </a:rPr>
                        <a:t>for weight or BMI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Triglycerides,</a:t>
                      </a:r>
                      <a:endParaRPr lang="en-US" sz="1400" dirty="0"/>
                    </a:p>
                    <a:p>
                      <a:pPr indent="0" marL="0">
                        <a:buNone/>
                      </a:pPr>
                      <a:r>
                        <a:rPr lang="en-US" sz="1400" dirty="0">
                          <a:solidFill>
                            <a:schemeClr val="tx1"/>
                          </a:solidFill>
                        </a:rPr>
                        <a:t>HDL-C</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TG ≥ 1.7; HDL &lt; 1.0 (men),</a:t>
                      </a:r>
                      <a:endParaRPr lang="en-US" sz="1400" dirty="0"/>
                    </a:p>
                    <a:p>
                      <a:pPr indent="0" marL="0">
                        <a:buNone/>
                      </a:pPr>
                      <a:r>
                        <a:rPr lang="en-US" sz="1400" dirty="0">
                          <a:solidFill>
                            <a:schemeClr val="tx1"/>
                          </a:solidFill>
                        </a:rPr>
                        <a:t>&lt; 1.3 (women) mmol/L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Dyslipidaemia 43–73%;</a:t>
                      </a:r>
                      <a:endParaRPr lang="en-US" sz="1400" dirty="0"/>
                    </a:p>
                    <a:p>
                      <a:pPr indent="0" marL="0">
                        <a:buNone/>
                      </a:pPr>
                      <a:r>
                        <a:rPr lang="en-US" sz="1400" dirty="0">
                          <a:solidFill>
                            <a:schemeClr val="tx1"/>
                          </a:solidFill>
                        </a:rPr>
                        <a:t>allo vs auto RR 2.1; TBI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Lipids every 5 y:</a:t>
                      </a:r>
                      <a:endParaRPr lang="en-US" sz="1400" dirty="0"/>
                    </a:p>
                    <a:p>
                      <a:pPr indent="0" marL="0">
                        <a:buNone/>
                      </a:pPr>
                      <a:r>
                        <a:rPr lang="en-US" sz="1400" dirty="0">
                          <a:solidFill>
                            <a:schemeClr val="tx1"/>
                          </a:solidFill>
                        </a:rPr>
                        <a:t>men ≥ 35, women ≥ 45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Blood pressure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130/85 mmHg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HTN 2.06× vs siblings</a:t>
                      </a:r>
                      <a:endParaRPr lang="en-US" sz="1400" dirty="0"/>
                    </a:p>
                    <a:p>
                      <a:pPr indent="0" marL="0">
                        <a:buNone/>
                      </a:pPr>
                      <a:r>
                        <a:rPr lang="en-US" sz="1400" dirty="0">
                          <a:solidFill>
                            <a:schemeClr val="tx1"/>
                          </a:solidFill>
                        </a:rPr>
                        <a:t>or auto-HCT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least every 2 years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Fasting glucose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5.6 mmol/L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DM: allo OR 3.65; PRD</a:t>
                      </a:r>
                      <a:endParaRPr lang="en-US" sz="1400" dirty="0"/>
                    </a:p>
                    <a:p>
                      <a:pPr indent="0" marL="0">
                        <a:buNone/>
                      </a:pPr>
                      <a:r>
                        <a:rPr lang="en-US" sz="1400" dirty="0">
                          <a:solidFill>
                            <a:schemeClr val="tx1"/>
                          </a:solidFill>
                        </a:rPr>
                        <a:t>&gt; 0.25 mg/kg/d RR 3.6; TBI 3.42×</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Type 2 DM every 3 y if</a:t>
                      </a:r>
                      <a:endParaRPr lang="en-US" sz="1400" dirty="0"/>
                    </a:p>
                    <a:p>
                      <a:pPr indent="0" marL="0">
                        <a:buNone/>
                      </a:pPr>
                      <a:r>
                        <a:rPr lang="en-US" sz="1400" dirty="0">
                          <a:solidFill>
                            <a:schemeClr val="tx1"/>
                          </a:solidFill>
                        </a:rPr>
                        <a:t>≥ 45 y or BP &gt; 135/80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MetS overall</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 of 5</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37.5%; 53% if &gt; 50 y</a:t>
                      </a:r>
                      <a:endParaRPr lang="en-US" sz="1400" dirty="0"/>
                    </a:p>
                    <a:p>
                      <a:pPr indent="0" marL="0">
                        <a:buNone/>
                      </a:pPr>
                      <a:r>
                        <a:rPr lang="en-US" sz="1400" dirty="0">
                          <a:solidFill>
                            <a:schemeClr val="tx1"/>
                          </a:solidFill>
                        </a:rPr>
                        <a:t>(Greenfield 2021)</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CV events 26.7%</a:t>
                      </a:r>
                      <a:endParaRPr lang="en-US" sz="1400" dirty="0"/>
                    </a:p>
                    <a:p>
                      <a:pPr indent="0" marL="0">
                        <a:buNone/>
                      </a:pPr>
                      <a:r>
                        <a:rPr lang="en-US" sz="1400" dirty="0">
                          <a:solidFill>
                            <a:schemeClr val="tx1"/>
                          </a:solidFill>
                        </a:rPr>
                        <a:t>vs 9% without MetS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CARDIOMETABOLIC · CV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Cardiovascular risk adds treatment and GVHD to baseline factors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Galvan ER, et al. EBMT Handbook 8th ed. 2024; Ch. 55</a:t>
            </a:r>
            <a:endParaRPr lang="en-US" sz="1000" dirty="0"/>
          </a:p>
        </p:txBody>
      </p:sp>
      <p:graphicFrame>
        <p:nvGraphicFramePr>
          <p:cNvPr id="14" name="Table 4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020824"/>
                <a:gridCol w="4764024"/>
                <a:gridCol w="4032504"/>
              </a:tblGrid>
              <a:tr h="0">
                <a:tc>
                  <a:txBody>
                    <a:bodyPr/>
                    <a:lstStyle/>
                    <a:p>
                      <a:pPr indent="0" marL="0">
                        <a:buNone/>
                      </a:pPr>
                      <a:r>
                        <a:rPr lang="en-US" sz="1400" b="1" dirty="0">
                          <a:solidFill>
                            <a:schemeClr val="tx1"/>
                          </a:solidFill>
                        </a:rPr>
                        <a:t>Category</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Risk factors (Table 55.1)</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Threshold or note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Baseline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Family history, female sex, smoking, HTN, DM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Also dyslipidaemia, obesity, inactivity, CKD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Anthracyclines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Doxorubicin or equivalent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&gt; 250 mg/m²</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Radiotherapy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Field including the heart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&gt; 35 Gy, or &gt; 15–35 Gy plus</a:t>
                      </a:r>
                      <a:endParaRPr lang="en-US" sz="1400" dirty="0"/>
                    </a:p>
                    <a:p>
                      <a:pPr indent="0" marL="0">
                        <a:buNone/>
                      </a:pPr>
                      <a:r>
                        <a:rPr lang="en-US" sz="1400" dirty="0">
                          <a:solidFill>
                            <a:schemeClr val="tx1"/>
                          </a:solidFill>
                        </a:rPr>
                        <a:t>doxorubicin &gt; 100 mg/m²</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Other therapy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TBI, steroids, CY, Bu, melphalan, thiotepa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PTCy: more early cardiac events</a:t>
                      </a:r>
                      <a:endParaRPr lang="en-US" sz="1400" dirty="0"/>
                    </a:p>
                    <a:p>
                      <a:pPr indent="0" marL="0">
                        <a:buNone/>
                      </a:pPr>
                      <a:r>
                        <a:rPr lang="en-US" sz="1400" dirty="0">
                          <a:solidFill>
                            <a:schemeClr val="tx1"/>
                          </a:solidFill>
                        </a:rPr>
                        <a:t>(within 100 days)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Prophylaxis with steroids or CNI;</a:t>
                      </a:r>
                      <a:endParaRPr lang="en-US" sz="1400" dirty="0"/>
                    </a:p>
                    <a:p>
                      <a:pPr indent="0" marL="0">
                        <a:buNone/>
                      </a:pPr>
                      <a:r>
                        <a:rPr lang="en-US" sz="1400" dirty="0">
                          <a:solidFill>
                            <a:schemeClr val="tx1"/>
                          </a:solidFill>
                        </a:rPr>
                        <a:t>aGVHD II–IV, any cGVHD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Screen for TBI, GVHD and CNI use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Other late effects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Hypogonadism, early menopause, hypothyroidism</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Treat as CV risk factors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8"/>
          <p:cNvSpPr txBox="1"/>
          <p:nvPr/>
        </p:nvSpPr>
        <p:spPr>
          <a:xfrm>
            <a:off x="685800" y="53492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First CV event by 15 years: up to 6% (EBMT); 7.5% allo vs 2.3% auto (Tichelli 2007a)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ENDOCRINE · THYROID, ADRENAL, GROWTH</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Thyroid, adrenal and growth problems need lifelong screening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graphicFrame>
        <p:nvGraphicFramePr>
          <p:cNvPr id="15"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48840"/>
                <a:gridCol w="3035808"/>
                <a:gridCol w="2953512"/>
                <a:gridCol w="2679192"/>
              </a:tblGrid>
              <a:tr h="0">
                <a:tc>
                  <a:txBody>
                    <a:bodyPr/>
                    <a:lstStyle/>
                    <a:p>
                      <a:pPr indent="0" marL="0">
                        <a:buNone/>
                      </a:pPr>
                      <a:r>
                        <a:rPr lang="en-US" sz="1500" b="1" dirty="0">
                          <a:solidFill>
                            <a:schemeClr val="tx1"/>
                          </a:solidFill>
                        </a:rPr>
                        <a:t>Problem</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facts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Risk factors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Action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Hypothyroidism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in 4 after allo; mostly</a:t>
                      </a:r>
                      <a:endParaRPr lang="en-US" sz="1500" dirty="0"/>
                    </a:p>
                    <a:p>
                      <a:pPr indent="0" marL="0">
                        <a:buNone/>
                      </a:pPr>
                      <a:r>
                        <a:rPr lang="en-US" sz="1500" dirty="0">
                          <a:solidFill>
                            <a:schemeClr val="tx1"/>
                          </a:solidFill>
                        </a:rPr>
                        <a:t>compensated, may resolve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Single-dose TBI 5–6× vs</a:t>
                      </a:r>
                      <a:endParaRPr lang="en-US" sz="1500" dirty="0"/>
                    </a:p>
                    <a:p>
                      <a:pPr indent="0" marL="0">
                        <a:buNone/>
                      </a:pPr>
                      <a:r>
                        <a:rPr lang="en-US" sz="1500" dirty="0">
                          <a:solidFill>
                            <a:schemeClr val="tx1"/>
                          </a:solidFill>
                        </a:rPr>
                        <a:t>fractionated; Bu &gt; CY; cGVHD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TSH, FT4 and</a:t>
                      </a:r>
                      <a:endParaRPr lang="en-US" sz="1500" dirty="0"/>
                    </a:p>
                    <a:p>
                      <a:pPr indent="0" marL="0">
                        <a:buNone/>
                      </a:pPr>
                      <a:r>
                        <a:rPr lang="en-US" sz="1500" dirty="0">
                          <a:solidFill>
                            <a:schemeClr val="tx1"/>
                          </a:solidFill>
                        </a:rPr>
                        <a:t>palpation; low US threshold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Thyroid cancer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~3; &gt; 20 if HCT before</a:t>
                      </a:r>
                      <a:endParaRPr lang="en-US" sz="1500" dirty="0"/>
                    </a:p>
                    <a:p>
                      <a:pPr indent="0" marL="0">
                        <a:buNone/>
                      </a:pPr>
                      <a:r>
                        <a:rPr lang="en-US" sz="1500" dirty="0">
                          <a:solidFill>
                            <a:schemeClr val="tx1"/>
                          </a:solidFill>
                        </a:rPr>
                        <a:t>10 y; ~5 if 11–20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Young age, female sex,</a:t>
                      </a:r>
                      <a:endParaRPr lang="en-US" sz="1500" dirty="0"/>
                    </a:p>
                    <a:p>
                      <a:pPr indent="0" marL="0">
                        <a:buNone/>
                      </a:pPr>
                      <a:r>
                        <a:rPr lang="en-US" sz="1500" dirty="0">
                          <a:solidFill>
                            <a:schemeClr val="tx1"/>
                          </a:solidFill>
                        </a:rPr>
                        <a:t>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See second-cancer</a:t>
                      </a:r>
                      <a:endParaRPr lang="en-US" sz="1500" dirty="0"/>
                    </a:p>
                    <a:p>
                      <a:pPr indent="0" marL="0">
                        <a:buNone/>
                      </a:pPr>
                      <a:r>
                        <a:rPr lang="en-US" sz="1500" dirty="0">
                          <a:solidFill>
                            <a:schemeClr val="tx1"/>
                          </a:solidFill>
                        </a:rPr>
                        <a:t>screening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Hypoadrenalism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Central, from glucocorticoids;</a:t>
                      </a:r>
                      <a:endParaRPr lang="en-US" sz="1500" dirty="0"/>
                    </a:p>
                    <a:p>
                      <a:pPr indent="0" marL="0">
                        <a:buNone/>
                      </a:pPr>
                      <a:r>
                        <a:rPr lang="en-US" sz="1500" dirty="0">
                          <a:solidFill>
                            <a:schemeClr val="tx1"/>
                          </a:solidFill>
                        </a:rPr>
                        <a:t>symptoms mimic 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Supraphysiological dose</a:t>
                      </a:r>
                      <a:endParaRPr lang="en-US" sz="1500" dirty="0"/>
                    </a:p>
                    <a:p>
                      <a:pPr indent="0" marL="0">
                        <a:buNone/>
                      </a:pPr>
                      <a:r>
                        <a:rPr lang="en-US" sz="1500" dirty="0">
                          <a:solidFill>
                            <a:schemeClr val="tx1"/>
                          </a:solidFill>
                        </a:rPr>
                        <a:t>≥ 1 month, any route; TBI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Paired morning cortisol</a:t>
                      </a:r>
                      <a:endParaRPr lang="en-US" sz="1500" dirty="0"/>
                    </a:p>
                    <a:p>
                      <a:pPr indent="0" marL="0">
                        <a:buNone/>
                      </a:pPr>
                      <a:r>
                        <a:rPr lang="en-US" sz="1500" dirty="0">
                          <a:solidFill>
                            <a:schemeClr val="tx1"/>
                          </a:solidFill>
                        </a:rPr>
                        <a:t>+ ACTH; hydrocortisone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Growth</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Short stature: GH deficiency,</a:t>
                      </a:r>
                      <a:endParaRPr lang="en-US" sz="1500" dirty="0"/>
                    </a:p>
                    <a:p>
                      <a:pPr indent="0" marL="0">
                        <a:buNone/>
                      </a:pPr>
                      <a:r>
                        <a:rPr lang="en-US" sz="1500" dirty="0">
                          <a:solidFill>
                            <a:schemeClr val="tx1"/>
                          </a:solidFill>
                        </a:rPr>
                        <a:t>bone lesions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Cranial RT, single-dose TBI,</a:t>
                      </a:r>
                      <a:endParaRPr lang="en-US" sz="1500" dirty="0"/>
                    </a:p>
                    <a:p>
                      <a:pPr indent="0" marL="0">
                        <a:buNone/>
                      </a:pPr>
                      <a:r>
                        <a:rPr lang="en-US" sz="1500" dirty="0">
                          <a:solidFill>
                            <a:schemeClr val="tx1"/>
                          </a:solidFill>
                        </a:rPr>
                        <a:t>male, young age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Height, weight each visit;</a:t>
                      </a:r>
                      <a:endParaRPr lang="en-US" sz="1500" dirty="0"/>
                    </a:p>
                    <a:p>
                      <a:pPr indent="0" marL="0">
                        <a:buNone/>
                      </a:pPr>
                      <a:r>
                        <a:rPr lang="en-US" sz="1500" dirty="0">
                          <a:solidFill>
                            <a:schemeClr val="tx1"/>
                          </a:solidFill>
                        </a:rPr>
                        <a:t>GH if height SDS &lt; −2*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0"/>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Children: 58.7% have ≥ 1 endocrine abnormality. *Printed 'less than 2'; −2 is the speaker's reading.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FERTILITY · GONADAL DAMAGE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Ovaries fail at age-dependent doses; testes lose sperm, keep testosterone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graphicFrame>
        <p:nvGraphicFramePr>
          <p:cNvPr id="16"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020824"/>
                <a:gridCol w="4581144"/>
                <a:gridCol w="4215384"/>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Women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Men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Chemotherapy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Alkylators worst; BuCy very gonadotoxic;</a:t>
                      </a:r>
                      <a:endParaRPr lang="en-US" sz="1500" dirty="0"/>
                    </a:p>
                    <a:p>
                      <a:pPr indent="0" marL="0">
                        <a:buNone/>
                      </a:pPr>
                      <a:r>
                        <a:rPr lang="en-US" sz="1500" dirty="0">
                          <a:solidFill>
                            <a:schemeClr val="tx1"/>
                          </a:solidFill>
                        </a:rPr>
                        <a:t>CY alone may preserve function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Bu: ~50% azoospermic;</a:t>
                      </a:r>
                      <a:endParaRPr lang="en-US" sz="1500" dirty="0"/>
                    </a:p>
                    <a:p>
                      <a:pPr indent="0" marL="0">
                        <a:buNone/>
                      </a:pPr>
                      <a:r>
                        <a:rPr lang="en-US" sz="1500" dirty="0">
                          <a:solidFill>
                            <a:schemeClr val="tx1"/>
                          </a:solidFill>
                        </a:rPr>
                        <a:t>CY alone: recovery more frequent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Treosulfan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Lower gonadotrophins than Bu;</a:t>
                      </a:r>
                      <a:endParaRPr lang="en-US" sz="1500" dirty="0"/>
                    </a:p>
                    <a:p>
                      <a:pPr indent="0" marL="0">
                        <a:buNone/>
                      </a:pPr>
                      <a:r>
                        <a:rPr lang="en-US" sz="1500" dirty="0">
                          <a:solidFill>
                            <a:schemeClr val="tx1"/>
                          </a:solidFill>
                        </a:rPr>
                        <a:t>no proof of more pregnancies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Radiation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Oocyte LD50 &lt; 2 Gy; ESD 18.4 Gy at 10 y,</a:t>
                      </a:r>
                      <a:endParaRPr lang="en-US" sz="1500" dirty="0"/>
                    </a:p>
                    <a:p>
                      <a:pPr indent="0" marL="0">
                        <a:buNone/>
                      </a:pPr>
                      <a:r>
                        <a:rPr lang="en-US" sz="1500" dirty="0">
                          <a:solidFill>
                            <a:schemeClr val="tx1"/>
                          </a:solidFill>
                        </a:rPr>
                        <a:t>14.3 Gy at 30 y, 6 Gy over 40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Gy: ~2 years to recover sperm;</a:t>
                      </a:r>
                      <a:endParaRPr lang="en-US" sz="1500" dirty="0"/>
                    </a:p>
                    <a:p>
                      <a:pPr indent="0" marL="0">
                        <a:buNone/>
                      </a:pPr>
                      <a:r>
                        <a:rPr lang="en-US" sz="1500" dirty="0">
                          <a:solidFill>
                            <a:schemeClr val="tx1"/>
                          </a:solidFill>
                        </a:rPr>
                        <a:t>MAC TBI: most azoospermic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Hormones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Premature ovarian failure,</a:t>
                      </a:r>
                      <a:endParaRPr lang="en-US" sz="1500" dirty="0"/>
                    </a:p>
                    <a:p>
                      <a:pPr indent="0" marL="0">
                        <a:buNone/>
                      </a:pPr>
                      <a:r>
                        <a:rPr lang="en-US" sz="1500" dirty="0">
                          <a:solidFill>
                            <a:schemeClr val="tx1"/>
                          </a:solidFill>
                        </a:rPr>
                        <a:t>early menopause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Testosterone usually normal (Leydig</a:t>
                      </a:r>
                      <a:endParaRPr lang="en-US" sz="1500" dirty="0"/>
                    </a:p>
                    <a:p>
                      <a:pPr indent="0" marL="0">
                        <a:buNone/>
                      </a:pPr>
                      <a:r>
                        <a:rPr lang="en-US" sz="1500" dirty="0">
                          <a:solidFill>
                            <a:schemeClr val="tx1"/>
                          </a:solidFill>
                        </a:rPr>
                        <a:t>cells resist); monitor yearly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Pregnancy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TBI or pelvic RT: miscarriage,</a:t>
                      </a:r>
                      <a:endParaRPr lang="en-US" sz="1500" dirty="0"/>
                    </a:p>
                    <a:p>
                      <a:pPr indent="0" marL="0">
                        <a:buNone/>
                      </a:pPr>
                      <a:r>
                        <a:rPr lang="en-US" sz="1500" dirty="0">
                          <a:solidFill>
                            <a:schemeClr val="tx1"/>
                          </a:solidFill>
                        </a:rPr>
                        <a:t>preterm birth, low birth weight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Both: delay conception ~6 months</a:t>
                      </a:r>
                      <a:endParaRPr lang="en-US" sz="1500" dirty="0"/>
                    </a:p>
                    <a:p>
                      <a:pPr indent="0" marL="0">
                        <a:buNone/>
                      </a:pPr>
                      <a:r>
                        <a:rPr lang="en-US" sz="1500" dirty="0">
                          <a:solidFill>
                            <a:schemeClr val="tx1"/>
                          </a:solidFill>
                        </a:rPr>
                        <a:t>after gonadotoxic therapy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FERTILITY · PRESERVATION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Fertility preservation depends on sex, puberty and time available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sp>
        <p:nvSpPr>
          <p:cNvPr id="6" name="Box 5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Discuss fertility before any chemoradiotherapy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3"/>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Postpubertal male</a:t>
            </a:r>
            <a:endParaRPr lang="en-US" sz="1400" dirty="0"/>
          </a:p>
        </p:txBody>
      </p:sp>
      <p:sp>
        <p:nvSpPr>
          <p:cNvPr id="11" name="Box 54"/>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Sperm cryopreservation</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55"/>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TESE if needed; recovery likelier &lt; 25 y</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56"/>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Prepubertal boy</a:t>
            </a:r>
            <a:endParaRPr lang="en-US" sz="1400" dirty="0"/>
          </a:p>
        </p:txBody>
      </p:sp>
      <p:sp>
        <p:nvSpPr>
          <p:cNvPr id="16" name="Box 57"/>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Testicular tissue cryopreservation</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58"/>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Experimental: no human live births yet</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59"/>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Adult woman</a:t>
            </a:r>
            <a:endParaRPr lang="en-US" sz="1400" dirty="0"/>
          </a:p>
        </p:txBody>
      </p:sp>
      <p:sp>
        <p:nvSpPr>
          <p:cNvPr id="21" name="Box 60"/>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Embryo or oocyte cryopreservation</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1"/>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Preferred; needs ≥ 2 weeks stimulation</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2"/>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Girl, or no time</a:t>
            </a:r>
            <a:endParaRPr lang="en-US" sz="1400" dirty="0"/>
          </a:p>
        </p:txBody>
      </p:sp>
      <p:sp>
        <p:nvSpPr>
          <p:cNvPr id="26" name="Box 63"/>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Ovarian tissue cryopreservation</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64"/>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Do not reimplant in leukaemia</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iron overload after a cured thalassaemia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sp>
        <p:nvSpPr>
          <p:cNvPr id="6" name="Text 6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19-year-old woman with β-thalassaemia major had a matched sibling allo-HCT 2 years ago. She is transfusion-independent and off immunosuppression, with Hb 12.5 g/dL and normal renal function. Serum ferritin is 2,400 ng/mL, transferrin saturation 82%, and liver MRI shows marked iron overload. What is the best next step?</a:t>
            </a:r>
            <a:endParaRPr lang="en-US" sz="1900" dirty="0"/>
          </a:p>
        </p:txBody>
      </p:sp>
      <p:sp>
        <p:nvSpPr>
          <p:cNvPr id="7" name="Text 6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Observe; iron stores will normalise now that transfusions have stopped</a:t>
            </a:r>
            <a:endParaRPr lang="en-US" sz="1800" dirty="0"/>
          </a:p>
          <a:p>
            <a:pPr indent="0" marL="0">
              <a:spcAft>
                <a:spcPts val="800"/>
              </a:spcAft>
              <a:buNone/>
            </a:pPr>
            <a:r>
              <a:rPr lang="en-US" sz="1800" dirty="0">
                <a:solidFill>
                  <a:schemeClr val="tx1"/>
                </a:solidFill>
              </a:rPr>
              <a:t>B.  Phlebotomy 6 mL/kg every 14 days, aiming for a normal TSAT</a:t>
            </a:r>
            <a:endParaRPr lang="en-US" sz="1800" dirty="0"/>
          </a:p>
          <a:p>
            <a:pPr indent="0" marL="0">
              <a:spcAft>
                <a:spcPts val="800"/>
              </a:spcAft>
              <a:buNone/>
            </a:pPr>
            <a:r>
              <a:rPr lang="en-US" sz="1800" dirty="0">
                <a:solidFill>
                  <a:schemeClr val="tx1"/>
                </a:solidFill>
              </a:rPr>
              <a:t>C.  Start deferiprone three times daily</a:t>
            </a:r>
            <a:endParaRPr lang="en-US" sz="1800" dirty="0"/>
          </a:p>
          <a:p>
            <a:pPr indent="0" marL="0">
              <a:spcAft>
                <a:spcPts val="800"/>
              </a:spcAft>
              <a:buNone/>
            </a:pPr>
            <a:r>
              <a:rPr lang="en-US" sz="1800" dirty="0">
                <a:solidFill>
                  <a:schemeClr val="tx1"/>
                </a:solidFill>
              </a:rPr>
              <a:t>D.  Repeat liver biopsy every 6 months to guide therapy</a:t>
            </a:r>
            <a:endParaRPr lang="en-US" sz="1800" dirty="0"/>
          </a:p>
          <a:p>
            <a:pPr indent="0" marL="0">
              <a:spcAft>
                <a:spcPts val="800"/>
              </a:spcAft>
              <a:buNone/>
            </a:pPr>
            <a:r>
              <a:rPr lang="en-US" sz="1800" dirty="0">
                <a:solidFill>
                  <a:schemeClr val="tx1"/>
                </a:solidFill>
              </a:rPr>
              <a:t>E.  Treat only if ferritin rises above its current level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remove the iron by phlebotomy to a normal TSAT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Phlebotomy 6 mL/kg every 14 days, aiming for a normal TSAT</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sustained engraftment, acquired iron does not leave without intervention: transferrin saturation stays high indefinitely and liver disease progresses. Effective erythropoiesis allows phlebotomy, 6 mL/kg every 14 days, aiming for a normal TSAT. Deferiprone is usually avoided (agranulocytosis); biopsy is unfit for repeated follow-up.</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breast screening after TBI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Text 69"/>
          <p:cNvSpPr txBox="1"/>
          <p:nvPr/>
        </p:nvSpPr>
        <p:spPr>
          <a:xfrm>
            <a:off x="685800" y="17373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30-year-old woman had a myeloablative cyclophosphamide/TBI allo-HCT for ALL at age 21. She is in remission, off immunosuppression and has no chronic GVHD or family history of breast cancer. At her annual late-effects visit, which breast screening plan is recommended?</a:t>
            </a:r>
            <a:endParaRPr lang="en-US" sz="1900" dirty="0"/>
          </a:p>
        </p:txBody>
      </p:sp>
      <p:sp>
        <p:nvSpPr>
          <p:cNvPr id="7" name="Text 70"/>
          <p:cNvSpPr txBox="1"/>
          <p:nvPr/>
        </p:nvSpPr>
        <p:spPr>
          <a:xfrm>
            <a:off x="960120" y="3136392"/>
            <a:ext cx="10543032" cy="27614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Breast self-examination only until age 40</a:t>
            </a:r>
            <a:endParaRPr lang="en-US" sz="1800" dirty="0"/>
          </a:p>
          <a:p>
            <a:pPr indent="0" marL="0">
              <a:spcAft>
                <a:spcPts val="800"/>
              </a:spcAft>
              <a:buNone/>
            </a:pPr>
            <a:r>
              <a:rPr lang="en-US" sz="1800" dirty="0">
                <a:solidFill>
                  <a:schemeClr val="tx1"/>
                </a:solidFill>
              </a:rPr>
              <a:t>B.  Screening mammography every 1–2 years, starting now</a:t>
            </a:r>
            <a:endParaRPr lang="en-US" sz="1800" dirty="0"/>
          </a:p>
          <a:p>
            <a:pPr indent="0" marL="0">
              <a:spcAft>
                <a:spcPts val="800"/>
              </a:spcAft>
              <a:buNone/>
            </a:pPr>
            <a:r>
              <a:rPr lang="en-US" sz="1800" dirty="0">
                <a:solidFill>
                  <a:schemeClr val="tx1"/>
                </a:solidFill>
              </a:rPr>
              <a:t>C.  Mammography from age 50, as for the general population</a:t>
            </a:r>
            <a:endParaRPr lang="en-US" sz="1800" dirty="0"/>
          </a:p>
          <a:p>
            <a:pPr indent="0" marL="0">
              <a:spcAft>
                <a:spcPts val="800"/>
              </a:spcAft>
              <a:buNone/>
            </a:pPr>
            <a:r>
              <a:rPr lang="en-US" sz="1800" dirty="0">
                <a:solidFill>
                  <a:schemeClr val="tx1"/>
                </a:solidFill>
              </a:rPr>
              <a:t>D.  No screening, because TBI is not linked to breast cancer</a:t>
            </a:r>
            <a:endParaRPr lang="en-US" sz="1800" dirty="0"/>
          </a:p>
          <a:p>
            <a:pPr indent="0" marL="0">
              <a:spcAft>
                <a:spcPts val="800"/>
              </a:spcAft>
              <a:buNone/>
            </a:pPr>
            <a:r>
              <a:rPr lang="en-US" sz="1800" dirty="0">
                <a:solidFill>
                  <a:schemeClr val="tx1"/>
                </a:solidFill>
              </a:rPr>
              <a:t>E.  Mammography only if a BRCA mutation is found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after TBI, mammography starts at the later of 25 or RT + 8</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Screening mammography every 1–2 years, starting now</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TBI or local radiation, screening mammography every 1–2 years starts at age 25 or 8 years after radiation, whichever is later, and no later than 40. Here: 21 + 8 = 29, later than 25, so she is due now. Breast cancer is a radiation-related, long-latency second cancer: 11% at 25 years after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fatigue after the steroid taper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sp>
        <p:nvSpPr>
          <p:cNvPr id="6" name="Text 7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woman is 14 months after allo-HCT for AML. Prednisolone for skin and liver chronic GVHD was given for 8 months and stopped 3 weeks ago; she still uses a topical steroid. She now has fatigue, nausea, weight loss and BP 92/58 mmHg. Skin and liver findings are unchanged. What is the most appropriate next step?</a:t>
            </a:r>
            <a:endParaRPr lang="en-US" sz="1900" dirty="0"/>
          </a:p>
        </p:txBody>
      </p:sp>
      <p:sp>
        <p:nvSpPr>
          <p:cNvPr id="7" name="Text 7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Restart prednisolone 1 mg/kg/day for a presumed GVHD flare</a:t>
            </a:r>
            <a:endParaRPr lang="en-US" sz="1800" dirty="0"/>
          </a:p>
          <a:p>
            <a:pPr indent="0" marL="0">
              <a:spcAft>
                <a:spcPts val="800"/>
              </a:spcAft>
              <a:buNone/>
            </a:pPr>
            <a:r>
              <a:rPr lang="en-US" sz="1800" dirty="0">
                <a:solidFill>
                  <a:schemeClr val="tx1"/>
                </a:solidFill>
              </a:rPr>
              <a:t>B.  Paired morning serum cortisol and ACTH</a:t>
            </a:r>
            <a:endParaRPr lang="en-US" sz="1800" dirty="0"/>
          </a:p>
          <a:p>
            <a:pPr indent="0" marL="0">
              <a:spcAft>
                <a:spcPts val="800"/>
              </a:spcAft>
              <a:buNone/>
            </a:pPr>
            <a:r>
              <a:rPr lang="en-US" sz="1800" dirty="0">
                <a:solidFill>
                  <a:schemeClr val="tx1"/>
                </a:solidFill>
              </a:rPr>
              <a:t>C.  Upper endoscopy with biopsies for gastrointestinal GVHD</a:t>
            </a:r>
            <a:endParaRPr lang="en-US" sz="1800" dirty="0"/>
          </a:p>
          <a:p>
            <a:pPr indent="0" marL="0">
              <a:spcAft>
                <a:spcPts val="800"/>
              </a:spcAft>
              <a:buNone/>
            </a:pPr>
            <a:r>
              <a:rPr lang="en-US" sz="1800" dirty="0">
                <a:solidFill>
                  <a:schemeClr val="tx1"/>
                </a:solidFill>
              </a:rPr>
              <a:t>D.  TSH and free T4 only</a:t>
            </a:r>
            <a:endParaRPr lang="en-US" sz="1800" dirty="0"/>
          </a:p>
          <a:p>
            <a:pPr indent="0" marL="0">
              <a:spcAft>
                <a:spcPts val="800"/>
              </a:spcAft>
              <a:buNone/>
            </a:pPr>
            <a:r>
              <a:rPr lang="en-US" sz="1800" dirty="0">
                <a:solidFill>
                  <a:schemeClr val="tx1"/>
                </a:solidFill>
              </a:rPr>
              <a:t>E.  Reassure; steroid-withdrawal symptoms resolve without testing</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suspect central hypoadrenalism and test cortisol with ACTH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Paired morning serum cortisol and ACTH</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Supraphysiological glucocorticoids for ≥ 1 month, by any route including topical, put her at risk of central hypoadrenalism, whose nonspecific symptoms can mimic GVHD. Diagnosis requires paired morning cortisol and ACTH; if inconclusive, involve an endocrinologist. If confirmed: hydrocortisone with stress doses, then regular re-evaluation.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7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Suárez-Lledó M, Rovira M. Short- and long-term controls after HCT. In: Sureda A, Corbacioglu S, Greco R, Kröger N, Carreras E, editors. The EBMT Handbook: Hematopoietic Cell Transplantation and Cellular Therapies. 8th ed. Cham: Springer; 2024. p. 189–93. https://doi.org/10.1007/978-3-031-44080-9_22</a:t>
            </a:r>
            <a:endParaRPr lang="en-US" sz="1100" dirty="0"/>
          </a:p>
          <a:p>
            <a:pPr indent="0" marL="0">
              <a:spcAft>
                <a:spcPts val="700"/>
              </a:spcAft>
              <a:buNone/>
            </a:pPr>
            <a:r>
              <a:rPr lang="en-US" sz="1100" dirty="0">
                <a:solidFill>
                  <a:schemeClr val="tx1"/>
                </a:solidFill>
              </a:rPr>
              <a:t>2. Angelucci E, Raiola AM. Iron overload. In: Sureda A, Corbacioglu S, Greco R, Kröger N, Carreras E, editors. The EBMT Handbook: Hematopoietic Cell Transplantation and Cellular Therapies. 8th ed. Cham: Springer; 2024. p. 419–23. https://doi.org/10.1007/978-3-031-44080-9_46</a:t>
            </a:r>
            <a:endParaRPr lang="en-US" sz="1100" dirty="0"/>
          </a:p>
          <a:p>
            <a:pPr indent="0" marL="0">
              <a:spcAft>
                <a:spcPts val="700"/>
              </a:spcAft>
              <a:buNone/>
            </a:pPr>
            <a:r>
              <a:rPr lang="en-US" sz="1100" dirty="0">
                <a:solidFill>
                  <a:schemeClr val="tx1"/>
                </a:solidFill>
              </a:rPr>
              <a:t>3. Tichelli A, Rovó A. Secondary neoplasia (other than PTLPS). In: Sureda A, Corbacioglu S, Greco R, Kröger N, Carreras E, editors. The EBMT Handbook: Hematopoietic Cell Transplantation and Cellular Therapies. 8th ed. Cham: Springer; 2024. p. 425–32. https://doi.org/10.1007/978-3-031-44080-9_47</a:t>
            </a:r>
            <a:endParaRPr lang="en-US" sz="1100" dirty="0"/>
          </a:p>
          <a:p>
            <a:pPr indent="0" marL="0">
              <a:spcAft>
                <a:spcPts val="700"/>
              </a:spcAft>
              <a:buNone/>
            </a:pPr>
            <a:r>
              <a:rPr lang="en-US" sz="1100" dirty="0">
                <a:solidFill>
                  <a:schemeClr val="tx1"/>
                </a:solidFill>
              </a:rPr>
              <a:t>4. Galvan ER, Snowden JA, Greenfield DM. Cardiovascular diseases and metabolic syndrome. In: Sureda A, Corbacioglu S, Greco R, Kröger N, Carreras E, editors. The EBMT Handbook: Hematopoietic Cell Transplantation and Cellular Therapies. 8th ed. Cham: Springer; 2024. p. 495–500. https://doi.org/10.1007/978-3-031-44080-9_55</a:t>
            </a:r>
            <a:endParaRPr lang="en-US" sz="1100" dirty="0"/>
          </a:p>
        </p:txBody>
      </p:sp>
      <p:sp>
        <p:nvSpPr>
          <p:cNvPr id="6" name="Text 7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Salooja N, Rovó A, Dalle JH. Endocrine disorders, fertility, and sexual health. In: Sureda A, Corbacioglu S, Greco R, Kröger N, Carreras E, editors. The EBMT Handbook: Hematopoietic Cell Transplantation and Cellular Therapies. 8th ed. Cham: Springer; 2024. p. 501–9. https://doi.org/10.1007/978-3-031-44080-9_56</a:t>
            </a:r>
            <a:endParaRPr lang="en-US" sz="1100" dirty="0"/>
          </a:p>
          <a:p>
            <a:pPr indent="0" marL="0">
              <a:spcAft>
                <a:spcPts val="700"/>
              </a:spcAft>
              <a:buNone/>
            </a:pPr>
            <a:r>
              <a:rPr lang="en-US" sz="1100" dirty="0">
                <a:solidFill>
                  <a:schemeClr val="tx1"/>
                </a:solidFill>
              </a:rPr>
              <a:t>6. Majhail NS, Rizzo JD, Lee SJ, et al. Recommended screening and preventive practices for long-term survivors after hematopoietic cell transplantation. Biol Blood Marrow Transplant. 2012;18:348–71.</a:t>
            </a:r>
            <a:endParaRPr lang="en-US" sz="1100" dirty="0"/>
          </a:p>
          <a:p>
            <a:pPr indent="0" marL="0">
              <a:spcAft>
                <a:spcPts val="700"/>
              </a:spcAft>
              <a:buNone/>
            </a:pPr>
            <a:r>
              <a:rPr lang="en-US" sz="1100" dirty="0">
                <a:solidFill>
                  <a:schemeClr val="tx1"/>
                </a:solidFill>
              </a:rPr>
              <a:t>7. Angelucci E, Muretto P, Lucarelli G, et al. Phlebotomy to reduce iron overload in patients cured of thalassemia by bone marrow transplantation. Italian cooperative group for phlebotomy treatment of transplanted thalassemia patients. Blood. 1997a;90:994–8.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8. Rizzo JD, Curtis RE, Socie G, et al. Solid cancers after allogeneic hematopoietic cell transplantation. Blood. 2009;113:1175–83.</a:t>
            </a:r>
            <a:endParaRPr lang="en-US" sz="1100" dirty="0"/>
          </a:p>
          <a:p>
            <a:pPr indent="0" marL="0">
              <a:spcAft>
                <a:spcPts val="700"/>
              </a:spcAft>
              <a:buNone/>
            </a:pPr>
            <a:r>
              <a:rPr lang="en-US" sz="1100" dirty="0">
                <a:solidFill>
                  <a:schemeClr val="tx1"/>
                </a:solidFill>
              </a:rPr>
              <a:t>9. Greenfield DM, Salooja N, Peczynski C, et al. Metabolic syndrome and cardiovascular disease after hematopoietic stem cell transplantation (HCT) in adults: an EBMT, cross-sectional non-interventional stud. Bone Marrow Transplant. 2021;56:2820–5.</a:t>
            </a:r>
            <a:endParaRPr lang="en-US" sz="1100" dirty="0"/>
          </a:p>
          <a:p>
            <a:pPr indent="0" marL="0">
              <a:spcAft>
                <a:spcPts val="700"/>
              </a:spcAft>
              <a:buNone/>
            </a:pPr>
            <a:r>
              <a:rPr lang="en-US" sz="1100" dirty="0">
                <a:solidFill>
                  <a:schemeClr val="tx1"/>
                </a:solidFill>
              </a:rPr>
              <a:t>10. Tichelli A, Bucher C, Rovo A, et al. Premature cardiovascular disease after allogeneic hematopoietic stem-cell transplantation. Blood. 2007a;110:3463–71.</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11. DeFilipp Z, Duarte RF, Snowden JA, et al. Complications and quality of life working party, metabolic syndrome and cardiovascular disease following hematopoietic cell transplantation: screening and preventive practice recommendations from CIBMTR and EBMT. Bone Marrow Transplant. 2017;52:173–82.</a:t>
            </a:r>
            <a:endParaRPr lang="en-US" sz="1100" dirty="0"/>
          </a:p>
          <a:p>
            <a:pPr indent="0" marL="0">
              <a:spcAft>
                <a:spcPts val="700"/>
              </a:spcAft>
              <a:buNone/>
            </a:pPr>
            <a:r>
              <a:rPr lang="en-US" sz="1100" dirty="0">
                <a:solidFill>
                  <a:schemeClr val="tx1"/>
                </a:solidFill>
              </a:rPr>
              <a:t>12. Wallace WH, Thomson AB, Saran F, Kelsey TW. Predicting age of ovarian failure after radiation to a field that includes the ovaries. Int J Radiat Oncol Biol Phys. 2003b;62:738–44.</a:t>
            </a:r>
            <a:endParaRPr lang="en-US" sz="1100" dirty="0"/>
          </a:p>
          <a:p>
            <a:pPr indent="0" marL="0">
              <a:spcAft>
                <a:spcPts val="700"/>
              </a:spcAft>
              <a:buNone/>
            </a:pPr>
            <a:r>
              <a:rPr lang="en-US" sz="1100" dirty="0">
                <a:solidFill>
                  <a:schemeClr val="tx1"/>
                </a:solidFill>
              </a:rPr>
              <a:t>13. Syrjala KL, Schoemans H, Yi JC, Langer SL, Mukherjee A, Onstad L, et al. Sexual functioning in long-term survivors of hematopoietic cell transplantation. Transplant Cell Ther. 2021;27:80.e1–80.e12.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IRON OVERLOAD · CHELATORS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chelators differ in route, half-life and toxicity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graphicFrame>
        <p:nvGraphicFramePr>
          <p:cNvPr id="26" name="Table 8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3483864"/>
                <a:gridCol w="4215384"/>
              </a:tblGrid>
              <a:tr h="0">
                <a:tc>
                  <a:txBody>
                    <a:bodyPr/>
                    <a:lstStyle/>
                    <a:p>
                      <a:pPr indent="0" marL="0">
                        <a:buNone/>
                      </a:pPr>
                      <a:r>
                        <a:rPr lang="en-US" sz="1800" b="1" dirty="0">
                          <a:solidFill>
                            <a:schemeClr val="tx1"/>
                          </a:solidFill>
                        </a:rPr>
                        <a:t>Chelator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Route, half-life, schedule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Main adverse events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Deferoxamine (hexadentate)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Parenteral; 30 min;</a:t>
                      </a:r>
                      <a:endParaRPr lang="en-US" sz="1800" dirty="0"/>
                    </a:p>
                    <a:p>
                      <a:pPr indent="0" marL="0">
                        <a:buNone/>
                      </a:pPr>
                      <a:r>
                        <a:rPr lang="en-US" sz="1800" dirty="0">
                          <a:solidFill>
                            <a:schemeClr val="tx1"/>
                          </a:solidFill>
                        </a:rPr>
                        <a:t>continuous SC or IV infusion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Infusion site, allergy, bone,</a:t>
                      </a:r>
                      <a:endParaRPr lang="en-US" sz="1800" dirty="0"/>
                    </a:p>
                    <a:p>
                      <a:pPr indent="0" marL="0">
                        <a:buNone/>
                      </a:pPr>
                      <a:r>
                        <a:rPr lang="en-US" sz="1800" dirty="0">
                          <a:solidFill>
                            <a:schemeClr val="tx1"/>
                          </a:solidFill>
                        </a:rPr>
                        <a:t>growth, ear, eye, Yersinia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Deferasirox (tridentate)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Oral; 8–16 h; once daily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Renal toxicity, raised liver</a:t>
                      </a:r>
                      <a:endParaRPr lang="en-US" sz="1800" dirty="0"/>
                    </a:p>
                    <a:p>
                      <a:pPr indent="0" marL="0">
                        <a:buNone/>
                      </a:pPr>
                      <a:r>
                        <a:rPr lang="en-US" sz="1800" dirty="0">
                          <a:solidFill>
                            <a:schemeClr val="tx1"/>
                          </a:solidFill>
                        </a:rPr>
                        <a:t>enzymes, rash, GI upset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Deferiprone (bidentate)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Oral; 3 h; three times daily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GI upset, liver enzymes,</a:t>
                      </a:r>
                      <a:endParaRPr lang="en-US" sz="1800" dirty="0"/>
                    </a:p>
                    <a:p>
                      <a:pPr indent="0" marL="0">
                        <a:buNone/>
                      </a:pPr>
                      <a:r>
                        <a:rPr lang="en-US" sz="1800" dirty="0">
                          <a:solidFill>
                            <a:schemeClr val="tx1"/>
                          </a:solidFill>
                        </a:rPr>
                        <a:t>neutropenia, agranulocytosis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SECOND CANCERS · OUTCOME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Second solid cancer outcome depends mainly on the cancer type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Text 82"/>
          <p:cNvSpPr txBox="1"/>
          <p:nvPr/>
        </p:nvSpPr>
        <p:spPr>
          <a:xfrm>
            <a:off x="685800"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Favourable</a:t>
            </a:r>
            <a:endParaRPr lang="en-US" sz="2000" dirty="0"/>
          </a:p>
        </p:txBody>
      </p:sp>
      <p:sp>
        <p:nvSpPr>
          <p:cNvPr id="7" name="Shape 4"/>
          <p:cNvSpPr/>
          <p:nvPr/>
        </p:nvSpPr>
        <p:spPr>
          <a:xfrm>
            <a:off x="685800" y="2743200"/>
            <a:ext cx="3300984" cy="0"/>
          </a:xfrm>
          <a:prstGeom prst="line">
            <a:avLst/>
          </a:prstGeom>
          <a:noFill/>
          <a:ln w="15875">
            <a:solidFill>
              <a:schemeClr val="tx1"/>
            </a:solidFill>
            <a:prstDash val="solid"/>
          </a:ln>
        </p:spPr>
      </p:sp>
      <p:sp>
        <p:nvSpPr>
          <p:cNvPr id="8" name="Text 83"/>
          <p:cNvSpPr txBox="1"/>
          <p:nvPr/>
        </p:nvSpPr>
        <p:spPr>
          <a:xfrm>
            <a:off x="685800"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Thyroid</a:t>
            </a:r>
            <a:endParaRPr lang="en-US" sz="1600" dirty="0"/>
          </a:p>
          <a:p>
            <a:pPr marL="342900" indent="-342900">
              <a:spcAft>
                <a:spcPts val="800"/>
              </a:spcAft>
              <a:buSzPct val="100000"/>
              <a:buChar char="•"/>
            </a:pPr>
            <a:r>
              <a:rPr lang="en-US" sz="1600" dirty="0">
                <a:solidFill>
                  <a:schemeClr val="tx1"/>
                </a:solidFill>
              </a:rPr>
              <a:t>Breast</a:t>
            </a:r>
            <a:endParaRPr lang="en-US" sz="1600" dirty="0"/>
          </a:p>
          <a:p>
            <a:pPr marL="342900" indent="-342900">
              <a:spcAft>
                <a:spcPts val="800"/>
              </a:spcAft>
              <a:buSzPct val="100000"/>
              <a:buChar char="•"/>
            </a:pPr>
            <a:r>
              <a:rPr lang="en-US" sz="1600" dirty="0">
                <a:solidFill>
                  <a:schemeClr val="tx1"/>
                </a:solidFill>
              </a:rPr>
              <a:t>Prostate</a:t>
            </a:r>
            <a:endParaRPr lang="en-US" sz="1600" dirty="0"/>
          </a:p>
          <a:p>
            <a:pPr marL="342900" indent="-342900">
              <a:spcAft>
                <a:spcPts val="800"/>
              </a:spcAft>
              <a:buSzPct val="100000"/>
              <a:buChar char="•"/>
            </a:pPr>
            <a:r>
              <a:rPr lang="en-US" sz="1600" dirty="0">
                <a:solidFill>
                  <a:schemeClr val="tx1"/>
                </a:solidFill>
              </a:rPr>
              <a:t>Melanoma</a:t>
            </a:r>
            <a:endParaRPr lang="en-US" sz="1600" dirty="0"/>
          </a:p>
          <a:p>
            <a:pPr marL="342900" indent="-342900">
              <a:spcAft>
                <a:spcPts val="800"/>
              </a:spcAft>
              <a:buSzPct val="100000"/>
              <a:buChar char="•"/>
            </a:pPr>
            <a:r>
              <a:rPr lang="en-US" sz="1600" dirty="0">
                <a:solidFill>
                  <a:schemeClr val="tx1"/>
                </a:solidFill>
              </a:rPr>
              <a:t>Cervix</a:t>
            </a:r>
            <a:endParaRPr lang="en-US" sz="1600" dirty="0"/>
          </a:p>
        </p:txBody>
      </p:sp>
      <p:sp>
        <p:nvSpPr>
          <p:cNvPr id="9" name="Text 84"/>
          <p:cNvSpPr txBox="1"/>
          <p:nvPr/>
        </p:nvSpPr>
        <p:spPr>
          <a:xfrm>
            <a:off x="4443984"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Intermediate</a:t>
            </a:r>
            <a:endParaRPr lang="en-US" sz="2000" dirty="0"/>
          </a:p>
        </p:txBody>
      </p:sp>
      <p:sp>
        <p:nvSpPr>
          <p:cNvPr id="10" name="Shape 7"/>
          <p:cNvSpPr/>
          <p:nvPr/>
        </p:nvSpPr>
        <p:spPr>
          <a:xfrm>
            <a:off x="4443984" y="2743200"/>
            <a:ext cx="3300984" cy="0"/>
          </a:xfrm>
          <a:prstGeom prst="line">
            <a:avLst/>
          </a:prstGeom>
          <a:noFill/>
          <a:ln w="15875">
            <a:solidFill>
              <a:schemeClr val="tx1"/>
            </a:solidFill>
            <a:prstDash val="solid"/>
          </a:ln>
        </p:spPr>
      </p:sp>
      <p:sp>
        <p:nvSpPr>
          <p:cNvPr id="11" name="Text 85"/>
          <p:cNvSpPr txBox="1"/>
          <p:nvPr/>
        </p:nvSpPr>
        <p:spPr>
          <a:xfrm>
            <a:off x="4443984"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Oropharyngeal</a:t>
            </a:r>
            <a:endParaRPr lang="en-US" sz="1600" dirty="0"/>
          </a:p>
          <a:p>
            <a:pPr marL="342900" indent="-342900">
              <a:spcAft>
                <a:spcPts val="800"/>
              </a:spcAft>
              <a:buSzPct val="100000"/>
              <a:buChar char="•"/>
            </a:pPr>
            <a:r>
              <a:rPr lang="en-US" sz="1600" dirty="0">
                <a:solidFill>
                  <a:schemeClr val="tx1"/>
                </a:solidFill>
              </a:rPr>
              <a:t>Colorectal, bladder</a:t>
            </a:r>
            <a:endParaRPr lang="en-US" sz="1600" dirty="0"/>
          </a:p>
          <a:p>
            <a:pPr marL="342900" indent="-342900">
              <a:spcAft>
                <a:spcPts val="800"/>
              </a:spcAft>
              <a:buSzPct val="100000"/>
              <a:buChar char="•"/>
            </a:pPr>
            <a:r>
              <a:rPr lang="en-US" sz="1600" dirty="0">
                <a:solidFill>
                  <a:schemeClr val="tx1"/>
                </a:solidFill>
              </a:rPr>
              <a:t>Renal</a:t>
            </a:r>
            <a:endParaRPr lang="en-US" sz="1600" dirty="0"/>
          </a:p>
          <a:p>
            <a:pPr marL="342900" indent="-342900">
              <a:spcAft>
                <a:spcPts val="800"/>
              </a:spcAft>
              <a:buSzPct val="100000"/>
              <a:buChar char="•"/>
            </a:pPr>
            <a:r>
              <a:rPr lang="en-US" sz="1600" dirty="0">
                <a:solidFill>
                  <a:schemeClr val="tx1"/>
                </a:solidFill>
              </a:rPr>
              <a:t>Ovarian</a:t>
            </a:r>
            <a:endParaRPr lang="en-US" sz="1600" dirty="0"/>
          </a:p>
          <a:p>
            <a:pPr marL="342900" indent="-342900">
              <a:spcAft>
                <a:spcPts val="800"/>
              </a:spcAft>
              <a:buSzPct val="100000"/>
              <a:buChar char="•"/>
            </a:pPr>
            <a:r>
              <a:rPr lang="en-US" sz="1600" dirty="0">
                <a:solidFill>
                  <a:schemeClr val="tx1"/>
                </a:solidFill>
              </a:rPr>
              <a:t>Endometrial</a:t>
            </a:r>
            <a:endParaRPr lang="en-US" sz="1600" dirty="0"/>
          </a:p>
        </p:txBody>
      </p:sp>
      <p:sp>
        <p:nvSpPr>
          <p:cNvPr id="12" name="Text 86"/>
          <p:cNvSpPr txBox="1"/>
          <p:nvPr/>
        </p:nvSpPr>
        <p:spPr>
          <a:xfrm>
            <a:off x="8202168"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Poor</a:t>
            </a:r>
            <a:endParaRPr lang="en-US" sz="2000" dirty="0"/>
          </a:p>
        </p:txBody>
      </p:sp>
      <p:sp>
        <p:nvSpPr>
          <p:cNvPr id="13" name="Shape 10"/>
          <p:cNvSpPr/>
          <p:nvPr/>
        </p:nvSpPr>
        <p:spPr>
          <a:xfrm>
            <a:off x="8202168" y="2743200"/>
            <a:ext cx="3300984" cy="0"/>
          </a:xfrm>
          <a:prstGeom prst="line">
            <a:avLst/>
          </a:prstGeom>
          <a:noFill/>
          <a:ln w="15875">
            <a:solidFill>
              <a:schemeClr val="tx1"/>
            </a:solidFill>
            <a:prstDash val="solid"/>
          </a:ln>
        </p:spPr>
      </p:sp>
      <p:sp>
        <p:nvSpPr>
          <p:cNvPr id="14" name="Text 87"/>
          <p:cNvSpPr txBox="1"/>
          <p:nvPr/>
        </p:nvSpPr>
        <p:spPr>
          <a:xfrm>
            <a:off x="8202168"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Pancreas</a:t>
            </a:r>
            <a:endParaRPr lang="en-US" sz="1600" dirty="0"/>
          </a:p>
          <a:p>
            <a:pPr marL="342900" indent="-342900">
              <a:spcAft>
                <a:spcPts val="800"/>
              </a:spcAft>
              <a:buSzPct val="100000"/>
              <a:buChar char="•"/>
            </a:pPr>
            <a:r>
              <a:rPr lang="en-US" sz="1600" dirty="0">
                <a:solidFill>
                  <a:schemeClr val="tx1"/>
                </a:solidFill>
              </a:rPr>
              <a:t>Lung</a:t>
            </a:r>
            <a:endParaRPr lang="en-US" sz="1600" dirty="0"/>
          </a:p>
          <a:p>
            <a:pPr marL="342900" indent="-342900">
              <a:spcAft>
                <a:spcPts val="800"/>
              </a:spcAft>
              <a:buSzPct val="100000"/>
              <a:buChar char="•"/>
            </a:pPr>
            <a:r>
              <a:rPr lang="en-US" sz="1600" dirty="0">
                <a:solidFill>
                  <a:schemeClr val="tx1"/>
                </a:solidFill>
              </a:rPr>
              <a:t>Brain</a:t>
            </a:r>
            <a:endParaRPr lang="en-US" sz="1600" dirty="0"/>
          </a:p>
          <a:p>
            <a:pPr marL="342900" indent="-342900">
              <a:spcAft>
                <a:spcPts val="800"/>
              </a:spcAft>
              <a:buSzPct val="100000"/>
              <a:buChar char="•"/>
            </a:pPr>
            <a:r>
              <a:rPr lang="en-US" sz="1600" dirty="0">
                <a:solidFill>
                  <a:schemeClr val="tx1"/>
                </a:solidFill>
              </a:rPr>
              <a:t>Hepatobiliary</a:t>
            </a:r>
            <a:endParaRPr lang="en-US" sz="1600" dirty="0"/>
          </a:p>
          <a:p>
            <a:pPr marL="342900" indent="-342900">
              <a:spcAft>
                <a:spcPts val="800"/>
              </a:spcAft>
              <a:buSzPct val="100000"/>
              <a:buChar char="•"/>
            </a:pPr>
            <a:r>
              <a:rPr lang="en-US" sz="1600" dirty="0">
                <a:solidFill>
                  <a:schemeClr val="tx1"/>
                </a:solidFill>
              </a:rPr>
              <a:t>Oesophageal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CARDIOMETABOLIC · SCREENING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HCT survivors are screened more often than the general population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Galvan ER, et al. EBMT Handbook 8th ed. 2024; Ch. 55</a:t>
            </a:r>
            <a:endParaRPr lang="en-US" sz="1000" dirty="0"/>
          </a:p>
        </p:txBody>
      </p:sp>
      <p:graphicFrame>
        <p:nvGraphicFramePr>
          <p:cNvPr id="28" name="Table 8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901952"/>
                <a:gridCol w="2944368"/>
                <a:gridCol w="3026664"/>
                <a:gridCol w="2944368"/>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General adults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Adult HCT survivors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Paediatric HCT survivors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Weight, BMI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 adults; no interval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specific recommendation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Lipids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From 20 y if at increased risk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5 y: men ≥ 35, women ≥ 45;</a:t>
                      </a:r>
                      <a:endParaRPr lang="en-US" sz="1500" dirty="0"/>
                    </a:p>
                    <a:p>
                      <a:pPr indent="0" marL="0">
                        <a:buNone/>
                      </a:pPr>
                      <a:r>
                        <a:rPr lang="en-US" sz="1500" dirty="0">
                          <a:solidFill>
                            <a:schemeClr val="tx1"/>
                          </a:solidFill>
                        </a:rPr>
                        <a:t>from 20 y if at risk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least every 5 y;</a:t>
                      </a:r>
                      <a:endParaRPr lang="en-US" sz="1500" dirty="0"/>
                    </a:p>
                    <a:p>
                      <a:pPr indent="0" marL="0">
                        <a:buNone/>
                      </a:pPr>
                      <a:r>
                        <a:rPr lang="en-US" sz="1500" dirty="0">
                          <a:solidFill>
                            <a:schemeClr val="tx1"/>
                          </a:solidFill>
                        </a:rPr>
                        <a:t>yearly if abnormal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Blood pressure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3–5 y at 18–39 if normal;</a:t>
                      </a:r>
                      <a:endParaRPr lang="en-US" sz="1500" dirty="0"/>
                    </a:p>
                    <a:p>
                      <a:pPr indent="0" marL="0">
                        <a:buNone/>
                      </a:pPr>
                      <a:r>
                        <a:rPr lang="en-US" sz="1500" dirty="0">
                          <a:solidFill>
                            <a:schemeClr val="tx1"/>
                          </a:solidFill>
                        </a:rPr>
                        <a:t>yearly from 40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least every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Each visit, at least</a:t>
                      </a:r>
                      <a:endParaRPr lang="en-US" sz="1500" dirty="0"/>
                    </a:p>
                    <a:p>
                      <a:pPr indent="0" marL="0">
                        <a:buNone/>
                      </a:pPr>
                      <a:r>
                        <a:rPr lang="en-US" sz="1500" dirty="0">
                          <a:solidFill>
                            <a:schemeClr val="tx1"/>
                          </a:solidFill>
                        </a:rPr>
                        <a:t>annually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Glucose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3 y at 40–70 if</a:t>
                      </a:r>
                      <a:endParaRPr lang="en-US" sz="1500" dirty="0"/>
                    </a:p>
                    <a:p>
                      <a:pPr indent="0" marL="0">
                        <a:buNone/>
                      </a:pPr>
                      <a:r>
                        <a:rPr lang="en-US" sz="1500" dirty="0">
                          <a:solidFill>
                            <a:schemeClr val="tx1"/>
                          </a:solidFill>
                        </a:rPr>
                        <a:t>overweight or obese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3 y if ≥ 45 y or</a:t>
                      </a:r>
                      <a:endParaRPr lang="en-US" sz="1500" dirty="0"/>
                    </a:p>
                    <a:p>
                      <a:pPr indent="0" marL="0">
                        <a:buNone/>
                      </a:pPr>
                      <a:r>
                        <a:rPr lang="en-US" sz="1500" dirty="0">
                          <a:solidFill>
                            <a:schemeClr val="tx1"/>
                          </a:solidFill>
                        </a:rPr>
                        <a:t>BP &gt; 135/80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Fasting glucose at least</a:t>
                      </a:r>
                      <a:endParaRPr lang="en-US" sz="1500" dirty="0"/>
                    </a:p>
                    <a:p>
                      <a:pPr indent="0" marL="0">
                        <a:buNone/>
                      </a:pPr>
                      <a:r>
                        <a:rPr lang="en-US" sz="1500" dirty="0">
                          <a:solidFill>
                            <a:schemeClr val="tx1"/>
                          </a:solidFill>
                        </a:rPr>
                        <a:t>every 5 y; yearly if abnormal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9"/>
          <p:cNvSpPr txBox="1"/>
          <p:nvPr/>
        </p:nvSpPr>
        <p:spPr>
          <a:xfrm>
            <a:off x="685800" y="49377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55.2 (DeFilipp 2017): consensus opinion without outcome evidence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SEXUAL HEALTH · APPROACH</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Sexual dysfunction is common and should be asked about routinely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sp>
        <p:nvSpPr>
          <p:cNvPr id="6" name="Box 90"/>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Ask at 6 months, 1 year, then yearly</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91"/>
          <p:cNvSpPr txBox="1"/>
          <p:nvPr/>
        </p:nvSpPr>
        <p:spPr>
          <a:xfrm>
            <a:off x="3515868"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Two screening questions (Syrjala 2021)</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9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Treat medical causes: hormones, ED, GVHD</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93"/>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Individual or couple counselling</a:t>
            </a:r>
            <a:endParaRPr lang="en-US" sz="1700" dirty="0"/>
          </a:p>
        </p:txBody>
      </p:sp>
      <p:sp>
        <p:nvSpPr>
          <p:cNvPr id="13" name="Text 9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1742 survivors, mean 11.9 years: 40% of women and 27% of men sexually inactive; low function in 64% of active women and 32% of men.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follow-up and late effects</dc:title>
  <dc:subject>PptxGenJS Presentation</dc:subject>
  <dc:creator>Hsieh-Ting Lin, MD</dc:creator>
  <cp:lastModifiedBy>Hsieh-Ting Lin, MD</cp:lastModifiedBy>
  <cp:revision>1</cp:revision>
  <dcterms:created xsi:type="dcterms:W3CDTF">2026-10-09T16:09:09Z</dcterms:created>
  <dcterms:modified xsi:type="dcterms:W3CDTF">2026-10-09T16:09:09Z</dcterms:modified>
</cp:coreProperties>
</file>