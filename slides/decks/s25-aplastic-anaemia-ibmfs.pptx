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2dc738-7bbe-f3de-b484-4b78549861c6}">
          <p14:sldIdLst>
            <p14:sldId id="256"/>
            <p14:sldId id="257"/>
          </p14:sldIdLst>
        </p14:section>
        <p14:section name="Aplastic anaemia and PNH" id="{374239c6-1bd7-6949-22fb-537961d0ed4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nherited marrow failure" id="{88f571e2-f0e2-d856-12ee-2c28278e1f50}">
          <p14:sldIdLst>
            <p14:sldId id="267"/>
            <p14:sldId id="268"/>
            <p14:sldId id="269"/>
            <p14:sldId id="270"/>
            <p14:sldId id="271"/>
          </p14:sldIdLst>
        </p14:section>
        <p14:section name="Board questions" id="{6d1f246b-dbee-78b6-b689-f82a835280b1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ferences" id="{b11f3e7b-a2f2-da42-6a56-497bf2e11118}">
          <p14:sldIdLst>
            <p14:sldId id="278"/>
            <p14:sldId id="279"/>
          </p14:sldIdLst>
        </p14:section>
        <p14:section name="Backup" id="{f6bb01ad-3278-c0ff-e5f7-c57ca45e9a3a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各位好，第 25 堂談骨髓衰竭的移植，對應 EBMT Handbook 第 78 章的 severe aplastic anemia 和 PNH，以及第 79 章的 Fanconi anemia 和其他遺傳性骨髓衰竭。這些都是非惡性疾病，移植不需要 GvL，目標是治癒又不留下 GVHD。地中海型貧血和鐮刀型貧血留到第 26 堂。最後一樣用三題 board-style 題目收尾。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今天分四段。第一段是後天 SAA 的診斷和第一線治療，包括 Camitta criteria、要排除哪些疾病，以及 sibling 移植、IST 加 eltrombopag、upfront MUD 三條路怎麼選。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 IST 失敗以後的路，haplo 骨髓移植加 PTCy 是近幾年進步最大的地方，接著看 PNH，移植在補體抑制劑時代還剩多少空間。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第三段換到遺傳性骨髓衰竭，Fanconi anemia 講得最細，再把 SCN、Shwachman-Diamond、Diamond-Blackfan、CAMT 和 dyskeratosis congenita 並排比較，最後收在 EBMT 的共通原則。三題練習放在最後，每題都對應前面某一張投影片。</a:t>
            </a:r>
          </a:p>
          <a:p>
            <a:pPr>
              <a:spcAft>
                <a:spcPts val="600"/>
              </a:spcAft>
            </a:pPr>
            <a:r>
              <a:rPr lang="en-US" dirty="0"/>
              <a:t>後天和遺傳性骨髓衰竭在門診看起來可能一模一樣，所以第一段的診斷排除，會一路連到第三段的 conditioning 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SAA 的診斷要兩件事同時成立。骨髓 hematopoietic cellularity 小於 30%，再加上三項血球中至少兩項，ANC 小於 0.5、reticulocyte 絕對值小於 60、血小板小於 20，單位都是 10⁹/L。這是 1988 年的 Camitta criteria。Very severe 的切點書上沒有寫，我標了 verify。</a:t>
            </a:r>
          </a:p>
          <a:p>
            <a:pPr>
              <a:spcAft>
                <a:spcPts val="600"/>
              </a:spcAft>
            </a:pPr>
            <a:r>
              <a:rPr lang="en-US" dirty="0"/>
              <a:t>SAA 本質上是排除診斷。MDS、myelofibrosis、hypocellular acute leukemia 都要排除，更要排除 Fanconi anemia 和 telomere biology disease。這些病人如果被當成後天 SAA，用標準 SAA conditioning 去移植，結果很差，所以書上建議做 NGS panel 或 whole exome、whole genome；兒童另外做免疫篩檢。</a:t>
            </a:r>
          </a:p>
          <a:p>
            <a:pPr>
              <a:spcAft>
                <a:spcPts val="600"/>
              </a:spcAft>
            </a:pPr>
            <a:r>
              <a:rPr lang="en-US" dirty="0"/>
              <a:t>約一成免疫性 SAA 有 del(20q)、trisomy 8、del13q、loss of Y，都不算 MDS-defining。單獨、低 VAF 的體細胞突變也沒有診斷意義。PNH clone 有四成同時出現，沒有血管內溶血就照 SAA 處理。東亞的發病率約是歐美的三倍。</a:t>
            </a:r>
          </a:p>
          <a:p>
            <a:pPr>
              <a:spcAft>
                <a:spcPts val="600"/>
              </a:spcAft>
            </a:pPr>
            <a:r>
              <a:rPr lang="en-US" dirty="0"/>
              <a:t>一旦符合 SAA 或已經需要輸血，就不要拖，先控制出血和感染，同時送家族 HLA typing 和 MUD search。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very severe AA cut-off (ANC &lt; 0.2 × 10⁹/L) is not stated in Ch. 78, although its key points use the term 'very severe'; also check whether the Taiwan board uses the Camitta cellularity &lt; 25% wording rather than Ch. 78's &lt; 30%.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3:00 至 4:30]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這是書上 Fig. 78.1 的左半部，第一線只看兩件事，年齡，以及有沒有 HLA-identical sibling。</a:t>
            </a:r>
          </a:p>
          <a:p>
            <a:pPr>
              <a:spcAft>
                <a:spcPts val="600"/>
              </a:spcAft>
            </a:pPr>
            <a:r>
              <a:rPr lang="en-US" dirty="0"/>
              <a:t>左邊，有 matched sibling、小於 40 歲，直接做骨髓移植，cyclophosphamide 加 ATG，GVHD 預防用 CSA 加 MTX。Engraftment 95%，兩年 OS 90%。</a:t>
            </a:r>
          </a:p>
          <a:p>
            <a:pPr>
              <a:spcAft>
                <a:spcPts val="600"/>
              </a:spcAft>
            </a:pPr>
            <a:r>
              <a:rPr lang="en-US" dirty="0"/>
              <a:t>中間是近年的改變。小於 20 歲、有 10/10 MUD、而且兩到三個月內能完成移植，upfront MUD 已經是很多中心的第一線選擇。書上 key points 寫的是 20 歲以下，圖上寫小於 20，考試照 20 歲這個數字記就好。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右邊，沒有 sibling，或 40 歲以上，用 horse ATG 加 CSA 加 eltrombopag。這組 refractory 或 relapse 的病人，再進入第二線的流程，後面另一張樹狀圖會講。</a:t>
            </a:r>
          </a:p>
          <a:p>
            <a:pPr>
              <a:spcAft>
                <a:spcPts val="600"/>
              </a:spcAft>
            </a:pPr>
            <a:r>
              <a:rPr lang="en-US" dirty="0"/>
              <a:t>背後的邏輯是 SAA 不需要 GvL，移植的好處完全來自換掉被免疫攻擊的骨髓。年紀越輕、donor 越好，移植的優勢就越明顯；40 歲以上移植毒性和 GVHD 上升，IST 就排到前面。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這張圖的分界都是年齡，40 歲和 20 歲，第二線還會出現 30 歲，三個數字不要混在一起。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4:30 至 6:00]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這張把 sibling 移植的細節攤開。Conditioning 是 cyclophosphamide 加 ATG。ATG 放在 conditioning 裡同時做兩件事，預防 GVHD，也預防 graft failure，因為 SAA 本身就是 T 細胞媒介的免疫疾病，受者殘存的 T 細胞會排斥移植物。</a:t>
            </a:r>
          </a:p>
          <a:p>
            <a:pPr>
              <a:spcAft>
                <a:spcPts val="600"/>
              </a:spcAft>
            </a:pPr>
            <a:r>
              <a:rPr lang="en-US" dirty="0"/>
              <a:t>年紀較大的病人加 200 cGy 低劑量 TBI，可以再降低 graft failure，這來自 Bacigalupo 2010 的 EBMT 資料。換成 alemtuzumab 也有效，證明關鍵在 T-cell directed serotherapy 本身，而不是哪一個藥。</a:t>
            </a:r>
          </a:p>
          <a:p>
            <a:pPr>
              <a:spcAft>
                <a:spcPts val="600"/>
              </a:spcAft>
            </a:pPr>
            <a:r>
              <a:rPr lang="en-US" dirty="0"/>
              <a:t>GVHD 預防用 CSA 加 MTX，幹細胞來源用骨髓。結果是 engraftment 95%，兩年 OS 90%。長期副作用以 avascular necrosis 和內分泌問題為主，續發癌症非常少。</a:t>
            </a:r>
          </a:p>
          <a:p>
            <a:pPr>
              <a:spcAft>
                <a:spcPts val="600"/>
              </a:spcAft>
            </a:pPr>
            <a:r>
              <a:rPr lang="en-US" dirty="0"/>
              <a:t>限制在 40 歲以上和 comorbidity index 高的病人，移植毒性和 GVHD 都上升，這就是第一線流程用 40 歲當分界的原因。</a:t>
            </a:r>
          </a:p>
          <a:p>
            <a:pPr>
              <a:spcAft>
                <a:spcPts val="600"/>
              </a:spcAft>
            </a:pPr>
            <a:r>
              <a:rPr lang="en-US" dirty="0"/>
              <a:t>這裡的 ATG 和 IST 裡的 ATG 角色不同。IST 靠它壓住攻擊骨髓的 T 細胞，讓病人自己的造血恢復；conditioning 裡則是清掉受者的 T 細胞，讓 donor 骨髓長得上來。題目如果問 SAA 移植為什麼 graft failure 的風險比較高，答案就是這個免疫媒介的病理。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6:00 至 7:30]</a:t>
            </a:r>
          </a:p>
          <a:p>
            <a:pPr>
              <a:spcAft>
                <a:spcPts val="600"/>
              </a:spcAft>
            </a:pPr>
            <a:r>
              <a:rPr lang="en-US" dirty="0"/>
              <a:t>沒有 sibling 的病人走 IST。Horse ATG 加 CSA 用了四十年，各種改良都失敗，直到 eltrombopag 加進來。</a:t>
            </a:r>
          </a:p>
          <a:p>
            <a:pPr>
              <a:spcAft>
                <a:spcPts val="600"/>
              </a:spcAft>
            </a:pPr>
            <a:r>
              <a:rPr lang="en-US" dirty="0"/>
              <a:t>NIH 的 Townsley 2017，最好的一組從 day 1 就三種藥一起給，六個月 CR 58%、ORR 94%，兩年存活 97%。Relapse 和 clonal evolution 的比例和歷史資料差不多，加藥沒有增加這個風險。</a:t>
            </a:r>
          </a:p>
          <a:p>
            <a:pPr>
              <a:spcAft>
                <a:spcPts val="600"/>
              </a:spcAft>
            </a:pPr>
            <a:r>
              <a:rPr lang="en-US" dirty="0"/>
              <a:t>EBMT 接著做 open-label 的 phase 3 隨機試驗，主要終點是三個月的 CR，達標。六個月 ORR，也就是 CR 加 PR，從 41% 提高到 68%。反應更快、更多人脫離輸血，安全性相近。所以 key points 寫明，ATG 加 CSA 加 eltrombopag 是不適合移植病人的新標準。</a:t>
            </a:r>
          </a:p>
          <a:p>
            <a:pPr>
              <a:spcAft>
                <a:spcPts val="600"/>
              </a:spcAft>
            </a:pPr>
            <a:r>
              <a:rPr lang="en-US" dirty="0"/>
              <a:t>病房裡要先和病人講清楚，即使反應很好，血球也要三到六個月才會回來。SAA 整體存活的進步，大部分來自感染照護，尤其是抗黴菌治療。台灣能不能用到 horse ATG、eltrombopag 怎麼給付，我標了 verify。</a:t>
            </a:r>
          </a:p>
          <a:p>
            <a:pPr>
              <a:spcAft>
                <a:spcPts val="600"/>
              </a:spcAft>
            </a:pPr>
            <a:r>
              <a:rPr lang="en-US" dirty="0"/>
              <a:t>兩個研究的數字不要直接相比，一個是單臂 cohort，一個是隨機對照，考題引用時看清楚是哪一個。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availability of horse ATG in Taiwan and current NHI reimbursement of eltrombopag in first-line SAA; Ch. 78 does not address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7:30 至 9:00]</a:t>
            </a:r>
          </a:p>
          <a:p>
            <a:pPr>
              <a:spcAft>
                <a:spcPts val="600"/>
              </a:spcAft>
            </a:pPr>
            <a:r>
              <a:rPr lang="en-US" dirty="0"/>
              <a:t>為什麼要把 MUD 移植往前移？小孩對 IST 的反應比大人好，可是長期來看，relapse、CSA dependence 和 clonal evolution 的風險都高。</a:t>
            </a:r>
          </a:p>
          <a:p>
            <a:pPr>
              <a:spcAft>
                <a:spcPts val="600"/>
              </a:spcAft>
            </a:pPr>
            <a:r>
              <a:rPr lang="en-US" dirty="0"/>
              <a:t>英國的 44 位小孩接受 10/10 MUD 移植，其中 40 位之前 IST 失敗，conditioning 是 FCC，也就是 fludarabine、cyclophosphamide 加 Campath，五年 FFS 95%。</a:t>
            </a:r>
          </a:p>
          <a:p>
            <a:pPr>
              <a:spcAft>
                <a:spcPts val="600"/>
              </a:spcAft>
            </a:pPr>
            <a:r>
              <a:rPr lang="en-US" dirty="0"/>
              <a:t>接著英國另一組 29 位小孩，直接 upfront 做 unrelated 移植，其中五位是一個 antigen mismatch。OS 96%、EFS 92%，只有一例死亡。和歷史對照比較，結果和 MRD 移植相當，比 IST 好，也比 IST 失敗後才做 unrelated 移植好。韓國、EBMT 和北美的資料方向一致，不過北美那個研究的人數很少。</a:t>
            </a:r>
          </a:p>
          <a:p>
            <a:pPr>
              <a:spcAft>
                <a:spcPts val="600"/>
              </a:spcAft>
            </a:pPr>
            <a:r>
              <a:rPr lang="en-US" dirty="0"/>
              <a:t>所以書上的條件是 10/10 MUD、年輕、而且診斷後兩到三個月內能完成移植。台灣找 unrelated donor 的時間如果拖太久，這條路就不成立，要回到 IST。</a:t>
            </a:r>
          </a:p>
          <a:p>
            <a:pPr>
              <a:spcAft>
                <a:spcPts val="600"/>
              </a:spcAft>
            </a:pPr>
            <a:r>
              <a:rPr lang="en-US" dirty="0"/>
              <a:t>FCC 裡的 Campath 就是 alemtuzumab，和 sibling 移植用 ATG 的邏輯一樣，都是 T-cell directed serotherapy，同時防 rejection 和 GVHD。</a:t>
            </a:r>
          </a:p>
          <a:p>
            <a:pPr>
              <a:spcAft>
                <a:spcPts val="600"/>
              </a:spcAft>
            </a:pPr>
            <a:r>
              <a:rPr lang="en-US" dirty="0"/>
              <a:t>這也是第一線流程中間那條路的根據。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9:00 至 10:30]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 Fig. 78.1 的右下半部。IST 無效或復發以後，一樣看年齡、comorbidity 和 donor。</a:t>
            </a:r>
          </a:p>
          <a:p>
            <a:pPr>
              <a:spcAft>
                <a:spcPts val="600"/>
              </a:spcAft>
            </a:pPr>
            <a:r>
              <a:rPr lang="en-US" dirty="0"/>
              <a:t>年輕、有 10/10 MUD，建議移植。MUD 的結果已經進步到 OS 和 MRD 沒有統計差異，原因是 allele level 配對、支持療法、GVHD 預防、conditioning 加入 fludarabine 和低劑量 TBI。有利因素有四個，30 歲以下、診斷一年內移植、用骨髓不用周邊血，以及 CMV status。考題常把這些條件藏在 vignette 裡。</a:t>
            </a:r>
          </a:p>
          <a:p>
            <a:pPr>
              <a:spcAft>
                <a:spcPts val="600"/>
              </a:spcAft>
            </a:pPr>
            <a:r>
              <a:rPr lang="en-US" dirty="0"/>
              <a:t>年紀較大但有 MRD、沒有明顯 comorbidity，也應考慮移植。沒有合適 MUD，就是 haplo 或 cord blood，下一張細講。</a:t>
            </a:r>
          </a:p>
          <a:p>
            <a:pPr>
              <a:spcAft>
                <a:spcPts val="600"/>
              </a:spcAft>
            </a:pPr>
            <a:r>
              <a:rPr lang="en-US" dirty="0"/>
              <a:t>不走移植的病人，單用 eltrombopag 在 refractory SAA 的 ORR 約 40%，有些是三系反應，即使第一線已經用過也可能有效。另外是再一次 IST，androgen 最近也重新被檢視。</a:t>
            </a:r>
          </a:p>
          <a:p>
            <a:pPr>
              <a:spcAft>
                <a:spcPts val="600"/>
              </a:spcAft>
            </a:pPr>
            <a:r>
              <a:rPr lang="en-US" dirty="0"/>
              <a:t>IST 失敗以後才移植，診斷到移植的時間通常已經拉長，而一年內移植正是有利因素。所以 IST 一開始就要同步找 donor，不要等到確定 refractory 才開始搜尋。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這張圖也是第二題的背景。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10:30 至 12:00]</a:t>
            </a:r>
          </a:p>
          <a:p>
            <a:pPr>
              <a:spcAft>
                <a:spcPts val="600"/>
              </a:spcAft>
            </a:pPr>
            <a:r>
              <a:rPr lang="en-US" dirty="0"/>
              <a:t>Alternative donor 包括 mismatched unrelated、cord blood 和 haplo，rejection、感染和 GVHD 都比 MRD 或 MUD 高。歷史資料的長期 OS 約六成，而且多數是小孩。</a:t>
            </a:r>
          </a:p>
          <a:p>
            <a:pPr>
              <a:spcAft>
                <a:spcPts val="600"/>
              </a:spcAft>
            </a:pPr>
            <a:r>
              <a:rPr lang="en-US" dirty="0"/>
              <a:t>進步最大的是 haplo 加 PTCy，第 3 堂講過的 Baltimore protocol。BMT CTN 1502 收 relapsed 或 refractory 的年輕病人，中位年齡 24.9 歲，nonmyeloablative conditioning 加 PTCy，OS 超過 80%，GVHD 和 TRM 都低。三個細節要記，在原本的 Baltimore protocol 加上總量 2.5 mg/kg 的 ATG，用骨髓不用周邊血，骨髓有核細胞要大於 2.5 × 10⁸/kg ideal body weight。</a:t>
            </a:r>
          </a:p>
          <a:p>
            <a:pPr>
              <a:spcAft>
                <a:spcPts val="600"/>
              </a:spcAft>
            </a:pPr>
            <a:r>
              <a:rPr lang="en-US" dirty="0"/>
              <a:t>EBMT 36 位、中位年齡 42 歲的病人，一年 OS 78%，用 Baltimore-like protocol 的達 93%。DeZern 2023 把 haplo 移到第一線，27 位病人三年 OS 92%，grade II–IV aGVHD 7%，cGVHD 4%，TBI 400 cGy 那一組 OS 和 GRFS 都是 100%。美國作者因此提議年輕病人第一線就做。</a:t>
            </a:r>
          </a:p>
          <a:p>
            <a:pPr>
              <a:spcAft>
                <a:spcPts val="600"/>
              </a:spcAft>
            </a:pPr>
            <a:r>
              <a:rPr lang="en-US" dirty="0"/>
              <a:t>Ideal body weight 這個細節要注意，算細胞數時不是用實際體重。另外這些 haplo 資料大多來自年輕病人，年紀和 comorbidity 仍是 alternative donor 移植最先要過的門檻。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12:00 至 13:30]</a:t>
            </a:r>
          </a:p>
          <a:p>
            <a:pPr>
              <a:spcAft>
                <a:spcPts val="600"/>
              </a:spcAft>
            </a:pPr>
            <a:r>
              <a:rPr lang="en-US" dirty="0"/>
              <a:t>PNH 是 hematopoietic stem cell 的 PIG-A 體細胞突變，這個基因在 X 染色體上。GPI anchor 的合成一開始就被擋住，CD55 和 CD59 這兩個補體調節蛋白掛不上細胞膜，紅血球就被補體打破，造成血管內溶血。臨床上是溶血、血栓、骨髓衰竭三者的組合，而且會隨病程改變。死亡主因是血栓。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移植的角色現在很有限。合併 aplastic anemia 時，PNH clone 不改變 SAA 的流程，即使 clone 大到有溶血、同時用補體抑制劑，也還是先處理 AA。發生過血栓的病人不建議移植，毒性太高。</a:t>
            </a:r>
          </a:p>
          <a:p>
            <a:pPr>
              <a:spcAft>
                <a:spcPts val="600"/>
              </a:spcAft>
            </a:pPr>
            <a:r>
              <a:rPr lang="en-US" dirty="0"/>
              <a:t>真的要移植，骨髓衰竭的病人用 SAA-like conditioning 最好；骨髓正常或高度增生的 PNH，過去用過含 busulfan 的 MAC。PNH 和 SAA 一樣不需要 GvL，GVHD 能避免就避免。</a:t>
            </a:r>
          </a:p>
          <a:p>
            <a:pPr>
              <a:spcAft>
                <a:spcPts val="600"/>
              </a:spcAft>
            </a:pPr>
            <a:r>
              <a:rPr lang="en-US" dirty="0"/>
              <a:t>決定治療時看的是有沒有溶血的症狀和徵象，不是 clone 的大小本身。移植前一定要問血栓病史，它既是 PNH 最常見的死因，也是移植的禁忌。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這張的原則在第一題會用到。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13:30 至 15:00]</a:t>
            </a:r>
          </a:p>
          <a:p>
            <a:pPr>
              <a:spcAft>
                <a:spcPts val="600"/>
              </a:spcAft>
            </a:pPr>
            <a:r>
              <a:rPr lang="en-US" dirty="0"/>
              <a:t>溶血和血栓型 PNH 的主角是 anti-C5 單株抗體。Eculizumab 讓大約一半病人脫離輸血，血栓明顯減少，整體存活也改善。Ravulizumab 是 eculizumab 改了四個胺基酸、半衰期延長的版本，每八週靜脈打一次，兩個 phase 3 分別收未治療和 eculizumab 治療中的病人，都證明不劣於 eculizumab。</a:t>
            </a:r>
          </a:p>
          <a:p>
            <a:pPr>
              <a:spcAft>
                <a:spcPts val="600"/>
              </a:spcAft>
            </a:pPr>
            <a:r>
              <a:rPr lang="en-US" dirty="0"/>
              <a:t>Anti-C5 擋住的是末端補體，C3 還是會沉積在紅血球上，造成 extravascular hemolysis，所以發展出更上游的抑制劑。Pegcetacoplan 打 C3，phase III 收 eculizumab 治療下血紅素仍低於 10.5 的病人，治療 16 週時血紅素多升 3.84 g/dL，免輸血 85.4% 比 15.4%；但 LDH 沒有達到 non-inferiority。</a:t>
            </a:r>
          </a:p>
          <a:p>
            <a:pPr>
              <a:spcAft>
                <a:spcPts val="600"/>
              </a:spcAft>
            </a:pPr>
            <a:r>
              <a:rPr lang="en-US" dirty="0"/>
              <a:t>Danicopan 是口服 factor D 抑制劑，做的是 add-on 的 phase 3。Iptacopan 是口服 factor B 抑制劑，phase 2 十位中有八位血紅素恢復正常。有這些藥，PNH 走到移植的機會越來越少。</a:t>
            </a:r>
          </a:p>
          <a:p>
            <a:pPr>
              <a:spcAft>
                <a:spcPts val="600"/>
              </a:spcAft>
            </a:pPr>
            <a:r>
              <a:rPr lang="en-US" dirty="0"/>
              <a:t>Anti-C5 治療下如果仍然貧血，要想到 C3 沉積造成的 extravascular hemolysis，這是 proximal inhibitor 要解決的問題，而不是直接轉去移植。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15:00 至 17:00]</a:t>
            </a:r>
          </a:p>
          <a:p>
            <a:pPr>
              <a:spcAft>
                <a:spcPts val="600"/>
              </a:spcAft>
            </a:pPr>
            <a:r>
              <a:rPr lang="en-US" dirty="0"/>
              <a:t>Fanconi anemia 是最常見的遺傳性骨髓衰竭，發生率約二十萬分之一。本質是 DNA damage repair 缺陷，已知至少 23 個基因，診斷靠 chromosomal breakage test。七成病人有身體異常，但也有人到成年才被診斷，線索是家族性 pancytopenia、年輕的頭頸癌，或化療後出現意料之外的嚴重毒性。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移植適應症是骨髓衰竭，也就是輸血依賴或嚴重 neutropenia，以及 MDS 或 leukemia。時機要和專家個別討論，太早要承受化放療的傷害，太晚可能錯過 clonal evolution 之前的窗口。</a:t>
            </a:r>
          </a:p>
          <a:p>
            <a:pPr>
              <a:spcAft>
                <a:spcPts val="600"/>
              </a:spcAft>
            </a:pPr>
            <a:r>
              <a:rPr lang="en-US" dirty="0"/>
              <a:t>病人對 alkylating agent 和放射線極度敏感，黏膜炎和腸道毒性特別重，conditioning 必須減量。目前用 fludarabine 累積 150 mg/m²，加累積不超過 50 mg/kg 的 cyclophosphamide；unrelated donor 才加 100 到 300 cGy 的低劑量 TBI。成人目前沒有明確建議。已經是 MDS with excess blasts、AML，或 BRCA2/FANCD1 型，可以先用 fludarabine 加 cytarabine 減積，但一定要先找好 donor，因為化療後的 aplasia 可能拖很久。</a:t>
            </a:r>
          </a:p>
          <a:p>
            <a:pPr>
              <a:spcAft>
                <a:spcPts val="600"/>
              </a:spcAft>
            </a:pPr>
            <a:r>
              <a:rPr lang="en-US" dirty="0"/>
              <a:t>結果方面，EBMT 2000 到 2009 年的五年 OS，MSD 78%、MUD 65%。2022 年 ASH 報告 813 位 18 歲以下病人，五年 OS 83%，MSD 或 MUD 優於 mismatched 和 haplo。最大的分水嶺是移植原因，因 MDS 或 AML 移植的 OS 只有 40%，因骨髓衰竭移植的是 85%。</a:t>
            </a:r>
          </a:p>
          <a:p>
            <a:pPr>
              <a:spcAft>
                <a:spcPts val="600"/>
              </a:spcAft>
            </a:pPr>
            <a:r>
              <a:rPr lang="en-US" dirty="0"/>
              <a:t>成人和 clonal disease 仍是最大挑戰，TRM 和惡性疾病復發兩者都有貢獻。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17:00 至 18:00]</a:t>
            </a:r>
          </a:p>
          <a:p>
            <a:pPr>
              <a:spcAft>
                <a:spcPts val="600"/>
              </a:spcAft>
            </a:pPr>
            <a:r>
              <a:rPr lang="en-US" dirty="0"/>
              <a:t>移植只修好造血，FA 的其他問題都還在，而且移植本身會再增加癌症風險。Fig. 79.1 的 EBMT 資料顯示，續發癌症的累積機率在移植十年後明顯上升。</a:t>
            </a:r>
          </a:p>
          <a:p>
            <a:pPr>
              <a:spcAft>
                <a:spcPts val="600"/>
              </a:spcAft>
            </a:pPr>
            <a:r>
              <a:rPr lang="en-US" dirty="0"/>
              <a:t>追蹤要定期看耳鼻喉科，檢查口腔和咽喉；女性做婦科檢查，乳癌篩檢用超音波和 MRI。內分泌也要追，包括甲狀腺、糖尿病、生長和提早停經。頭頸部和會陰部癌症風險高，所以書上強烈建議打 HPV 疫苗。病人活到成年以後，需要多專科團隊長期照顧，第 18 堂談 late effects 時會再回來。</a:t>
            </a:r>
          </a:p>
          <a:p>
            <a:pPr>
              <a:spcAft>
                <a:spcPts val="600"/>
              </a:spcAft>
            </a:pPr>
            <a:r>
              <a:rPr lang="en-US" dirty="0"/>
              <a:t>衛教時要讓家屬知道，移植成功不代表可以停止追蹤，這些病人一輩子都要回診。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18:00 至 19:30]</a:t>
            </a:r>
          </a:p>
          <a:p>
            <a:pPr>
              <a:spcAft>
                <a:spcPts val="600"/>
              </a:spcAft>
            </a:pPr>
            <a:r>
              <a:rPr lang="en-US" dirty="0"/>
              <a:t>Severe congenital neutropenia 的定義是 ANC 持續低於 0.5，早發嚴重感染。已知超過 30 個基因，最常見是 ELANE，約佔六成；機轉是 promyelocyte 加速凋亡、成熟受阻。Shwachman-Diamond 是 SBDS 雙對偶突變，合併胰臟外分泌不足、骨骼發育異常和心肌病變。</a:t>
            </a:r>
          </a:p>
          <a:p>
            <a:pPr>
              <a:spcAft>
                <a:spcPts val="600"/>
              </a:spcAft>
            </a:pPr>
            <a:r>
              <a:rPr lang="en-US" dirty="0"/>
              <a:t>G-CSF 的目標是 ANC 維持在 1.0 到 5.0，一般每天 3 到 5 μg/kg 就夠。需要 10 到 15 叫 poor responder，超過 20 叫 non-responder，這兩個切點常考。</a:t>
            </a:r>
          </a:p>
          <a:p>
            <a:pPr>
              <a:spcAft>
                <a:spcPts val="600"/>
              </a:spcAft>
            </a:pPr>
            <a:r>
              <a:rPr lang="en-US" dirty="0"/>
              <a:t>兩者都會轉成 MDS/AML。SCN 用 G-CSF 15 年和 20 年後，累積發生率分別是 10.8% 和 22%；SDS 在 20 到 30 年是 18% 到 36%。</a:t>
            </a:r>
          </a:p>
          <a:p>
            <a:pPr>
              <a:spcAft>
                <a:spcPts val="600"/>
              </a:spcAft>
            </a:pPr>
            <a:r>
              <a:rPr lang="en-US" dirty="0"/>
              <a:t>SCN 的移植適應症是 G-CSF 反應差或無效，以及 MDS/AML；十歲以下有健康 MSD 也可以考慮。SDS 要在白血病出現之前移植。SCN 用 MAC，SDS 因為心臟等器官問題用 RIC。</a:t>
            </a:r>
          </a:p>
          <a:p>
            <a:pPr>
              <a:spcAft>
                <a:spcPts val="600"/>
              </a:spcAft>
            </a:pPr>
            <a:r>
              <a:rPr lang="en-US" dirty="0"/>
              <a:t>結果方面，EBMT 最大的 SCN 系列共 136 位，五年 OS 82%，TRM 17%，十歲以下、2000 年以後和 MSD 移植的結果較好。SDS 的五年 OS 是 63.3%，TRM 19.8%。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Ch. 79 attributes 10.8% (15 y) and 22% (20 y) to the French and the International SCN registries respectively; the two figures come from different registries, not one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19:30 至 21:30]</a:t>
            </a:r>
          </a:p>
          <a:p>
            <a:pPr>
              <a:spcAft>
                <a:spcPts val="600"/>
              </a:spcAft>
            </a:pPr>
            <a:r>
              <a:rPr lang="en-US" dirty="0"/>
              <a:t>這三個病並排看。Diamond-Blackfan 多是 ribosomal gene 的異型合子突變，三成找不到基因。出生或嬰兒期就是輸血依賴的巨球性貧血。一歲以後至少試兩次類固醇，約六成有反應，另外約兩成會自發緩解。移植適應症是類固醇無效、需要每天 0.3 mg/kg 以上才能維持、輸血依賴、紅血球 alloimmunization、進展成 pancytopenia 或 MDS/AML，最好十歲前做，鐵負荷越高結果越差。Sibling 要先排除 silent carrier；十歲以下 MSD 和 MUD 結果相當，conditioning 用 fludarabine 加 busulfan 或 treosulfan 的 MAC。</a:t>
            </a:r>
          </a:p>
          <a:p>
            <a:pPr>
              <a:spcAft>
                <a:spcPts val="600"/>
              </a:spcAft>
            </a:pPr>
            <a:r>
              <a:rPr lang="en-US" dirty="0"/>
              <a:t>CAMT 是 thrombopoietin receptor MPL 突變，graft failure 多，所以用含 fludarabine 的 MAC。六年 OS 85.6%，cord blood 只有 37.5%，骨髓是 95%。</a:t>
            </a:r>
          </a:p>
          <a:p>
            <a:pPr>
              <a:spcAft>
                <a:spcPts val="600"/>
              </a:spcAft>
            </a:pPr>
            <a:r>
              <a:rPr lang="en-US" dirty="0"/>
              <a:t>Dyskeratosis congenita 是 telomere disease，三聯徵是指甲營養不良、皮膚色素異常和口腔 leukoplakia。移植不做預防性，進行性骨髓衰竭、器官還沒受損時才做，用 fludarabine RIC。五年 OS 57%，十年只剩 23%，肺纖維化和肝硬化拖累長期存活。</a:t>
            </a:r>
          </a:p>
          <a:p>
            <a:pPr>
              <a:spcAft>
                <a:spcPts val="600"/>
              </a:spcAft>
            </a:pPr>
            <a:r>
              <a:rPr lang="en-US" dirty="0"/>
              <a:t>DBA 有一個常考的陷阱，sibling 可能是 silent carrier，外表正常卻帶同樣的突變，捐贈前一定要驗。MSD 包括 cord blood，OS 超過 80%；mismatched donor 的資料很少。移植後的重點仍是鐵負荷，視程度放血或排鐵，同時注意 osteosarcoma 和大腸癌。CAMT 只有在骨髓嚴重低細胞、沒有 clonal 異常、也沒有血小板 alloimmunization 時，才考慮 RIC。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21:30 至 23:00]</a:t>
            </a:r>
          </a:p>
          <a:p>
            <a:pPr>
              <a:spcAft>
                <a:spcPts val="600"/>
              </a:spcAft>
            </a:pPr>
            <a:r>
              <a:rPr lang="en-US" dirty="0"/>
              <a:t>第 79 章的 key points 可以當作所有遺傳性骨髓衰竭的共通原則。Donor 首選 MSD，但一定要先驗 sibling 有沒有同樣的基因缺陷，因為同一家族的臨床表現可以差很多。沒有 MSD 再找 MUD；mismatched 和 cord blood 只在有經驗的中心、最好在臨床試驗裡做。</a:t>
            </a:r>
          </a:p>
          <a:p>
            <a:pPr>
              <a:spcAft>
                <a:spcPts val="600"/>
              </a:spcAft>
            </a:pPr>
            <a:r>
              <a:rPr lang="en-US" dirty="0"/>
              <a:t>幹細胞來源以骨髓最好，related cord blood 也可以，周邊血會增加 chronic GVHD，應該避免。細胞數關係到 graft failure，骨髓要大於 3 × 10⁸/kg，related cord 大於 3 × 10⁷/kg，unrelated cord 大於 4 × 10⁷/kg。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依疾病選 MAC 或 RIC，盡量不用放射線，因為這些病本來就容易長癌症；FA 和 DC 一定用 RIC。這裡和 FA 段落允許 unrelated donor 用低劑量 TBI 有點出入，實務上是把放射線降到最低。GVHD 預防用兩種免疫抑制劑，unrelated donor 再加 serotherapy。</a:t>
            </a:r>
          </a:p>
          <a:p>
            <a:pPr>
              <a:spcAft>
                <a:spcPts val="600"/>
              </a:spcAft>
            </a:pPr>
            <a:r>
              <a:rPr lang="en-US" dirty="0"/>
              <a:t>這些原則和第 78 章的 SAA 一致。非惡性疾病的移植公式，就是合適的 donor、骨髓、足夠的細胞數，加上溫和的 conditioning。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23:00 至 23:45]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第一題。28 歲男性，pancytopenia。骨髓 cellularity 15%，ANC 0.3、reticulocyte 25、血小板 12，單位都是 10⁹/L。染色體正常，chromosomal breakage test 陰性，有 3% 的 PNH clone，但沒有溶血。哥哥 HLA 完全相合。</a:t>
            </a:r>
          </a:p>
          <a:p>
            <a:pPr>
              <a:spcAft>
                <a:spcPts val="600"/>
              </a:spcAft>
            </a:pPr>
            <a:r>
              <a:rPr lang="en-US" dirty="0"/>
              <a:t>先判斷是不是 SAA，再看年齡和 donor，也想一下 PNH clone 會不會改變決策。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 IST 三合一、骨髓移植、周邊血 MAC 移植、eculizumab，以及單用 eltrombopag。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這題的數字刻意放得很典型，重點在後面的決策。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23:45 至 24:45]</a:t>
            </a:r>
          </a:p>
          <a:p>
            <a:pPr>
              <a:spcAft>
                <a:spcPts val="600"/>
              </a:spcAft>
            </a:pPr>
            <a:r>
              <a:rPr lang="en-US" dirty="0"/>
              <a:t>正確是 B。Cellularity 小於 30%，三項血球全部低於 Camitta 切點，診斷 SAA。28 歲、有 HLA-identical sibling，第一線就是骨髓移植，cyclophosphamide 加 ATG，CSA 加 MTX 預防 GVHD，engraftment 95%、兩年 OS 90%。</a:t>
            </a:r>
          </a:p>
          <a:p>
            <a:pPr>
              <a:spcAft>
                <a:spcPts val="600"/>
              </a:spcAft>
            </a:pPr>
            <a:r>
              <a:rPr lang="en-US" dirty="0"/>
              <a:t>最常被選的是 A。ATG 加 CSA 加 eltrombopag 確實是新標準，但對象是沒有 sibling 或 40 歲以上的病人。C 錯在幹細胞來源和強度，SAA 用骨髓、用含 ATG 的 conditioning。D 也不對，沒有溶血時 PNH clone 不改變 SAA 的流程。Breakage test 陰性這個細節，是在提醒先排除 Fanconi anemia。</a:t>
            </a:r>
          </a:p>
          <a:p>
            <a:pPr>
              <a:spcAft>
                <a:spcPts val="600"/>
              </a:spcAft>
            </a:pPr>
            <a:r>
              <a:rPr lang="en-US" dirty="0"/>
              <a:t>實務上，診斷一確立就要同時安排 sibling HLA typing，不要等 IST 失敗才想到移植。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24:45 至 25:30]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第二題。24 歲女性 SAA，horse ATG 加 CSA 加 eltrombopag 治療六個月，仍然輸血依賴。沒有兄弟姊妹，也找不到合適的 unrelated donor，媽媽是 haploidentical donor，團隊決定做 haplo 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選項的差別在 conditioning 強度、幹細胞來源，以及要不要加 ATG。想一想 SAA 需不需要 GvL。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選項包括周邊血加 PTCy、busulfan MAC、nonmyeloablative 加 ATG 和 PTCy、拿掉 ATG 的骨髓移植，以及等到 clonal evolution 再移植。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她已經走完第一線 IST，現在是第二線。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25:30 至 26:30]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 C。BMT CTN 1502 的病人和她很像，中位年齡 24.9 歲，nonmyeloablative conditioning 加 PTCy，OS 超過 80%，GVHD 低。原本的 Baltimore protocol 加上總量 2.5 mg/kg 的 ATG 以後，結果再明顯改善。骨髓要大於 2.5 × 10⁸/kg ideal body weight。</a:t>
            </a:r>
          </a:p>
          <a:p>
            <a:pPr>
              <a:spcAft>
                <a:spcPts val="600"/>
              </a:spcAft>
            </a:pPr>
            <a:r>
              <a:rPr lang="en-US" dirty="0"/>
              <a:t>最容易被選的是 A。周邊血細胞多、engraftment 快，但 GVHD 較多，在不需要 GvL 的 SAA 只有壞處，所以建議用骨髓。D 把 ATG 拿掉，正好丟掉讓結果改善的那一步。B 的 MAC 增加毒性卻沒有好處。E 等 clonal evolution 才移植，是拖延。</a:t>
            </a:r>
          </a:p>
          <a:p>
            <a:pPr>
              <a:spcAft>
                <a:spcPts val="600"/>
              </a:spcAft>
            </a:pPr>
            <a:r>
              <a:rPr lang="en-US" dirty="0"/>
              <a:t>這些 haplo 的數字都來自骨髓移植，題目換成周邊血，就要想到 GVHD 會增加。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26:30 至 27:15]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第三題換到遺傳性骨髓衰竭。8 歲男孩，身材矮小、沒有拇指，輸血依賴的 pancytopenia。Chromosomal breakage test 確診 Fanconi anemia，骨髓沒有 dysplasia，也沒有 excess blasts。姊姊 HLA 相合，breakage test 正常。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 donor 是 sibling，也注意目前沒有 clonal disease。每個選項都想一下它的毒性。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 busulfan 加 cyclophosphamide、後天 SAA 的標準方案、fludarabine 為主的減量方案、TBI 12 Gy，以及 fludarabine 加 cytarabine 減積。</a:t>
            </a:r>
          </a:p>
          <a:p>
            <a:pPr>
              <a:spcAft>
                <a:spcPts val="600"/>
              </a:spcAft>
            </a:pPr>
            <a:r>
              <a:rPr lang="en-US" dirty="0"/>
              <a:t>FA 的診斷已經確立，問的是怎麼移植。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27:15 至 28:15]</a:t>
            </a:r>
          </a:p>
          <a:p>
            <a:pPr>
              <a:spcAft>
                <a:spcPts val="600"/>
              </a:spcAft>
            </a:pPr>
            <a:r>
              <a:rPr lang="en-US" dirty="0"/>
              <a:t>選 C 的同學對了。FA 細胞修補 DNA 的能力有缺陷，alkylating agent 和放射線都要減量。目前用 fludarabine 累積 150 mg/m²，加累積不超過 50 mg/kg 的 cyclophosphamide，低劑量 TBI 只在 unrelated donor 才加，這題是 sibling，所以不用。</a:t>
            </a:r>
          </a:p>
          <a:p>
            <a:pPr>
              <a:spcAft>
                <a:spcPts val="600"/>
              </a:spcAft>
            </a:pPr>
            <a:r>
              <a:rPr lang="en-US" dirty="0"/>
              <a:t>最容易選錯的是 B。把 FA 當成後天 SAA，用標準 SAA conditioning，Ch. 78 明講結果很差。A 和 D 是標準 MAC，對 FA 毒性太大。E 的減積只給 MDS with excess blasts 或 AML。姊姊的 breakage test 正常，也呼應 donor 要先驗基因缺陷的原則。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移植之後，還要接上頭頸癌和婦科癌症的篩檢，以及 HPV 疫苗。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這是第 78 章的原圖，主線的兩張樹狀圖就是由它拆出來的。注意右下角，年輕、10/10、診斷一年內的條件不符時，才走 eltrombopag、再一次 IST 或 mismatched 移植。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EBMT 的 FA 移植資料。兩條曲線在十年後都明顯往上，續發癌症沒有平台期，所以追蹤必須終身。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這張是我把兩章的移植物規則整理在一起。不論後天或遺傳性骨髓衰竭，都偏好骨髓，因為 GVHD 較少；細胞數門檻骨髓是 10 的 8 次方，cord blood 是 10 的 7 次方。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HCT for aplastic anaemia, PNH and inherited marrow failure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25 · Ch. 78, 79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MARROW FAILURE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parts, from acquired aplasia to inherited marrow failure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Ch. 78 · Diaz-de-Heredia C, et al. Ch. 79. EBMT Handbook 8th ed. 2024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SAA: diagnosis and first-line choice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Camitta criteria and workup; sibling HCT, IST + eltrombopag, upfront MUD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Refractory SAA and PNH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Second-line tree, haplo marrow with PTCy, PNH and complement inhibitors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Inherited marrow failure syndromes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Fanconi anaemia, SCN and SDS, DBA, CAMT, telomere disease; EBMT rules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Board-style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Sibling HCT in SAA, haplo graft for refractory SAA, FA conditioning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5.25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SAA · DIAGNOSIS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SAA needs marrow cellularity &lt; 30% plus two of three low counts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52344"/>
                <a:gridCol w="80650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What Ch. 78 requires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Marrow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Haematopoietic cellularity &lt; 30%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Blood (≥ 2 of 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ANC &lt; 0.5 · retics &lt; 60 · PLT &lt; 20 (all × 10⁹/L)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Very severe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[verify: ANC &lt; 0.2 × 10⁹/L; not defined in Ch. 78]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Exclude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MDS, myelofibrosis, hypocellular AL, inherited BMF (FA, TBD)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Genetic and immune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NGS or WES/WGS; immune screen in children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Cytogenetics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Up to 10%: del(20q), +8, del13q, −Y (not MDS-defining)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PNH clone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Concomitant in 40%; no haemolysis → treat as SAA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When to treat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Moderate AA: may watch; SAA or transfusion need: no delay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SAA · FIRST-LINE ALGORITHM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Age and a matched sibling decide first-line SAA therapy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 (Fig. 78.1)</a:t>
            </a:r>
            <a:endParaRPr lang="en-US" sz="1000" dirty="0"/>
          </a:p>
        </p:txBody>
      </p:sp>
      <p:sp>
        <p:nvSpPr>
          <p:cNvPr id="6" name="Box 21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Idiopathic SAA that needs treatment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22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MSD and age &lt; 40</a:t>
            </a:r>
            <a:endParaRPr lang="en-US" sz="1400" dirty="0"/>
          </a:p>
        </p:txBody>
      </p:sp>
      <p:sp>
        <p:nvSpPr>
          <p:cNvPr id="11" name="Box 23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BM HCT: CY + ATG;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CSA + MTX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24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Engraftment 95%;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2-year OS 90%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25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10/10 MUD, age &lt; 20</a:t>
            </a:r>
            <a:endParaRPr lang="en-US" sz="1400" dirty="0"/>
          </a:p>
        </p:txBody>
      </p:sp>
      <p:sp>
        <p:nvSpPr>
          <p:cNvPr id="16" name="Box 26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Upfront MUD HCT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within 2–3 months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27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Many centres now offer it first line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28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 MSD or age ≥ 40</a:t>
            </a:r>
            <a:endParaRPr lang="en-US" sz="1400" dirty="0"/>
          </a:p>
        </p:txBody>
      </p:sp>
      <p:sp>
        <p:nvSpPr>
          <p:cNvPr id="21" name="Box 29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Horse ATG + CSA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 eltrombopag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30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Refractory or relapse 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second-line tree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SAA · SIBLING 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Sibling marrow HCT for SAA relies on ATG in the conditioning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graphicFrame>
        <p:nvGraphicFramePr>
          <p:cNvPr id="6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52344"/>
                <a:gridCol w="80650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Element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Ch. 78 detail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CY + ATG: serotherapy prevents both rejection and GVHD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Older patients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Low-dose TBI 200 cGy lowers graft failure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Other serotherapy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Alemtuzumab also works: T-cell depletion is the key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GVHD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CSA + MTX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Graft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Bone marrow, transplanted early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Engraftment 95%; OS 90% at 2 years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Late effects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Avascular necrosis, endocrine; secondary cancer very rare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Limits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Toxicity and GVHD rise &gt; 40 years or with high comorbidity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SAA · IMMUNOSUPPRESSIVE THERAPY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Adding eltrombopag to horse ATG and CSA raised response rates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graphicFrame>
        <p:nvGraphicFramePr>
          <p:cNvPr id="7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92424"/>
                <a:gridCol w="3849624"/>
                <a:gridCol w="35753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NIH cohort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(Townsley 2017)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hATG + CSA + EPAG from day 1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(best cohort)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6-month CR 58%, ORR 94%;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2-year OS 97%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cohort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Relapse and clonal evolution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Similar to historical IST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EBMT phase 3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(Peffault de Latour 2022)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Open-label RCT, untreated SAA: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hATG + CSA ± EPAG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Primary endpoint met: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more CR at month 3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trial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6-month ORR (CR + PR)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68% vs 41%; faster, more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transfusion-free; similar safety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Any IST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Time to recovery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3–6 months; anti-infective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care drives survival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Taiwan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Access and NHI coverage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[verify: hATG and EPAG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 first-line SAA]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SAA · UPFRONT UNRELATED 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Upfront matched unrelated HCT now rivals sibling HCT in children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graphicFrame>
        <p:nvGraphicFramePr>
          <p:cNvPr id="8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483864"/>
                <a:gridCol w="3666744"/>
                <a:gridCol w="36667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Cohort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UK, 44 children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(Samarasinghe 2012)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10/10 MUD, FCC;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 had failed IST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5-year FFS 95%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UK, 29 children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(Dufour 2015a)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First-line UD, FCC;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 had 1-Ag mismatch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OS 96%, EFS 92%;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death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study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vs MRD HCT, IST, UD HCT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after IST failure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Like MRD; better than IST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and post-IST UD 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EBMT SAAWP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(Petit 2022)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Upfront UD HCT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Positive results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North America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(Pulsipher 2020)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MUD BMT vs ATG + CSA,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feasibility study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Feasible; likely better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than IST (small numbers)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4"/>
          <p:cNvSpPr txBox="1"/>
          <p:nvPr/>
        </p:nvSpPr>
        <p:spPr>
          <a:xfrm>
            <a:off x="685800" y="54406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FCC = fludarabine, cyclophosphamide, Campath (alemtuzumab)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SAA · SECOND 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After IST failure, age and donor decide the second-line route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 (Fig. 78.1)</a:t>
            </a:r>
            <a:endParaRPr lang="en-US" sz="1000" dirty="0"/>
          </a:p>
        </p:txBody>
      </p:sp>
      <p:sp>
        <p:nvSpPr>
          <p:cNvPr id="6" name="Box 35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SAA refractory to, or relapsed after, IST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6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Young, 10/10 MUD</a:t>
            </a:r>
            <a:endParaRPr lang="en-US" sz="1400" dirty="0"/>
          </a:p>
        </p:txBody>
      </p:sp>
      <p:sp>
        <p:nvSpPr>
          <p:cNvPr id="11" name="Box 37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Matched unrelated BMT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8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Better if ≤ 30 y, &lt; 1 year,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BM graft, CMV status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9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Older, MRD, fit</a:t>
            </a:r>
            <a:endParaRPr lang="en-US" sz="1400" dirty="0"/>
          </a:p>
        </p:txBody>
      </p:sp>
      <p:sp>
        <p:nvSpPr>
          <p:cNvPr id="16" name="Box 40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Sibling HCT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41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no significant comorbidity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42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 suitable MUD</a:t>
            </a:r>
            <a:endParaRPr lang="en-US" sz="1400" dirty="0"/>
          </a:p>
        </p:txBody>
      </p:sp>
      <p:sp>
        <p:nvSpPr>
          <p:cNvPr id="21" name="Box 43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Haplo BMT + PTCy,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 cord blood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44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rejection, infection, GVHD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45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 HCT</a:t>
            </a:r>
            <a:endParaRPr lang="en-US" sz="1400" dirty="0"/>
          </a:p>
        </p:txBody>
      </p:sp>
      <p:sp>
        <p:nvSpPr>
          <p:cNvPr id="26" name="Box 46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Eltrombopag, repeat IST, androgens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47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Eltrombopag ORR 40%,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some trilineage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SAA · ALTERNATIVE DONORS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Haplo marrow with PTCy and ATG now cures over 80% of refractory SAA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graphicFrame>
        <p:nvGraphicFramePr>
          <p:cNvPr id="10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92424"/>
                <a:gridCol w="366674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Patients and protocol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Historic alternative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donors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MMUD, CB, haplo;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mostly children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Long-term OS about 60%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Cord blood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(Peffault de Latour 2018)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IST-refractory children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Good results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BMT CTN 1502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(DeZern 2022)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R/R, median 24.9 y; NMA + PTCy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 ATG 2.5 mg/kg total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OS &gt; 80%;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low GVHD and TRM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study: graft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BM preferred over PB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&gt; 2.5 × 10⁸ NC/kg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ideal body weight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EBMT SAAWP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(Prata 2020)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36 patients, median 42 y,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2010–2017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1-year OS 78%;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93% if Baltimore-like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First line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(DeZern 2023)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27 patients, same protocol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3-year OS 92%; aGVHD II–IV 7%,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cGVHD 4%; TBI 400 cGy: 100%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PNH · ROLE OF 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PNH clone rarely changes the SAA plan; thrombosis rules out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graphicFrame>
        <p:nvGraphicFramePr>
          <p:cNvPr id="11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77906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Ch. 78 answer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Biology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Somatic PIG-A (X-linked) → no GPI anchor → no CD55/CD59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Clinical picture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Intravascular haemolysis, thrombophilia, marrow failure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Main cause of death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Thrombosis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AA with a PNH clone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Treat the AA; the clone does not change the algorithm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 thrombosis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HCT: high risk of toxicity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Where HCT remains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AA/PNH; haemolytic PNH without complement inhibitor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SAA-like for marrow failure; BU-based MAC if cellular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GVHD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Prevent it: a non-malignant disease needs no GvL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PNH · COMPLEMENT INHIBITORS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Anti-C5 antibodies made complement inhibition the PNH standard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graphicFrame>
        <p:nvGraphicFramePr>
          <p:cNvPr id="12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2386584"/>
                <a:gridCol w="2935224"/>
                <a:gridCol w="55046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Evidence in Ch. 78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Eculizumab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C5, IV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About half transfusion-free;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fewer thromboses; better OS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Ravulizumab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C5, IV every 8 weeks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Non-inferior to eculizumab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 two phase 3 trials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Pegcetacoplan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Phase III vs eculizumab (Hb &lt; 10.5):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Hb +3.84 g/dL at week 16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trial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Transfusion avoidance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85.4% vs 15.4%; LDH not non-inferior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Danicopan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Factor D, oral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Phase 3 add-on for poor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responders to eculizumab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Iptacopan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Factor B, oral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Phase 2 add-on, n = 10: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 normalised Hb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FANCONI ANAEMIA · HCT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Fanconi anaemia needs fludarabine and reduced-dose conditioning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EBMT Handbook 8th ed. 2024; Ch. 79</a:t>
            </a:r>
            <a:endParaRPr lang="en-US" sz="1000" dirty="0"/>
          </a:p>
        </p:txBody>
      </p:sp>
      <p:graphicFrame>
        <p:nvGraphicFramePr>
          <p:cNvPr id="13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00984"/>
                <a:gridCol w="75163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Ch. 79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Biology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DNA-repair defect; ≥ 23 genes; chromosomal breakage test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Phenotype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Somatic anomalies 70%; MDS/AML, head-neck, gynae cancer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Indication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Marrow failure (transfusions, severe neutropenia); MDS/AML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Conditioning (cumulative)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FLU 150 mg/m² + CY ≤ 50 mg/kg; TBI 100–300 cGy if UD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MDS-EB, AML, BRCA2/FANCD1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FLU + cytarabine first; secure the donor before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clear conditioning recommendation yet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2000–2009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5-year OS: MSD 78%, MUD 65%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&lt; 18 y, n = 813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5-year OS 83%; MDS/AML 40% vs aplasia 85%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FANCONI ANAEMIA · LONG-TERM FOLLOW-UP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HCT fixes Fanconi marrow but not the cancer risk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EBMT Handbook 8th ed. 2024; Ch. 79</a:t>
            </a:r>
            <a:endParaRPr lang="en-US" sz="1000" dirty="0"/>
          </a:p>
        </p:txBody>
      </p:sp>
      <p:sp>
        <p:nvSpPr>
          <p:cNvPr id="6" name="Box 52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HCT corrects haematopoiesis only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53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Secondary cancer risk stays high after HCT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54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ENT, gynaecology, breast US/MRI screening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55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HPV vaccination; endocrine follow-up</a:t>
            </a:r>
            <a:endParaRPr lang="en-US" sz="1700" dirty="0"/>
          </a:p>
        </p:txBody>
      </p:sp>
      <p:sp>
        <p:nvSpPr>
          <p:cNvPr id="13" name="Text 56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Fig. 79.1 (Peffault de Latour 2013): death and secondary malignancy keep rising after HCT for FA. Head-neck and perineal cancers are why HPV vaccination is strongly recommended.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INHERITED BMF · SCN AND SDS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SCN and SDS go to HCT when G-CSF fails or clonal evolution starts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EBMT Handbook 8th ed. 2024; Ch. 79</a:t>
            </a:r>
            <a:endParaRPr lang="en-US" sz="1000" dirty="0"/>
          </a:p>
        </p:txBody>
      </p:sp>
      <p:graphicFrame>
        <p:nvGraphicFramePr>
          <p:cNvPr id="15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52344"/>
                <a:gridCol w="4123944"/>
                <a:gridCol w="39410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Severe congenital neutropenia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Shwachman-Diamond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&gt; 30 genes; ELANE 60%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Biallelic SBDS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Mechanism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Promyelocyte apoptosis,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maturation block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Ribosome assembly,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stromal defect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G-CSF (μg/kg/d)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3–5 usual; poor 10–15;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non-responder &gt; 20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MDS/AML on follow-up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10.8% at 15 y; 22% at 20 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18–36% at 20–30 years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HCT indication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Poor or no G-CSF response;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MDS/AML; &lt; 10 y with MSD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Rising cytopenias; MDS or bad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cytogenetics, before AML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MAC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RIC (organ, e.g. heart)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EBMT outcome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5-y OS 82%, TRM 17% (n = 136)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5-y OS 63.3%, TRM 19.8%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INHERITED BMF · DBA, CAMT, DC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DBA, CAMT and dyskeratosis congenita each set their own HCT rules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EBMT Handbook 8th ed. 2024; Ch. 79</a:t>
            </a:r>
            <a:endParaRPr lang="en-US" sz="1000" dirty="0"/>
          </a:p>
        </p:txBody>
      </p:sp>
      <p:graphicFrame>
        <p:nvGraphicFramePr>
          <p:cNvPr id="16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2020824"/>
                <a:gridCol w="3118104"/>
                <a:gridCol w="2843784"/>
                <a:gridCol w="28437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Diamond-Blackfan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CAMT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Dyskeratosis congenita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Defect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Ribosomal genes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(none found in 30%)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MPL (TPO receptor)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Telomerase-shelterin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Before HCT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Steroids (60% respond);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RBC + iron chelation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Transfusion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Androgens help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some patients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HCT when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Steroid failure or ≥ 0.3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mg/kg/d, TD; &lt; 10 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TD thrombocytopenia,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pancytopenia, clone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Progressive BMF,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major organ damage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Donor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MSD ≈ MUD; rule out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silent-carrier sibling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MSD; MUD ≥ 9/10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Unaffected MSD;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others do worse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Regimen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MAC: FLU + BU or TREO;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ATG if transfused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MAC: FLU + TREO or BU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FLU-based RIC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cGFS 90% &lt; 10 y;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78% at 10–18 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6-y OS 85.6%, TRM 8%;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CB 37.5% vs BM 95%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5-y OS 57%;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10-y OS 23%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INHERITED BMF · GENERAL RULES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Inherited BMF transplants follow one shared set of EBMT rules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EBMT Handbook 8th ed. 2024; Ch. 79</a:t>
            </a:r>
            <a:endParaRPr lang="en-US" sz="1000" dirty="0"/>
          </a:p>
        </p:txBody>
      </p:sp>
      <p:graphicFrame>
        <p:nvGraphicFramePr>
          <p:cNvPr id="17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35224"/>
                <a:gridCol w="7882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Domain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Recommendation (Ch. 79 key points)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Donor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MSD best, after testing the sibling for the defect; then MUD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Mismatched or CB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Only in experienced centres, preferably in trials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Stem cell source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 best; related CB good; avoid PB (more cGVHD)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Cell dose (NC/kg)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 &gt; 3 × 10⁸; related CB &gt; 3 × 10⁷; unrelated CB &gt; 4 × 10⁷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MAC or RIC by disease; avoid irradiation; FA and DC: RIC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GVHD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Two immunosuppressants; serotherapy for UD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Follow-up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Lifelong, multidisciplinary: cancer, organs, iron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choose first-line therapy for this SAA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sp>
        <p:nvSpPr>
          <p:cNvPr id="6" name="Text 60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28-year-old man has pancytopenia. Marrow cellularity is 15%; ANC 0.3, reticulocytes 25 and platelets 12 (× 10⁹/L). Karyotype is normal, chromosomal breakage testing is negative, and a 3% PNH clone is found without haemolysis. His brother is HLA-identical. What is the most appropriate first-line treatment?</a:t>
            </a:r>
            <a:endParaRPr lang="en-US" sz="1900" dirty="0"/>
          </a:p>
        </p:txBody>
      </p:sp>
      <p:sp>
        <p:nvSpPr>
          <p:cNvPr id="7" name="Text 61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Horse ATG + cyclosporine + eltrombopag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Bone marrow HCT after CY + ATG, with CSA + MTX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Peripheral blood HCT after busulfan-based MAC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Eculizumab, then reassess the marrow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Eltrombopag alone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sibling marrow HCT is first line under age 40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sp>
        <p:nvSpPr>
          <p:cNvPr id="6" name="Box 62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Bone marrow HCT after CY + ATG, with CSA + MTX</a:t>
            </a:r>
            <a:endParaRPr lang="en-US" sz="2000" dirty="0"/>
          </a:p>
        </p:txBody>
      </p:sp>
      <p:sp>
        <p:nvSpPr>
          <p:cNvPr id="7" name="Text 63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Cellularity &lt; 30% plus ≥ 2 of 3 low counts = SAA. With an HLA-identical sibling and age &lt; 40, BM HCT after CY + ATG with CSA + MTX is first line: engraftment 95%, 2-year OS 90%. ATG + CSA + eltrombopag is for no sibling or age ≥ 40. A PNH clone without haemolysis does not change the SAA algorithm.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plan haplo HCT for refractory SAA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sp>
        <p:nvSpPr>
          <p:cNvPr id="6" name="Text 64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24-year-old woman with SAA is still transfusion-dependent 6 months after horse ATG + cyclosporine + eltrombopag. She has no sibling and no suitable unrelated donor; her mother is a haploidentical donor. The team proceeds to haploidentical HCT. Which plan is best supported by current evidence?</a:t>
            </a:r>
            <a:endParaRPr lang="en-US" sz="1900" dirty="0"/>
          </a:p>
        </p:txBody>
      </p:sp>
      <p:sp>
        <p:nvSpPr>
          <p:cNvPr id="7" name="Text 65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G-CSF-mobilised peripheral blood graft with PTCy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Busulfan-based myeloablative conditioning, marrow graft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Non-myeloablative conditioning, ATG, PTCy, marrow graft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Marrow graft with PTCy, omitting ATG to speed engraftment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Defer HCT until clonal evolution is documented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NMA conditioning, ATG and PTCy with a marrow graft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sp>
        <p:nvSpPr>
          <p:cNvPr id="6" name="Box 66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Non-myeloablative conditioning, ATG, PTCy, marrow graft</a:t>
            </a:r>
            <a:endParaRPr lang="en-US" sz="2000" dirty="0"/>
          </a:p>
        </p:txBody>
      </p:sp>
      <p:sp>
        <p:nvSpPr>
          <p:cNvPr id="7" name="Text 67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BMT CTN 1502 (median age 24.9): NMA conditioning + PTCy gave OS &gt; 80% with low GVHD; adding ATG 2.5 mg/kg total improved results. Bone marrow is preferred over PB because of less GVHD, with &gt; 2.5 × 10⁸ NC/kg ideal body weight. SAA needs no GvL, so MAC adds toxicity without benefit.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choose the conditioning for this child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Ch. 79 · Peffault de Latour R, et al. Ch. 78. EBMT Handbook 8th ed. 2024</a:t>
            </a:r>
            <a:endParaRPr lang="en-US" sz="1000" dirty="0"/>
          </a:p>
        </p:txBody>
      </p:sp>
      <p:sp>
        <p:nvSpPr>
          <p:cNvPr id="6" name="Text 68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An 8-year-old boy with short stature and absent thumbs has transfusion-dependent pancytopenia. Chromosomal breakage testing confirms Fanconi anaemia; the marrow shows no dysplasia or excess blasts. His HLA-identical sister has a normal breakage test. Which conditioning plan is most appropriate?</a:t>
            </a:r>
            <a:endParaRPr lang="en-US" sz="1900" dirty="0"/>
          </a:p>
        </p:txBody>
      </p:sp>
      <p:sp>
        <p:nvSpPr>
          <p:cNvPr id="7" name="Text 69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Busulfan + cyclophosphamide myeloablative conditioning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Full-dose cyclophosphamide + ATG, as for acquired SAA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Fludarabine 150 mg/m² + cyclophosphamide ≤ 50 mg/kg, no TBI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TBI 12 Gy + cyclophosphamide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Fludarabine + cytarabine cytoreduction before conditioning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Fanconi anaemia needs FLU with reduced-dose CY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Ch. 79 · Peffault de Latour R, et al. Ch. 78. EBMT Handbook 8th ed. 2024</a:t>
            </a:r>
            <a:endParaRPr lang="en-US" sz="1000" dirty="0"/>
          </a:p>
        </p:txBody>
      </p:sp>
      <p:sp>
        <p:nvSpPr>
          <p:cNvPr id="6" name="Box 70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Fludarabine 150 mg/m² + cyclophosphamide ≤ 50 mg/kg, no TBI</a:t>
            </a:r>
            <a:endParaRPr lang="en-US" sz="2000" dirty="0"/>
          </a:p>
        </p:txBody>
      </p:sp>
      <p:sp>
        <p:nvSpPr>
          <p:cNvPr id="7" name="Text 71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 cells cannot repair DNA damage, so alkylators and irradiation must be reduced. Current regimens use FLU (cumulative 150 mg/m²) with CY up to 50 mg/kg; TBI 100–300 cGy is added only for unrelated donors. Classical SAA conditioning in unrecognised inherited BMF has a dismal outcome. FLU + cytarabine is for MDS-EB or AML.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2</a:t>
            </a:r>
            <a:endParaRPr lang="en-US" sz="3600" dirty="0"/>
          </a:p>
        </p:txBody>
      </p:sp>
      <p:sp>
        <p:nvSpPr>
          <p:cNvPr id="5" name="Text 72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Peffault de Latour R, Risitano A, Kulasekararaj A, Dufour C. Acquired bone marrow failure: severe aplastic anemia and paroxysmal nocturnal hemoglobinuria. In: The EBMT Handbook, 8th ed. Springer; 2024. pp. 707–715. doi:10.1007/978-3-031-44080-9_78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Diaz-de-Heredia C, Bierings M, Dalle JH, Fioredda F, Strahm B. Fanconi anemia and other hereditary bone marrow failure syndromes. In: The EBMT Handbook, 8th ed. Springer; 2024. pp. 717–724. doi:10.1007/978-3-031-44080-9_79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Camitta BM. Criteria for severe aplastic anaemia. Lancet. 1988;1(8580):303–4.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Bacigalupo A, Socie G, Lanino E, et al. Fludarabine, cyclophosphamide, antithymocyte globulin, with or without low dose total body irradiation, for alternative donor transplants, in acquired severe aplastic anemia: a retrospective study from the EBMT-SAA Working Party. Haematologica. 2010;95(6):976–82.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Marsh JC, Gupta V, Lim Z, et al. Alemtuzumab with fludarabine and cyclophosphamide reduces chronic graft-versus-host disease after allogeneic stem cell transplantation for acquired aplastic anemia. Blood. 2011;118(8):2351–7.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Townsley DM, Scheinberg P, Winkler T, et al. Eltrombopag added to standard immunosuppression for aplastic anemia. N Engl J Med. 2017;376(16):1540–50.</a:t>
            </a:r>
            <a:endParaRPr lang="en-US" sz="1100" dirty="0"/>
          </a:p>
        </p:txBody>
      </p:sp>
      <p:sp>
        <p:nvSpPr>
          <p:cNvPr id="6" name="Text 73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Peffault de Latour R, Kulasekararaj A, Iacobelli S, et al. Eltrombopag added to immunosuppression in severe aplastic anemia. N Engl J Med. 2022;386(1):11–23.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Samarasinghe S, Webb DKH. How I manage aplastic anaemia in children. Br J Haematol. 2012;157(1):26–40.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Dufour C, Veys P, Carraro E, et al. Similar outcome of upfront-unrelated and matched sibling stem cell transplantation in idiopathic paediatric aplastic anaemia. A study on behalf of the UK Paediatric BMT Working Party, Paediatric Diseases Working Party and Severe Aplastic Anaemia Working Party of EBMT. Br J Haematol. 2015a;171(4):585–94.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Petit AF, Kulasekararaj AG, Eikema DJ, et al. Upfront unrelated donor hematopoietic stem cell transplantation in patients with idiopathic aplastic anemia: a retrospective study of the Severe Aplastic Anemia Working Party of European Bone Marrow Transplantation. Am J Hematol. 2022;97(1):E1–3.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Pulsipher MA, Lehmann LE, Bertuch AA, et al. A study assessing the feasibility of randomization of pediatric and young adult patients between matched unrelated donor bone marrow transplantation and immune-suppressive therapy for newly diagnosed severe aplastic anemia: a joint pilot trial of the North American Pediatric Aplastic Anemia Consortium and the Pediatric Transplantation and Cellular Therapy Consortium. Pediatr Blood Cancer. 2020;67(10):e28444.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Olnes MJ, Scheinberg P, Calvo KR, et al. Eltrombopag and improved hematopoiesis in refractory aplastic anemia. N Engl J Med. 2012;367(1):11–9.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2</a:t>
            </a:r>
            <a:endParaRPr lang="en-US" sz="3600" dirty="0"/>
          </a:p>
        </p:txBody>
      </p:sp>
      <p:sp>
        <p:nvSpPr>
          <p:cNvPr id="5" name="Text 74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Desmond R, Townsley DM, Dumitriu B, et al. Eltrombopag restores trilineage hematopoiesis in refractory severe aplastic anemia that can be sustained on discontinuation of drug. Blood. 2014;123(12):1818–25.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Peffault de Latour R, Chevret S, Jubert C, et al. Unrelated cord blood transplantation in patients with idiopathic refractory severe aplastic anemia: a nationwide phase 2 study. Blood. 2018;132(7):750–4.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15. DeZern AE, Eapen M, Wu J, et al. Haploidentical bone marrow transplantation in patients with relapsed or refractory severe aplastic anaemia in the USA (BMT CTN 1502): a multicentre, single-arm, phase 2 trial. Lancet Haematol. 2022;9(9):e660–9.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16. Prata PH, Eikema DJ, Afansyev B, et al. Haploidentical transplantation and posttransplant cyclophosphamide for treating aplastic anemia patients: a report from the EBMT Severe Aplastic Anemia Working Party. Bone Marrow Transplant. 2020;55(6):1050–8.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17. DeZern A, Zahurak ML, Symons HJ, et al. Alternative donor BMT with post-transplant cyclophosphamide as initial therapy for acquired severe aplastic anemia. Blood. 2023;141(25):3031–8.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18. Peffault de Latour R, Schrezenmeier H, Bacigalupo A, et al. Allogeneic stem cell transplantation in paroxysmal nocturnal hemoglobinuria. Haematologica. 2012;97(11):1666–73.</a:t>
            </a:r>
            <a:endParaRPr lang="en-US" sz="1100" dirty="0"/>
          </a:p>
        </p:txBody>
      </p:sp>
      <p:sp>
        <p:nvSpPr>
          <p:cNvPr id="6" name="Text 75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19. Hillmen P, Young NS, Schubert J, et al. The complement inhibitor eculizumab in paroxysmal nocturnal hemoglobinuria. N Engl J Med. 2006;355(12):1233–43.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20. Lee JW, Sicre de Fontbrune F, Wong Lee Lee L, et al. Ravulizumab (ALXN1210) vs eculizumab in adult patients with PNH naive to complement inhibitors: the 301 study. Blood. 2019;133(6):530–9.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21. Kulasekararaj AG, Hill A, Rottinghaus ST, et al. Ravulizumab (ALXN1210) vs eculizumab in C5-inhibitor-experienced adult patients with PNH: the 302 study. Blood. 2019;133(6):540–9.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22. Hillmen P, Szer J, Weitz I, et al. Pegcetacoplan versus Eculizumab in paroxysmal nocturnal hemoglobinuria. N Engl J Med. 2021;384(11):1028–37.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23. Risitano AM, Röth A, Soret J, et al. Addition of iptacopan, an oral factor B inhibitor, to eculizumab in patients with paroxysmal nocturnal haemoglobinuria and active haemolysis: an open-label, single-arm, phase 2, proof-of-concept trial. Lancet Haematol. 2021;8(5):e344–54.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24. Peffault de Latour R, Porcher R, Dalle JH, et al. Allogeneic hematopoietic stem cell transplantation in Fanconi anemia: the European Group for Blood and Marrow Transplantation experience. Blood. 2013;122:4279–86.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SAA · FIG. 78.1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Ch. 78 algorithm sets first and second line in one figure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EBMT Handbook 8th ed. 2024; Ch. 78</a:t>
            </a:r>
            <a:endParaRPr lang="en-US" sz="1000" dirty="0"/>
          </a:p>
        </p:txBody>
      </p:sp>
      <p:pic>
        <p:nvPicPr>
          <p:cNvPr id="6" name="Figure ch78-fig1" descr="Treatment algorithm of idiopathic aplastic anaemia: HLA-identical sibling and age under 40 to marrow HCT; MUD within 2–3 months and age under 20 to HCT; otherwise hATG + CSA + eltrombopag, then unrelated BMT if young, 10/10 and within the first year, or eltrombopag, repeated IST or alternative don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5162258" cy="3749040"/>
          </a:xfrm>
          <a:prstGeom prst="rect">
            <a:avLst/>
          </a:prstGeom>
        </p:spPr>
      </p:pic>
      <p:sp>
        <p:nvSpPr>
          <p:cNvPr id="7" name="Text 76"/>
          <p:cNvSpPr txBox="1"/>
          <p:nvPr/>
        </p:nvSpPr>
        <p:spPr>
          <a:xfrm>
            <a:off x="7825252" y="2240280"/>
            <a:ext cx="36779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Fig. 78.1. Treatment algorithm of SAA in 2023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FANCONI ANAEMIA · FIG. 79.1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Death and secondary cancer keep rising for 20 years after FA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Diaz-de-Heredia C, et al. EBMT Handbook 8th ed. 2024; Ch. 79</a:t>
            </a:r>
            <a:endParaRPr lang="en-US" sz="1000" dirty="0"/>
          </a:p>
        </p:txBody>
      </p:sp>
      <p:pic>
        <p:nvPicPr>
          <p:cNvPr id="6" name="Figure ch79-fig1" descr="EBMT cumulative incidence curves of death and secondary malignancy after HCT for Fanconi anaemia over 20 years; 518 patients at risk at year 1, 15 at year 2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3965270" cy="3749040"/>
          </a:xfrm>
          <a:prstGeom prst="rect">
            <a:avLst/>
          </a:prstGeom>
        </p:spPr>
      </p:pic>
      <p:sp>
        <p:nvSpPr>
          <p:cNvPr id="7" name="Text 77"/>
          <p:cNvSpPr txBox="1"/>
          <p:nvPr/>
        </p:nvSpPr>
        <p:spPr>
          <a:xfrm>
            <a:off x="7825252" y="2240280"/>
            <a:ext cx="36779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Fig. 79.1. Fanconi anaemia: probability of death and secondary malignancies post transplant (Peffault de Latour 2013)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MARROW FAILURE · GRAFT THRESHOLDS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Marrow is the preferred graft across acquired and inherited BMF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Peffault de Latour R, et al. Ch. 78 · Diaz-de-Heredia C, et al. Ch. 79. EBMT Handbook 8th ed. 2024</a:t>
            </a:r>
            <a:endParaRPr lang="en-US" sz="1000" dirty="0"/>
          </a:p>
        </p:txBody>
      </p:sp>
      <p:graphicFrame>
        <p:nvGraphicFramePr>
          <p:cNvPr id="28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3300984"/>
                <a:gridCol w="4398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Preferred graft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Cell dose or rule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SAA, sibling or MUD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Bone marrow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 vs PB favours OS after MUD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SAA, haplo + PTCy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Bone marrow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2.5 × 10⁸ NC/kg ideal body weight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Inherited BMF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Bone marrow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3 × 10⁸ NC/kg recipient weight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Inherited BMF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Related cord blood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3 × 10⁷ NC/kg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Inherited BMF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Unrelated cord blood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4 × 10⁷ NC/kg; experienced centres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CAMT (6-year OS)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 95%, PB 88.9%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Cord blood 37.5%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79"/>
          <p:cNvSpPr txBox="1"/>
          <p:nvPr/>
        </p:nvSpPr>
        <p:spPr>
          <a:xfrm>
            <a:off x="685800" y="50292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Speaker's summary across Ch. 78 and Ch. 79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HCT for aplastic anaemia, PNH and inherited marrow failure</dc:title>
  <dc:subject>PptxGenJS Presentation</dc:subject>
  <dc:creator>Hsieh-Ting Lin, MD</dc:creator>
  <cp:lastModifiedBy>Hsieh-Ting Lin, MD</cp:lastModifiedBy>
  <cp:revision>1</cp:revision>
  <dcterms:created xsi:type="dcterms:W3CDTF">2026-10-09T16:12:08Z</dcterms:created>
  <dcterms:modified xsi:type="dcterms:W3CDTF">2026-10-09T16:12:08Z</dcterms:modified>
</cp:coreProperties>
</file>