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d6f6620-381f-d2b7-d9eb-ebf6c5108df5}">
          <p14:sldIdLst>
            <p14:sldId id="256"/>
            <p14:sldId id="257"/>
          </p14:sldIdLst>
        </p14:section>
        <p14:section name="Neutropenic fever" id="{85a1b9e7-5af1-c76e-a047-df54c1f31cc9}">
          <p14:sldIdLst>
            <p14:sldId id="258"/>
            <p14:sldId id="259"/>
            <p14:sldId id="260"/>
            <p14:sldId id="261"/>
          </p14:sldIdLst>
        </p14:section>
        <p14:section name="Bacterial infections" id="{16e98d81-ece4-abde-7fab-59350794233e}">
          <p14:sldIdLst>
            <p14:sldId id="262"/>
            <p14:sldId id="263"/>
            <p14:sldId id="264"/>
            <p14:sldId id="265"/>
            <p14:sldId id="266"/>
          </p14:sldIdLst>
        </p14:section>
        <p14:section name="Invasive fungal diseases" id="{32db6f68-15ae-ba6e-ea3a-661d5d70d5a1}">
          <p14:sldIdLst>
            <p14:sldId id="267"/>
            <p14:sldId id="268"/>
            <p14:sldId id="269"/>
            <p14:sldId id="270"/>
          </p14:sldIdLst>
        </p14:section>
        <p14:section name="Board questions" id="{c27c6b29-19ac-2647-3a6b-75e64778cbfa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ferences" id="{114635b7-ef10-b98e-071f-2a79f5512935}">
          <p14:sldIdLst>
            <p14:sldId id="277"/>
            <p14:sldId id="278"/>
          </p14:sldIdLst>
        </p14:section>
        <p14:section name="Backup" id="{f228f685-cb5a-76cc-e3a5-5286c957d824}">
          <p14:sldIdLst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各位早安，第八週的主題是 neutropenic fever、細菌感染和 invasive fungal disease，對應 EBMT Handbook 第 35、36、37 章。移植後的發燒幾乎人人都會遇到，Gram-negative bacteremia 和 mould infection 又是早期死亡的重要原因，所以這三章在專科考試出現的頻率很高。最後一樣用三題 board-style 題目收尾。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今天分三章，加上最後的考題。第一段是 neutropenic fever，重點是發燒當下要做哪些檢查、怎麼在 escalation 和 de-escalation 之間選擇，抗生素用了還在燒怎麼辦，以及什麼時候可以停藥。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第二段是細菌感染，先看抗藥的數字，再把 Gram-positive 和抗藥 Gram-negative 的首選藥物整理成表，接著談 CVC 什麼時候要拔，以及 FQ prophylaxis 的爭議。這段藥名最多，考題也最喜歡在這裡設陷阱。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 invasive fungal disease，包括 galactomannan 和 β-D-glucan 的判讀、分時期的預防、empirical 和 pre-emptive 兩種策略，以及各菌種的 first-line 藥物和 TDM 目標。最後三題分別對應這三段。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Neutropenic 病人沒有 neutrophil，膿瘍、肺部浸潤、膿尿這些局部表現都出不來，發燒常常是唯一的症狀。發燒的原因很多，病毒、黴菌、ATG、輸血反應、CRS、mucositis、engraftment syndrome 都有可能。不過 Gram-negative，尤其 Pseudomonas aeruginosa，可以在幾小時內惡化致死，所以一律先當成 Gram-negative bacteremia 處理。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第一步是至少兩套 blood culture，一套是一瓶 aerobic 加一瓶 anaerobic。有 CVC 的話，其中一套從 CVC 抽，每瓶 10 mL。血量是偵測 bacteremia 和 candidemia 最關鍵的因素，病房最常犯的錯就是抽太少。</a:t>
            </a:r>
          </a:p>
          <a:p>
            <a:pPr>
              <a:spcAft>
                <a:spcPts val="600"/>
              </a:spcAft>
            </a:pPr>
            <a:r>
              <a:rPr lang="en-US" dirty="0"/>
              <a:t>理學檢查要找細微的局部徵象，包括 CVC 出口、會陰部疼痛、皮膚和指甲病灶、腹部壓痛或腹瀉、流鼻水，以及肋膜性胸痛。懷疑肺部時直接做 lung CT，因為 chest X-ray 在 neutropenia 的敏感度太低。</a:t>
            </a:r>
          </a:p>
          <a:p>
            <a:pPr>
              <a:spcAft>
                <a:spcPts val="600"/>
              </a:spcAft>
            </a:pPr>
            <a:r>
              <a:rPr lang="en-US" dirty="0"/>
              <a:t>接著做兩個風險評估，一個是臨床嚴重度，一個是抗藥菌風險。抗藥菌高風險包括之前有抗藥菌 colonisation、曾經感染過抗藥菌，或單位本身抗藥菌盛行。這兩個評估合起來，決定下一張的 escalation 或 de-escalation。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3:00 至 5:00]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這是書上的 Table 35.1。Escalation 是傳統做法，先用涵蓋 susceptible Enterobacteriaceae 和 Pseudomonas 的單一藥物，就是 cefepime、ceftazidime 或 piperacillin-tazobactam，發燒持續 48 到 72 小時再調整。好處是省下 carbapenem，毒性也比較低。弱點在於萬一分離出的 Gram-negative 對起始藥物無效，預後會明顯變差。</a:t>
            </a:r>
          </a:p>
          <a:p>
            <a:pPr>
              <a:spcAft>
                <a:spcPts val="600"/>
              </a:spcAft>
            </a:pPr>
            <a:r>
              <a:rPr lang="en-US" dirty="0"/>
              <a:t>De-escalation 反過來，一開始就涵蓋 MDR Gram-negative，用 carbapenem 或新的 β-lactam/β-lactamase inhibitor，例如 ceftolozane-tazobactam 或 ceftazidime-avibactam，必要時加 aminoglycoside 或 Gram-positive coverage。72 到 96 小時後如果沒有分離出 MDR 菌，不論是培養到敏感菌還是培養陰性，就降階。它的好處是在培養結果出來前就給到有效藥物，死亡率較低；風險是沒有確實降階時，抗生素壓力非常大。</a:t>
            </a:r>
          </a:p>
          <a:p>
            <a:pPr>
              <a:spcAft>
                <a:spcPts val="600"/>
              </a:spcAft>
            </a:pPr>
            <a:r>
              <a:rPr lang="en-US" dirty="0"/>
              <a:t>適用對象是有 MDR colonisation、曾感染抗藥菌，或待在抗藥菌常見中心的病人，特別是臨床表現嚴重的。其他病人仍然用 escalation，而且起始藥物要依自己醫院最常見 Gram-negative 的藥敏來選。已知 colonising strain 的病人，可以在發燒之前就依藥敏把要用的藥寫在病歷上。</a:t>
            </a:r>
          </a:p>
          <a:p>
            <a:pPr>
              <a:spcAft>
                <a:spcPts val="600"/>
              </a:spcAft>
            </a:pPr>
            <a:r>
              <a:rPr lang="en-US" dirty="0"/>
              <a:t>在病房的實際做法是，病人一發燒，就先查他過去的 surveillance culture 和感染史。有 ESBL 或 carbapenem-resistant 菌株的紀錄，加上血壓不穩，直接走右欄；兩者都沒有，就走左欄，三到四天後依培養結果再檢討。</a:t>
            </a:r>
          </a:p>
          <a:p>
            <a:pPr>
              <a:spcAft>
                <a:spcPts val="600"/>
              </a:spcAft>
            </a:pPr>
            <a:r>
              <a:rPr lang="en-US" dirty="0"/>
              <a:t>另一個常考的點是 vancomycin。不論是起始治療或持續發燒，都不建議常規加 Gram-positive coverage，除非有皮膚或 CVC 感染、肺炎，或已證實 Gram-positive 感染。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5:00 至 6:30]</a:t>
            </a:r>
          </a:p>
          <a:p>
            <a:pPr>
              <a:spcAft>
                <a:spcPts val="600"/>
              </a:spcAft>
            </a:pPr>
            <a:r>
              <a:rPr lang="en-US" dirty="0"/>
              <a:t>抗生素用了還在燒並不少見，判斷的關鍵是病人的臨床狀況。如果沒有 septic shock、意識改變或呼吸變差，先想到反應比較慢，尤其 CRP 或 procalcitonin 在下降時；也要想到病毒、黴菌，或 mucositis、CRS、engraftment syndrome 這些非感染原因。病情穩定時，通常不需要換抗生素，常規加 glycopeptide 也沒有證據。</a:t>
            </a:r>
          </a:p>
          <a:p>
            <a:pPr>
              <a:spcAft>
                <a:spcPts val="600"/>
              </a:spcAft>
            </a:pPr>
            <a:r>
              <a:rPr lang="en-US" dirty="0"/>
              <a:t>黴菌方面，screening 或發燒當天送的 serum GM、PCR，在發燒第 2 到 3 天應該要有結果，用來決定抗黴菌治療；IA 高風險的病人要安排 lung CT。</a:t>
            </a:r>
          </a:p>
          <a:p>
            <a:pPr>
              <a:spcAft>
                <a:spcPts val="600"/>
              </a:spcAft>
            </a:pPr>
            <a:r>
              <a:rPr lang="en-US" dirty="0"/>
              <a:t>如果病情惡化，就要積極 work-up，包括重複血液培養、病毒和黴菌檢查、CT、肺炎時做 BAL、有 CNS 症狀時做腰椎穿刺。等待結果的同時把抗生素升級，涵蓋 ESBL 等抗藥 Gram-negative，以及 MRSA 和 ampicillin-resistant enterococci，有時候再加抗黴菌藥。</a:t>
            </a:r>
          </a:p>
          <a:p>
            <a:pPr>
              <a:spcAft>
                <a:spcPts val="600"/>
              </a:spcAft>
            </a:pPr>
            <a:r>
              <a:rPr lang="en-US" dirty="0"/>
              <a:t>有腹瀉的話一定要先驗 C. difficile，單純升級抗生素而沒有治療 CDI，反而會讓它更嚴重。</a:t>
            </a:r>
          </a:p>
          <a:p>
            <a:pPr>
              <a:spcAft>
                <a:spcPts val="600"/>
              </a:spcAft>
            </a:pPr>
            <a:r>
              <a:rPr lang="en-US" dirty="0"/>
              <a:t>鑑別診斷也要想到少見的病原，例如 toxoplasma、Legionella、mycobacteria 或 Nocardia，依病人的暴露史和臨床表現來安排檢查。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6:30 至 8:00]</a:t>
            </a:r>
          </a:p>
          <a:p>
            <a:pPr>
              <a:spcAft>
                <a:spcPts val="600"/>
              </a:spcAft>
            </a:pPr>
            <a:r>
              <a:rPr lang="en-US" dirty="0"/>
              <a:t>抗生素什麼時候可以停，是近年改變最大的地方。傳統做法是用到 neutrophil 回升，IDSA 和 ECIL 都挑戰了這個做法。ECIL 的建議是，沒有 documented infection 的病人，IV 抗生素用滿 72 小時以上，從發燒開始 hemodynamic 一直穩定，而且已經退燒 48 小時以上，就可以停，不管 ANC 多少，也不管 neutropenia 還要多久。背後的理由是菌相被破壞，會增加抗藥菌 colonisation 和之後致命的感染。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證據來自 How Long trial，Aguilar-Guisado 2017，157 位高風險 febrile neutropenia 病人，退燒 72 小時並且臨床恢復就停藥，安全，也省下抗生素天數。de Jonge 2022 更激進，281 位病人，超過六成是 autologous transplant，carbapenem 第 3 天就停，不論有沒有退燒。治療失敗沒有差別，但短療程組 serious adverse events 比較多，主要是再住院，集中在仍持續發燒的人，所以停藥前最好先看到臨床改善。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最後一列是對照組，有 documented bacteremia 時依 Ch. 36，至少 7 天，細菌清除、臨床徵象消失，並且退燒至少 4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8:00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Ch. 36 先給一組數字。BSI 在 auto-HCT 大約 5 到 10%，allo-HCT 20 到 50%，多數發生在 engraftment 之前。Gram-negative 的比例越來越高，attributable mortality 也比 Gram-positive 高。</a:t>
            </a:r>
          </a:p>
          <a:p>
            <a:pPr>
              <a:spcAft>
                <a:spcPts val="600"/>
              </a:spcAft>
            </a:pPr>
            <a:r>
              <a:rPr lang="en-US" dirty="0"/>
              <a:t>EBMT 的多國前瞻性研究裡，一半的 Gram-negative 對 non-carbapenem β-lactam 抗藥，而這正是 febrile neutropenia 的 first-line；18.5% 是 carbapenem-resistant，35% 是 MDR。Allo 比 auto 高，東南歐比西北歐高。Carbapenem-resistant GNB 的主要 risk factor 是之前同一種菌的 colonisation 或感染、在 carbapenem 治療中 breakthrough，以及住過 ICU。</a:t>
            </a:r>
          </a:p>
          <a:p>
            <a:pPr>
              <a:spcAft>
                <a:spcPts val="600"/>
              </a:spcAft>
            </a:pPr>
            <a:r>
              <a:rPr lang="en-US" dirty="0"/>
              <a:t>這組數字的臨床意義很直接。一半的 Gram-negative 對 cefepime 或 pip-tazo 無效時，escalation 在高抗藥中心就可能讓病人一開始拿到無效的藥，這正是前一段 de-escalation 出現的背景。每個移植中心都應該知道自己 bloodstream isolate 的抗藥比例。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9:00 至 11:00]</a:t>
            </a:r>
          </a:p>
          <a:p>
            <a:pPr>
              <a:spcAft>
                <a:spcPts val="600"/>
              </a:spcAft>
            </a:pPr>
            <a:r>
              <a:rPr lang="en-US" dirty="0"/>
              <a:t>Gram-positive 這張依序看五種菌。CoNS 佔 BSI 的 7 到 63%，真正的 CoNS BSI 要至少兩套連續陽性，通常和 CVC 有關。Methicillin 抗藥很常見，所以用 glycopeptide，預後通常不錯。</a:t>
            </a:r>
          </a:p>
          <a:p>
            <a:pPr>
              <a:spcAft>
                <a:spcPts val="600"/>
              </a:spcAft>
            </a:pPr>
            <a:r>
              <a:rPr lang="en-US" dirty="0"/>
              <a:t>S. aureus 只佔 3 到 8%，attributable mortality 卻有 12 到 40%。MSSA 用 cefazolin 或 oxacillin；MRSA BSI 用 vancomycin 或 daptomycin，治療 BSI 時 daptomycin 考慮 8 到 12 mg/kg/day。Daptomycin 會被 surfactant 失活，不能拿來治療肺炎，這是很典型的考點。Linezolid 有骨髓抑制，移植病人要小心。</a:t>
            </a:r>
          </a:p>
          <a:p>
            <a:pPr>
              <a:spcAft>
                <a:spcPts val="600"/>
              </a:spcAft>
            </a:pPr>
            <a:r>
              <a:rPr lang="en-US" dirty="0"/>
              <a:t>Enterococci 佔 4 到 24%，通常較晚發生，E. faecium 比 E. faecalis 多。VRE 的 risk factor 是 colonisation、mucositis 和廣效抗生素，常見於狀況差、合併 GVHD 的病人，這也解釋了為什麼 empirical 涵蓋 VRE 並沒有降低死亡率。Ampicillin 敏感就用 ampicillin，抗藥用 vancomycin，VRE 用 linezolid 或 daptomycin。</a:t>
            </a:r>
          </a:p>
          <a:p>
            <a:pPr>
              <a:spcAft>
                <a:spcPts val="600"/>
              </a:spcAft>
            </a:pPr>
            <a:r>
              <a:rPr lang="en-US" dirty="0"/>
              <a:t>Viridans streptococci 佔 7 到 24%，發生得早，可以合併 ARDS 和 septic shock。危險因子包括 cytarabine 引起的 mucositis、FQ 或 ceftazidime 暴露、MAC 和 haplo。它對 ceftazidime 不敏感，加上有 β-lactam 抗藥株的可能，所以 septic shock 的 neutropenic 病人要加 vancomycin。</a:t>
            </a:r>
          </a:p>
          <a:p>
            <a:pPr>
              <a:spcAft>
                <a:spcPts val="600"/>
              </a:spcAft>
            </a:pPr>
            <a:r>
              <a:rPr lang="en-US" dirty="0"/>
              <a:t>肺炎鏈球菌是晚期問題，可以在移植後好幾年才發生，死亡率 13 到 30%，後面預防那張會再提。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這張表的考法通常是把菌和情境配對，例如 cytarabine 之後的 mucositis 合併 ARDS，要想到 viridans streptococci；肺炎病人的 MRSA 不能選 daptomycin。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11:00 至 13:00]</a:t>
            </a:r>
          </a:p>
          <a:p>
            <a:pPr>
              <a:spcAft>
                <a:spcPts val="600"/>
              </a:spcAft>
            </a:pPr>
            <a:r>
              <a:rPr lang="en-US" dirty="0"/>
              <a:t>Gram-negative 的治療由抗藥機轉決定。ESBL-producing Enterobacterales 通常對 ceftriaxone 抗藥，體外可能看起來對其他 β-lactam 敏感，但嚴重感染還是用 carbapenem，piperacillin-tazobactam、ceftazidime、cefepime 即使藥敏顯示敏感也不建議。Enterobacter cloacae、Klebsiella aerogenes、Citrobacter freundii 有 inducible AmpC，治療中會產生抗藥，首選也是 carbapenem；只有完全敏感並且排除 ESBL，才能用 cefepime。</a:t>
            </a:r>
          </a:p>
          <a:p>
            <a:pPr>
              <a:spcAft>
                <a:spcPts val="600"/>
              </a:spcAft>
            </a:pPr>
            <a:r>
              <a:rPr lang="en-US" dirty="0"/>
              <a:t>Carbapenemase 分三類。KPC 用 meropenem-vaborbactam 或 ceftazidime-avibactam，結果比舊的 colistin-based regimen 好，腎毒性也低。OXA-48-like 用 ceftazidime-avibactam，替代是 cefiderocol。Metallo-β-lactamase，像 NDM、VIM，用 aztreonam 加 ceftazidime-avibactam，或 cefiderocol。這組配對考試非常愛考，尤其 MBL 要加 aztreonam 這一點。</a:t>
            </a:r>
          </a:p>
          <a:p>
            <a:pPr>
              <a:spcAft>
                <a:spcPts val="600"/>
              </a:spcAft>
            </a:pPr>
            <a:r>
              <a:rPr lang="en-US" dirty="0"/>
              <a:t>DTR Pseudomonas 是指對 pip-tazo、ceftazidime、cefepime、aztreonam、兩種 carbapenem 和兩種 FQ 全部不敏感，首選 ceftolozane-tazobactam，但治療中可能產生抗藥，並且和 ceftazidime-avibactam 交叉抗藥。Stenotrophomonas 天生對 carbapenem 和 aminoglycoside 抗藥，用 TMP/SMX。CRAB 至少用兩種有效藥物，以高劑量 ampicillin-sulbactam 為主，cefiderocol 因為死亡率較高，不建議常規使用。</a:t>
            </a:r>
          </a:p>
          <a:p>
            <a:pPr>
              <a:spcAft>
                <a:spcPts val="600"/>
              </a:spcAft>
            </a:pPr>
            <a:r>
              <a:rPr lang="en-US" dirty="0"/>
              <a:t>對 β-lactam 敏感的菌，常規合併 aminoglycoside、FQ 或 polymyxin 並不建議，例外是 neutropenic 病人的嚴重 Pseudomonas 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記憶上，ESBL 和 AmpC 用 carbapenem，carbapenemase 依類型選新的 β-lactam 組合，DTR Pseudomonas 選 ceftolozane-tazobactam。治療抗藥菌時建議會診感染科，並依 PK/PD 原則先給 loading dose，再用延長或持續輸注，這和較低的死亡率以及治療中較少產生抗藥有關。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13:00 至 14:30]</a:t>
            </a:r>
          </a:p>
          <a:p>
            <a:pPr>
              <a:spcAft>
                <a:spcPts val="600"/>
              </a:spcAft>
            </a:pPr>
            <a:r>
              <a:rPr lang="en-US" dirty="0"/>
              <a:t>CRBSI 在這幾種情況要懷疑，血液培養持續陽性、出口或 tunnel 感染，以及沖管時發冷發燒。確認的方法是同時從 CVC 和周邊靜脈抽血，CVC 那瓶比周邊早超過 120 分鐘轉陽，叫做 differential time to positivity 大於 120 分鐘；另一種方法是半定量或定量培養。</a:t>
            </a:r>
          </a:p>
          <a:p>
            <a:pPr>
              <a:spcAft>
                <a:spcPts val="600"/>
              </a:spcAft>
            </a:pPr>
            <a:r>
              <a:rPr lang="en-US" dirty="0"/>
              <a:t>原則上拔管加全身抗生素。右邊是一定要拔的情況，菌種是 S. aureus、P. aeruginosa、黴菌或 mycobacteria；嚴重 sepsis 合併血行動力學不穩；suppurative thrombophlebitis 或 endocarditis；適當抗生素治療下血液培養超過 72 小時仍陽性；以及 tunnel 或 port pocket 感染。病人穩定、沒有併發症時，才考慮用 antimicrobial lock 保留導管。</a:t>
            </a:r>
          </a:p>
          <a:p>
            <a:pPr>
              <a:spcAft>
                <a:spcPts val="600"/>
              </a:spcAft>
            </a:pPr>
            <a:r>
              <a:rPr lang="en-US" dirty="0"/>
              <a:t>Source control 和抗生素一樣重要。考題常給 S. aureus 或 Pseudomonas bacteremia 的病人，問要不要拔管，依這張表答案幾乎都是要拔。預防方面，CRBSI bundle 包括專門團隊無菌置放、避免 femoral、chlorhexidine 消毒，以及移除不需要的導管。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14:30 至 16:00]</a:t>
            </a:r>
          </a:p>
          <a:p>
            <a:pPr>
              <a:spcAft>
                <a:spcPts val="600"/>
              </a:spcAft>
            </a:pPr>
            <a:r>
              <a:rPr lang="en-US" dirty="0"/>
              <a:t>FQ prophylaxis 在多個指引中仍建議用於預期 neutropenia 7 天以上的成人，目的是降低死亡、發燒和 Gram-negative BSI。不過 1980 到 2018 年的 meta-analysis 顯示死亡率並沒有下降；febrile neutropenia 大約減少 15%，BSI 的減少主要在 acute leukemia 和 auto-HCT，allo-HCT 沒有看到。</a:t>
            </a:r>
          </a:p>
          <a:p>
            <a:pPr>
              <a:spcAft>
                <a:spcPts val="600"/>
              </a:spcAft>
            </a:pPr>
            <a:r>
              <a:rPr lang="en-US" dirty="0"/>
              <a:t>代價包括 C. difficile、菌相改變而可能增加 GVHD、藥物副作用，以及 FQ-resistant 或 MDR Gram-negative 的 colonisation 和感染。書上的結論是 FQ prophylaxis 有爭議，要放在各中心的抗藥情形下權衡。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臨床上決定要不要給 FQ prophylaxis，先看自己中心 Gram-negative 對 FQ 的抗藥率。抗藥率高的時候，預防效果會被抵消，副作用卻全部留下。Allo-HCT 病人的證據最弱，這一點常被拿來出題。</a:t>
            </a:r>
          </a:p>
          <a:p>
            <a:pPr>
              <a:spcAft>
                <a:spcPts val="600"/>
              </a:spcAft>
            </a:pPr>
            <a:r>
              <a:rPr lang="en-US" dirty="0"/>
              <a:t>Day 100 以後主要擔心 encapsulated bacteria。cGVHD 或 hypogammaglobulinemia 的病人給口服 penicillin，前提是當地 penicillin 抗藥率低，而且不論之前有沒有打過疫苗都要考慮。IgG 低於 400 mg/dL 的嚴重 hypogammaglobulinemia 給 IVIg，再加上疫苗。400 這個數字可以出成選項。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16:00 至 18:00]</a:t>
            </a:r>
          </a:p>
          <a:p>
            <a:pPr>
              <a:spcAft>
                <a:spcPts val="600"/>
              </a:spcAft>
            </a:pPr>
            <a:r>
              <a:rPr lang="en-US" dirty="0"/>
              <a:t>Mould infection 很少有病理證據，大多數診斷是 probable 或 possible，所以 biomarker 和 CT 很關鍵。Serum galactomannan 用 Platelia EIA，早期研究用 1.5 當 cutoff，ECIL 現在定義單次 0.7 以上，或連續兩次 0.5 以上為陽性。Cutoff 降低讓我們在臨床和影像表現出來之前就能抓到，代價是 specificity 下降。BAL 建議 1.0，CSF 最近也有人建議 1.0。</a:t>
            </a:r>
          </a:p>
          <a:p>
            <a:pPr>
              <a:spcAft>
                <a:spcPts val="600"/>
              </a:spcAft>
            </a:pPr>
            <a:r>
              <a:rPr lang="en-US" dirty="0"/>
              <a:t>GM 的盲點是偵測不到 Mucorales，正在用 mould-active 藥物時會偽陰性，Fusarium、Penicillium、Histoplasma 等則會交叉反應。β-D-glucan 範圍廣，包含 Candida 和 Pneumocystis，但同樣不包括 Mucorales 和部分 Cryptococcus，偽陽性很多，negative predictive value 大約 80 到 90%。Aspergillus PCR 已經由 EAPCRI 標準化。</a:t>
            </a:r>
          </a:p>
          <a:p>
            <a:pPr>
              <a:spcAft>
                <a:spcPts val="600"/>
              </a:spcAft>
            </a:pPr>
            <a:r>
              <a:rPr lang="en-US" dirty="0"/>
              <a:t>CT 上，nodule 伴隨 halo sign 出現在早期；neutrophil 恢復後出現 air crescent，通常代表預後好；reversed halo 比較傾向 mucormycosis。Candidemia 的血液培養要 2 到 5 天，T2Candida 不到 5 小時，negative predictive value 接近 100%，但只測五種 Candida。PJP 的 BAL PCR 陰性可以排除，陽性卻可能只是 colonisation。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臨床上最常見的情境，是病人在 mould-active prophylaxis 下發燒。這時 GM 的敏感度下降，陰性不能完全排除，要靠 CT 和 BAL 補足。反過來，用 pip-tazo 或有嚴重 mucositis、腸道 GVHD 的病人，GM 陽性要想到偽陽性，詳細清單放在 backup。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18:00 至 20:00]</a:t>
            </a:r>
          </a:p>
          <a:p>
            <a:pPr>
              <a:spcAft>
                <a:spcPts val="600"/>
              </a:spcAft>
            </a:pPr>
            <a:r>
              <a:rPr lang="en-US" dirty="0"/>
              <a:t>ECIL 的預防建議是分時期的。Pre-engraftment 的 neutropenic phase，fluconazole 400 mg/day 仍可使用，但限於 mould infection 發生率低於 5% 的中心，而且一定要搭配以 biomarker 或 CT 為主的 mould-directed 診斷策略，或 empirical therapy。發生率較高的中心要改用其他做法。</a:t>
            </a:r>
          </a:p>
          <a:p>
            <a:pPr>
              <a:spcAft>
                <a:spcPts val="600"/>
              </a:spcAft>
            </a:pPr>
            <a:r>
              <a:rPr lang="en-US" dirty="0"/>
              <a:t>Voriconazole 和 itraconazole 都是 B-I。Voriconazole 對比 fluconazole，fungal-free survival 沒有差別；itraconazole 對 mould 的保護比 fluconazole 好，但毒性和耐受性限制了它。Micafungin 50 mg 在低 mould 中心是 B-I，高 mould 中心是 C-I。Posaconazole 在這個時期是 B-II，證據是從 AML/MDS 的 neutropenic phase 推論來的。</a:t>
            </a:r>
          </a:p>
          <a:p>
            <a:pPr>
              <a:spcAft>
                <a:spcPts val="600"/>
              </a:spcAft>
            </a:pPr>
            <a:r>
              <a:rPr lang="en-US" dirty="0"/>
              <a:t>到了 post-engraftment，有 GVHD 的病人 mould infection 的風險和死亡率都明顯上升。ECIL 強烈反對用 fluconazole，首選 posaconazole，等級 A-I，來自一個大型 double-blind study；不過 chronic GVHD 這個次族群沒有看到差別。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PJP 預防用 TMP/SMX 一週兩到三次，從 engraftment 開始至少 6 個月，只要免疫抑制還在就繼續。Pentamidine、atovaquone、dapsone 都是二線。HEPA 病房有幫助，但很多 IFD 其實發生在出院後的門診期間。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考試最常見的陷阱是 GVHD 病人仍在用 fluconazole，正確做法是換成 posaconazole。Posaconazole 的劑型也要知道，oral solution 200 mg 一天三次，或 tablet、IV 300 mg 一天一次，第一天先 300 mg 一天兩次做 loading。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20:00 至 21:30]</a:t>
            </a:r>
          </a:p>
          <a:p>
            <a:pPr>
              <a:spcAft>
                <a:spcPts val="600"/>
              </a:spcAft>
            </a:pPr>
            <a:r>
              <a:rPr lang="en-US" dirty="0"/>
              <a:t>抗黴菌治療有三種策略。Empirical 是傳統做法，profound neutropenia 加上適當抗細菌治療 5 到 7 天後仍持續或再發燒，就開廣效抗黴菌藥。這個做法從來沒有強力證據，會造成過度治療和毒性，但在沒有診斷工具的中心仍然倚賴它。ECIL 建議 caspofungin 第一天 70 mg、之後每天 50 mg，或 liposomal amphotericin B 3 mg/kg，兩者都是 A-I。</a:t>
            </a:r>
          </a:p>
          <a:p>
            <a:pPr>
              <a:spcAft>
                <a:spcPts val="600"/>
              </a:spcAft>
            </a:pPr>
            <a:r>
              <a:rPr lang="en-US" dirty="0"/>
              <a:t>Pre-emptive，也叫 diagnostic-driven，只有在 GM、BDG、PCR 陽性或 CT 有可疑病灶時才治療。EORTC 的 randomized trial，Maertens 2023，在 fluconazole 預防的高風險 neutropenic 病人中，day 42 死亡率和黴菌感染都沒有差別，接受抗黴菌藥的人數減少一半。前提是中心每週做兩次 non-culture-based testing，而且隨時可以做 CT。</a:t>
            </a:r>
          </a:p>
          <a:p>
            <a:pPr>
              <a:spcAft>
                <a:spcPts val="600"/>
              </a:spcAft>
            </a:pPr>
            <a:r>
              <a:rPr lang="en-US" dirty="0"/>
              <a:t>Pre-emptive 的好處是避免過度治療，但它很依賴中心的能力。醫院做不到每週兩次 GM、CT 也排不到時，empirical 仍然合理。兩種策略並不互斥，在等檢查結果，或確認 mould-active 預防藥物濃度足夠之前，可以先給 empirical，但診斷一定要做完。</a:t>
            </a:r>
          </a:p>
          <a:p>
            <a:pPr>
              <a:spcAft>
                <a:spcPts val="600"/>
              </a:spcAft>
            </a:pPr>
            <a:r>
              <a:rPr lang="en-US" dirty="0"/>
              <a:t>Directed therapy 用在 proven 或 probable IFD，藥物依菌種決定，下一張整理。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21:30 至 23:30]</a:t>
            </a:r>
          </a:p>
          <a:p>
            <a:pPr>
              <a:spcAft>
                <a:spcPts val="600"/>
              </a:spcAft>
            </a:pPr>
            <a:r>
              <a:rPr lang="en-US" dirty="0"/>
              <a:t>Invasive aspergillosis 的 first-line 是 voriconazole 或 isavuconazole，包括 cerebral aspergillosis。SECURE trial 兩者效果相同，day 42 all-cause mortality 都在 20% 左右，isavuconazole 的肝毒性和 drug interaction 較少。之後 posaconazole 對比 voriconazole 效果相當、安全性較好，也成為首選之一，但 CNS 穿透有限。Upfront 合併 azole 加 echinocandin 沒有證實優於單藥，所以不建議。不能用 azole 時，liposomal amphotericin B 3 mg/kg 是替代。療程 6 到 12 週，第一週影像上病灶變大是正常病程，不代表失敗。</a:t>
            </a:r>
          </a:p>
          <a:p>
            <a:pPr>
              <a:spcAft>
                <a:spcPts val="600"/>
              </a:spcAft>
            </a:pPr>
            <a:r>
              <a:rPr lang="en-US" dirty="0"/>
              <a:t>Salvage therapy 不論用哪一種藥，global response 大約只有 40%，所以一開始就選對藥最重要。治療結束時如果還在免疫抑制，要接 secondary prophylaxis。基線 GM 升高的病人，GM 下降和治療反應相關，可以拿來追蹤。</a:t>
            </a:r>
          </a:p>
          <a:p>
            <a:pPr>
              <a:spcAft>
                <a:spcPts val="600"/>
              </a:spcAft>
            </a:pPr>
            <a:r>
              <a:rPr lang="en-US" dirty="0"/>
              <a:t>Mucormycosis 要控制基礎疾病、外科清創，再加 lipid-based amphotericin B 5 到 10 mg/kg，穩定後可以改口服 posaconazole 或 isavuconazole。Fusariosis 用 voriconazole 加清創。Candidemia 首選 echinocandin，拿到菌種和藥敏後 step-down，強烈建議拔除導管，療程是最後一次陽性血液培養後 14 天。PJP 用高劑量 TMP/SMX 三週，替代是 primaquine 加 clindamycin，之後給 secondary prophylaxis。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最後一列是 TDM。Voriconazole 目標 1 到 6 mg/L，isavuconazole 2 到 4，posaconazole 預防大於 0.7、治療大於 1 mg/L。各菌種的首選藥和這幾個 TDM 數字，是這一章最常被考的內容。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23:30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第一題。38 歲女性，AML，myeloablative allo-HCT 後 day 6，已知直腸 colonised KPC-producing Klebsiella pneumoniae。現在發燒 38.9 度，血壓 85/50，血液培養已經抽了。要選最適當的 empirical 抗生素策略。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 cefepime 單一藥物，48 到 72 小時還燒再換；B 是 pip-tazo 加 vancomycin；C 是以 ceftazidime-avibactam 為主，72 到 96 小時沒有 KPC 就降階；D 是 meropenem 單一藥物；E 是等培養陽性再給。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這題先判斷病人該走 escalation 還是 de-escalation，再看哪一個選項的藥物對 colonising strain 有效。給大家半分鐘。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24:15 至 25:15]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C。這位病人同時有兩個條件，已知抗藥菌 colonisation，加上休克的嚴重表現，正好是 de-escalation 的適應症。起始藥物要對 colonising strain 有效，KPC 的選擇是 ceftazidime-avibactam 或 meropenem-vaborbactam，72 到 96 小時後沒有分離出 MDR 菌再降階。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是主要陷阱，escalation 用在沒有抗藥風險的病人；這裡如果起始藥物對分離出的 Gram-negative 無效，預後明顯變差。D 的 meropenem 看似夠廣，但 KPC 本身就是 carbapenemase。B 的 vancomycin 不是這裡的重點，E 更不可能，Gram-negative 可以在幾小時內致死。</a:t>
            </a:r>
          </a:p>
          <a:p>
            <a:pPr>
              <a:spcAft>
                <a:spcPts val="600"/>
              </a:spcAft>
            </a:pPr>
            <a:r>
              <a:rPr lang="en-US" dirty="0"/>
              <a:t>實務上，這類病人最好在發燒之前，就依 colonising strain 的藥敏把 empirical 處方寫在病歷上，一發燒就能立刻給藥。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25:15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第二題。55 歲男性，unrelated donor allo-HCT 後 day 70，因為 grade III 腸道 acute GVHD 正在用高劑量 steroid，預防用 fluconazole。現在發燒、咳嗽，胸部 CT 有兩顆 nodule 帶 halo sign，單次 serum galactomannan 0.8。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 A 是 voriconazole 單藥加 TDM，B 是 voriconazole 加 anidulafungin，C 是 lipid amphotericin B 10 mg/kg 當 mucormycosis 治療，D 是 caspofungin，E 是一週後再驗 GM。</a:t>
            </a:r>
          </a:p>
          <a:p>
            <a:pPr>
              <a:spcAft>
                <a:spcPts val="600"/>
              </a:spcAft>
            </a:pPr>
            <a:r>
              <a:rPr lang="en-US" dirty="0"/>
              <a:t>注意這位病人的移植後時間點、正在使用的免疫抑制，以及 GM 數值是否已經達到陽性的定義，再選治療。給大家半分鐘。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26:00 至 27:00]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A。單次 GM 0.7 以上就符合 ECIL 的陽性定義，加上 halo sign 的 nodule，這是 invasive aspergillosis。Voriconazole、isavuconazole 或 posaconazole 都是 first-line，voriconazole 要做 TDM，目標 1 到 6 mg/L。</a:t>
            </a:r>
          </a:p>
          <a:p>
            <a:pPr>
              <a:spcAft>
                <a:spcPts val="600"/>
              </a:spcAft>
            </a:pPr>
            <a:r>
              <a:rPr lang="en-US" dirty="0"/>
              <a:t>B 是主要陷阱，upfront 合併 echinocandin 沒有證實優於單藥，所以不建議。C 不對，GM 偵測不到 Mucorales，halo sign 也不是 reversed halo。E 等一週會錯過早期治療的時機。</a:t>
            </a:r>
          </a:p>
          <a:p>
            <a:pPr>
              <a:spcAft>
                <a:spcPts val="600"/>
              </a:spcAft>
            </a:pPr>
            <a:r>
              <a:rPr lang="en-US" dirty="0"/>
              <a:t>治療第一週 CT 上病灶變大是常見的，不要因此判定失敗而換藥；基線 GM 偏高的話，可以追蹤 GM 下降來評估反應。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這題還藏了一個預防的錯誤，有 GVHD 的病人不該用 fluconazole，ECIL 的首選是 posaconazole，A-I。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27:00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第三題。60 歲 myeloma 男性，autologous HCT 後 day 5，仍在 neutropenia。四天前發燒開始 IV cefepime，24 小時後退燒，之後血行動力學一直穩定。培養和 CT 都找不到感染源，neutrophil 是 0.1。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是繼續用到 neutrophil 超過 0.5，B 是現在停藥、再燒就立刻重開，C 是改口服 levofloxacin 到恢復，D 是升級 meropenem，E 是加 vancomycin。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這題要對照 ECIL 停藥的條件，IV 抗生素用了多久、是否一直穩定、退燒多久，最後再想 neutrophil 數字重不重要。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27:45 至 28:45]</a:t>
            </a:r>
          </a:p>
          <a:p>
            <a:pPr>
              <a:spcAft>
                <a:spcPts val="600"/>
              </a:spcAft>
            </a:pPr>
            <a:r>
              <a:rPr lang="en-US" dirty="0"/>
              <a:t>答案是 B。病人已經用了 4 天 IV 抗生素，退燒大約 72 小時，從發燒開始一直穩定，也沒有 documented infection，完全符合 ECIL 的停藥條件，而且不看 neutrophil 數字。How Long trial 的 157 位病人也證實，退燒 72 小時加上臨床恢復就停藥是安全的。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是最常見的答案，也就是傳統的用到 neutrophil 回升，這只會增加抗生素壓力和抗藥菌的選擇。D 和 E 的升級在病情穩定時沒有理由；vancomycin 沒有 Gram-positive 的證據就不該加。C 改成 FQ 也不是書上的建議。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停藥之後要密切觀察，只要再發燒就立刻重新開始 empirical 抗生素，這是停藥策略安全的前提。de Jonge 的研究也提醒，停藥前最好先看到臨床改善。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IFD 的 12 個月累積發生率，unrelated 或 mismatched 約 8 到 10%，matched related 6%，auto 低於 2%，haplo 和 cord blood 可到 17%。Fluconazole 預防之後，candidemia 降到 day 100 前 1.2%，但仍是 NRM 的獨立危險因子。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Table 37.1 的重點。GM 偽陽性來自 semi-synthetic β-lactam、myeloma、含 gluconate 的製劑，以及嚴重 mucositis 或腸道 GVHD；BDG 偽陽性來自 IVIg、albumin、cellulose 透析膜、紗布和 Pseudomonas BSI。兩者都偵測不到 Mucorales。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37.2 的 aspergillosis 部分。Voriconazole 和 isavuconazole 都是 AI，liposomal amphotericin B 3 mg/kg 是 BI，conventional amphotericin B deoxycholate 是 AI 反對使用。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Neutropenic fever 的鑑別診斷很廣，包括病毒、黴菌等非細菌感染，以及 ATG、輸血反應、CRS、mucositis、engraftment syndrome、GVHD、rejection、haemophagocytosis 和原本疾病。但在排除之前，仍然先當 Gram-negative bacteremia 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Neutropenic fever, bacterial and invasive fungal infections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Week 8 · Ch. 35, 36 and 37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INFECTIONS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chapters, from the first fever to the mould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 · Averbuch D. EBMT Handbook 8th ed. 2024; Ch. 36 · Maertens JA. EBMT Handbook 8th ed. 2024; Ch. 37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Neutropenic fever (Ch. 35)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Work-up, escalation vs de-escalation, persistent fever, stopping antibiotics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Bacterial infections (Ch. 36)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Resistance rates, Gram-positive and resistant GNB therapy, CVC, prophylaxis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Invasive fungal diseases (Ch. 37)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Biomarkers, phase-specific prophylaxis, strategies, first-line drugs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MDR empirical therapy, probable aspergillosis, stopping antibiotics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NEUTROPENIC FEVER · INITIAL WORK-UP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Work-up pairs cultures with two risk checks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sp>
        <p:nvSpPr>
          <p:cNvPr id="6" name="Box 20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 culture sets, 1 via CVC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1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Exam for subtle focal signs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2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Lung CT if chest suspected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3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Assess severity and MDR risk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24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empirical regimen</a:t>
            </a:r>
            <a:endParaRPr lang="en-US" sz="1500" dirty="0"/>
          </a:p>
        </p:txBody>
      </p:sp>
      <p:sp>
        <p:nvSpPr>
          <p:cNvPr id="15" name="Text 25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10 mL per bottle. Chest X-ray is too insensitive in neutropenia. High MDR risk: resistant colonisation, prior resistant infection, or high local resistance.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NEUTROPENIC FEVER · EMPIRICAL STRATEGY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Escalation is the default; de-escalation covers MDR risk upfront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graphicFrame>
        <p:nvGraphicFramePr>
          <p:cNvPr id="5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1847088"/>
                <a:gridCol w="4224528"/>
                <a:gridCol w="4745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Escalation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De-escalation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Start with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Cefepime, ceftazidime or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piperacillin-tazobactam alone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Carbapenem or new BL/BLI,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 aminoglycoside or vancomycin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Who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 patients without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de-escalation criteria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MDR colonised/infected or high-MDR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centre, esp. if 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Advantage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Carbapenem sparing; less toxicity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Active therapy before cultures: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lower mortality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Limitation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Inactive against isolated GNB: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worse prognosis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Antibiotic pressure, worst if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de-escalated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Next step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Change if fever persists 48–72 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Narrow at 72–96 h if no MDR isolated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Table 35.1. Empirical vancomycin only for skin/CVC signs, pneumonia or a documented Gram-positive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NEUTROPENIC FEVER · PERSISTENT FEVER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Stability decides what to do when fever persists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sp>
        <p:nvSpPr>
          <p:cNvPr id="6" name="Box 28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Fever persists on empirical antibiotics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0809" y="3063240"/>
            <a:ext cx="838733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0809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29"/>
          <p:cNvSpPr txBox="1"/>
          <p:nvPr/>
        </p:nvSpPr>
        <p:spPr>
          <a:xfrm>
            <a:off x="685800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Stable</a:t>
            </a:r>
            <a:endParaRPr lang="en-US" sz="1400" dirty="0"/>
          </a:p>
        </p:txBody>
      </p:sp>
      <p:sp>
        <p:nvSpPr>
          <p:cNvPr id="11" name="Box 30"/>
          <p:cNvSpPr txBox="1"/>
          <p:nvPr/>
        </p:nvSpPr>
        <p:spPr>
          <a:xfrm>
            <a:off x="685800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Usually no change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900809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1"/>
          <p:cNvSpPr txBox="1"/>
          <p:nvPr/>
        </p:nvSpPr>
        <p:spPr>
          <a:xfrm>
            <a:off x="685800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 response, virus, fungus, CRS?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96587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2"/>
          <p:cNvSpPr txBox="1"/>
          <p:nvPr/>
        </p:nvSpPr>
        <p:spPr>
          <a:xfrm>
            <a:off x="3481578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Day 2–3 of fever</a:t>
            </a:r>
            <a:endParaRPr lang="en-US" sz="1400" dirty="0"/>
          </a:p>
        </p:txBody>
      </p:sp>
      <p:sp>
        <p:nvSpPr>
          <p:cNvPr id="16" name="Box 33"/>
          <p:cNvSpPr txBox="1"/>
          <p:nvPr/>
        </p:nvSpPr>
        <p:spPr>
          <a:xfrm>
            <a:off x="3481578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GM/PCR and lung CT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96587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4"/>
          <p:cNvSpPr txBox="1"/>
          <p:nvPr/>
        </p:nvSpPr>
        <p:spPr>
          <a:xfrm>
            <a:off x="3481578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Diagnostic-driven antifungal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492365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5"/>
          <p:cNvSpPr txBox="1"/>
          <p:nvPr/>
        </p:nvSpPr>
        <p:spPr>
          <a:xfrm>
            <a:off x="6277356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Deteriorating</a:t>
            </a:r>
            <a:endParaRPr lang="en-US" sz="1400" dirty="0"/>
          </a:p>
        </p:txBody>
      </p:sp>
      <p:sp>
        <p:nvSpPr>
          <p:cNvPr id="21" name="Box 36"/>
          <p:cNvSpPr txBox="1"/>
          <p:nvPr/>
        </p:nvSpPr>
        <p:spPr>
          <a:xfrm>
            <a:off x="6277356" y="3657600"/>
            <a:ext cx="2430018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Aggressive work-up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492365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37"/>
          <p:cNvSpPr txBox="1"/>
          <p:nvPr/>
        </p:nvSpPr>
        <p:spPr>
          <a:xfrm>
            <a:off x="6277356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Escalate antibiotics ± antifungal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88143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Text 38"/>
          <p:cNvSpPr txBox="1"/>
          <p:nvPr/>
        </p:nvSpPr>
        <p:spPr>
          <a:xfrm>
            <a:off x="9073134" y="3136392"/>
            <a:ext cx="2430018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Diarrhoea</a:t>
            </a:r>
            <a:endParaRPr lang="en-US" sz="1400" dirty="0"/>
          </a:p>
        </p:txBody>
      </p:sp>
      <p:sp>
        <p:nvSpPr>
          <p:cNvPr id="26" name="Box 39"/>
          <p:cNvSpPr txBox="1"/>
          <p:nvPr/>
        </p:nvSpPr>
        <p:spPr>
          <a:xfrm>
            <a:off x="9073134" y="3657600"/>
            <a:ext cx="2430018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for C. difficile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0288143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8" name="Box 40"/>
          <p:cNvSpPr txBox="1"/>
          <p:nvPr/>
        </p:nvSpPr>
        <p:spPr>
          <a:xfrm>
            <a:off x="9073134" y="4754880"/>
            <a:ext cx="2430018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Escalation alone may worsen CDI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NEUTROPENIC FEVER · STOPPING ANTIBIOTICS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Antibiotics can stop before neutrophil recovery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 · Averbuch D. EBMT Handbook 8th ed. 2024; Ch. 36</a:t>
            </a:r>
            <a:endParaRPr lang="en-US" sz="1000" dirty="0"/>
          </a:p>
        </p:txBody>
      </p:sp>
      <p:graphicFrame>
        <p:nvGraphicFramePr>
          <p:cNvPr id="7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364992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Population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Rule or result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ECIL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(Averbuch 2013; Lehrnbecher 2023)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documented infection;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stable since fever onset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Stop after ≥ 72 h IV if afebrile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48 h, any ANC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 Long trial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(Aguilar-Guisado 2017)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157 high-risk febrile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neutropenia, no documented focus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Safe stop after 72 h apyrexia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and clinical recovery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Short carbapenem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(de Jonge 2022)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281 patients,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60% autologous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Stop at day 3: same failure,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 serious adverse events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Documented infection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(Ch. 36)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Bacteraemia or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focal infection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7 days, eradicated,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afebrile ≥ 4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2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Restart antibiotics at once if fever returns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BACTERIAL INFECTIONS · RESISTANCE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Half of GNB resist non-carbapenem β-lactams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Averbuch D. EBMT Handbook 8th ed. 2024; Ch. 36</a:t>
            </a:r>
            <a:endParaRPr lang="en-US" sz="1000" dirty="0"/>
          </a:p>
        </p:txBody>
      </p:sp>
      <p:sp>
        <p:nvSpPr>
          <p:cNvPr id="6" name="Text 43"/>
          <p:cNvSpPr txBox="1"/>
          <p:nvPr/>
        </p:nvSpPr>
        <p:spPr>
          <a:xfrm>
            <a:off x="685800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50%</a:t>
            </a:r>
            <a:endParaRPr lang="en-US" sz="6000" dirty="0"/>
          </a:p>
        </p:txBody>
      </p:sp>
      <p:sp>
        <p:nvSpPr>
          <p:cNvPr id="7" name="Text 44"/>
          <p:cNvSpPr txBox="1"/>
          <p:nvPr/>
        </p:nvSpPr>
        <p:spPr>
          <a:xfrm>
            <a:off x="685800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GNB resistant to non-carbapenem β-lactams</a:t>
            </a:r>
            <a:endParaRPr lang="en-US" sz="1800" dirty="0"/>
          </a:p>
        </p:txBody>
      </p:sp>
      <p:sp>
        <p:nvSpPr>
          <p:cNvPr id="8" name="Text 45"/>
          <p:cNvSpPr txBox="1"/>
          <p:nvPr/>
        </p:nvSpPr>
        <p:spPr>
          <a:xfrm>
            <a:off x="4443984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18.5%</a:t>
            </a:r>
            <a:endParaRPr lang="en-US" sz="6000" dirty="0"/>
          </a:p>
        </p:txBody>
      </p:sp>
      <p:sp>
        <p:nvSpPr>
          <p:cNvPr id="9" name="Text 46"/>
          <p:cNvSpPr txBox="1"/>
          <p:nvPr/>
        </p:nvSpPr>
        <p:spPr>
          <a:xfrm>
            <a:off x="4443984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GNB resistant to carbapenems</a:t>
            </a:r>
            <a:endParaRPr lang="en-US" sz="1800" dirty="0"/>
          </a:p>
        </p:txBody>
      </p:sp>
      <p:sp>
        <p:nvSpPr>
          <p:cNvPr id="10" name="Text 47"/>
          <p:cNvSpPr txBox="1"/>
          <p:nvPr/>
        </p:nvSpPr>
        <p:spPr>
          <a:xfrm>
            <a:off x="8202168" y="2423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35%</a:t>
            </a:r>
            <a:endParaRPr lang="en-US" sz="6000" dirty="0"/>
          </a:p>
        </p:txBody>
      </p:sp>
      <p:sp>
        <p:nvSpPr>
          <p:cNvPr id="11" name="Text 48"/>
          <p:cNvSpPr txBox="1"/>
          <p:nvPr/>
        </p:nvSpPr>
        <p:spPr>
          <a:xfrm>
            <a:off x="8202168" y="3337560"/>
            <a:ext cx="3300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GNB multidrug-resistant (MDR)</a:t>
            </a:r>
            <a:endParaRPr lang="en-US" sz="1800" dirty="0"/>
          </a:p>
        </p:txBody>
      </p:sp>
      <p:sp>
        <p:nvSpPr>
          <p:cNvPr id="12" name="Rule 49"/>
          <p:cNvSpPr/>
          <p:nvPr/>
        </p:nvSpPr>
        <p:spPr>
          <a:xfrm>
            <a:off x="685800" y="4800600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3" name="Text 50"/>
          <p:cNvSpPr txBox="1"/>
          <p:nvPr/>
        </p:nvSpPr>
        <p:spPr>
          <a:xfrm>
            <a:off x="685800" y="498348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EBMT prospective study (Averbuch 2017). BSI: 5–10% after auto-HCT, 20–50% after allo-HCT, mostly before engraftment. Resistance is higher after allo-HCT and in southeastern Europe.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BACTERIAL INFECTIONS · GRAM-POSITIVE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Gram-positive bacteraemia ranges from benign CoNS to lethal VS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Averbuch D. EBMT Handbook 8th ed. 2024; Ch. 36</a:t>
            </a:r>
            <a:endParaRPr lang="en-US" sz="1000" dirty="0"/>
          </a:p>
        </p:txBody>
      </p:sp>
      <p:graphicFrame>
        <p:nvGraphicFramePr>
          <p:cNvPr id="9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112264"/>
                <a:gridCol w="1499616"/>
                <a:gridCol w="3602736"/>
                <a:gridCol w="3602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Organism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Share of BSI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 feature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Treatment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7–63%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≥ 2 positive cultures; CVC-related;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good prognosis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Glycopeptide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(methicillin resistance common)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S. aureus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3–8%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Attributable mortality 12–40%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MSSA: cefazolin, oxacillin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MRSA: vancomycin, daptomycin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Enterococci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4–24%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Later after HCT; VRE with GVHD,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mucositis, broad antibiotics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Ampicillin → vancomycin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VRE: linezolid or daptomycin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Viridans streptococci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7–24%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Early; ARDS and septic shock;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cytarabine mucositis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ceftazidime; add vancomycin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 septic shock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S. pneumoniae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Late, years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Mortality 13–30%;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cGVHD, low IgG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Vaccination; oral penicillin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prophylaxis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2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Daptomycin 8–12 mg/kg/day for BSI; never for pneumonia (inactivated by surfactant)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BACTERIAL INFECTIONS · RESISTANT GRAM-NEGATIVES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resistance mechanism picks the drug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Averbuch D. EBMT Handbook 8th ed. 2024; Ch. 36</a:t>
            </a:r>
            <a:endParaRPr lang="en-US" sz="1000" dirty="0"/>
          </a:p>
        </p:txBody>
      </p:sp>
      <p:graphicFrame>
        <p:nvGraphicFramePr>
          <p:cNvPr id="10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08208" cy="914400"/>
        </p:xfrm>
        <a:graphic>
          <a:graphicData uri="http://schemas.openxmlformats.org/drawingml/2006/table">
            <a:tbl>
              <a:tblPr/>
              <a:tblGrid>
                <a:gridCol w="2898648"/>
                <a:gridCol w="4041648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Pathogen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Treatment of choice (severe infection)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ESBL Enterobacterales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Carbapenem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pip-tazo or cefepime, even if susceptible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Inducible AmpC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(E. cloacae, Citrobacter)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Carbapenem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Cefepime only if fully susceptible, no ESBL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KPC producers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Meropenem-vaborbactam or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ceftazidime-avibactam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Better than colistin-based regimens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OXA-48-like producers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Ceftazidime-avibactam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Alternative: cefiderocol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Metallo-β-lactamase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(NDM, VIM)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Aztreonam + ceftazidime-avibactam,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 cefiderocol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DTR P. aeruginosa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Ceftolozane-tazobactam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Resistance may emerge on treatment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S. maltophilia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TMP/SMX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Intrinsically carbapenem-resistant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CRAB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2 active agents; high-dose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ampicillin-sulbactam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Avoid routine cefiderocol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BACTERIAL INFECTIONS · CENTRAL 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Remove the catheter when the source or the bug demands it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Averbuch D. EBMT Handbook 8th ed. 2024; Ch. 36</a:t>
            </a:r>
            <a:endParaRPr lang="en-US" sz="1000" dirty="0"/>
          </a:p>
        </p:txBody>
      </p:sp>
      <p:sp>
        <p:nvSpPr>
          <p:cNvPr id="6" name="Text 54"/>
          <p:cNvSpPr txBox="1"/>
          <p:nvPr/>
        </p:nvSpPr>
        <p:spPr>
          <a:xfrm>
            <a:off x="685800" y="2240280"/>
            <a:ext cx="5180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Suspect and prove CRBSI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743200"/>
            <a:ext cx="51800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55"/>
          <p:cNvSpPr txBox="1"/>
          <p:nvPr/>
        </p:nvSpPr>
        <p:spPr>
          <a:xfrm>
            <a:off x="685800" y="2880360"/>
            <a:ext cx="51800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Persistently positive blood cultures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Exit-site or tunnel infection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Fever and chills on CVC flushing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Time to positivity CVC vs vein &gt; 120 min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Salvage by antibiotic lock only if stable</a:t>
            </a:r>
            <a:endParaRPr lang="en-US" sz="1800" dirty="0"/>
          </a:p>
        </p:txBody>
      </p:sp>
      <p:sp>
        <p:nvSpPr>
          <p:cNvPr id="9" name="Text 56"/>
          <p:cNvSpPr txBox="1"/>
          <p:nvPr/>
        </p:nvSpPr>
        <p:spPr>
          <a:xfrm>
            <a:off x="6323076" y="2240280"/>
            <a:ext cx="5180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Remove the CVC for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23076" y="2743200"/>
            <a:ext cx="51800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Text 57"/>
          <p:cNvSpPr txBox="1"/>
          <p:nvPr/>
        </p:nvSpPr>
        <p:spPr>
          <a:xfrm>
            <a:off x="6323076" y="2880360"/>
            <a:ext cx="51800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S. aureus, P. aeruginosa, fungi, mycobacteria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Severe sepsis, haemodynamic instability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Suppurative thrombophlebitis, endocarditis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Bacteraemia &gt; 72 h on appropriate therapy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Tunnel or port-pocket infection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BACTERIAL INFECTIONS · PREVENTION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Fluoroquinolone prophylaxis trades fewer fevers for resistance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Averbuch D. EBMT Handbook 8th ed. 2024; Ch. 36</a:t>
            </a:r>
            <a:endParaRPr lang="en-US" sz="1000" dirty="0"/>
          </a:p>
        </p:txBody>
      </p:sp>
      <p:graphicFrame>
        <p:nvGraphicFramePr>
          <p:cNvPr id="12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06624"/>
                <a:gridCol w="81107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Indication or evidence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FQ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Guidelines: adults with neutropenia expected ≥ 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FQ: benefit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Febrile neutropenia ~15% lower; BSI lower in AL, auto-HCT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FQ: no benefit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mortality reduction; no BSI reduction in allo-HCT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FQ: harm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CDI, microbiome loss (GVHD risk), FQ-resistant/MDR GNB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Late (&gt; day 100)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Oral penicillin for cGVHD or hypogammaglobulinaemia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IVIg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Severe hypogammaglobulinaemia: IgG &lt; 400 mg/dL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Vaccination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Against invasive pneumococcal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FUNGAL DISEASES · DIAGNOSIS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GM is positive at ≥ 0.7 once or ≥ 0.5 twice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3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60904"/>
                <a:gridCol w="4078224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Positive result or use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Pitfall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Serum GM (Platelia EIA)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Single ≥ 0.7 or consecutive ≥ 0.5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Misses Mucorales; false-negative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 mould-active azoles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BAL or CSF GM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Index ≥ 1.0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Higher BAL threshold may be needed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β-D-glucan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Broad, incl. Candida and PJP;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NPV 80–90%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Mucorales or some Cryptococcus;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many false positives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Chest CT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Nodule ± halo early;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air crescent on recovery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Reversed halo suggests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mucormycosis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T2Candida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Candidaemia in &lt; 5 h;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NPV almost 100%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Detects only five Candida species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PJP: BAL PCR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Negative result rules out PJP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Positive may be colonisation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FUNGAL DISEASES · PROPHYLAXIS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Antifungal prophylaxis is phase-specific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4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47872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Phase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Agent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ECIL grade or condition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Fluconazole 400 mg/day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Mould rate &lt; 5% plus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mould-directed diagnostics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Voriconazole; itraconazole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 each; itraconazole limited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by toxicity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Micafungin 50 mg/day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 if low mould rate;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C-I if high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Pre-engraftment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B-II, inferred from AML/MDS data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GVHD, post-engraftment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A-I; avoid fluconazole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PJP: engraftment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 ≥ 6 months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TMP/SMX 2–3 times a week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 long as immunosuppression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continues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6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HEPA rooms protect in hospital, but many IFDs arise in outpatients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FUNGAL DISEASES · TREATMENT STRATEGY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Diagnostic-driven therapy halves antifungal use without harm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 · Mikulska M. EBMT Handbook 8th ed. 2024; Ch. 35</a:t>
            </a:r>
            <a:endParaRPr lang="en-US" sz="1000" dirty="0"/>
          </a:p>
        </p:txBody>
      </p:sp>
      <p:sp>
        <p:nvSpPr>
          <p:cNvPr id="6" name="Box 62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High-risk neutropenia, fever on antibiotics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63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Empirical</a:t>
            </a:r>
            <a:endParaRPr lang="en-US" sz="1400" dirty="0"/>
          </a:p>
        </p:txBody>
      </p:sp>
      <p:sp>
        <p:nvSpPr>
          <p:cNvPr id="11" name="Box 64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Fever after 5–7 days of antibiotics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65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Caspofungin 70→50 mg or L-AmB 3 mg/kg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66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Pre-emptive</a:t>
            </a:r>
            <a:endParaRPr lang="en-US" sz="1400" dirty="0"/>
          </a:p>
        </p:txBody>
      </p:sp>
      <p:sp>
        <p:nvSpPr>
          <p:cNvPr id="16" name="Box 67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GM, BDG, PCR or CT lesion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68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day-42 mortality, fewer antifungals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69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Directed</a:t>
            </a:r>
            <a:endParaRPr lang="en-US" sz="1400" dirty="0"/>
          </a:p>
        </p:txBody>
      </p:sp>
      <p:sp>
        <p:nvSpPr>
          <p:cNvPr id="21" name="Box 70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or probable IFD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71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Drug chosen by pathogen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FUNGAL DISEASES · DIRECTED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First-line antifungal choice is set by the pathogen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16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60904"/>
                <a:gridCol w="3904488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Disease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First line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Key details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Invasive aspergillosis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Voriconazole, isavuconazole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 posaconazole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6–12 weeks; no upfront combo;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L-AmB 3 mg/kg if no azole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Mucormycosis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Lipid AmB 5–10 mg/kg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 surgical debridement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Oral posaconazole or isavuconazole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after stabilisation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Fusariosis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 + debridement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 as salvage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Candidaemia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Echinocandin, then step-down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Remove the CVC; treat 14 days after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last positive culture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PJP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High-dose TMP/SMX, 3 weeks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Primaquine + clindamycin;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then secondary prophylaxis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Azole TDM (mg/L)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Voriconazole 1–6;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isavuconazole 2–4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Posaconazole &gt; 0.7 prophylaxis,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&gt; 1 treatment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choose the empirical regimen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 · Averbuch D. EBMT Handbook 8th ed. 2024; Ch. 36</a:t>
            </a:r>
            <a:endParaRPr lang="en-US" sz="1000" dirty="0"/>
          </a:p>
        </p:txBody>
      </p:sp>
      <p:sp>
        <p:nvSpPr>
          <p:cNvPr id="6" name="Text 73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38-year-old woman with AML is on day +6 after myeloablative allo-HCT. She is known to be rectally colonised with KPC-producing Klebsiella pneumoniae. She develops fever of 38.9 °C and blood pressure 85/50 mmHg. Blood cultures are drawn. What is the most appropriate empirical antibacterial approach?</a:t>
            </a:r>
            <a:endParaRPr lang="en-US" sz="1900" dirty="0"/>
          </a:p>
        </p:txBody>
      </p:sp>
      <p:sp>
        <p:nvSpPr>
          <p:cNvPr id="7" name="Text 74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Cefepime monotherapy, changed if fever persists at 48–72 hours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Piperacillin-tazobactam plus vancomycin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Ceftazidime-avibactam-based regimen, narrowed at 72–96 h if no KPC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Meropenem monotherapy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Withhold antibiotics until blood cultures turn positive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de-escalation for this KPC carrier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 · Averbuch D. EBMT Handbook 8th ed. 2024; Ch. 36</a:t>
            </a:r>
            <a:endParaRPr lang="en-US" sz="1000" dirty="0"/>
          </a:p>
        </p:txBody>
      </p:sp>
      <p:sp>
        <p:nvSpPr>
          <p:cNvPr id="6" name="Box 75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Ceftazidime-avibactam-based regimen, narrowed at 72–96 h if no KPC</a:t>
            </a:r>
            <a:endParaRPr lang="en-US" sz="2000" dirty="0"/>
          </a:p>
        </p:txBody>
      </p:sp>
      <p:sp>
        <p:nvSpPr>
          <p:cNvPr id="7" name="Text 76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Colonisation with a resistant strain plus a severe presentation calls for de-escalation: start an agent active against the colonising strain (for KPC, ceftazidime-avibactam or meropenem-vaborbactam), then narrow at 72–96 h if no MDR pathogen is isolated. Escalation risks inactive first-line therapy and higher mortality.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treat this pulmonary nodule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Text 77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55-year-old man is on day +70 after unrelated donor allo-HCT and receives high-dose steroids for grade III gut acute GVHD, with fluconazole prophylaxis. He develops fever and cough. Chest CT shows two nodules with a halo sign, and a single serum galactomannan index is 0.8. What is the most appropriate treatment?</a:t>
            </a:r>
            <a:endParaRPr lang="en-US" sz="1900" dirty="0"/>
          </a:p>
        </p:txBody>
      </p:sp>
      <p:sp>
        <p:nvSpPr>
          <p:cNvPr id="7" name="Text 78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Voriconazole monotherapy with therapeutic drug monitoring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Voriconazole plus anidulafungin as upfront combination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Lipid amphotericin B 10 mg/kg for presumed mucormycosis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Caspofungin 70 mg, then 50 mg daily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Repeat galactomannan in one week before any treatment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A: probable aspergillosis takes one azole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sp>
        <p:nvSpPr>
          <p:cNvPr id="6" name="Box 79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A.  Voriconazole monotherapy with therapeutic drug monitoring</a:t>
            </a:r>
            <a:endParaRPr lang="en-US" sz="2000" dirty="0"/>
          </a:p>
        </p:txBody>
      </p:sp>
      <p:sp>
        <p:nvSpPr>
          <p:cNvPr id="7" name="Text 80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single serum GM ≥ 0.7 with halo nodules points to invasive aspergillosis; GM does not detect Mucorales. Voriconazole (or isavuconazole, posaconazole) is first line, with a voriconazole TDM target of 1–6 mg/L. Upfront combination was not superior. With GVHD, posaconazole rather than fluconazole is the prophylaxis of choice (A-I).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decide on day 4 of cefepime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sp>
        <p:nvSpPr>
          <p:cNvPr id="6" name="Text 81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60-year-old man with myeloma is neutropenic on day +5 after autologous HCT. Fever began 4 days ago and IV cefepime was started. He became afebrile after 24 hours and has been haemodynamically stable throughout. Cultures and CT show no source. His neutrophil count is 0.1 × 10⁹/L. What is the best next step?</a:t>
            </a:r>
            <a:endParaRPr lang="en-US" sz="1900" dirty="0"/>
          </a:p>
        </p:txBody>
      </p:sp>
      <p:sp>
        <p:nvSpPr>
          <p:cNvPr id="7" name="Text 82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Continue cefepime until neutrophils exceed 0.5 × 10⁹/L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Stop cefepime now and restart promptly if fever recurs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Switch to oral levofloxacin until neutrophil recovery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Escalate to meropenem for the rest of neutropenia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Add empirical vancomycin and continue both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stop after 72 h afebrile, any ANC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sp>
        <p:nvSpPr>
          <p:cNvPr id="6" name="Box 83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Stop cefepime now and restart promptly if fever recurs</a:t>
            </a:r>
            <a:endParaRPr lang="en-US" sz="2000" dirty="0"/>
          </a:p>
        </p:txBody>
      </p:sp>
      <p:sp>
        <p:nvSpPr>
          <p:cNvPr id="7" name="Text 84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ECIL: with no documented infection, antibiotics can stop after ≥ 72 h of IV therapy in a patient stable since fever onset and afebrile ≥ 48 h, irrespective of neutrophil count. The How Long trial (n = 157) confirmed safety after 72 h of apyrexia and clinical recovery. Continuing to recovery only adds antibiotic pressure.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85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Mikulska M. Neutropenic fever. In: The EBMT Handbook, 8th ed. Springer; 2024. pp. 303–309. doi:10.1007/978-3-031-44080-9_35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Averbuch D. Bacterial infections. In: The EBMT Handbook, 8th ed. Springer; 2024. pp. 311–319. doi:10.1007/978-3-031-44080-9_36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Maertens JA. Invasive fungal diseases. In: The EBMT Handbook, 8th ed. Springer; 2024. pp. 321–329. doi:10.1007/978-3-031-44080-9_37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Averbuch D, Orasch C, Cordonnier C. ECIL4, a joint venture of EBMT, EORTC, ICHS, ESGICH/ESCMID and ELN, et al. European guidelines for empirical antibacterial therapy for febrile neutropenic patients in the era of growing resistance: summary of the 2011 4th European conference on infections in leukemia. Haematologica. 2013;98:1826–35.</a:t>
            </a:r>
            <a:endParaRPr lang="en-US" sz="1100" dirty="0"/>
          </a:p>
        </p:txBody>
      </p:sp>
      <p:sp>
        <p:nvSpPr>
          <p:cNvPr id="6" name="Text 86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Lehrnbecher T, Robinson PD, Ammann RA, et al. Guideline for the Management of Fever and Neutropenia in pediatric patients with cancer and hematopoietic cell transplantation recipients: 2023 update. J Clin Oncol. 2023;41(9):1774–85.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Aguilar-Guisado M, Espigado I, Martín-Peña A, et al. Optimisation of empirical antimicrobial therapy in patients with haematological malignancies and febrile neutropenia (how long study): an open-label, randomised, controlled phase 4 trial. Lancet Haematol. 2017;4:e573–83.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de Jonge NA, Sikkens JJ, Zweegman S, et al. Short versus extended treatment with a carbapenem in patients with high-risk fever of unknown origin during neutropenia: a non-inferiority, open-label, multicentre, randomised trial. Lancet Haematol. 2022;9(8):e563–72.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87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Averbuch D, Tridello G, Hoek J, et al. Antimicrobial resistance in gram-negative rods causing bacteremia in hematopoietic stem cell transplant recipients: intercontinental prospective study of the infectious diseases working Party of the European Bone Marrow Transplantation Group. Clin Infect Dis. 2017;65(11):1819–28.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Mikulska M, Averbuch D, Tissot F, et al. Fluoroquinolone prophylaxis in haematological cancer patients with neutropenia: ECIL critical appraisal of previous guidelines. J Infect. 2018;76:20–37.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Maertens J, Lodewyck T, Donnelly JP, et al. Empiric vs preemptive antifungal strategy in high-risk neutropenic patients on fluconazole prophylaxis: a randomized trial of the European Organization for Research and Treatment of cancer. Clin Infect Dis. 2023;76(4):674–82.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Tissot F, Agrawal S, Pagano L, et al. ECIL-6 guidelines for the treatment of invasive candidiasis, aspergillosis and mucormycosis in leukemia and hematopoietic stem cell transplant patients. Haematologica. 2017;102:433–44.</a:t>
            </a:r>
            <a:endParaRPr lang="en-US" sz="1100" dirty="0"/>
          </a:p>
        </p:txBody>
      </p:sp>
      <p:sp>
        <p:nvSpPr>
          <p:cNvPr id="6" name="Text 88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Maertens JA, Raad II, Marr KA, et al. Isavuconazole versus voriconazole for primary treatment of invasive mould disease caused by aspergillus and other filamentous fungi (SECURE): a phase 3, randomised-controlled, non-inferiority trial. Lancet. 2016c;387:760–9.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Maertens JA, Rahav G, Lee DG, et al. Posaconazole versus voriconazole for primary treatment of invasive aspergillosis: a phase 3, randomised, controlled, non-inferiority trial. Lancet. 2021;397(10273):499–509.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Marr KA, Schlamm HT, Herbrecht R, et al. Combination antifungal therapy for invasive aspergillosis: a randomized trial. Ann Intern Med. 2015;162:81–9.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FUNGAL DISEASES · EPIDEMIOLOGY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IFD incidence depends on donor type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5" name="Table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6496" cy="914400"/>
        </p:xfrm>
        <a:graphic>
          <a:graphicData uri="http://schemas.openxmlformats.org/drawingml/2006/table">
            <a:tbl>
              <a:tblPr/>
              <a:tblGrid>
                <a:gridCol w="5413248"/>
                <a:gridCol w="5413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Setting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Incidence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Unrelated or mismatched allo-HCT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8–10% at 12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Matched related allo-HCT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6% at 12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Autologous 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&lt; 2% at 12 months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Haploidentical HCT, cord blood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Up to 17%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Candidaemia by day +100 (EBMT)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1.2%; independent risk for NRM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Invasive mould disease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Crude mortality up to 60%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90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Risk periods: pre-engraftment; days +40 to +100 (aGVHD, viruses); beyond +100 (cGVHD)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FUNGAL DISEASES · ANTIGEN ASSAYS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Antigen assays have predictable false results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6" name="Table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4251960"/>
                <a:gridCol w="4251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Galactomannan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β-D-glucan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False positive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β-lactams, myeloma, gluconate,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mucositis or gut GVHD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IVIg, albumin, cellulose dialysis,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gauze, Pseudomonas BSI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False negative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Mould-active antifungals;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mucolytic agents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Concomitant antifungal agents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detected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Mucorales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Mucorales, some Cryptococcus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FUNGAL DISEASES · ECIL-6 GRADES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ECIL-6 grades first-line aspergillosis drugs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Maertens JA. EBMT Handbook 8th ed. 2024; Ch. 37</a:t>
            </a:r>
            <a:endParaRPr lang="en-US" sz="1000" dirty="0"/>
          </a:p>
        </p:txBody>
      </p:sp>
      <p:graphicFrame>
        <p:nvGraphicFramePr>
          <p:cNvPr id="27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721608"/>
                <a:gridCol w="1600200"/>
                <a:gridCol w="54955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Drug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Grade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Adult dose or comment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Voriconazole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 mg/kg twice on day 1, then 4 mg/kg twice daily; TDM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Isavuconazole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200 mg three times daily × 2 days, then 200 mg daily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Liposomal amphotericin 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mg/kg/day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Amphotericin B lipid complex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mg/kg/day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Caspofungin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Anidulafungin + voriconazole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Combination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Amphotericin B deoxycholate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 against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Less effective and more toxic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NEUTROPENIC FEVER · DIFFERENTIAL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Neutropenic fever has many non-bacterial causes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Mikulska M. EBMT Handbook 8th ed. 2024; Ch. 35</a:t>
            </a:r>
            <a:endParaRPr lang="en-US" sz="1000" dirty="0"/>
          </a:p>
        </p:txBody>
      </p:sp>
      <p:sp>
        <p:nvSpPr>
          <p:cNvPr id="6" name="Text 93"/>
          <p:cNvSpPr txBox="1"/>
          <p:nvPr/>
        </p:nvSpPr>
        <p:spPr>
          <a:xfrm>
            <a:off x="685800" y="2240280"/>
            <a:ext cx="5180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Infections beyond bacteria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743200"/>
            <a:ext cx="51800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94"/>
          <p:cNvSpPr txBox="1"/>
          <p:nvPr/>
        </p:nvSpPr>
        <p:spPr>
          <a:xfrm>
            <a:off x="685800" y="2880360"/>
            <a:ext cx="51800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Viral infections (CMV, ADV, respiratory)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Fungal infections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Legionella, mycobacteria, Nocardia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Toxoplasma</a:t>
            </a:r>
            <a:endParaRPr lang="en-US" sz="1800" dirty="0"/>
          </a:p>
        </p:txBody>
      </p:sp>
      <p:sp>
        <p:nvSpPr>
          <p:cNvPr id="9" name="Text 95"/>
          <p:cNvSpPr txBox="1"/>
          <p:nvPr/>
        </p:nvSpPr>
        <p:spPr>
          <a:xfrm>
            <a:off x="6323076" y="2240280"/>
            <a:ext cx="5180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Non-infectious causes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323076" y="2743200"/>
            <a:ext cx="51800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6"/>
          <p:cNvSpPr txBox="1"/>
          <p:nvPr/>
        </p:nvSpPr>
        <p:spPr>
          <a:xfrm>
            <a:off x="6323076" y="2880360"/>
            <a:ext cx="51800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Drug (ATG) or transfusion reaction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CRS, engraftment syndrome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Mucositis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GVHD, rejection, haemophagocytosis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Underlying disease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Neutropenic fever, bacterial and invasive fungal infections</dc:title>
  <dc:subject>PptxGenJS Presentation</dc:subject>
  <dc:creator>Hsieh-Ting Lin, MD</dc:creator>
  <cp:lastModifiedBy>Hsieh-Ting Lin, MD</cp:lastModifiedBy>
  <cp:revision>1</cp:revision>
  <dcterms:created xsi:type="dcterms:W3CDTF">2026-10-07T15:18:09Z</dcterms:created>
  <dcterms:modified xsi:type="dcterms:W3CDTF">2026-10-07T15:18:09Z</dcterms:modified>
</cp:coreProperties>
</file>