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aead26-aaa4-54c3-7955-df32ed404808}">
          <p14:sldIdLst>
            <p14:sldId id="256"/>
            <p14:sldId id="257"/>
          </p14:sldIdLst>
        </p14:section>
        <p14:section name="Risk and the CR1 decision" id="{348e42d3-2f62-fcda-fb8d-bd545b7dbb16}">
          <p14:sldIdLst>
            <p14:sldId id="258"/>
            <p14:sldId id="259"/>
            <p14:sldId id="260"/>
          </p14:sldIdLst>
        </p14:section>
        <p14:section name="First-line, salvage and CAR-T" id="{a256d7c5-1d0c-95e5-68fb-2928946355be}">
          <p14:sldIdLst>
            <p14:sldId id="261"/>
            <p14:sldId id="262"/>
            <p14:sldId id="263"/>
            <p14:sldId id="264"/>
            <p14:sldId id="265"/>
          </p14:sldIdLst>
        </p14:section>
        <p14:section name="Transplant technique and outcome" id="{8da69077-5cf4-79bc-5404-4e1f0f2ee9c2}">
          <p14:sldIdLst>
            <p14:sldId id="266"/>
            <p14:sldId id="267"/>
            <p14:sldId id="268"/>
            <p14:sldId id="269"/>
            <p14:sldId id="270"/>
          </p14:sldIdLst>
        </p14:section>
        <p14:section name="Children and questions" id="{2fccb106-16fa-65f1-b2f6-8bc8ae09b2a6}">
          <p14:sldIdLst>
            <p14:sldId id="271"/>
            <p14:sldId id="272"/>
            <p14:sldId id="273"/>
            <p14:sldId id="274"/>
            <p14:sldId id="275"/>
            <p14:sldId id="276"/>
            <p14:sldId id="277"/>
          </p14:sldIdLst>
        </p14:section>
        <p14:section name="References" id="{8b68a74d-85ca-9c29-17e2-5e6cf7476424}">
          <p14:sldIdLst>
            <p14:sldId id="278"/>
            <p14:sldId id="279"/>
            <p14:sldId id="280"/>
          </p14:sldIdLst>
        </p14:section>
        <p14:section name="Backup" id="{58c47811-5fb7-7f69-67e5-d66378c530f6}">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22 堂講 ALL 的造血幹細胞移植，主軸是 EBMT Handbook 第 72 章成人 ALL，再從第 73 章兒童 ALL 挑出和成人對照的考點。今天的順序是風險分層和 CR1 的移植適應症，接著是第一線、salvage 和 CAR-T，然後是 conditioning、donor 和移植後 TKI，最後三題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今天分四段。第一段講成人 ALL 的風險因子和 MRD，這決定誰在 CR1 就要移植。第二段是第一線治療的流程，Ph-negative 和 Ph-positive 兩條路分開走，再講復發之後的 salvage，包括 inotuzumab、blinatumomab 和 CAR-T。</a:t>
            </a:r>
          </a:p>
          <a:p>
            <a:pPr>
              <a:spcAft>
                <a:spcPts val="600"/>
              </a:spcAft>
            </a:pPr>
            <a:r>
              <a:rPr lang="en-US" dirty="0"/>
              <a:t>第三段回到移植本身，conditioning 以 45 歲為界，donor 的選擇、GVHD prophylaxis，以及 Ph-positive 移植後的 TKI，最後看各族群的 TRM、復發和存活數字。第四段用一張表對照兒童 ALL 和成人的不同，然後三題 board-style 題目。CAR-T 的 CRS 和 neurotoxicity 是第 20 堂的內容，今天只講 CAR-T 在 ALL 的適應症和之後要不要移植。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有兩個發生高峰，一個在兒童，一個在 50 歲左右。成人的治癒率比兒童差很多，超過 60 歲的長期存活不到 20%。</a:t>
            </a:r>
          </a:p>
          <a:p>
            <a:pPr>
              <a:spcAft>
                <a:spcPts val="600"/>
              </a:spcAft>
            </a:pPr>
            <a:r>
              <a:rPr lang="en-US" dirty="0"/>
              <a:t>臨床上最常用的兩個風險因子是年齡和初診白血球。白血球的 cutoff，B-ALL 是 30 × 10⁹/L，T-ALL 是 100 × 10⁹/L，B 和 T 的數字差了三倍多，考題常把兩個對調。免疫表型方面，early T-cell precursor ALL 的 CD1a、CD8、CD5 表現低，又帶 myeloid 或 stem cell marker，治療失敗的風險高。</a:t>
            </a:r>
          </a:p>
          <a:p>
            <a:pPr>
              <a:spcAft>
                <a:spcPts val="600"/>
              </a:spcAft>
            </a:pPr>
            <a:r>
              <a:rPr lang="en-US" dirty="0"/>
              <a:t>遺傳學上，成人最常見的不良異常是 KMT2A rearrangement。Low hypodiploidy 和五個以上異常的 complex karyotype，各 study group 的看法不一致。Ph-positive 佔成人 ALL 的 20 到 30%，年紀越大比例越高；以前算 very high risk，TKI 時代之後和 Ph-negative 的結果已經差不多。Ph-like ALL 預後不好，但很多國家沒有常規檢測。</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對治療的反應是最強的預後因子。需要超過一個 cycle 才達到 CR，本身就是高風險。MRD 的門檻分兩個時間點，induction 之後大於 10⁻³，consolidation 期間或之後大於 10⁻⁴，都算高風險。已經有反應之後 MRD 又爬到 10⁻³ 以上，代表非常高的復發風險。</a:t>
            </a:r>
          </a:p>
          <a:p>
            <a:pPr>
              <a:spcAft>
                <a:spcPts val="600"/>
              </a:spcAft>
            </a:pPr>
            <a:r>
              <a:rPr lang="en-US" dirty="0"/>
              <a:t>測法有兩種。Flow cytometry 看 aberrant phenotype；RQ-PCR 測 BCR::ABL1 這類 fusion transcript，或病人特有的 Ig、TCR rearrangement。NGS 和 digital PCR 更敏感，但還沒標準化。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成人 ALL 在 CR1 的 allo-HCT 只給 high-risk 的病人，但每個 study group 對 high risk 的定義差很多。第 72 章引用 Giebel 2019 的 EWALL 和 EBMT position statement，把風險因子分成三層。</a:t>
            </a:r>
          </a:p>
          <a:p>
            <a:pPr>
              <a:spcAft>
                <a:spcPts val="600"/>
              </a:spcAft>
            </a:pPr>
            <a:r>
              <a:rPr lang="en-US" dirty="0"/>
              <a:t>所有 group 都採用的只有三項。最關鍵的是 consolidation 期間或之後 MRD 大於 10⁻⁴，有些 group 只要測得到就算。另外兩項是年齡，cut point 各家不同，以及 BCR::ABL1，也就是 Ph-positive。</a:t>
            </a:r>
          </a:p>
          <a:p>
            <a:pPr>
              <a:spcAft>
                <a:spcPts val="600"/>
              </a:spcAft>
            </a:pPr>
            <a:r>
              <a:rPr lang="en-US" dirty="0"/>
              <a:t>多數 group 採用的有三類。Induction I 之後沒有 haematological CR，或 MRD 大於 10⁻³；初診白血球 B-ALL 大於 30、T-ALL 大於 100 × 10⁹/L；還有 KMT2A rearrangement、hypodiploidy、complex karyotype 這些遺傳因子。只有部分 group 採用的，是初診 CNS involvement，以及 early T-precursor、mature T、pro-B 這三種不良免疫表型。</a:t>
            </a:r>
          </a:p>
          <a:p>
            <a:pPr>
              <a:spcAft>
                <a:spcPts val="600"/>
              </a:spcAft>
            </a:pPr>
            <a:r>
              <a:rPr lang="en-US" dirty="0"/>
              <a:t>Key Points 的註腳把最重要的歸納成三個，經過兩個以上療程 MRD 仍持續、初診白血球高、高風險 cytogenetics。病房實務上，初診時的特徵只是預先排 HLA typing 的理由，真正決定要不要移植的，通常是 consolidation 之後的 MRD。題目若給一個初診特徵普通、但 consolidation 後 MRD 還是陽性的病人，答案就是移植。</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這是第 72 章的 Fig. 72.1，成人 ALL 第一線治療的流程圖。兩邊都從 steroid prephase 開始，CNS prophylaxis 則在整個療程中間歇給予。</a:t>
            </a:r>
          </a:p>
          <a:p>
            <a:pPr>
              <a:spcAft>
                <a:spcPts val="600"/>
              </a:spcAft>
            </a:pPr>
            <a:r>
              <a:rPr lang="en-US" dirty="0"/>
              <a:t>左邊是 Ph-negative。Induction 和 consolidation 都可以加 rituximab，前提是 CD20 陽性的 B-ALL。每個階段都量 MRD，只要 MRD 大於等於 10⁻³，就轉去 blinatumomab，接著走 allo-HCT。沒有 MRD 問題的病人，再依 high risk 或 standard risk 分流，high risk 去移植，standard risk 接 maintenance chemotherapy。</a:t>
            </a:r>
          </a:p>
          <a:p>
            <a:pPr>
              <a:spcAft>
                <a:spcPts val="600"/>
              </a:spcAft>
            </a:pPr>
            <a:r>
              <a:rPr lang="en-US" dirty="0"/>
              <a:t>右邊是 Ph-positive，整條路沒有分岔。Imatinib 加或不加低劑量化療做 induction，consolidation 也是 imatinib 加化療，然後所有人走 allo-HCT，移植後接 TKI maintenance，可以 prophylactic，也可以由 MRD 決定。圖說也提到 MRD 陰性病人用 blinatumomab 做 consolidation，可能很快會成為選項。</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Ph-negative 用 pediatric-inspired 的強化療。Induction 骨幹是 VCR、DEX 加 anthracycline，再加減 L-asparaginase 和 CY，年輕成人 CR 90 到 95%，年長者 70 到 90%。Consolidation 六到八個療程，其中兩到四個含 high-dose MTX、Ara-C 和 L-asp。之後不是移植，就是 6-MP 每天加 MTX 每週，至少兩年的 maintenance。CD20 陽性加 rituximab，Maury 2016 顯示有明顯好處。MRD 持續或再出現就給 blinatumomab；年長者可以用 inotuzumab 取代化療，但這個適應症尚未核准。Nelarabine 加進成人 T-ALL 第一線並沒有改善結果。</a:t>
            </a:r>
          </a:p>
          <a:p>
            <a:pPr>
              <a:spcAft>
                <a:spcPts val="600"/>
              </a:spcAft>
            </a:pPr>
            <a:r>
              <a:rPr lang="en-US" dirty="0"/>
              <a:t>Ph-positive 的主角是 TKI。Imatinib 加低劑量 VCR、DEX，CR 就有 90 到 100%，Chalandon 2015 的隨機試驗顯示化療加強也不會提高 CR rate。所有 Ph-positive 病人都要考慮在 CR1 移植。Dasatinib 或 ponatinib 搭配 blinatumomab 的新方案，可能讓移植的角色變小。</a:t>
            </a:r>
          </a:p>
          <a:p>
            <a:pPr>
              <a:spcAft>
                <a:spcPts val="600"/>
              </a:spcAft>
            </a:pPr>
            <a:r>
              <a:rPr lang="en-US" b="1" dirty="0"/>
              <a:t>講者提醒（不念出來）：</a:t>
            </a:r>
          </a:p>
          <a:p>
            <a:pPr>
              <a:spcAft>
                <a:spcPts val="600"/>
              </a:spcAft>
            </a:pPr>
            <a:r>
              <a:rPr lang="en-US" dirty="0"/>
              <a:t>- TO CONFIRM BEFORE PRESENTING: Ch. 72 states imatinib is the only drug approved for first-line Ph+ ALL. Check current approvals (other TKIs in first line) and Taiwan NHI reimbursement before stating this aloud.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成人 ALL 大約 5 到 10% 對 induction 沒有反應，達到 CR 的人當中 30 到 50% 會復發。復發之後用傳統化療，第一次 salvage 的 CR rate 是 31 到 44%，第二次 salvage 只剩 18 到 25%，這組數字來自 Gokbuget 2016 的國際參考分析。</a:t>
            </a:r>
          </a:p>
          <a:p>
            <a:pPr>
              <a:spcAft>
                <a:spcPts val="600"/>
              </a:spcAft>
            </a:pPr>
            <a:r>
              <a:rPr lang="en-US" dirty="0"/>
              <a:t>兩個抗體藥在隨機試驗中都勝過化療。Inotuzumab ozogamicin 是 anti-CD22 的 immunotoxin，CR rate 達到 80%；blinatumomab 是 CD3/CD19 的 bispecific antibody，CR rate 44%。兩者都延長了存活，但第 72 章的立場很清楚，任何 R/R ALL 的治療都只是通往 allo-HCT 的 bridge，目的是增加治癒的機會。</a:t>
            </a:r>
          </a:p>
          <a:p>
            <a:pPr>
              <a:spcAft>
                <a:spcPts val="600"/>
              </a:spcAft>
            </a:pPr>
            <a:r>
              <a:rPr lang="en-US" dirty="0"/>
              <a:t>T-ALL 復發的選擇少很多。FLAG 加減 idarubicin 反應率只有 30 到 40%，有反應的人 median OS 也只有六個月。Nelarabine 單用或合併化療是合理的替代。Bortezomib 為基礎的方案和 daratumumab，則用在沒有其他選擇的病人，資料多半是小型系列。不論哪一種，只要有反應，就應該接 allo-HCT 鞏固。</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Inotuzumab 的 CR rate 很高，但它會增加 VOD 的風險。三個情況風險特別高，用超過兩個療程、原本就有肝功能異常，以及 conditioning 用 double alkylator。</a:t>
            </a:r>
          </a:p>
          <a:p>
            <a:pPr>
              <a:spcAft>
                <a:spcPts val="600"/>
              </a:spcAft>
            </a:pPr>
            <a:r>
              <a:rPr lang="en-US" dirty="0"/>
              <a:t>所以第 72 章建議 allo-HCT 最好在開始 salvage 之後 6 到 8 週內完成，conditioning 也要避開容易造成 SOS/VOD 的組合。實務上，開始 inotuzumab 的同一週就要啟動找 donor。SOS/VOD 的診斷和治療在第 13 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Anti-CD19 CAR-T 是 R/R B-ALL 的新選項，第 72 章用年齡分兩個產品。Tisagenlecleucel 核准用在兒童和 25 歲以下的年輕成人，CR 80 到 90%，RFS 大約五成，資料來自 Maude 2018。Brexucabtagene autoleucel 在歐洲核准用在 26 歲以上，ZUMA-3 的 CR 大約 71%，median OS 超過兩年。</a:t>
            </a:r>
          </a:p>
          <a:p>
            <a:pPr>
              <a:spcAft>
                <a:spcPts val="600"/>
              </a:spcAft>
            </a:pPr>
            <a:r>
              <a:rPr lang="en-US" dirty="0"/>
              <a:t>CAR-T 之後要不要接 allo-HCT，書上承認還有爭議。CAR-T 後的復發率偏高，而 CAR-T 失敗之後幾乎沒有選擇，所以作者建議之前沒做過移植的病人，要考慮用 allo-HCT 鞏固，雖然資料還不夠。</a:t>
            </a:r>
          </a:p>
          <a:p>
            <a:pPr>
              <a:spcAft>
                <a:spcPts val="600"/>
              </a:spcAft>
            </a:pPr>
            <a:r>
              <a:rPr lang="en-US" dirty="0"/>
              <a:t>T-ALL 的 anti-CD7、anti-CD5 CAR-T 還在試驗中，早期結果不錯，有反應一樣要移植。CRS 和 ICANS 的分級和處理，請看第 20 堂。</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13:30 至 14:30]</a:t>
            </a:r>
          </a:p>
          <a:p>
            <a:pPr>
              <a:spcAft>
                <a:spcPts val="600"/>
              </a:spcAft>
            </a:pPr>
            <a:r>
              <a:rPr lang="en-US" dirty="0"/>
              <a:t>第 72 章把 allo-HCT 的適應症分成標準和可選。High-risk 的 CR1，包括所有 Ph-positive，以及 induction failure 之後拿到的緩解或 CR2 以後，都是標準。Standard-risk 的 CR1，如果出現嚴重毒性，例如長期嚴重 cytopenia，讓化療無法繼續，可以考慮移植；refractory 或 active disease 也可以選擇性移植。</a:t>
            </a:r>
          </a:p>
          <a:p>
            <a:pPr>
              <a:spcAft>
                <a:spcPts val="600"/>
              </a:spcAft>
            </a:pPr>
            <a:r>
              <a:rPr lang="en-US" dirty="0"/>
              <a:t>Auto-HCT 在成人 ALL 不是標準治療，只留給 MRD 陰性又不適合 allo 的病人，conditioning 用分次 TBI，例如 6 × 2 Gy，加 CY 或 VP。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14:30 至 16:30]</a:t>
            </a:r>
          </a:p>
          <a:p>
            <a:pPr>
              <a:spcAft>
                <a:spcPts val="600"/>
              </a:spcAft>
            </a:pPr>
            <a:r>
              <a:rPr lang="en-US" dirty="0"/>
              <a:t>Conditioning 以 45 歲為界。小於 45 歲、體能好、沒有重大 comorbidity 的病人，首選分次 TBI，累積劑量 12 到 13 Gy，搭配 CY 或 VP，也就是 etoposide。這兩個組合的比較來自 Marks 2006 的 sibling 移植資料。替代方案是 IV busulfan 加 CY，busulfan 最好做血中濃度監測，但這個組合可能復發率比較高。Key Points 的說法是 TBI 可能和比較低的復發有關，所以 ALL 是 TBI 地位最穩固的疾病之一。</a:t>
            </a:r>
          </a:p>
          <a:p>
            <a:pPr>
              <a:spcAft>
                <a:spcPts val="600"/>
              </a:spcAft>
            </a:pPr>
            <a:r>
              <a:rPr lang="en-US" dirty="0"/>
              <a:t>45 歲以上，或是年輕但不適合 MAC 的病人，要用調整劑量或減量的方案。書上列出 FLU 加 IV BU、FLU 加 MEL、FLU 加 8 Gy TBI、FLU 加 treosulfan，以及 TBF，目前沒有公認的標準。</a:t>
            </a:r>
          </a:p>
          <a:p>
            <a:pPr>
              <a:spcAft>
                <a:spcPts val="600"/>
              </a:spcAft>
            </a:pPr>
            <a:r>
              <a:rPr lang="en-US" dirty="0"/>
              <a:t>CR1 之後才移植的病人，緩解中死亡率可以超過 30%。如果病人是用新的抗體藥達到 MRD 陰性的後續緩解，作者建議討論減量 conditioning。用過 inotuzumab 的病人，要避開容易引發 SOS/VOD 的方案，例如 double alkylator。考試最常問的就是 45 歲和 12 到 13 Gy 這兩個數字。</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Donor 可以是 MSD、MUD、MMUD 或 haploidentical，MUD 至少要 HLA-A、B、C、DR 相合。EBMT registry 的兩個分析，Shem-Tov 2020 比較 haplo 和 unrelated，Nagler 2021 比較 haplo 和 sibling，結果都差不多。Key Points 還是把 MSD 放第一，其他三種並列。</a:t>
            </a:r>
          </a:p>
          <a:p>
            <a:pPr>
              <a:spcAft>
                <a:spcPts val="600"/>
              </a:spcAft>
            </a:pPr>
            <a:r>
              <a:rPr lang="en-US" dirty="0"/>
              <a:t>幹細胞來源方面，unrelated donor 有用 ATG 時，BM 和 PBSC 的 GVHD 大概沒有差別，PBSC 植入比較快，graft failure 比較少。PTCy 的 T-replete haplo，用 BM 可能有比較好的 OS 和 GRFS。</a:t>
            </a:r>
          </a:p>
          <a:p>
            <a:pPr>
              <a:spcAft>
                <a:spcPts val="600"/>
              </a:spcAft>
            </a:pPr>
            <a:r>
              <a:rPr lang="en-US" dirty="0"/>
              <a:t>GVHD prophylaxis 標準是 CSA 加 MTX，或 CSA 加 MMF。所有 unrelated donor 都應考慮加 ATG，雖然 registry 資料顯示 ATG 在 Ph-negative 和 Ph-positive 都和較高的復發有關。Haplo 用 PTCy 取代 ATG，MUD 和 MMUD 也可以用 PTCy。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Ph-positive ALL 移植後一定要接 TKI，第 72 章依據 Giebel 2016 的 EBMT position statement，可以 prophylactic，也就是每個人都給，或 pre-emptive，等 BCR::ABL1 轉陽再給。選哪一個 TKI，要參考之前的 kinase domain mutation 檢查結果。</a:t>
            </a:r>
          </a:p>
          <a:p>
            <a:pPr>
              <a:spcAft>
                <a:spcPts val="600"/>
              </a:spcAft>
            </a:pPr>
            <a:r>
              <a:rPr lang="en-US" dirty="0"/>
              <a:t>兒童的第 73 章寫得更具體。修訂版 EsPhALL 建議血小板超過 50,000 之後開始 imatinib，從移植日算起給滿 365 天。另一種做法依 MRD 決定，只有 MRD 陽性才給 imatinib，直到連續兩次陰性，flow 和 PCR 的 MRD 都可以採用。兩種策略哪個比較好，目前還在研究。</a:t>
            </a:r>
          </a:p>
          <a:p>
            <a:pPr>
              <a:spcAft>
                <a:spcPts val="600"/>
              </a:spcAft>
            </a:pPr>
            <a:r>
              <a:rPr lang="en-US" dirty="0"/>
              <a:t>Ph-negative 的 B-ALL 移植後如果 MRD 轉陽，第 72 章提到可以用抗體、ADC 或 CAR-T 做 pre-emptive 治療，但應該在前瞻性試驗中評估。DLI 和移植後 MRD 監測的細節，在第 19 堂。</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19:30 至 21:00]</a:t>
            </a:r>
          </a:p>
          <a:p>
            <a:pPr>
              <a:spcAft>
                <a:spcPts val="600"/>
              </a:spcAft>
            </a:pPr>
            <a:r>
              <a:rPr lang="en-US" dirty="0"/>
              <a:t>這張是第 72 章 Key Points 的結果數字。18 到 55 歲在 CR1 移植，MSD 的兩年 OS 是 60 到 76%，MUD 是 62 到 70%，兩者相近，TRM 大約一到兩成。</a:t>
            </a:r>
          </a:p>
          <a:p>
            <a:pPr>
              <a:spcAft>
                <a:spcPts val="600"/>
              </a:spcAft>
            </a:pPr>
            <a:r>
              <a:rPr lang="en-US" dirty="0"/>
              <a:t>超過 60 歲，三年 OS 掉到四成左右，MSD 約 39%，MUD 約 46%，而且 MSD 的三年復發率接近一半，老年人的主要問題是復發。到了 CR2，不分 donor，兩年 TRM 28 到 35%，復發 33 到 38%，OS 只剩 38 到 47%。</a:t>
            </a:r>
          </a:p>
          <a:p>
            <a:pPr>
              <a:spcAft>
                <a:spcPts val="600"/>
              </a:spcAft>
            </a:pPr>
            <a:r>
              <a:rPr lang="en-US" dirty="0"/>
              <a:t>看這張表要注意時間點不一樣，有兩年也有三年。年輕成人 MUD 的復發率 14 到 21%，比 MSD 的 23 到 32% 低，書上沒有解釋原因。CR2 這一行，講者的簡化說法是 TRM、復發、存活大約各佔三分之一，跟病人解釋預後時很好用。</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最後一張內容用第 73 章對照兒童。兒童只有 very high 或 high relapse risk 才在 CR1 移植，induction 結束時 MRD 陰性的直接排除。復發之後，T-ALL 任何時間復發，以及 B-ALL 在治療中或停藥六個月內的 very early、early 復發，任何 donor 都可以移植。</a:t>
            </a:r>
          </a:p>
          <a:p>
            <a:pPr>
              <a:spcAft>
                <a:spcPts val="600"/>
              </a:spcAft>
            </a:pPr>
            <a:r>
              <a:rPr lang="en-US" dirty="0"/>
              <a:t>Conditioning 方面，FORUM 隨機試驗顯示 4 歲以上用 TBI 加 etoposide，OS 和 EFS 比化療型 conditioning 好大約 20%，NRM 也比較低。化療型之中，treosulfan、thiotepa、fludarabine 和 busulfan、thiotepa、fludarabine 結果相當。</a:t>
            </a:r>
          </a:p>
          <a:p>
            <a:pPr>
              <a:spcAft>
                <a:spcPts val="600"/>
              </a:spcAft>
            </a:pPr>
            <a:r>
              <a:rPr lang="en-US" dirty="0"/>
              <a:t>兒童 MSD 移植因為植入快、免疫重建快、感染少，仍然優先；MSD 骨髓移植可以只用 cyclosporine，保留 GVL。另外兩點也常考，未達形態學緩解的兒童不應移植，最後一次化療到 conditioning 最好間隔 3 到 6 週。</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第一題。30 歲男性，Ph-negative B-ALL，初診白血球 12，染色體正常。Induction I 後 CR，MRD 5 × 10⁻⁴；consolidation 之後 RQ-PCR MRD 是 3 × 10⁻⁴。有 matched sibling。依第 72 章，下一步最適合的是哪一個。</a:t>
            </a:r>
          </a:p>
          <a:p>
            <a:pPr>
              <a:spcAft>
                <a:spcPts val="600"/>
              </a:spcAft>
            </a:pPr>
            <a:r>
              <a:rPr lang="en-US" dirty="0"/>
              <a:t>A 是直接接兩年 maintenance；B 是 auto-HCT；C 是 CR1 allo-HCT，MRD 持續就先用 blinatumomab；D 是加 nelarabine；E 是三個月後再驗，超過 10⁻³ 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C。Consolidation 期間或之後 MRD 大於 10⁻⁴，是所有 study group 都採用的 CR1 移植指標。MRD 持續的病人用 blinatumomab 反應率高，再接 allo-HCT。</a:t>
            </a:r>
          </a:p>
          <a:p>
            <a:pPr>
              <a:spcAft>
                <a:spcPts val="600"/>
              </a:spcAft>
            </a:pPr>
            <a:r>
              <a:rPr lang="en-US" dirty="0"/>
              <a:t>最容易選錯的是 E。10⁻³ 是 induction 之後的門檻，consolidation 之後要用 10⁻⁴；而 MRD 從持續陽性再升到 10⁻³，已經是非常高的復發風險，不該等。A 忽略了 MRD，B 的 auto-HCT 只給 MRD 陰性又不能做 allo 的人，D 的 nelarabine 是 T-ALL 的藥，而且在成人第一線也沒有好處。</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歲女性，Ph-positive ALL，用 imatinib 加低劑量 VCR、DEX，再加 consolidation，達到 complete molecular remission。有 10/10 的 MUD，沒有重大 comorbidity。依第 72 章，哪個計畫最適合。</a:t>
            </a:r>
          </a:p>
          <a:p>
            <a:pPr>
              <a:spcAft>
                <a:spcPts val="600"/>
              </a:spcAft>
            </a:pPr>
            <a:r>
              <a:rPr lang="en-US" dirty="0"/>
              <a:t>選項分別是 TBI 12 Gy MAC 不接 TKI、FLU 加 8 Gy TBI 再接 TKI、BU/CY MAC 等血液學復發才給 TKI、auto-HCT，以及一直吃 imatinib 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B。Ph-positive 的病人都應考慮 CR1 移植，她 52 歲，超過 45 歲這條線，所以用減量方案，FLU 加 8 Gy TBI 就是書上列出的選項。移植後要接 TKI，選藥參考之前的 mutation 檢查。</a:t>
            </a:r>
          </a:p>
          <a:p>
            <a:pPr>
              <a:spcAft>
                <a:spcPts val="600"/>
              </a:spcAft>
            </a:pPr>
            <a:r>
              <a:rPr lang="en-US" dirty="0"/>
              <a:t>A 的劑量適合 45 歲以下，而且漏了 TKI。C 等到血液學復發才給 TKI 太晚，書上的 pre-emptive 指的是 MRD 層次。D 是主要干擾，回溯資料顯示 molecular CR 的 Ph-positive 做 auto 和 allo 存活相近，但 auto 在成人 ALL 仍不是標準。</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最後一題。34 歲女性 B-ALL，CR1 之後 10 個月復發，用了兩個 cycle 的 inotuzumab，達到 MRD 陰性的 CR2。有 10/10 的 MUD，肝功能正常。依第 72 章，最適合的做法是哪一個。</a:t>
            </a:r>
          </a:p>
          <a:p>
            <a:pPr>
              <a:spcAft>
                <a:spcPts val="600"/>
              </a:spcAft>
            </a:pPr>
            <a:r>
              <a:rPr lang="en-US" dirty="0"/>
              <a:t>A 是再加兩個 cycle；B 是做 auto；C 是 salvage 開始後 6 到 8 週內做 allo，避開容易 SOS 的 conditioning；D 是不移植；E 是用 double alkylator MAC 降低復發。</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C。CR1 之後的 ALL，只要沒有禁忌，allo-HCT 就是標準，所以 D 不對。Inotuzumab 的 VOD 風險在超過兩個 course、原本肝功能異常、以及 double alkylator conditioning 時上升，A 和 E 都是在增加 VOD 的機會，書上建議從開始 salvage 起 6 到 8 週內移植。</a:t>
            </a:r>
          </a:p>
          <a:p>
            <a:pPr>
              <a:spcAft>
                <a:spcPts val="600"/>
              </a:spcAft>
            </a:pPr>
            <a:r>
              <a:rPr lang="en-US" dirty="0"/>
              <a:t>B 是主要的干擾選項。Auto-HCT 在成人 ALL 不是標準，她年輕又有 donor，應該做 allo。像她這樣用抗體藥拿到 MRD 陰性的病人，書上也建議討論 dose-reduced conditioning。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CR1 的移植適應症依 PCR-MRD 和幾個遺傳特徵階層式決定。Day 33 未緩解、或 TP2 MRD 大於等於 10⁻² 的，可以用 mismatched donor；MRD standard risk 的一律不移植。進行中的 AIEOP-BFM 2017 另把 TCF3-HLF、KMT2A-AFF1、IKZF1plus 加上 MRD 列為 very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兒童復發後的移植適應症，依免疫表型、復發時間、部位和 MRD 分組。Very early 和 early 指在治療中或停藥 6 個月內復發，預後差，任何 donor 都可以；late relapse 只在 MRD 反應差時移植。未達形態學緩解的不應移植。這張是第 73 章 Table 73.2 的簡化版。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auto-HCT。最大的隨機試驗反而是化療比較好，支持 auto 的資料都是回溯性的，而且無法排除 MRD 陰性的病人單用化療也一樣好。Ph-positive 在 molecular CR 時 auto 和 allo 存活相近，auto 復發多、allo 緩解中死亡多。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acute lymphoblastic leukaemia</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22 · Ch. 72, with Ch.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risk in CR1 to the allograft itself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and the CR1 decision</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Clinical and genetic risk, MRD thresholds, the three-tier indication table</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salvage and CAR-T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Ph− versus Ph+ algorithm, salvage response, inotuzumab timing, CAR-T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Transplant technique and outcome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Indications, conditioning by age, donor and GVHD prophylaxis, TKI, results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then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What Ch. 73 does differently; board-style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WBC, phenotype and genetics set baseline risk in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581144"/>
                <a:gridCol w="384962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High-risk 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Rising age; &gt; 60 y: &lt; 20% long-term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vary by group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at 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30 × 10⁹/L in B-ALL;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in most studies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Immunophenotype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T-cell precursor (ETP)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CD1a, CD8, CD5; myeloid/stem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t(v;11q23.3)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frequent poor-risk lesion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Ph-like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Unfavourable; testing often unavailable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hypodiploidy; complex karyotype (≥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Prognostic value 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BCR::ABL1 (Ph+)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20–30% of adults; frequency rises with age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Now comparable to Ph− with TKIs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above 10⁻³ after induction or 10⁻⁴ later marks high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2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End of induction: MRD &gt; 10⁻³ is high risk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During or after consolidation: MRD &gt; 10⁻⁴</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3"/>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MRD rising above 10⁻³ after a response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Very high relapse risk: act before relapse</a:t>
            </a:r>
            <a:endParaRPr lang="en-US" sz="1700" dirty="0"/>
          </a:p>
        </p:txBody>
      </p:sp>
      <p:sp>
        <p:nvSpPr>
          <p:cNvPr id="13" name="Text 2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Flow cytometry (aberrant phenotype) or RQ-PCR (BCR::ABL1, Ig/TCR rearrangements). NGS, ddPCR and next-generation flow still need standardisation.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MRD, age and BCR::ABL1 are CR1 criteria in every study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6"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600" b="1" dirty="0">
                          <a:solidFill>
                            <a:schemeClr val="tx1"/>
                          </a:solidFill>
                        </a:rPr>
                        <a:t>Study groups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 used to indicate allo-HCT in CR1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 &gt; 10⁻⁴ or detectable during/after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(cut points vary)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haematological CR, or MRD &gt; 10⁻³, after induction 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&gt; 30 × 10⁹/L in B-ALL or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hypodiploidy,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Initial CNS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T-precursor, mature T or pro-B phenotype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72 algorithm sends Ph+ and high-risk Ph− ALL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pic>
        <p:nvPicPr>
          <p:cNvPr id="6" name="Figure ch72-fig1" descr="Therapeutic algorithm for newly diagnosed Ph-negative and Ph-positive ALL (Fig. 72.1)">    </p:cNvPr>
          <p:cNvPicPr>
            <a:picLocks noChangeAspect="1"/>
          </p:cNvPicPr>
          <p:nvPr/>
        </p:nvPicPr>
        <p:blipFill>
          <a:blip r:embed="rId1"/>
          <a:stretch>
            <a:fillRect/>
          </a:stretch>
        </p:blipFill>
        <p:spPr>
          <a:xfrm>
            <a:off x="685800" y="2148840"/>
            <a:ext cx="6706758" cy="2702723"/>
          </a:xfrm>
          <a:prstGeom prst="rect">
            <a:avLst/>
          </a:prstGeom>
        </p:spPr>
      </p:pic>
      <p:sp>
        <p:nvSpPr>
          <p:cNvPr id="7" name="Text 2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Ph−: induction and consolidation ± rituximab; MRD ≥ 10⁻³ leads to blinatumomab; high risk goes to allo-HCT, standard risk to maintenance. Ph+: imatinib ± low-dose chemotherapy, allo-HCT, then TKI maintenance (Fig. 72.1).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rests on paediatric-style chemotherapy; Ph+ ALL on TKIs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600" b="1" dirty="0">
                          <a:solidFill>
                            <a:schemeClr val="tx1"/>
                          </a:solidFill>
                        </a:rPr>
                        <a:t>Phase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VCR, DEX, anthracycline ± L-asp,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low-dose VCR/DEX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90–95% younger; 70–90% older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90–100%; more intensive chemo adds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 courses: HD-MTX, Ara-C, L-asp, reinduction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HD-MTX (CNS) and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if CD20+; blinatumomab for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Dasatinib/ponatinib + blinatumomab (new)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allo-HCT; SR: 6-MP + MTX ≥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in CR1 for all, then TKI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Caveats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Nelarabine adds nothing in adult T-ALL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the only approved first-line TKI [verify]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RELAPSED AND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9"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302666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1st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early relapse (Gokbuget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2nd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18–25%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Reference for new agents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 (anti-CD22)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 VOD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 (CD3/CD19)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6 months 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nelarabine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Reasonable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Alone or with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Bortezomib-based; daratumumab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Small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when nothing else is left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5–10% of adults are refractory to induction; 30–50% of those in CR relapse. Any response is consolidated with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INOTUZUMAB AND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Inotuzumab salvage starts a 6–8-week clock to a VOD-safe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Inotuzumab salvage: CR about 80%</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VOD risk: &gt; 2 courses, liver impairment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Double-alkylator conditioning adds VOD risk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4"/>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within 6–8 weeks of starting salvage</a:t>
            </a:r>
            <a:endParaRPr lang="en-US" sz="1700" dirty="0"/>
          </a:p>
        </p:txBody>
      </p:sp>
      <p:sp>
        <p:nvSpPr>
          <p:cNvPr id="13" name="Text 3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 72 Key Points: after inotuzumab, avoid conditioning regimens associated with SOS/VOD. Diagnosis and treatment of SOS/VOD: Session 13.</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Anti-CD19 CAR-T is licensed by age and consolidated by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Relapsed/refractory ALL: CAR-T options (Ch. 72)</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age ≤ 25 y</a:t>
            </a:r>
            <a:endParaRPr lang="en-US" sz="1400" dirty="0"/>
          </a:p>
        </p:txBody>
      </p:sp>
      <p:sp>
        <p:nvSpPr>
          <p:cNvPr id="11" name="Box 38"/>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Tisagenlecleucel: CR 80–90%, RFS ~50%</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 26 y (EU)</a:t>
            </a:r>
            <a:endParaRPr lang="en-US" sz="1400" dirty="0"/>
          </a:p>
        </p:txBody>
      </p:sp>
      <p:sp>
        <p:nvSpPr>
          <p:cNvPr id="16" name="Box 41"/>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Brexu-cel: CR ~71%, median OS &gt; 2 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T-ALL</a:t>
            </a:r>
            <a:endParaRPr lang="en-US" sz="1400" dirty="0"/>
          </a:p>
        </p:txBody>
      </p:sp>
      <p:sp>
        <p:nvSpPr>
          <p:cNvPr id="21" name="Box 4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Anti-CD7 or anti-CD5 CAR-T: early trials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to consolidate response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standard for high-risk CR1 and for any later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038344"/>
                <a:gridCol w="5779008"/>
              </a:tblGrid>
              <a:tr h="0">
                <a:tc>
                  <a:txBody>
                    <a:bodyPr/>
                    <a:lstStyle/>
                    <a:p>
                      <a:pPr indent="0" marL="0">
                        <a:buNone/>
                      </a:pPr>
                      <a:r>
                        <a:rPr lang="en-US" sz="1800" b="1" dirty="0">
                          <a:solidFill>
                            <a:schemeClr val="tx1"/>
                          </a:solidFill>
                        </a:rPr>
                        <a:t>Disease status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Allo-HCT (Ch. 72)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High-risk ALL in CR1, including Ph+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 after induction failure, or CR2 and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Standard-risk CR1 with toxicity stopping chemo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(e.g., prolonged severe cytopenia)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Refractory or active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(Pavlu 2017)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Auto-HCT instead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Not standard; option if MRD-negative and allo-ineligible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Auto-HCT conditioning: fractionated TBI (e.g., 6 × 2 Gy) with CY and/or VP.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divides 12–13 Gy TBI myeloablation from reduced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4398264"/>
                <a:gridCol w="3300984"/>
              </a:tblGrid>
              <a:tr h="0">
                <a:tc>
                  <a:txBody>
                    <a:bodyPr/>
                    <a:lstStyle/>
                    <a:p>
                      <a:pPr indent="0" marL="0">
                        <a:buNone/>
                      </a:pPr>
                      <a:r>
                        <a:rPr lang="en-US" sz="1600" b="1" dirty="0">
                          <a:solidFill>
                            <a:schemeClr val="tx1"/>
                          </a:solidFill>
                        </a:rPr>
                        <a:t>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Note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fit, no comorbidity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TBI 12–13 Gy + CY or VP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Preferred; TBI likely lowers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BU (drug-level monitoring) +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give higher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45 y, or MAC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FLU/IV BU, FLU/MEL, FLU/TBI 8 Gy, FLU/TREO, 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standard regimen yet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Death in remission may exceed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MRD-neg after antibodies: reduce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inotuzumab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SOS/VOD-prone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 double alkylators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TBI/CY versus TBI/VP for sibling allografts in CR1 or CR2: Marks 2006.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DONOR, GRAFT,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matters less than prophylaxis matched to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72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MUD (≥ A, B, C, DR matched), MMUD or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Registry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Comparable for all donor types (Shem-Tov 2020; Nagler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unrelated with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 PBSC for GVHD; PBSC engrafts faster, less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PTCy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may improve OS and GRFS (Nagler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 or CSA + MMF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for all unrelated donors; more relapse in registries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Recommended for T-replete haplo; option for MUD, MMUD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PH+ ALL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needs a TKI after allo-HCT, prophylactic or MRD-triggered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 · Peters C, et al. EBMT Handbook 8th ed. 2024; Ch. 73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Ph+ ALL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Adults (Ch. 72)</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TKI, prophylactic or pre-emptive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Choose TKI by prior kinase mutation tests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EsPhALL</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once platelets &gt; 50,000</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Continue for 365 days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MRD-guided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for any MRD-positive result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Stop after two negative MRD results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fall with age and beyond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Note the mixed 2- and 3-year time points.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 · CH. 73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get allografts in CR1 only at high or very high relapse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 · Stelljes M, et al. EBMT Handbook 8th ed. 2024; Ch. 72</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849624"/>
                <a:gridCol w="4581144"/>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and AYA (Ch. 73)</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 and high-risk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High/very high risk only; MRD-neg at EOI excluded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Everyone 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T-ALL relapse; B-ALL very early/early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12–13 Gy MAC if &lt; 45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MAC above age 4 (FORUM)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&gt; MUD = MMUD =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preferred; &gt; 9/10 MUD now similar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MTX/MMF; ATG if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marrow: CSA alone; others CNI + MTX +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TKI, prophylactic or pre-emptive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365 days (EsPhALL)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TBI/VP16 gave about 20% better OS and EFS and lower NRM than chemo-conditioning above age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post-consolidation therapy for this B-ALL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man with Ph-negative B-ALL (WBC 12 × 10⁹/L, normal karyotype) reaches CR after induction I with MRD 5 × 10⁻⁴. After consolidation, RQ-PCR MRD is 3 × 10⁻⁴. A matched sibling is available. According to Ch. 72, what is the best next step?</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to 6-MP/MTX maintenance for 2 years</a:t>
            </a:r>
            <a:endParaRPr lang="en-US" sz="1800" dirty="0"/>
          </a:p>
          <a:p>
            <a:pPr indent="0" marL="0">
              <a:spcAft>
                <a:spcPts val="800"/>
              </a:spcAft>
              <a:buNone/>
            </a:pPr>
            <a:r>
              <a:rPr lang="en-US" sz="1800" dirty="0">
                <a:solidFill>
                  <a:schemeClr val="tx1"/>
                </a:solidFill>
              </a:rPr>
              <a:t>B.  Auto-HCT with fractionated TBI and CY</a:t>
            </a:r>
            <a:endParaRPr lang="en-US" sz="1800" dirty="0"/>
          </a:p>
          <a:p>
            <a:pPr indent="0" marL="0">
              <a:spcAft>
                <a:spcPts val="800"/>
              </a:spcAft>
              <a:buNone/>
            </a:pPr>
            <a:r>
              <a:rPr lang="en-US" sz="1800" dirty="0">
                <a:solidFill>
                  <a:schemeClr val="tx1"/>
                </a:solidFill>
              </a:rPr>
              <a:t>C.  Allo-HCT in CR1, with blinatumomab for persisting MRD</a:t>
            </a:r>
            <a:endParaRPr lang="en-US" sz="1800" dirty="0"/>
          </a:p>
          <a:p>
            <a:pPr indent="0" marL="0">
              <a:spcAft>
                <a:spcPts val="800"/>
              </a:spcAft>
              <a:buNone/>
            </a:pPr>
            <a:r>
              <a:rPr lang="en-US" sz="1800" dirty="0">
                <a:solidFill>
                  <a:schemeClr val="tx1"/>
                </a:solidFill>
              </a:rPr>
              <a:t>D.  Add nelarabine to the next consolidation block</a:t>
            </a:r>
            <a:endParaRPr lang="en-US" sz="1800" dirty="0"/>
          </a:p>
          <a:p>
            <a:pPr indent="0" marL="0">
              <a:spcAft>
                <a:spcPts val="800"/>
              </a:spcAft>
              <a:buNone/>
            </a:pPr>
            <a:r>
              <a:rPr lang="en-US" sz="1800" dirty="0">
                <a:solidFill>
                  <a:schemeClr val="tx1"/>
                </a:solidFill>
              </a:rPr>
              <a:t>E.  Repeat MRD in 3 months; transplant only if it exceeds 10⁻³</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persisting MRD after consolidation means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in CR1, with blinatumomab for persisting MRD</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MRD &gt; 10⁻⁴ during or after consolidation is a high-risk criterion used by all study groups. He should proceed to allo-HCT in CR1; blinatumomab gives high MRD response rates for persisting MRD. His WBC and post-induction MRD (below 10⁻³) were not high-risk; the later MRD decides.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allograft for this older Ph+ ALL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52-year-old woman with Ph+ ALL reaches complete molecular remission after imatinib with low-dose VCR/DEX and consolidation. A 10/10 matched unrelated donor is available and she has no major comorbidity. According to Ch. 72, which plan is most appropriate?</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TBI 12 Gy/CY myeloablation; no TKI after HCT</a:t>
            </a:r>
            <a:endParaRPr lang="en-US" sz="1800" dirty="0"/>
          </a:p>
          <a:p>
            <a:pPr indent="0" marL="0">
              <a:spcAft>
                <a:spcPts val="800"/>
              </a:spcAft>
              <a:buNone/>
            </a:pPr>
            <a:r>
              <a:rPr lang="en-US" sz="1800" dirty="0">
                <a:solidFill>
                  <a:schemeClr val="tx1"/>
                </a:solidFill>
              </a:rPr>
              <a:t>B.  FLU/TBI 8 Gy allo-HCT, then TKI chosen by prior mutation tests</a:t>
            </a:r>
            <a:endParaRPr lang="en-US" sz="1800" dirty="0"/>
          </a:p>
          <a:p>
            <a:pPr indent="0" marL="0">
              <a:spcAft>
                <a:spcPts val="800"/>
              </a:spcAft>
              <a:buNone/>
            </a:pPr>
            <a:r>
              <a:rPr lang="en-US" sz="1800" dirty="0">
                <a:solidFill>
                  <a:schemeClr val="tx1"/>
                </a:solidFill>
              </a:rPr>
              <a:t>C.  IV BU/CY myeloablation; TKI only at haematological relapse</a:t>
            </a:r>
            <a:endParaRPr lang="en-US" sz="1800" dirty="0"/>
          </a:p>
          <a:p>
            <a:pPr indent="0" marL="0">
              <a:spcAft>
                <a:spcPts val="800"/>
              </a:spcAft>
              <a:buNone/>
            </a:pPr>
            <a:r>
              <a:rPr lang="en-US" sz="1800" dirty="0">
                <a:solidFill>
                  <a:schemeClr val="tx1"/>
                </a:solidFill>
              </a:rPr>
              <a:t>D.  Auto-HCT, because she is in molecular remission</a:t>
            </a:r>
            <a:endParaRPr lang="en-US" sz="1800" dirty="0"/>
          </a:p>
          <a:p>
            <a:pPr indent="0" marL="0">
              <a:spcAft>
                <a:spcPts val="800"/>
              </a:spcAft>
              <a:buNone/>
            </a:pPr>
            <a:r>
              <a:rPr lang="en-US" sz="1800" dirty="0">
                <a:solidFill>
                  <a:schemeClr val="tx1"/>
                </a:solidFill>
              </a:rPr>
              <a:t>E.  Continue imatinib indefinitely without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reduced-intensity allo-HCT, then TKI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FLU/TBI 8 Gy allo-HCT, then TKI chosen by prior mutation tests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 Ph+ patients should be considered for allo-HCT in CR1. From age 45, dose-adapted or reduced conditioning such as FLU/TBI 8 Gy is advised. TKI maintenance after HCT, prophylactic or pre-emptive, is standard, and the choice of TKI should follow prior TK mutation analysis.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reaching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2.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a:p>
            <a:pPr indent="0" marL="0">
              <a:spcAft>
                <a:spcPts val="700"/>
              </a:spcAft>
              <a:buNone/>
            </a:pPr>
            <a:r>
              <a:rPr lang="en-US" sz="1100" dirty="0">
                <a:solidFill>
                  <a:schemeClr val="tx1"/>
                </a:solidFill>
              </a:rPr>
              <a:t>3.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Brüggemann et al. 2010: Leukemia. 2010;24(3):521–35. https://doi.org/10.1038/leu.2009.268. Epub 2009 Dec 24.</a:t>
            </a:r>
            <a:endParaRPr lang="en-US" sz="1100" dirty="0"/>
          </a:p>
          <a:p>
            <a:pPr indent="0" marL="0">
              <a:spcAft>
                <a:spcPts val="700"/>
              </a:spcAft>
              <a:buNone/>
            </a:pPr>
            <a:r>
              <a:rPr lang="en-US" sz="1100" dirty="0">
                <a:solidFill>
                  <a:schemeClr val="tx1"/>
                </a:solidFill>
              </a:rPr>
              <a:t>5. Maury S, Chevret S, Thomas X, et al. Rituximab in B-lineage adult acute lymphoblastic leukemia. N Engl J Med. 2016;375:1044–53.</a:t>
            </a:r>
            <a:endParaRPr lang="en-US" sz="1100" dirty="0"/>
          </a:p>
          <a:p>
            <a:pPr indent="0" marL="0">
              <a:spcAft>
                <a:spcPts val="700"/>
              </a:spcAft>
              <a:buNone/>
            </a:pPr>
            <a:r>
              <a:rPr lang="en-US" sz="1100" dirty="0">
                <a:solidFill>
                  <a:schemeClr val="tx1"/>
                </a:solidFill>
              </a:rPr>
              <a:t>6. Chalandon Y, Thomas X, Hayette S, et al. Randomized study of reduced-intensity chemotherapy combined with imatinib in adults with Ph-positive acute lymphoblastic leukemia. Blood. 2015;125:3711–9.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Pan J, Tan Y, Wang G, et al. Donor-derived CD7 chimeric antigen receptor T cells for T-cell acute lymphoblastic leukemia: first-in-human, Phase I Trial. J Clin Oncol. 2021;39:2340–3351.</a:t>
            </a:r>
            <a:endParaRPr lang="en-US" sz="1100" dirty="0"/>
          </a:p>
          <a:p>
            <a:pPr indent="0" marL="0">
              <a:spcAft>
                <a:spcPts val="700"/>
              </a:spcAft>
              <a:buNone/>
            </a:pPr>
            <a:r>
              <a:rPr lang="en-US" sz="1100" dirty="0">
                <a:solidFill>
                  <a:schemeClr val="tx1"/>
                </a:solidFill>
              </a:rPr>
              <a:t>11. Pavlu J, Labopin M, Zoellner AK, et al. Allogeneic hematopoietic cell transplantation for primary refractory acute lymphoblastic leukemia: a report from the acute leukemia working party of the EBMT. Cancer. 2017;123:1965–70.</a:t>
            </a:r>
            <a:endParaRPr lang="en-US" sz="1100" dirty="0"/>
          </a:p>
          <a:p>
            <a:pPr indent="0" marL="0">
              <a:spcAft>
                <a:spcPts val="700"/>
              </a:spcAft>
              <a:buNone/>
            </a:pPr>
            <a:r>
              <a:rPr lang="en-US" sz="1100" dirty="0">
                <a:solidFill>
                  <a:schemeClr val="tx1"/>
                </a:solidFill>
              </a:rPr>
              <a:t>12.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Shem-Tov N, Peczynski C, Labopin M, et al. Haploidentical vs. unrelated allogeneic stem cell transplantation for acute lymphoblastic leukemia in first complete remission: on behalf of the ALWP of the EBMT. Leukemia. 2020;34:283–92.</a:t>
            </a:r>
            <a:endParaRPr lang="en-US" sz="1100" dirty="0"/>
          </a:p>
          <a:p>
            <a:pPr indent="0" marL="0">
              <a:spcAft>
                <a:spcPts val="700"/>
              </a:spcAft>
              <a:buNone/>
            </a:pPr>
            <a:r>
              <a:rPr lang="en-US" sz="1100" dirty="0">
                <a:solidFill>
                  <a:schemeClr val="tx1"/>
                </a:solidFill>
              </a:rPr>
              <a:t>14. Nagler A, Labopin M, Houhou M, et al. Outcome of haploidentical versus matched sibling donors in hematopoietic stem cell transplantation for adult patients with acute lymphoblastic leukemia: a study from the Acute Leukemia Working Party of the European Society for Blood and Marrow Transplantation. J Hematol Oncol. 2021;14:53.</a:t>
            </a:r>
            <a:endParaRPr lang="en-US" sz="1100" dirty="0"/>
          </a:p>
          <a:p>
            <a:pPr indent="0" marL="0">
              <a:spcAft>
                <a:spcPts val="700"/>
              </a:spcAft>
              <a:buNone/>
            </a:pPr>
            <a:r>
              <a:rPr lang="en-US" sz="1100" dirty="0">
                <a:solidFill>
                  <a:schemeClr val="tx1"/>
                </a:solidFill>
              </a:rPr>
              <a:t>15. Nagler 2020: Leukemia. 2020;34(10):2766–75. https://doi.org/10.1038/s41375-020-0850-9. Epub 2020 May 11. PMID: 32393841.</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17.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PAEDIATRIC CR1 (TABLE 73.1)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AIEOP-BFM ALL 2009 ties paediatric CR1 allografts to PCR-MRD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7" name="Table 8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1645920"/>
                <a:gridCol w="1645920"/>
                <a:gridCol w="2203704"/>
                <a:gridCol w="1837944"/>
              </a:tblGrid>
              <a:tr h="0">
                <a:tc>
                  <a:txBody>
                    <a:bodyPr/>
                    <a:lstStyle/>
                    <a:p>
                      <a:pPr indent="0" marL="0">
                        <a:buNone/>
                      </a:pPr>
                      <a:r>
                        <a:rPr lang="en-US" sz="1700" b="1" dirty="0">
                          <a:solidFill>
                            <a:schemeClr val="tx1"/>
                          </a:solidFill>
                        </a:rPr>
                        <a:t>Feature (hierarchical)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MRD-SR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MRD-MR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10⁻³ to &lt;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CR on day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t(4;11)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Hypodiploidy &lt; 44 chromosomes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PPR +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None of the above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4"/>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MD: matched sibling or unrelated donor; MMD: matched or mismatched donor. FCM-MRD does not change the indication. *Discuss with the study coordinator.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PAEDIATRIC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B-ALL relapse and any T-ALL relapse need an allograft in children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221224"/>
                <a:gridCol w="2423160"/>
                <a:gridCol w="3172968"/>
              </a:tblGrid>
              <a:tr h="0">
                <a:tc>
                  <a:txBody>
                    <a:bodyPr/>
                    <a:lstStyle/>
                    <a:p>
                      <a:pPr indent="0" marL="0">
                        <a:buNone/>
                      </a:pPr>
                      <a:r>
                        <a:rPr lang="en-US" sz="1700" b="1" dirty="0">
                          <a:solidFill>
                            <a:schemeClr val="tx1"/>
                          </a:solidFill>
                        </a:rPr>
                        <a:t>Relapse (Ch. 73, IntReALL)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Donor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T-ALL, any time, any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very early, marrow or extramedullary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early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late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Third or later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if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in morphological remission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Except well-designed trials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86"/>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87"/>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88"/>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randomised study: chemotherapy superior. Ph+ in molecular CR: survival similar to allo-HCT</a:t>
            </a:r>
            <a:endParaRPr lang="en-US" sz="1800" dirty="0"/>
          </a:p>
          <a:p>
            <a:pPr indent="0" marL="0">
              <a:buNone/>
            </a:pPr>
            <a:r>
              <a:rPr lang="en-US" sz="1800" i="1" dirty="0">
                <a:solidFill>
                  <a:schemeClr val="tx1"/>
                </a:solidFill>
              </a:rPr>
              <a:t>Retrospective; &gt; 55 y similar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acute lymphoblastic leukaemia</dc:title>
  <dc:subject>PptxGenJS Presentation</dc:subject>
  <dc:creator>Hsieh-Ting Lin, MD</dc:creator>
  <cp:lastModifiedBy>Hsieh-Ting Lin, MD</cp:lastModifiedBy>
  <cp:revision>1</cp:revision>
  <dcterms:created xsi:type="dcterms:W3CDTF">2026-10-09T16:07:36Z</dcterms:created>
  <dcterms:modified xsi:type="dcterms:W3CDTF">2026-10-09T16:07:36Z</dcterms:modified>
</cp:coreProperties>
</file>