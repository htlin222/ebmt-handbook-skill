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cb8a4c-e253-c6ed-0e49-8eab6d104fae}">
          <p14:sldIdLst>
            <p14:sldId id="256"/>
            <p14:sldId id="257"/>
          </p14:sldIdLst>
        </p14:section>
        <p14:section name="Thrombosis: risk and prophylaxis" id="{1a4012b2-1dcd-f5f8-cbbf-e69f995a3f91}">
          <p14:sldIdLst>
            <p14:sldId id="258"/>
            <p14:sldId id="259"/>
            <p14:sldId id="260"/>
            <p14:sldId id="261"/>
            <p14:sldId id="262"/>
          </p14:sldIdLst>
        </p14:section>
        <p14:section name="Treating VTE and CRT; bleeding" id="{626dc42b-6e34-58ba-a2a2-03275efbe739}">
          <p14:sldIdLst>
            <p14:sldId id="263"/>
            <p14:sldId id="264"/>
            <p14:sldId id="265"/>
            <p14:sldId id="266"/>
          </p14:sldIdLst>
        </p14:section>
        <p14:section name="Haemorrhagic cystitis and kidney" id="{72c87b6a-4f85-b24e-f159-11eee042e032}">
          <p14:sldIdLst>
            <p14:sldId id="267"/>
            <p14:sldId id="268"/>
            <p14:sldId id="269"/>
            <p14:sldId id="270"/>
            <p14:sldId id="271"/>
          </p14:sldIdLst>
        </p14:section>
        <p14:section name="Board questions" id="{142184c9-af3a-cc17-1329-f703ec1d2059}">
          <p14:sldIdLst>
            <p14:sldId id="272"/>
            <p14:sldId id="273"/>
            <p14:sldId id="274"/>
            <p14:sldId id="275"/>
            <p14:sldId id="276"/>
            <p14:sldId id="277"/>
          </p14:sldIdLst>
        </p14:section>
        <p14:section name="References" id="{ef419aec-452e-9db5-d075-696122e67439}">
          <p14:sldIdLst>
            <p14:sldId id="278"/>
            <p14:sldId id="279"/>
            <p14:sldId id="280"/>
          </p14:sldIdLst>
        </p14:section>
        <p14:section name="Backup" id="{e90e413b-5bfe-7f90-f7f7-b137221b75b2}">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各位好，今天是第 14 堂，主題是移植後的出血、血栓、hemorrhagic cystitis 和腎功能異常，內容來自 EBMT Handbook 第八版第 40 章和第 51 章。</a:t>
            </a:r>
          </a:p>
          <a:p>
            <a:pPr>
              <a:spcAft>
                <a:spcPts val="600"/>
              </a:spcAft>
            </a:pPr>
            <a:r>
              <a:rPr lang="en-US" dirty="0"/>
              <a:t>SOS/VOD 和 TA-TMA 雖然也算血栓性併發症，第 13 堂已經講過，今天只帶過。前半段以第 40 章為主，後半段是第 51 章，最後一樣留三題考題。</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今天分四段。第一段是血栓的風險和預防，包括出血和血栓這兩個互相競爭的風險、哪些病人才需要預防性抗凝、導管要不要預防，以及兩個新的 VTE risk score。</a:t>
            </a:r>
          </a:p>
          <a:p>
            <a:pPr>
              <a:spcAft>
                <a:spcPts val="600"/>
              </a:spcAft>
            </a:pPr>
            <a:r>
              <a:rPr lang="en-US" dirty="0"/>
              <a:t>第二段講 VTE 和 catheter-related thrombosis 的治療，重點是血小板 50 和 GFR 30 這兩個門檻，再加上移植早期的出血和 diffuse alveolar hemorrhage。</a:t>
            </a:r>
          </a:p>
          <a:p>
            <a:pPr>
              <a:spcAft>
                <a:spcPts val="600"/>
              </a:spcAft>
            </a:pPr>
            <a:r>
              <a:rPr lang="en-US" dirty="0"/>
              <a:t>第三段換到第 51 章，早發型和晚發型 hemorrhagic cystitis、BK virus 的診斷標準、cidofovir 的幾種給法，最後是 AKI 的嚴重度分級。</a:t>
            </a:r>
          </a:p>
          <a:p>
            <a:pPr>
              <a:spcAft>
                <a:spcPts val="600"/>
              </a:spcAft>
            </a:pPr>
            <a:r>
              <a:rPr lang="en-US" dirty="0"/>
              <a:t>最後三題考題。CAR-T 後的出血血栓，和 AKI 的病因與危險因子，放在 backup。</a:t>
            </a:r>
          </a:p>
          <a:p>
            <a:pPr>
              <a:spcAft>
                <a:spcPts val="600"/>
              </a:spcAft>
            </a:pPr>
            <a:r>
              <a:rPr lang="en-US" dirty="0"/>
              <a:t>第 51 章篇幅不長，但 BK virus 的診斷門檻和 cidofovir 的給法，是很容易出題的地方。</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 至 2:30]</a:t>
            </a:r>
          </a:p>
          <a:p>
            <a:pPr>
              <a:spcAft>
                <a:spcPts val="600"/>
              </a:spcAft>
            </a:pPr>
            <a:r>
              <a:rPr lang="en-US" dirty="0"/>
              <a:t>先看整體。移植病人同時站在血栓和出血兩邊，左欄這些危險因子是兩邊共用的，包括原本的惡性疾病、血小板低下、myeloablative conditioning 和 IMiD、GVHD 與感染，還有中心靜脈導管和長期臥床。</a:t>
            </a:r>
          </a:p>
          <a:p>
            <a:pPr>
              <a:spcAft>
                <a:spcPts val="600"/>
              </a:spcAft>
            </a:pPr>
            <a:r>
              <a:rPr lang="en-US" dirty="0"/>
              <a:t>中間是凝血系統本身的改變。移植後 von Willebrand factor 上升、血小板黏附增加、thrombin 生成增加，antithrombin 和 protein C 下降，整體偏向高凝狀態。</a:t>
            </a:r>
          </a:p>
          <a:p>
            <a:pPr>
              <a:spcAft>
                <a:spcPts val="600"/>
              </a:spcAft>
            </a:pPr>
            <a:r>
              <a:rPr lang="en-US" dirty="0"/>
              <a:t>右欄是臨床上看到的結果。血栓這一側最常見的是 VTE，大部分和導管有關，SOS/VOD 和 TA-TMA 留給第 13 堂。出血這一側以腸胃道和呼吸道最多，泌尿道的 hemorrhagic cystitis 則是今天後半段的主角。</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2:30 至 4:00]</a:t>
            </a:r>
          </a:p>
          <a:p>
            <a:pPr>
              <a:spcAft>
                <a:spcPts val="600"/>
              </a:spcAft>
            </a:pPr>
            <a:r>
              <a:rPr lang="en-US" dirty="0"/>
              <a:t>這張列出書中引用的幾個系列。最重要的是 Gerber 2008，1514 位住院移植病人，有症狀的 VTE 是 4.6%，其中 73% 和導管有關。同一群人，有臨床意義的出血 15.2%，致命出血 3.6%。出血比血栓多，也更致命，這是整章抗凝決策的出發點。</a:t>
            </a:r>
          </a:p>
          <a:p>
            <a:pPr>
              <a:spcAft>
                <a:spcPts val="600"/>
              </a:spcAft>
            </a:pPr>
            <a:r>
              <a:rPr lang="en-US" dirty="0"/>
              <a:t>Pihusch 2002 的 447 位骨髓移植病人，即使為了預防 SOS 每天打 heparin，前 100 天仍有 5.7% 發生 VTE。一年 VTE 率 auto 4.8%，allo 沒有 GVHD 6.8%，allo 合併 GVHD 8.1%，allo 和 GVHD 一路往上加。門診移植的一年 VTE 是 3.7%。Cortelezzi 收的帶導管病人，導管相關血栓 12%，其中八成血小板低於 50，血小板低只帶來不顯著的下降趨勢，並不能當作保護。</a:t>
            </a:r>
          </a:p>
          <a:p>
            <a:pPr>
              <a:spcAft>
                <a:spcPts val="600"/>
              </a:spcAft>
            </a:pPr>
            <a:r>
              <a:rPr lang="en-US" dirty="0"/>
              <a:t>時間點兩邊相反。出血集中在早期血小板最低的時候，血栓多在 engraftment 之後，過去有 VTE 或有 GVHD 的人風險更高。</a:t>
            </a:r>
          </a:p>
          <a:p>
            <a:pPr>
              <a:spcAft>
                <a:spcPts val="600"/>
              </a:spcAft>
            </a:pPr>
            <a:r>
              <a:rPr lang="en-US" dirty="0"/>
              <a:t>考試問的通常是方向，不是精確數字。出血大約是 VTE 的三倍，VTE 七成以上和導管有關，allo 高於 auto，有 GVHD 再更高，記住這幾個方向就足以應付大部分題目。</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4:00 至 5:30]</a:t>
            </a:r>
          </a:p>
          <a:p>
            <a:pPr>
              <a:spcAft>
                <a:spcPts val="600"/>
              </a:spcAft>
            </a:pPr>
            <a:r>
              <a:rPr lang="en-US" dirty="0"/>
              <a:t>因為出血風險比較高，書上原則上不建議血小板低的移植病人常規打預防性抗凝，只有兩群例外。</a:t>
            </a:r>
          </a:p>
          <a:p>
            <a:pPr>
              <a:spcAft>
                <a:spcPts val="600"/>
              </a:spcAft>
            </a:pPr>
            <a:r>
              <a:rPr lang="en-US" dirty="0"/>
              <a:t>左邊是用 thalidomide 或 lenalidomide 的 myeloma。Myeloma 本身血栓風險 5 到 10%，加上 IMiD 會再翻好幾倍，而移植後的 consolidation 和 maintenance 又常用 lenalidomide。低風險的人用 aspirin，超過一個 VTE 危險因子就用 LMWH，預防劑量 40 mg 皮下一天一次。</a:t>
            </a:r>
          </a:p>
          <a:p>
            <a:pPr>
              <a:spcAft>
                <a:spcPts val="600"/>
              </a:spcAft>
            </a:pPr>
            <a:r>
              <a:rPr lang="en-US" dirty="0"/>
              <a:t>中間是住院或手術後的病人，血小板大於 50 × 10⁹/L 且沒有出血，給預防劑量的 UFH 或 LMWH。活動量差、過去有 VTE 但沒有長期抗凝的人獲益最大。非常高風險的病人，書上放寬到血小板 30 以上也可以考慮，前提是權衡過出血。</a:t>
            </a:r>
          </a:p>
          <a:p>
            <a:pPr>
              <a:spcAft>
                <a:spcPts val="600"/>
              </a:spcAft>
            </a:pPr>
            <a:r>
              <a:rPr lang="en-US" dirty="0"/>
              <a:t>右邊是門診帶著導管的病人，不建議常規預防。50 這個門檻考試很常出，題目常給 40 左右的數字，問要不要開始預防。</a:t>
            </a:r>
          </a:p>
          <a:p>
            <a:pPr>
              <a:spcAft>
                <a:spcPts val="600"/>
              </a:spcAft>
            </a:pPr>
            <a:r>
              <a:rPr lang="en-US" dirty="0"/>
              <a:t>Myeloma 這一群的細節，包括 maintenance 的選擇，第 27 堂會再講；今天只要記得 IMiD 是移植病人少數明確需要預防的情境。另外 Pihusch 的資料顯示，就算每天打 heparin 預防 SOS，VTE 仍然會發生，預防並不等於零風險。</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5:30 至 7:00]</a:t>
            </a:r>
          </a:p>
          <a:p>
            <a:pPr>
              <a:spcAft>
                <a:spcPts val="600"/>
              </a:spcAft>
            </a:pPr>
            <a:r>
              <a:rPr lang="en-US" dirty="0"/>
              <a:t>移植病人沒有自己的隨機試驗，預防的證據都是從癌症病人借來的。PROTECHT 和 SAVE-ONCO 讓 VTE 的相對風險顯著下降，但絕對風險差很小，也沒有存活好處，所以 ASCO 不建議門診癌症病人常規預防。內科住院病人有 Samama 的 enoxaparin 試驗支持，但沒有在移植族群驗證過。</a:t>
            </a:r>
          </a:p>
          <a:p>
            <a:pPr>
              <a:spcAft>
                <a:spcPts val="600"/>
              </a:spcAft>
            </a:pPr>
            <a:r>
              <a:rPr lang="en-US" dirty="0"/>
              <a:t>中間三行是 myeloma 預防的根據。Barlogie 的 thalidomide 研究，即使用了 LMWH，誘導期 VTE 仍有 24%，consolidation 期 6%。McCarthy 的 lenalidomide 維持治療沒有 VTE，但這些病人都有預防性抗凝。Palumbo 的隨機試驗比較 aspirin、warfarin 和 enoxaparin，加上 ASCO 指引，構成 IMiD 預防的建議。</a:t>
            </a:r>
          </a:p>
          <a:p>
            <a:pPr>
              <a:spcAft>
                <a:spcPts val="600"/>
              </a:spcAft>
            </a:pPr>
            <a:r>
              <a:rPr lang="en-US" dirty="0"/>
              <a:t>最下面兩行是導管。WARP 收了 1590 人，調整劑量 warfarin 讓 INR 維持 1.5 到 2，有症狀的 CRT 從 5.9% 降到 2.7%，但 major bleeding 增加。後來的 meta-analysis 認為 warfarin 和 LMWH 都沒有顯著減少 CRT，所以不常規預防。</a:t>
            </a:r>
          </a:p>
          <a:p>
            <a:pPr>
              <a:spcAft>
                <a:spcPts val="600"/>
              </a:spcAft>
            </a:pPr>
            <a:r>
              <a:rPr lang="en-US" dirty="0"/>
              <a:t>這張的訊息是，移植病人的預防建議其實是外推出來的。題目若問哪一群有隨機試驗證據，答案會落在癌症病人或內科住院病人，而不是移植病人。</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7:00 至 8:30]</a:t>
            </a:r>
          </a:p>
          <a:p>
            <a:pPr>
              <a:spcAft>
                <a:spcPts val="600"/>
              </a:spcAft>
            </a:pPr>
            <a:r>
              <a:rPr lang="en-US" dirty="0"/>
              <a:t>血小板恢復之後要挑出哪些人值得預防，近年有兩個 risk model。</a:t>
            </a:r>
          </a:p>
          <a:p>
            <a:pPr>
              <a:spcAft>
                <a:spcPts val="600"/>
              </a:spcAft>
            </a:pPr>
            <a:r>
              <a:rPr lang="en-US" dirty="0"/>
              <a:t>左邊是 Martens 2021 的 HIGH-2-LOW，在 allo 移植後 day 30 評估，七個因子各一分，包括過去的 CRT、day 30 還在住院、grade 3 到 4 的 GVHD、過去的 PE 或下肢 DVT、lymphoma、BMI 35 以上，以及白血球 11 × 10⁹/L 以上。零分低風險，一分中風險，兩分以上高風險，day 30 到 100 的 VTE 分別是 1.5%、3.6% 和 10.3%。</a:t>
            </a:r>
          </a:p>
          <a:p>
            <a:pPr>
              <a:spcAft>
                <a:spcPts val="600"/>
              </a:spcAft>
            </a:pPr>
            <a:r>
              <a:rPr lang="en-US" dirty="0"/>
              <a:t>右邊是 Gangaraju 2021 的 HiGHS2，看的是移植後兩年的存活者。Stroke 和 PBSC 各 3 分，高血壓和男性各 2 分，chronic GVHD 1 分，5 分以上是高風險，十年 VTE 9.3%，低於 5 分是 2.4%。</a:t>
            </a:r>
          </a:p>
          <a:p>
            <a:pPr>
              <a:spcAft>
                <a:spcPts val="600"/>
              </a:spcAft>
            </a:pPr>
            <a:r>
              <a:rPr lang="en-US" dirty="0"/>
              <a:t>兩個分數的時間點完全不同，一個管 day 30 到 100，一個管長期存活者，題目若給時間點，先對上是哪一個分數。書上把它們定位成協助挑選可能受益於預防的病人，而不是已經驗證過的用藥門檻。</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8:30 至 10:30]</a:t>
            </a:r>
          </a:p>
          <a:p>
            <a:pPr>
              <a:spcAft>
                <a:spcPts val="600"/>
              </a:spcAft>
            </a:pPr>
            <a:r>
              <a:rPr lang="en-US" dirty="0"/>
              <a:t>確診 VTE 從症狀開始。肢體腫、紅、壓痛做 venous duplex ultrasound；胸痛、喘或不明原因心跳快，做 pulmonary angiography。確診後先評估出血風險，看出血病史和血小板數。</a:t>
            </a:r>
          </a:p>
          <a:p>
            <a:pPr>
              <a:spcAft>
                <a:spcPts val="600"/>
              </a:spcAft>
            </a:pPr>
            <a:r>
              <a:rPr lang="en-US" dirty="0"/>
              <a:t>沒有出血、血小板大於 50 × 10⁹/L，就開始 therapeutic 的 LMWH 或 UFH。LMWH 限用在 GFR 大於 30 mL/min，腎功能差或出血風險高的時候改用 UFH。移植病人常同時用 calcineurin inhibitor、amphotericin 這些腎毒性藥物，GFR 這一行在病房非常實用，考題也愛把 GFR 25 和 LMWH 放在同一題。</a:t>
            </a:r>
          </a:p>
          <a:p>
            <a:pPr>
              <a:spcAft>
                <a:spcPts val="600"/>
              </a:spcAft>
            </a:pPr>
            <a:r>
              <a:rPr lang="en-US" dirty="0"/>
              <a:t>維持治療繼續 LMWH，LMWH 有禁忌時改 warfarin。DOAC 要小心，Table 40.1 寫目前不建議用在移植病人，內文則說血小板穩定大於 50、近期沒有出血、腎功能足夠時，可以個案考慮。考試問標準答案時，選 LMWH。</a:t>
            </a:r>
          </a:p>
          <a:p>
            <a:pPr>
              <a:spcAft>
                <a:spcPts val="600"/>
              </a:spcAft>
            </a:pPr>
            <a:r>
              <a:rPr lang="en-US" dirty="0"/>
              <a:t>療程三到六個月，惡性疾病或 IMiD 還在就延長，取較長者，但復發又血小板低的病人常常做不到。IVC filter 只用在急性 DVT 又不能抗凝，或抗凝中仍發生 PE 的病人，能抗凝之後盡快移除，也不能拿來做 PE 的初級預防。</a:t>
            </a:r>
          </a:p>
          <a:p>
            <a:pPr>
              <a:spcAft>
                <a:spcPts val="600"/>
              </a:spcAft>
            </a:pPr>
            <a:r>
              <a:rPr lang="en-US" dirty="0"/>
              <a:t>臨床上的順序可以記成三步，先看血小板有沒有過 50，再看 GFR 有沒有過 30，最後依惡性疾病和 IMiD 是否持續決定療程。題目給的數字通常就落在這兩個門檻附近，例如血小板 45 或 GFR 28，要一眼看出它在門檻的哪一邊。</a:t>
            </a:r>
          </a:p>
          <a:p>
            <a:pPr>
              <a:spcAft>
                <a:spcPts val="600"/>
              </a:spcAft>
            </a:pPr>
            <a:r>
              <a:rPr lang="en-US" b="1" dirty="0"/>
              <a:t>講者提醒（不念出來）：</a:t>
            </a:r>
          </a:p>
          <a:p>
            <a:pPr>
              <a:spcAft>
                <a:spcPts val="600"/>
              </a:spcAft>
            </a:pPr>
            <a:r>
              <a:rPr lang="en-US" dirty="0"/>
              <a:t>- Ch. 40 is internally inconsistent on DOACs: Table 40.1 says 'not currently recommended in patients undergoing HCT'; §40.2.3 allows case-by-case use (platelets stably &gt; 50 × 10⁹/L, no recent bleeding, adequate renal function). The slide states both.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10:30 至 12:00]</a:t>
            </a:r>
          </a:p>
          <a:p>
            <a:pPr>
              <a:spcAft>
                <a:spcPts val="600"/>
              </a:spcAft>
            </a:pPr>
            <a:r>
              <a:rPr lang="en-US" dirty="0"/>
              <a:t>移植病人發生 VTE 時，血小板常常不夠高。這張把書上的做法依血小板分成四條路。</a:t>
            </a:r>
          </a:p>
          <a:p>
            <a:pPr>
              <a:spcAft>
                <a:spcPts val="600"/>
              </a:spcAft>
            </a:pPr>
            <a:r>
              <a:rPr lang="en-US" dirty="0"/>
              <a:t>血小板大於 50、沒有活動性出血，就是上一張的標準做法，全劑量 LMWH 或 UFH。</a:t>
            </a:r>
          </a:p>
          <a:p>
            <a:pPr>
              <a:spcAft>
                <a:spcPts val="600"/>
              </a:spcAft>
            </a:pPr>
            <a:r>
              <a:rPr lang="en-US" dirty="0"/>
              <a:t>血小板在 25 到 50 之間，有些中心用減量的 LMWH。書上說在權衡這個病人的抗凝好處和出血風險之後，這可以是可行的策略，證據來自小型系列。</a:t>
            </a:r>
          </a:p>
          <a:p>
            <a:pPr>
              <a:spcAft>
                <a:spcPts val="600"/>
              </a:spcAft>
            </a:pPr>
            <a:r>
              <a:rPr lang="en-US" dirty="0"/>
              <a:t>第三條是本頁重點。血栓很大又有症狀，但血小板很低，作者的做法是輸血小板，把數字拉到 50 以上，再比較安全地給 heparin。這是少數為了抗凝而主動輸血小板的情境。</a:t>
            </a:r>
          </a:p>
          <a:p>
            <a:pPr>
              <a:spcAft>
                <a:spcPts val="600"/>
              </a:spcAft>
            </a:pPr>
            <a:r>
              <a:rPr lang="en-US" dirty="0"/>
              <a:t>最右邊，急性 DVT 但完全不能抗凝，才考慮 IVC filter，等可以抗凝就要移除。整張圖只有 50 和 25 兩個數字，記住它們就能推回整個流程。</a:t>
            </a:r>
          </a:p>
          <a:p>
            <a:pPr>
              <a:spcAft>
                <a:spcPts val="600"/>
              </a:spcAft>
            </a:pPr>
            <a:r>
              <a:rPr lang="en-US" dirty="0"/>
              <a:t>減量 LMWH 和輸血小板這兩條，書上都寫成某些中心的做法或作者的經驗，也沒有給減量的確切劑量，所以考題比較可能考 50 這個門檻。</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12:00 至 13:30]</a:t>
            </a:r>
          </a:p>
          <a:p>
            <a:pPr>
              <a:spcAft>
                <a:spcPts val="600"/>
              </a:spcAft>
            </a:pPr>
            <a:r>
              <a:rPr lang="en-US" dirty="0"/>
              <a:t>導管相關血栓很常見，但造成 PE 和死亡的比率低，所以治療目標比較實際，緩解症狀、避免往中央靜脈延伸、保住血管通路，並預防日後的慢性靜脈狹窄。</a:t>
            </a:r>
          </a:p>
          <a:p>
            <a:pPr>
              <a:spcAft>
                <a:spcPts val="600"/>
              </a:spcAft>
            </a:pPr>
            <a:r>
              <a:rPr lang="en-US" dirty="0"/>
              <a:t>沒有證據顯示拔管能改善結果，所以只有管子不通、不再需要或懷疑感染才拔。想保住管子時，catheter-directed thrombolysis 相對安全有效，可以試試看。</a:t>
            </a:r>
          </a:p>
          <a:p>
            <a:pPr>
              <a:spcAft>
                <a:spcPts val="600"/>
              </a:spcAft>
            </a:pPr>
            <a:r>
              <a:rPr lang="en-US" dirty="0"/>
              <a:t>不論拔不拔，急性 CRT 都要抗凝。作者偏好 LMWH，有禁忌才用 vitamin K antagonist。Kovacs 2007 收了 78 位病人，全劑量 dalteparin 再橋接 warfarin，管子留著，三個月內沒有新的血栓事件，57% 的導管仍然可用。</a:t>
            </a:r>
          </a:p>
          <a:p>
            <a:pPr>
              <a:spcAft>
                <a:spcPts val="600"/>
              </a:spcAft>
            </a:pPr>
            <a:r>
              <a:rPr lang="en-US" dirty="0"/>
              <a:t>療程依 ACCP 指引，三個月或到拔管為止，取較長者，也有醫師在拔管後再多抗凝一到兩週。考題常見的錯誤選項是拔管之後就不用抗凝，這和書上的建議剛好相反。</a:t>
            </a:r>
          </a:p>
          <a:p>
            <a:pPr>
              <a:spcAft>
                <a:spcPts val="600"/>
              </a:spcAft>
            </a:pPr>
            <a:r>
              <a:rPr lang="en-US" dirty="0"/>
              <a:t>VTE 的一般療程是三到六個月，CRT 則和導管綁在一起，管子留多久就抗凝多久，最少三個月，兩種療程不要混在一起。門診移植病人帶管的時間長，這一點特別重要。</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13:30 至 15:00]</a:t>
            </a:r>
          </a:p>
          <a:p>
            <a:pPr>
              <a:spcAft>
                <a:spcPts val="600"/>
              </a:spcAft>
            </a:pPr>
            <a:r>
              <a:rPr lang="en-US" dirty="0"/>
              <a:t>接著是出血。各系列的出血率 15.2 到 27.1%，危及生命或致命的 1.1 到 3.6%，多半發生在早期血小板最低的時候。</a:t>
            </a:r>
          </a:p>
          <a:p>
            <a:pPr>
              <a:spcAft>
                <a:spcPts val="600"/>
              </a:spcAft>
            </a:pPr>
            <a:r>
              <a:rPr lang="en-US" dirty="0"/>
              <a:t>Gerber 的分析裡，最強的預測因子是 day 1 到 180 之間開始 therapeutic anticoagulation，odds ratio 3.1，GVHD 是 2.4，auto 相對 allo 則有保護作用，odds ratio 0.46。出血可以是腸道 GVHD 的腸胃道出血、hemorrhagic cystitis，也可以是自發性。</a:t>
            </a:r>
          </a:p>
          <a:p>
            <a:pPr>
              <a:spcAft>
                <a:spcPts val="600"/>
              </a:spcAft>
            </a:pPr>
            <a:r>
              <a:rPr lang="en-US" dirty="0"/>
              <a:t>Diffuse alveolar hemorrhage 發生在 2 到 14% 的移植病人，表現是進行性低血氧、肺部浸潤和血性的 BAL，血小板低和 acute GVHD 的人比較多，死亡率約 80%，範圍 64 到 100%。血小板輸注、全身類固醇、antifibrinolytics 和 recombinant factor VIIa 都有人用，結果不一致。DAH 的診斷細節第 15 堂會再講。</a:t>
            </a:r>
          </a:p>
          <a:p>
            <a:pPr>
              <a:spcAft>
                <a:spcPts val="600"/>
              </a:spcAft>
            </a:pPr>
            <a:r>
              <a:rPr lang="en-US" dirty="0"/>
              <a:t>預防性血小板輸注的慣例是低於 10 × 10⁹/L 就輸，不過預防性優於治療性輸注的證據只有低到中等。</a:t>
            </a:r>
          </a:p>
          <a:p>
            <a:pPr>
              <a:spcAft>
                <a:spcPts val="600"/>
              </a:spcAft>
            </a:pPr>
            <a:r>
              <a:rPr lang="en-US" dirty="0"/>
              <a:t>Therapeutic anticoagulation 本身就是出血最強的預測因子，這又回到開頭那張，出血比血栓多，所以每次開始或繼續抗凝，都要重新看一次血小板。</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15:00 至 17:00]</a:t>
            </a:r>
          </a:p>
          <a:p>
            <a:pPr>
              <a:spcAft>
                <a:spcPts val="600"/>
              </a:spcAft>
            </a:pPr>
            <a:r>
              <a:rPr lang="en-US" dirty="0"/>
              <a:t>Hemorrhagic cystitis 依發生時間分兩型。早發型在 conditioning 期間或結束後 48 小時內出現，是藥物代謝物和放射線直接傷害膀胱黏膜，典型就是高劑量 CY 的 acrolein。現在發生率小於 3%，因為 CY 的預防做得很好。不論 CY 用在 conditioning 還是 PTCy，都靠 hyperhydration 加上連續靜脈 mesna，減少膀胱黏膜接觸 acrolein。用兩路或三路導尿管做膀胱灌洗並沒有比 hyperhydration 好，又侵入、又不舒服，所以不建議。</a:t>
            </a:r>
          </a:p>
          <a:p>
            <a:pPr>
              <a:spcAft>
                <a:spcPts val="600"/>
              </a:spcAft>
            </a:pPr>
            <a:r>
              <a:rPr lang="en-US" dirty="0"/>
              <a:t>晚發型從 engraftment 前後，也就是第二到第四週，延伸到第二、三個月，發生率 7 到 25%。主因是 BK polyomavirus，腺病毒少見，再加上 donor 的 alloreactivity 攻擊膀胱黏膜。Fluoroquinolone 在試管裡能抑制 BK，但臨床上沒有降低 HC，還有細菌抗藥性和兒童肌腱關節傷害的問題，所以不建議拿來預防。</a:t>
            </a:r>
          </a:p>
          <a:p>
            <a:pPr>
              <a:spcAft>
                <a:spcPts val="600"/>
              </a:spcAft>
            </a:pPr>
            <a:r>
              <a:rPr lang="en-US" dirty="0"/>
              <a:t>治療兩型共用支持療法、hyperbaric oxygen 和 fibrin glue，晚發型多了 cidofovir。</a:t>
            </a:r>
          </a:p>
          <a:p>
            <a:pPr>
              <a:spcAft>
                <a:spcPts val="600"/>
              </a:spcAft>
            </a:pPr>
            <a:r>
              <a:rPr lang="en-US" dirty="0"/>
              <a:t>底下是血尿分級，一級顯微、二級肉眼、三級有血塊、四級是血塊造成阻塞和腎衰竭。考題最常用發生時間來區分兩型，看到 engraftment 前後的血尿，就要想到晚發型。</a:t>
            </a:r>
          </a:p>
          <a:p>
            <a:pPr>
              <a:spcAft>
                <a:spcPts val="600"/>
              </a:spcAft>
            </a:pPr>
            <a:r>
              <a:rPr lang="en-US" dirty="0"/>
              <a:t>病房實務上，PTCy 那幾天要確認 hyperhydration 和 mesna 有跟上；如果血尿出現在 engraftment 前後，就要送尿液和血漿的 BK，而不是先怪 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BK virus 在兒童期經飛沫或接觸唾液感染，超過九成成人血清陽性，之後潛伏在腎小管上皮和尿路上皮。健康人也有 5 到 10% 會有輕度的 viruria。Allo 移植後 T 細胞免疫被壓得很低，一半以上出現高量 viruria，但真正發生 overt HC 的只有大約 20%。</a:t>
            </a:r>
          </a:p>
          <a:p>
            <a:pPr>
              <a:spcAft>
                <a:spcPts val="600"/>
              </a:spcAft>
            </a:pPr>
            <a:r>
              <a:rPr lang="en-US" dirty="0"/>
              <a:t>差距來自這張表的危險因子。Graft 是 cord blood 和 PBSC 高於 bone marrow，donor 是 haplo 高於 unrelated 再高於 matched related，conditioning 是 MAC 高於 RIC，並且用到 ATG、CY 或 BU 的風險較高，再加上 grade 2 到 4 的 acute GVHD；兒童則是七歲以上。</a:t>
            </a:r>
          </a:p>
          <a:p>
            <a:pPr>
              <a:spcAft>
                <a:spcPts val="600"/>
              </a:spcAft>
            </a:pPr>
            <a:r>
              <a:rPr lang="en-US" dirty="0"/>
              <a:t>最後一行是預測 BK-HC 的病毒量，尿液大於 10 的 7 次方 copies/mL，血漿大於 10 的 3 次方。這兩個數字下一張的診斷標準會再出現，考試很愛考。</a:t>
            </a:r>
          </a:p>
          <a:p>
            <a:pPr>
              <a:spcAft>
                <a:spcPts val="600"/>
              </a:spcAft>
            </a:pPr>
            <a:r>
              <a:rPr lang="en-US" dirty="0"/>
              <a:t>病因是多重的，病毒的細胞病變、conditioning 的化學或放射傷害，加上 donor 的免疫反應攻擊膀胱黏膜，三者疊加。免疫抑制越深，BK 越容易複製。</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BK virus-associated HC 的診斷要三個條件同時成立。肉眼血尿，膀胱炎的症狀，像解尿疼痛、頻尿、下腹痛，再加上高量的 BK viruria，大於 10 的 7 次方 copies/mL。三分之二的病人同時有大於 10 的 3 次方的 viremia。</a:t>
            </a:r>
          </a:p>
          <a:p>
            <a:pPr>
              <a:spcAft>
                <a:spcPts val="600"/>
              </a:spcAft>
            </a:pPr>
            <a:r>
              <a:rPr lang="en-US" dirty="0"/>
              <a:t>最後要排除其他感染和非感染原因。超音波或 CT 可以看到膀胱壁水腫增厚、膀胱內血塊或尿路阻塞，血塊阻塞到腎衰竭就是第四級。</a:t>
            </a:r>
          </a:p>
          <a:p>
            <a:pPr>
              <a:spcAft>
                <a:spcPts val="600"/>
              </a:spcAft>
            </a:pPr>
            <a:r>
              <a:rPr lang="en-US" dirty="0"/>
              <a:t>因為一半以上的 allo 病人都有 viruria，單看尿液病毒量不能診斷，一定要有臨床症狀。病毒量下降和臨床恢復是平行的，可以用來追蹤。</a:t>
            </a:r>
          </a:p>
          <a:p>
            <a:pPr>
              <a:spcAft>
                <a:spcPts val="600"/>
              </a:spcAft>
            </a:pPr>
            <a:r>
              <a:rPr lang="en-US" dirty="0"/>
              <a:t>另一個常考的點是監測。因為沒有確立的 pre-emptive 治療，書上不建議常規監測 BK 的 viruria 或 viremia，這和 CMV 的 pre-emptive 策略完全不同，第 12 堂的 CMV 可以對照著看。</a:t>
            </a:r>
          </a:p>
          <a:p>
            <a:pPr>
              <a:spcAft>
                <a:spcPts val="600"/>
              </a:spcAft>
            </a:pPr>
            <a:r>
              <a:rPr lang="en-US" dirty="0"/>
              <a:t>血尿分級的寫法書上有點不一致，分級表把二級定義為肉眼血尿，診斷標準卻寫大於二級，投影片直接寫肉眼血尿，避免混淆。</a:t>
            </a:r>
          </a:p>
          <a:p>
            <a:pPr>
              <a:spcAft>
                <a:spcPts val="600"/>
              </a:spcAft>
            </a:pPr>
            <a:r>
              <a:rPr lang="en-US" b="1" dirty="0"/>
              <a:t>講者提醒（不念出來）：</a:t>
            </a:r>
          </a:p>
          <a:p>
            <a:pPr>
              <a:spcAft>
                <a:spcPts val="600"/>
              </a:spcAft>
            </a:pPr>
            <a:r>
              <a:rPr lang="en-US" dirty="0"/>
              <a:t>- Ch. 51 defines grade 2 as macroscopic haematuria but writes the diagnostic threshold as '&gt; grade 2'; the slide says 'macroscopic haematuria' to avoid the ambiguity.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20:00 至 22:00]</a:t>
            </a:r>
          </a:p>
          <a:p>
            <a:pPr>
              <a:spcAft>
                <a:spcPts val="600"/>
              </a:spcAft>
            </a:pPr>
            <a:r>
              <a:rPr lang="en-US" dirty="0"/>
              <a:t>治療以支持療法為主，止痛、解痙、輸血和 hyperhydration。抗病毒藥是 cidofovir，它是 nucleotide analogue，半衰期 15 到 65 小時，所以可以一到兩週給一次。因為腎小管毒性明顯，只用在治療，不做預防。劑量和給法都沒有共識，書上列了三種。</a:t>
            </a:r>
          </a:p>
          <a:p>
            <a:pPr>
              <a:spcAft>
                <a:spcPts val="600"/>
              </a:spcAft>
            </a:pPr>
            <a:r>
              <a:rPr lang="en-US" dirty="0"/>
              <a:t>標準劑量是 3 到 5 mg/kg，每週或每兩週，配 probenecid 阻止腎小管細胞攝取 cidofovir，仍有 18% 肌酸酐上升。低劑量 0.5 到 1.5 mg/kg，每週一到三次，不加 probenecid，腎毒性 20%。膀胱內灌注 5 mg/kg，每週一次，夾管一到兩小時，反應率約一半，好處是避開全身腎毒性。</a:t>
            </a:r>
          </a:p>
          <a:p>
            <a:pPr>
              <a:spcAft>
                <a:spcPts val="600"/>
              </a:spcAft>
            </a:pPr>
            <a:r>
              <a:rPr lang="en-US" dirty="0"/>
              <a:t>止血和修復黏膜的方法，fibrin glue 用膀胱鏡塗在出血處，反應率 83%，多數一兩次就好。Hyperbaric oxygen 促進黏膜修復，但受限於設備，還有耳朵氣壓傷和幽閉恐懼的問題。Leflunomide 有一些報告，其他藥物只是零星使用。</a:t>
            </a:r>
          </a:p>
          <a:p>
            <a:pPr>
              <a:spcAft>
                <a:spcPts val="600"/>
              </a:spcAft>
            </a:pPr>
            <a:r>
              <a:rPr lang="en-US" dirty="0"/>
              <a:t>最新的是 third-party MSC，七位病人有五位血尿緩解，以及事先冷凍保存的 BK virus-specific T cells，phase II 反應率 81 到 92%，沒有中重度 GVHD，在體內可以存活到 12 週，還需要更大的前瞻性研究確認。</a:t>
            </a:r>
          </a:p>
          <a:p>
            <a:pPr>
              <a:spcAft>
                <a:spcPts val="600"/>
              </a:spcAft>
            </a:pPr>
            <a:r>
              <a:rPr lang="en-US" dirty="0"/>
              <a:t>這三種 cidofovir 給法沒有直接比較過，選擇時主要看腎功能。腎功能已經不好的病人，膀胱內灌注可以避開全身腎毒性。</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最後是腎臟。Allo 移植後 AKI 發生率 27 到 66%，大多在前 100 天。Auto 比較少，因為 engraftment 快、感染少、沒有 GVHD 和它的發炎 cytokine、沒有 CMV、比較少嚴重腹瀉脫水，也比較少用腎毒性藥物。</a:t>
            </a:r>
          </a:p>
          <a:p>
            <a:pPr>
              <a:spcAft>
                <a:spcPts val="600"/>
              </a:spcAft>
            </a:pPr>
            <a:r>
              <a:rPr lang="en-US" dirty="0"/>
              <a:t>嚴重度用肌酸酐和尿量分三級。Risk 是肌酸酐 1.5 到 2 倍，尿量小於 0.5 mL/kg/h 超過 6 小時；injury 是 2 到 3 倍，同樣尿量超過 12 小時；failure 是超過 3 倍，尿量小於 0.3 超過 24 小時、無尿超過 12 小時，或開始腎臟替代治療。考試常把 6 小時和 12 小時對調，要看清楚。</a:t>
            </a:r>
          </a:p>
          <a:p>
            <a:pPr>
              <a:spcAft>
                <a:spcPts val="600"/>
              </a:spcAft>
            </a:pPr>
            <a:r>
              <a:rPr lang="en-US" dirty="0"/>
              <a:t>AKI 沒有完全恢復、持續蛋白尿或高血壓的病人，之後慢性腎病、非復發死亡和整體死亡率都會增加。</a:t>
            </a:r>
          </a:p>
          <a:p>
            <a:pPr>
              <a:spcAft>
                <a:spcPts val="600"/>
              </a:spcAft>
            </a:pPr>
            <a:r>
              <a:rPr lang="en-US" dirty="0"/>
              <a:t>病因方面，腎前性有 sepsis、engraftment syndrome 和 SOS，腎絲球是 TMA，腎小管是 ATN 和藥物，間質是 GVHD 和病毒，腎後性則是 BK 或腺病毒膀胱炎造成的阻塞，所以今天的 HC 也會回頭影響腎臟。完整表格在 backup。</a:t>
            </a:r>
          </a:p>
          <a:p>
            <a:pPr>
              <a:spcAft>
                <a:spcPts val="600"/>
              </a:spcAft>
            </a:pPr>
            <a:r>
              <a:rPr lang="en-US" b="1" dirty="0"/>
              <a:t>講者提醒（不念出來）：</a:t>
            </a:r>
          </a:p>
          <a:p>
            <a:pPr>
              <a:spcAft>
                <a:spcPts val="600"/>
              </a:spcAft>
            </a:pPr>
            <a:r>
              <a:rPr lang="en-US" dirty="0"/>
              <a:t>- TO CONFIRM BEFORE PRESENTING: Ch. 51 does not name the classification; the three tiers match RIFLE (Risk/Injury/Failure). Check whether the Taiwan board expects KDIGO staging instead.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第一題。60 歲男性，allo 移植後 day 50，有 grade 2 皮膚 GVHD，正在用 ciclosporin。現在胸痛、心跳快，確診肺栓塞。血小板 95，沒有出血，creatinine clearance 24。</a:t>
            </a:r>
          </a:p>
          <a:p>
            <a:pPr>
              <a:spcAft>
                <a:spcPts val="600"/>
              </a:spcAft>
            </a:pPr>
            <a:r>
              <a:rPr lang="en-US" dirty="0"/>
              <a:t>選項 A 是全劑量皮下 enoxaparin，B 是口服 rivaroxaban，C 是只放 IVC filter、不抗凝，D 是靜脈 unfractionated heparin，E 是預防劑量 LMWH，等 GVHD 好了再說。哪一個是最適當的起始治療。提示一下，題目裡每個數字都有用，包括血小板、腎功能和正在用的藥。</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D。血小板大於 50、沒有出血，所以要全劑量抗凝。關鍵在腎功能，LMWH 限用在 GFR 大於 30，這位病人只有 24，加上 ciclosporin 的腎毒性，選 UFH。</a:t>
            </a:r>
          </a:p>
          <a:p>
            <a:pPr>
              <a:spcAft>
                <a:spcPts val="600"/>
              </a:spcAft>
            </a:pPr>
            <a:r>
              <a:rPr lang="en-US" dirty="0"/>
              <a:t>A 是主要陷阱，enoxaparin 在一般病人是第一選擇，但這裡腎功能不允許。B 的 DOAC，Table 40.1 寫目前不建議用在移植病人，內文雖然允許個案考慮，也要求腎功能足夠。C 的 IVC filter 只給不能抗凝的人。E 的預防劑量不足以治療 PE。療程三到六個月，惡性疾病還在就延長。</a:t>
            </a:r>
          </a:p>
          <a:p>
            <a:pPr>
              <a:spcAft>
                <a:spcPts val="600"/>
              </a:spcAft>
            </a:pPr>
            <a:r>
              <a:rPr lang="en-US" dirty="0"/>
              <a:t>這題的思路和剛才的投影片一樣，先看血小板，再看 GFR。之後的維持治療可以改 warfarin，腎功能恢復後也可以用 LMWH。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第二題。45 歲女性，unrelated donor 移植後 day 75，右手腫，超音波顯示 tunnelled catheter 周圍有血栓。管子通暢，還要繼續打藥。血小板 85，腎功能正常，沒有出血。血栓本身有症狀，但沒有 PE 的表現。</a:t>
            </a:r>
          </a:p>
          <a:p>
            <a:pPr>
              <a:spcAft>
                <a:spcPts val="600"/>
              </a:spcAft>
            </a:pPr>
            <a:r>
              <a:rPr lang="en-US" dirty="0"/>
              <a:t>選項 A 拔管不用抗凝，B 拔管加兩週 LMWH，C 保留導管、LMWH 三個月或到拔管為止，D 保留導管觀察，E 只給以後的導管做預防。提示，注意管子還能不能用、還需不需要。這是門診移植很常見的情境。</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C。沒有證據顯示拔管能改善結果，所以只有管子不通、不再需要或懷疑感染才拔，這條管子三個條件都不符合。不論拔不拔都要抗凝，首選 LMWH，療程三個月或到拔管為止，取較長者。</a:t>
            </a:r>
          </a:p>
          <a:p>
            <a:pPr>
              <a:spcAft>
                <a:spcPts val="600"/>
              </a:spcAft>
            </a:pPr>
            <a:r>
              <a:rPr lang="en-US" dirty="0"/>
              <a:t>A 和 B 是主要陷阱，很多人以為拔了管就解決了，但書上明確說急性 CRT 不論是否拔管都需要抗凝，兩週也太短。D 不抗凝會讓血栓往中央靜脈延伸。E 的 warfarin 預防，WARP 和 meta-analysis 都不支持常規使用，而且也沒有處理眼前的血栓。</a:t>
            </a:r>
          </a:p>
          <a:p>
            <a:pPr>
              <a:spcAft>
                <a:spcPts val="600"/>
              </a:spcAft>
            </a:pPr>
            <a:r>
              <a:rPr lang="en-US" dirty="0"/>
              <a:t>Kovacs 的研究也支持這個做法，管子留著抗凝三個月，沒有新的血栓，一半以上的管子還能用。</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第三題。35 歲男性，haplo PBSC 移植，用 PTCy 和 mesna，day 18 engraftment，day 28 出現帶血塊的肉眼血尿、解尿疼痛和恥骨上疼痛。尿液 BK 是 10 的 9 次方，血漿 10 的 4 次方。</a:t>
            </a:r>
          </a:p>
          <a:p>
            <a:pPr>
              <a:spcAft>
                <a:spcPts val="600"/>
              </a:spcAft>
            </a:pPr>
            <a:r>
              <a:rPr lang="en-US" dirty="0"/>
              <a:t>A 說這是 acrolein 造成的早發型，B 說是晚發型 BK-HC，C 說 ciprofloxacin 預防可以避免，D 說膀胱灌洗比 hyperhydration 好，E 說應該每週監測 BK 做 pre-emptive 治療。先判斷時間點，再看病毒量。時間點和病毒量都已經寫在題目裡。</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B。發生在 engraftment 前後，加上膀胱炎症狀和大於 10 的 7 次方的 viruria，就是晚發型 BK-HC。治療是 hyperhydration、利尿，必要時用 cidofovir，靜脈給要配 probenecid，或改膀胱內灌注。</a:t>
            </a:r>
          </a:p>
          <a:p>
            <a:pPr>
              <a:spcAft>
                <a:spcPts val="600"/>
              </a:spcAft>
            </a:pPr>
            <a:r>
              <a:rPr lang="en-US" dirty="0"/>
              <a:t>A 是主要陷阱，題目刻意寫 PTCy，讓人想到 acrolein，但早發型發生在 CY 給完後 48 小時內，不是第四週。C 的 fluoroquinolone 臨床上沒有降低 HC，書上不建議。D 的膀胱灌洗沒有比 hyperhydration 好。E 也錯，因為沒有確立的 pre-emptive 治療，書上不建議常規監測 BK。</a:t>
            </a:r>
          </a:p>
          <a:p>
            <a:pPr>
              <a:spcAft>
                <a:spcPts val="600"/>
              </a:spcAft>
            </a:pPr>
            <a:r>
              <a:rPr lang="en-US" dirty="0"/>
              <a:t>治療之後，viruria 和 viremia 下降和臨床改善是平行的，可以用來追蹤反應。這題的關鍵是時間點，PTCy 和 mesna 是用來混淆的資訊。</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AKI 可以發生在腎臟每一層。腎前性來自 sepsis、engraftment syndrome 和 SOS，腎絲球是 TMA，腎小管是 ATN、藥物和 tumour lysis，間質是 aGVHD 和病毒，腎後性是 BK 或腺病毒膀胱炎造成的阻塞。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AKI 的危險因子包括移植前的糖尿病、高血壓和腎功能不全，再加上 conditioning、GVHD 和抗感染藥物的腎毒性，以及需要進 ICU、插管的重症。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 後的 VTE 在三個回溯研究是 6 到 11%，出血約 9%。Grade 3 以上的 ICANS 和出血、血栓都有關，CRS 則沒有。血小板大於 50 時抗凝治療大致安全，CAR-T 本身在第 20 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Bleeding, thrombosis, haemorrhagic cystitis and kidney</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14 · Ch. 40 and Ch. 51</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Three parts, from the clot to the bladder and kidney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 · Cesaro S. EBMT Handbook 8th ed. 2024; Ch. 51</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Thrombosis: risk and prophylaxis</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Competing risks, IMiD myeloma, inpatients, catheters, HIGH-2-LOW, HiGHS2</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Treating VTE and CRT; bleeding</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Platelet 50 and GFR 30 thresholds, DOACs, duration, IVC filter, DAH</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Haemorrhagic cystitis and AKI</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Early vs late HC, BK virus criteria, cidofovir, AKI severity</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Three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Pulmonary embolism, catheter thrombosis, haematuria</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OVERVIEW</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HCT pushes haemostasis toward both clotting and bleeding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Text 20"/>
          <p:cNvSpPr txBox="1"/>
          <p:nvPr/>
        </p:nvSpPr>
        <p:spPr>
          <a:xfrm>
            <a:off x="685800"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Shared risk factors</a:t>
            </a:r>
            <a:endParaRPr lang="en-US" sz="2000" dirty="0"/>
          </a:p>
        </p:txBody>
      </p:sp>
      <p:sp>
        <p:nvSpPr>
          <p:cNvPr id="7" name="Shape 4"/>
          <p:cNvSpPr/>
          <p:nvPr/>
        </p:nvSpPr>
        <p:spPr>
          <a:xfrm>
            <a:off x="685800" y="2743200"/>
            <a:ext cx="3300984" cy="0"/>
          </a:xfrm>
          <a:prstGeom prst="line">
            <a:avLst/>
          </a:prstGeom>
          <a:noFill/>
          <a:ln w="15875">
            <a:solidFill>
              <a:schemeClr val="tx1"/>
            </a:solidFill>
            <a:prstDash val="solid"/>
          </a:ln>
        </p:spPr>
      </p:sp>
      <p:sp>
        <p:nvSpPr>
          <p:cNvPr id="8" name="Text 21"/>
          <p:cNvSpPr txBox="1"/>
          <p:nvPr/>
        </p:nvSpPr>
        <p:spPr>
          <a:xfrm>
            <a:off x="685800"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Underlying malignancy</a:t>
            </a:r>
            <a:endParaRPr lang="en-US" sz="1600" dirty="0"/>
          </a:p>
          <a:p>
            <a:pPr marL="342900" indent="-342900">
              <a:spcAft>
                <a:spcPts val="800"/>
              </a:spcAft>
              <a:buSzPct val="100000"/>
              <a:buChar char="•"/>
            </a:pPr>
            <a:r>
              <a:rPr lang="en-US" sz="1600" dirty="0">
                <a:solidFill>
                  <a:schemeClr val="tx1"/>
                </a:solidFill>
              </a:rPr>
              <a:t>Thrombocytopenia</a:t>
            </a:r>
            <a:endParaRPr lang="en-US" sz="1600" dirty="0"/>
          </a:p>
          <a:p>
            <a:pPr marL="342900" indent="-342900">
              <a:spcAft>
                <a:spcPts val="800"/>
              </a:spcAft>
              <a:buSzPct val="100000"/>
              <a:buChar char="•"/>
            </a:pPr>
            <a:r>
              <a:rPr lang="en-US" sz="1600" dirty="0">
                <a:solidFill>
                  <a:schemeClr val="tx1"/>
                </a:solidFill>
              </a:rPr>
              <a:t>MAC and IMiDs</a:t>
            </a:r>
            <a:endParaRPr lang="en-US" sz="1600" dirty="0"/>
          </a:p>
          <a:p>
            <a:pPr marL="342900" indent="-342900">
              <a:spcAft>
                <a:spcPts val="800"/>
              </a:spcAft>
              <a:buSzPct val="100000"/>
              <a:buChar char="•"/>
            </a:pPr>
            <a:r>
              <a:rPr lang="en-US" sz="1600" dirty="0">
                <a:solidFill>
                  <a:schemeClr val="tx1"/>
                </a:solidFill>
              </a:rPr>
              <a:t>GVHD and infection</a:t>
            </a:r>
            <a:endParaRPr lang="en-US" sz="1600" dirty="0"/>
          </a:p>
          <a:p>
            <a:pPr marL="342900" indent="-342900">
              <a:spcAft>
                <a:spcPts val="800"/>
              </a:spcAft>
              <a:buSzPct val="100000"/>
              <a:buChar char="•"/>
            </a:pPr>
            <a:r>
              <a:rPr lang="en-US" sz="1600" dirty="0">
                <a:solidFill>
                  <a:schemeClr val="tx1"/>
                </a:solidFill>
              </a:rPr>
              <a:t>Catheters, immobility</a:t>
            </a:r>
            <a:endParaRPr lang="en-US" sz="1600" dirty="0"/>
          </a:p>
        </p:txBody>
      </p:sp>
      <p:sp>
        <p:nvSpPr>
          <p:cNvPr id="9" name="Text 22"/>
          <p:cNvSpPr txBox="1"/>
          <p:nvPr/>
        </p:nvSpPr>
        <p:spPr>
          <a:xfrm>
            <a:off x="4443984"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Coagulation shifts</a:t>
            </a:r>
            <a:endParaRPr lang="en-US" sz="2000" dirty="0"/>
          </a:p>
        </p:txBody>
      </p:sp>
      <p:sp>
        <p:nvSpPr>
          <p:cNvPr id="10" name="Shape 7"/>
          <p:cNvSpPr/>
          <p:nvPr/>
        </p:nvSpPr>
        <p:spPr>
          <a:xfrm>
            <a:off x="4443984" y="2743200"/>
            <a:ext cx="3300984" cy="0"/>
          </a:xfrm>
          <a:prstGeom prst="line">
            <a:avLst/>
          </a:prstGeom>
          <a:noFill/>
          <a:ln w="15875">
            <a:solidFill>
              <a:schemeClr val="tx1"/>
            </a:solidFill>
            <a:prstDash val="solid"/>
          </a:ln>
        </p:spPr>
      </p:sp>
      <p:sp>
        <p:nvSpPr>
          <p:cNvPr id="11" name="Text 23"/>
          <p:cNvSpPr txBox="1"/>
          <p:nvPr/>
        </p:nvSpPr>
        <p:spPr>
          <a:xfrm>
            <a:off x="4443984"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 vWF, platelet adhesion</a:t>
            </a:r>
            <a:endParaRPr lang="en-US" sz="1600" dirty="0"/>
          </a:p>
          <a:p>
            <a:pPr marL="342900" indent="-342900">
              <a:spcAft>
                <a:spcPts val="800"/>
              </a:spcAft>
              <a:buSzPct val="100000"/>
              <a:buChar char="•"/>
            </a:pPr>
            <a:r>
              <a:rPr lang="en-US" sz="1600" dirty="0">
                <a:solidFill>
                  <a:schemeClr val="tx1"/>
                </a:solidFill>
              </a:rPr>
              <a:t>↑ Thrombin generation</a:t>
            </a:r>
            <a:endParaRPr lang="en-US" sz="1600" dirty="0"/>
          </a:p>
          <a:p>
            <a:pPr marL="342900" indent="-342900">
              <a:spcAft>
                <a:spcPts val="800"/>
              </a:spcAft>
              <a:buSzPct val="100000"/>
              <a:buChar char="•"/>
            </a:pPr>
            <a:r>
              <a:rPr lang="en-US" sz="1600" dirty="0">
                <a:solidFill>
                  <a:schemeClr val="tx1"/>
                </a:solidFill>
              </a:rPr>
              <a:t>↓ Antithrombin</a:t>
            </a:r>
            <a:endParaRPr lang="en-US" sz="1600" dirty="0"/>
          </a:p>
          <a:p>
            <a:pPr marL="342900" indent="-342900">
              <a:spcAft>
                <a:spcPts val="800"/>
              </a:spcAft>
              <a:buSzPct val="100000"/>
              <a:buChar char="•"/>
            </a:pPr>
            <a:r>
              <a:rPr lang="en-US" sz="1600" dirty="0">
                <a:solidFill>
                  <a:schemeClr val="tx1"/>
                </a:solidFill>
              </a:rPr>
              <a:t>↓ Protein C</a:t>
            </a:r>
            <a:endParaRPr lang="en-US" sz="1600" dirty="0"/>
          </a:p>
          <a:p>
            <a:pPr marL="342900" indent="-342900">
              <a:spcAft>
                <a:spcPts val="800"/>
              </a:spcAft>
              <a:buSzPct val="100000"/>
              <a:buChar char="•"/>
            </a:pPr>
            <a:r>
              <a:rPr lang="en-US" sz="1600" dirty="0">
                <a:solidFill>
                  <a:schemeClr val="tx1"/>
                </a:solidFill>
              </a:rPr>
              <a:t>Endothelial factor activation</a:t>
            </a:r>
            <a:endParaRPr lang="en-US" sz="1600" dirty="0"/>
          </a:p>
        </p:txBody>
      </p:sp>
      <p:sp>
        <p:nvSpPr>
          <p:cNvPr id="12" name="Text 24"/>
          <p:cNvSpPr txBox="1"/>
          <p:nvPr/>
        </p:nvSpPr>
        <p:spPr>
          <a:xfrm>
            <a:off x="8202168"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Complications</a:t>
            </a:r>
            <a:endParaRPr lang="en-US" sz="2000" dirty="0"/>
          </a:p>
        </p:txBody>
      </p:sp>
      <p:sp>
        <p:nvSpPr>
          <p:cNvPr id="13" name="Shape 10"/>
          <p:cNvSpPr/>
          <p:nvPr/>
        </p:nvSpPr>
        <p:spPr>
          <a:xfrm>
            <a:off x="8202168" y="2743200"/>
            <a:ext cx="3300984" cy="0"/>
          </a:xfrm>
          <a:prstGeom prst="line">
            <a:avLst/>
          </a:prstGeom>
          <a:noFill/>
          <a:ln w="15875">
            <a:solidFill>
              <a:schemeClr val="tx1"/>
            </a:solidFill>
            <a:prstDash val="solid"/>
          </a:ln>
        </p:spPr>
      </p:sp>
      <p:sp>
        <p:nvSpPr>
          <p:cNvPr id="14" name="Text 25"/>
          <p:cNvSpPr txBox="1"/>
          <p:nvPr/>
        </p:nvSpPr>
        <p:spPr>
          <a:xfrm>
            <a:off x="8202168"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VTE, mostly catheter-related</a:t>
            </a:r>
            <a:endParaRPr lang="en-US" sz="1600" dirty="0"/>
          </a:p>
          <a:p>
            <a:pPr marL="342900" indent="-342900">
              <a:spcAft>
                <a:spcPts val="800"/>
              </a:spcAft>
              <a:buSzPct val="100000"/>
              <a:buChar char="•"/>
            </a:pPr>
            <a:r>
              <a:rPr lang="en-US" sz="1600" dirty="0">
                <a:solidFill>
                  <a:schemeClr val="tx1"/>
                </a:solidFill>
              </a:rPr>
              <a:t>SOS/VOD (Session 13)</a:t>
            </a:r>
            <a:endParaRPr lang="en-US" sz="1600" dirty="0"/>
          </a:p>
          <a:p>
            <a:pPr marL="342900" indent="-342900">
              <a:spcAft>
                <a:spcPts val="800"/>
              </a:spcAft>
              <a:buSzPct val="100000"/>
              <a:buChar char="•"/>
            </a:pPr>
            <a:r>
              <a:rPr lang="en-US" sz="1600" dirty="0">
                <a:solidFill>
                  <a:schemeClr val="tx1"/>
                </a:solidFill>
              </a:rPr>
              <a:t>TA-TMA (Session 13)</a:t>
            </a:r>
            <a:endParaRPr lang="en-US" sz="1600" dirty="0"/>
          </a:p>
          <a:p>
            <a:pPr marL="342900" indent="-342900">
              <a:spcAft>
                <a:spcPts val="800"/>
              </a:spcAft>
              <a:buSzPct val="100000"/>
              <a:buChar char="•"/>
            </a:pPr>
            <a:r>
              <a:rPr lang="en-US" sz="1600" dirty="0">
                <a:solidFill>
                  <a:schemeClr val="tx1"/>
                </a:solidFill>
              </a:rPr>
              <a:t>GI and airway bleeding</a:t>
            </a:r>
            <a:endParaRPr lang="en-US" sz="1600" dirty="0"/>
          </a:p>
          <a:p>
            <a:pPr marL="342900" indent="-342900">
              <a:spcAft>
                <a:spcPts val="800"/>
              </a:spcAft>
              <a:buSzPct val="100000"/>
              <a:buChar char="•"/>
            </a:pPr>
            <a:r>
              <a:rPr lang="en-US" sz="1600" dirty="0">
                <a:solidFill>
                  <a:schemeClr val="tx1"/>
                </a:solidFill>
              </a:rPr>
              <a:t>Haemorrhagic cystitis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INCIDENCE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HCT, bleeding is more frequent and more lethal than VTE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5" name="Table 26"/>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203704"/>
                <a:gridCol w="2660904"/>
                <a:gridCol w="3666744"/>
                <a:gridCol w="2295144"/>
              </a:tblGrid>
              <a:tr h="0">
                <a:tc>
                  <a:txBody>
                    <a:bodyPr/>
                    <a:lstStyle/>
                    <a:p>
                      <a:pPr indent="0" marL="0">
                        <a:buNone/>
                      </a:pPr>
                      <a:r>
                        <a:rPr lang="en-US" sz="1600" b="1" dirty="0">
                          <a:solidFill>
                            <a:schemeClr val="tx1"/>
                          </a:solidFill>
                        </a:rPr>
                        <a:t>Series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Population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Thrombosis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Bleeding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Gerber 2008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1514 inpatient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VTE 4.6%; 73% catheter-related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Significant 15.2%;</a:t>
                      </a:r>
                      <a:endParaRPr lang="en-US" sz="1600" dirty="0"/>
                    </a:p>
                    <a:p>
                      <a:pPr indent="0" marL="0">
                        <a:buNone/>
                      </a:pPr>
                      <a:r>
                        <a:rPr lang="en-US" sz="1600" dirty="0">
                          <a:solidFill>
                            <a:schemeClr val="tx1"/>
                          </a:solidFill>
                        </a:rPr>
                        <a:t>fatal 3.6%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Pihusch 2002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447 BMT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5.7% by day 100 despite heparin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Pihusch 2002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1-year VTE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Auto 4.8%; allo 6.8%;</a:t>
                      </a:r>
                      <a:endParaRPr lang="en-US" sz="1600" dirty="0"/>
                    </a:p>
                    <a:p>
                      <a:pPr indent="0" marL="0">
                        <a:buNone/>
                      </a:pPr>
                      <a:r>
                        <a:rPr lang="en-US" sz="1600" dirty="0">
                          <a:solidFill>
                            <a:schemeClr val="tx1"/>
                          </a:solidFill>
                        </a:rPr>
                        <a:t>allo + GVHD 8.1%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Gonsalves 2008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Ambulatory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Symptomatic 3.7% at 1 year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Cortelezzi 2005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416 with CVC, 21%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Catheter-related 12%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Timing</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After engraftment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Early, profound</a:t>
                      </a:r>
                      <a:endParaRPr lang="en-US" sz="1600" dirty="0"/>
                    </a:p>
                    <a:p>
                      <a:pPr indent="0" marL="0">
                        <a:buNone/>
                      </a:pPr>
                      <a:r>
                        <a:rPr lang="en-US" sz="1600" dirty="0">
                          <a:solidFill>
                            <a:schemeClr val="tx1"/>
                          </a:solidFill>
                        </a:rPr>
                        <a:t>thrombocytopenia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THROMBOPROPHYLAXIS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Thromboprophylaxis is reserved for IMiD myeloma and inpatients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Box 27"/>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HCT recipient: is thromboprophylaxis indicated?</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8"/>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Myeloma on IMiDs</a:t>
            </a:r>
            <a:endParaRPr lang="en-US" sz="1400" dirty="0"/>
          </a:p>
        </p:txBody>
      </p:sp>
      <p:sp>
        <p:nvSpPr>
          <p:cNvPr id="11" name="Box 29"/>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Aspirin if lower risk</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30"/>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LMWH 40 mg SC daily if &gt; 1 risk factor</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31"/>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Inpatient, no bleeding</a:t>
            </a:r>
            <a:endParaRPr lang="en-US" sz="1400" dirty="0"/>
          </a:p>
        </p:txBody>
      </p:sp>
      <p:sp>
        <p:nvSpPr>
          <p:cNvPr id="16" name="Box 32"/>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Platelets &gt; 50 × 10⁹/L</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3"/>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Prophylactic UFH or LMWH</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34"/>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Outpatient with CVC</a:t>
            </a:r>
            <a:endParaRPr lang="en-US" sz="1400" dirty="0"/>
          </a:p>
        </p:txBody>
      </p:sp>
      <p:sp>
        <p:nvSpPr>
          <p:cNvPr id="21" name="Box 35"/>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Catheter-related thrombosis</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6"/>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 routine prophylaxis</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PROPHYLAXIS EVIDENCE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Prophylaxis evidence is borrowed from cancer trials, not HCT trials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7" name="Table 3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660904"/>
                <a:gridCol w="3300984"/>
                <a:gridCol w="4855464"/>
              </a:tblGrid>
              <a:tr h="0">
                <a:tc>
                  <a:txBody>
                    <a:bodyPr/>
                    <a:lstStyle/>
                    <a:p>
                      <a:pPr indent="0" marL="0">
                        <a:buNone/>
                      </a:pPr>
                      <a:r>
                        <a:rPr lang="en-US" sz="1500" b="1" dirty="0">
                          <a:solidFill>
                            <a:schemeClr val="tx1"/>
                          </a:solidFill>
                        </a:rPr>
                        <a:t>Setting</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Study</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Ambulatory cancer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PROTECHT, SAVE-ONCO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RR of VTE ↓, small absolute gain, no survival benefit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Ill medical inpatients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Samama 1999 (enoxaparin)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Clear benefit; never tested in 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Myeloma, thalidomide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Barlogie 2006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VTE 24% induction, 6% consolidation despite LMWH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Myeloma, lenalidomide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McCarthy 2012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VTE, all on prophylactic anticoagulation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Myeloma, IMiD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Palumbo 2011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Aspirin, warfarin or enoxaparin prophylaxis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CVC in cancer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WARP (Young 2009), n = 1590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Adjusted warfarin: CRT 2.7% vs 5.9%; more major bleeding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CVC in cancer</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Meta-analysis (Akl 2007)</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Warfarin or LMWH: no significant fall in CRT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VTE RISK SCORES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HIGH-2-LOW and HiGHS2 stratify VTE risk after allogeneic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8" name="Table 3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4489704"/>
                <a:gridCol w="412394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HIGH-2-LOW (Martens 2021)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HiGHS2 (Gangaraju 2021)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Assessed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Day 30, for VTE day 30–100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Survivors at 2 years, long-term VTE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Points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 each: prior CRT, inpatient day 30,</a:t>
                      </a:r>
                      <a:endParaRPr lang="en-US" sz="1600" dirty="0"/>
                    </a:p>
                    <a:p>
                      <a:pPr indent="0" marL="0">
                        <a:buNone/>
                      </a:pPr>
                      <a:r>
                        <a:rPr lang="en-US" sz="1600" dirty="0">
                          <a:solidFill>
                            <a:schemeClr val="tx1"/>
                          </a:solidFill>
                        </a:rPr>
                        <a:t>GVHD 3–4, prior PE or leg DVT,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Stroke 3, PBSC 3, hypertension 2,</a:t>
                      </a:r>
                      <a:endParaRPr lang="en-US" sz="1600" dirty="0"/>
                    </a:p>
                    <a:p>
                      <a:pPr indent="0" marL="0">
                        <a:buNone/>
                      </a:pPr>
                      <a:r>
                        <a:rPr lang="en-US" sz="1600" dirty="0">
                          <a:solidFill>
                            <a:schemeClr val="tx1"/>
                          </a:solidFill>
                        </a:rPr>
                        <a:t>male 2, chronic GVHD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lymphoma, BMI ≥ 35, WBC ≥ 11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2 points: 10.3%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5 points: 9.3% at 10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Intermediate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 point: 3.6%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Low risk</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 points: 1.5%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5 points: 2.4% at 10 years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VTE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LMWH or UFH treats VTE once platelets exceed 50 × 10⁹/L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9" name="Table 3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8065008"/>
              </a:tblGrid>
              <a:tr h="0">
                <a:tc>
                  <a:txBody>
                    <a:bodyPr/>
                    <a:lstStyle/>
                    <a:p>
                      <a:pPr indent="0" marL="0">
                        <a:buNone/>
                      </a:pPr>
                      <a:r>
                        <a:rPr lang="en-US" sz="1600" b="1" dirty="0">
                          <a:solidFill>
                            <a:schemeClr val="tx1"/>
                          </a:solidFill>
                        </a:rPr>
                        <a:t>Step</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40 recommendation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Diagnosis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Duplex US for limb signs; pulmonary angiography for chest signs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Before starting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Assess bleeding history and platelet count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Initial 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Therapeutic LMWH or UFH if platelets &gt; 50, no bleeding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LMWH or UFH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LMWH only if GFR &gt; 30 mL/min; UFH if &lt; 30 or high bleed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Maintenance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Continue LMWH, or warfarin if LMWH contraindicated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Table 40.1: not recommended; text: case by case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Duration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3–6 months, or while malignancy or IMiDs persist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IVC filter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Only if anticoagulation contraindicated or PE on it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THROMBOCYTOPENIA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platelet count decides how far anticoagulation can go</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Box 40"/>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Acute VTE in a thrombocytopenic HCT recipient</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41"/>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Platelets &gt; 50 × 10⁹/L</a:t>
            </a:r>
            <a:endParaRPr lang="en-US" sz="1400" dirty="0"/>
          </a:p>
        </p:txBody>
      </p:sp>
      <p:sp>
        <p:nvSpPr>
          <p:cNvPr id="11" name="Box 42"/>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No active bleeding</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43"/>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Full-dose LMWH or UFH</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44"/>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Platelets 25–50 × 10⁹/L</a:t>
            </a:r>
            <a:endParaRPr lang="en-US" sz="1400" dirty="0"/>
          </a:p>
        </p:txBody>
      </p:sp>
      <p:sp>
        <p:nvSpPr>
          <p:cNvPr id="16" name="Box 45"/>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Balance bleeding risk</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46"/>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Reduced-dose LMWH (some centres)</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47"/>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Large symptomatic clot</a:t>
            </a:r>
            <a:endParaRPr lang="en-US" sz="1400" dirty="0"/>
          </a:p>
        </p:txBody>
      </p:sp>
      <p:sp>
        <p:nvSpPr>
          <p:cNvPr id="21" name="Box 48"/>
          <p:cNvSpPr txBox="1"/>
          <p:nvPr/>
        </p:nvSpPr>
        <p:spPr>
          <a:xfrm>
            <a:off x="6277356"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Severe thrombocytopenia</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49"/>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Transfuse platelets to 50, then heparin</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50"/>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Cannot anticoagulate</a:t>
            </a:r>
            <a:endParaRPr lang="en-US" sz="1400" dirty="0"/>
          </a:p>
        </p:txBody>
      </p:sp>
      <p:sp>
        <p:nvSpPr>
          <p:cNvPr id="26" name="Box 51"/>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Acute DVT</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52"/>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IVC filter; remove once anticoagulated</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CATHETER-RELATED THROMBOSIS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Catheter-related thrombosis is treated with the line left in place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Box 53"/>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Goal: relieve, limit extension, keep access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54"/>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Remove only if blocked, unneeded or infected</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55"/>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Anticoagulate either way: LMWH (or VKA)</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56"/>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3 months or until removal, whichever longer</a:t>
            </a:r>
            <a:endParaRPr lang="en-US" sz="1700" dirty="0"/>
          </a:p>
        </p:txBody>
      </p:sp>
      <p:sp>
        <p:nvSpPr>
          <p:cNvPr id="13" name="Text 57"/>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Kovacs 2007: 78 patients on dalteparin then warfarin with the line kept — no new thrombosis at 3 months, 57% of lines still working. Catheter-directed thrombolysis may help save the line.</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BLEEDING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Bleeding comes early with thrombocytopenia, and DAH is often fatal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12" name="Table 5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8065008"/>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40 data</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Incidence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Any 15.2–27.1%; life-threatening or fatal 1.1–3.6%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Top predictor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Therapeutic anticoagulation day 1–180: OR 3.1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Other factors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GVHD OR 2.4; auto vs allo protective, OR 0.46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Sites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GI (gut GVHD), bladder (HC), spontaneous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DAH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2–14%; hypoxia, infiltrates, bloody BAL; mortality ~80%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DAH 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Platelets, steroids, antifibrinolytics, rFVIIa: inconsistent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Platelet transfusion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Prophylactic if &lt; 10 × 10⁹/L (low–moderate evidence)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HC · EARLY VERSUS LATE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Early HC is chemical, late HC is viral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13" name="Table 59"/>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386584"/>
                <a:gridCol w="4215384"/>
                <a:gridCol w="421538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Early-onset HC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Late-onset HC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Onset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During conditioning or ≤ 48 h after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Engraftment (weeks 2–4) to month 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Incidence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3%, now rare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7–25%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Cause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Drug metabolites (acrolein), radiotherapy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BKPyV, adenovirus; donor alloreactivity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Prevention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Hyperhydration + continuous IV mesna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Hyperhydration, forced diuresis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Not advised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Bladder irrigation via catheter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Fluoroquinolone prophylaxis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Therapy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Hydration, diuresis, HOT, fibrin glue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Same, plus IV or intravesical cidofovir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0"/>
          <p:cNvSpPr txBox="1"/>
          <p:nvPr/>
        </p:nvSpPr>
        <p:spPr>
          <a:xfrm>
            <a:off x="685800" y="44348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Haematuria: 1 microscopic · 2 macroscopic · 3 with clots · 4 clots + obstructive renal failure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HC · BK VIRUS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BK viruria is common, but only about one in five gets overt HC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14" name="Table 6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69464"/>
                <a:gridCol w="5129784"/>
                <a:gridCol w="3118104"/>
              </a:tblGrid>
              <a:tr h="0">
                <a:tc>
                  <a:txBody>
                    <a:bodyPr/>
                    <a:lstStyle/>
                    <a:p>
                      <a:pPr indent="0" marL="0">
                        <a:buNone/>
                      </a:pPr>
                      <a:r>
                        <a:rPr lang="en-US" sz="1600" b="1" dirty="0">
                          <a:solidFill>
                            <a:schemeClr val="tx1"/>
                          </a:solidFill>
                        </a:rPr>
                        <a:t>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Higher risk</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Lower risk</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Cord blood, peripheral blood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Bone marrow</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Haploidentical &gt; unrelated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Matched related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Conditioning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ATG, CY or BU</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Acute GVHD grade 2–4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Children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Recipient age &gt; 7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Predictive load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Viruria &gt; 10⁷ and viraemia &gt; 10³ copies/mL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2"/>
          <p:cNvSpPr txBox="1"/>
          <p:nvPr/>
        </p:nvSpPr>
        <p:spPr>
          <a:xfrm>
            <a:off x="685800" y="48463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BKPyV seropositive &gt; 90% of adults · high-load viruria in 50–60% after allo-HCT · overt HC ≈ 20%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HC · BK VIRUS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BK-HC needs haematuria, cystitis symptoms and high-load viruria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sp>
        <p:nvSpPr>
          <p:cNvPr id="6" name="Box 63"/>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Macroscopic haematuria</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64"/>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Dysuria, frequency or lower abdominal pain</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65"/>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Viruria &gt; 10⁷ copies/mL (viraemia &gt; 10³ in ⅔)</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66"/>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Other causes excluded; US or CT for clots</a:t>
            </a:r>
            <a:endParaRPr lang="en-US" sz="1700" dirty="0"/>
          </a:p>
        </p:txBody>
      </p:sp>
      <p:sp>
        <p:nvSpPr>
          <p:cNvPr id="13" name="Text 67"/>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Imaging: oedematous, thickened bladder wall; clots; obstruction. Falling viruria and viraemia track recovery. Routine BK monitoring is not recommended: no established pre-emptive therapy.</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HC ·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Cidofovir has no agreed dose; local measures stop the bleeding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16" name="Table 6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26664"/>
                <a:gridCol w="3666744"/>
                <a:gridCol w="4123944"/>
              </a:tblGrid>
              <a:tr h="0">
                <a:tc>
                  <a:txBody>
                    <a:bodyPr/>
                    <a:lstStyle/>
                    <a:p>
                      <a:pPr indent="0" marL="0">
                        <a:buNone/>
                      </a:pPr>
                      <a:r>
                        <a:rPr lang="en-US" sz="1500" b="1" dirty="0">
                          <a:solidFill>
                            <a:schemeClr val="tx1"/>
                          </a:solidFill>
                        </a:rPr>
                        <a:t>Option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Scheme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Result or caveat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Cidofovir IV, standard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3–5 mg/kg weekly or fortnightly</a:t>
                      </a:r>
                      <a:endParaRPr lang="en-US" sz="1500" dirty="0"/>
                    </a:p>
                    <a:p>
                      <a:pPr indent="0" marL="0">
                        <a:buNone/>
                      </a:pPr>
                      <a:r>
                        <a:rPr lang="en-US" sz="1500" dirty="0">
                          <a:solidFill>
                            <a:schemeClr val="tx1"/>
                          </a:solidFill>
                        </a:rPr>
                        <a:t>+ probenecid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Creatinine rise in 18%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Cidofovir IV, low dose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0.5–1.5 mg/kg 1–3×/week,</a:t>
                      </a:r>
                      <a:endParaRPr lang="en-US" sz="1500" dirty="0"/>
                    </a:p>
                    <a:p>
                      <a:pPr indent="0" marL="0">
                        <a:buNone/>
                      </a:pPr>
                      <a:r>
                        <a:rPr lang="en-US" sz="1500" dirty="0">
                          <a:solidFill>
                            <a:schemeClr val="tx1"/>
                          </a:solidFill>
                        </a:rPr>
                        <a:t>no probenecid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Renal toxicity 20%</a:t>
                      </a:r>
                      <a:endParaRPr lang="en-US" sz="1500" dirty="0"/>
                    </a:p>
                    <a:p>
                      <a:pPr indent="0" marL="0">
                        <a:buNone/>
                      </a:pPr>
                      <a:r>
                        <a:rPr lang="en-US" sz="1500" dirty="0">
                          <a:solidFill>
                            <a:schemeClr val="tx1"/>
                          </a:solidFill>
                        </a:rPr>
                        <a:t>(Ganguly 2010)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Cidofovir intravesical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5 mg/kg/week, clamp 1–2 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Response about 50%</a:t>
                      </a:r>
                      <a:endParaRPr lang="en-US" sz="1500" dirty="0"/>
                    </a:p>
                    <a:p>
                      <a:pPr indent="0" marL="0">
                        <a:buNone/>
                      </a:pPr>
                      <a:r>
                        <a:rPr lang="en-US" sz="1500" dirty="0">
                          <a:solidFill>
                            <a:schemeClr val="tx1"/>
                          </a:solidFill>
                        </a:rPr>
                        <a:t>(Bridges 2006)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Fibrin glue, cystoscopic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One or two applications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Response 83% (Tirindelli 2014)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Hyperbaric oxygen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Urothelial repair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Limited access; ear barotrauma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Third-party MSC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Tissue repair (Ringden 2007)</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Haematuria resolved in 5 of 7</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BK virus-specific T cells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Banked third-party (phase II)</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ORR 81–92%; no moderate–severe GVHD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KIDNEY · AKI</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AKI affects 27–66% of allo-HCT recipients, mostly before day 100</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17" name="Table 6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3483864"/>
                <a:gridCol w="4946904"/>
              </a:tblGrid>
              <a:tr h="0">
                <a:tc>
                  <a:txBody>
                    <a:bodyPr/>
                    <a:lstStyle/>
                    <a:p>
                      <a:pPr indent="0" marL="0">
                        <a:buNone/>
                      </a:pPr>
                      <a:r>
                        <a:rPr lang="en-US" sz="2000" b="1" dirty="0">
                          <a:solidFill>
                            <a:schemeClr val="tx1"/>
                          </a:solidFill>
                        </a:rPr>
                        <a:t>Category</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Serum creatinine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Urine output</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Risk</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1.5–2× baseline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&lt; 0.5 mL/kg/h for &gt; 6 h</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Injury</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2–3× baseline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&lt; 0.5 mL/kg/h for &gt; 12 h</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Failure</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&gt; 3× baseline</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&lt; 0.3 mL/kg/h for &gt; 24 h, anuria</a:t>
                      </a:r>
                      <a:endParaRPr lang="en-US" sz="2000" dirty="0"/>
                    </a:p>
                    <a:p>
                      <a:pPr indent="0" marL="0">
                        <a:buNone/>
                      </a:pPr>
                      <a:r>
                        <a:rPr lang="en-US" sz="2000" dirty="0">
                          <a:solidFill>
                            <a:schemeClr val="tx1"/>
                          </a:solidFill>
                        </a:rPr>
                        <a:t>&gt; 12 h, or renal replacement</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70"/>
          <p:cNvSpPr txBox="1"/>
          <p:nvPr/>
        </p:nvSpPr>
        <p:spPr>
          <a:xfrm>
            <a:off x="685800" y="4343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Lower after auto-HCT. Unresolved AKI raises later CKD, non-relapse and overall mortality. [verify: these tiers mirror RIFLE; check whether the exam expects KDIGO stages 1–3]</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pulmonary embolism on day 50</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Text 71"/>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60-year-old man is on day 50 after allogeneic HCT, with grade 2 skin GVHD on ciclosporin. He develops pleuritic chest pain and tachycardia, and pulmonary embolism is confirmed. Platelets are 95 × 10⁹/L, there is no bleeding, and creatinine clearance is 24 mL/min. What is the most appropriate initial treatment?</a:t>
            </a:r>
            <a:endParaRPr lang="en-US" sz="1900" dirty="0"/>
          </a:p>
        </p:txBody>
      </p:sp>
      <p:sp>
        <p:nvSpPr>
          <p:cNvPr id="7" name="Text 72"/>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Therapeutic-dose subcutaneous enoxaparin</a:t>
            </a:r>
            <a:endParaRPr lang="en-US" sz="1800" dirty="0"/>
          </a:p>
          <a:p>
            <a:pPr indent="0" marL="0">
              <a:spcAft>
                <a:spcPts val="800"/>
              </a:spcAft>
              <a:buNone/>
            </a:pPr>
            <a:r>
              <a:rPr lang="en-US" sz="1800" dirty="0">
                <a:solidFill>
                  <a:schemeClr val="tx1"/>
                </a:solidFill>
              </a:rPr>
              <a:t>B.  Oral rivaroxaban as the preferred agent</a:t>
            </a:r>
            <a:endParaRPr lang="en-US" sz="1800" dirty="0"/>
          </a:p>
          <a:p>
            <a:pPr indent="0" marL="0">
              <a:spcAft>
                <a:spcPts val="800"/>
              </a:spcAft>
              <a:buNone/>
            </a:pPr>
            <a:r>
              <a:rPr lang="en-US" sz="1800" dirty="0">
                <a:solidFill>
                  <a:schemeClr val="tx1"/>
                </a:solidFill>
              </a:rPr>
              <a:t>C.  IVC filter without anticoagulation</a:t>
            </a:r>
            <a:endParaRPr lang="en-US" sz="1800" dirty="0"/>
          </a:p>
          <a:p>
            <a:pPr indent="0" marL="0">
              <a:spcAft>
                <a:spcPts val="800"/>
              </a:spcAft>
              <a:buNone/>
            </a:pPr>
            <a:r>
              <a:rPr lang="en-US" sz="1800" dirty="0">
                <a:solidFill>
                  <a:schemeClr val="tx1"/>
                </a:solidFill>
              </a:rPr>
              <a:t>D.  Intravenous unfractionated heparin</a:t>
            </a:r>
            <a:endParaRPr lang="en-US" sz="1800" dirty="0"/>
          </a:p>
          <a:p>
            <a:pPr indent="0" marL="0">
              <a:spcAft>
                <a:spcPts val="800"/>
              </a:spcAft>
              <a:buNone/>
            </a:pPr>
            <a:r>
              <a:rPr lang="en-US" sz="1800" dirty="0">
                <a:solidFill>
                  <a:schemeClr val="tx1"/>
                </a:solidFill>
              </a:rPr>
              <a:t>E.  Prophylactic-dose LMWH until GVHD resolves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UFH when GFR is below 30 mL/min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Box 73"/>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Intravenous unfractionated heparin</a:t>
            </a:r>
            <a:endParaRPr lang="en-US" sz="2000" dirty="0"/>
          </a:p>
        </p:txBody>
      </p:sp>
      <p:sp>
        <p:nvSpPr>
          <p:cNvPr id="7" name="Text 74"/>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Platelets &gt; 50 × 10⁹/L and no bleeding: start therapeutic anticoagulation. LMWH is restricted to GFR &gt; 30 mL/min; UFH is used with renal impairment or high bleeding risk. DOACs are not recommended in HCT (Table 40.1). An IVC filter is only for patients who cannot be anticoagulated. Treat 3–6 months.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a swollen arm with a working catheter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Text 75"/>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45-year-old woman is on day 75 after unrelated-donor HCT for AML. Her right arm swells; duplex ultrasound shows thrombosis around her tunnelled central venous catheter. The line flushes well and is still needed for IV therapy. Platelets are 85 × 10⁹/L, eGFR 80 mL/min, and there is no bleeding. What is the best management?</a:t>
            </a:r>
            <a:endParaRPr lang="en-US" sz="1900" dirty="0"/>
          </a:p>
        </p:txBody>
      </p:sp>
      <p:sp>
        <p:nvSpPr>
          <p:cNvPr id="7" name="Text 76"/>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Remove the line; anticoagulation is then unnecessary</a:t>
            </a:r>
            <a:endParaRPr lang="en-US" sz="1800" dirty="0"/>
          </a:p>
          <a:p>
            <a:pPr indent="0" marL="0">
              <a:spcAft>
                <a:spcPts val="800"/>
              </a:spcAft>
              <a:buNone/>
            </a:pPr>
            <a:r>
              <a:rPr lang="en-US" sz="1800" dirty="0">
                <a:solidFill>
                  <a:schemeClr val="tx1"/>
                </a:solidFill>
              </a:rPr>
              <a:t>B.  Remove the line and give LMWH for 2 weeks only</a:t>
            </a:r>
            <a:endParaRPr lang="en-US" sz="1800" dirty="0"/>
          </a:p>
          <a:p>
            <a:pPr indent="0" marL="0">
              <a:spcAft>
                <a:spcPts val="800"/>
              </a:spcAft>
              <a:buNone/>
            </a:pPr>
            <a:r>
              <a:rPr lang="en-US" sz="1800" dirty="0">
                <a:solidFill>
                  <a:schemeClr val="tx1"/>
                </a:solidFill>
              </a:rPr>
              <a:t>C.  Keep the line; LMWH ≥ 3 months or until removal, whichever longer</a:t>
            </a:r>
            <a:endParaRPr lang="en-US" sz="1800" dirty="0"/>
          </a:p>
          <a:p>
            <a:pPr indent="0" marL="0">
              <a:spcAft>
                <a:spcPts val="800"/>
              </a:spcAft>
              <a:buNone/>
            </a:pPr>
            <a:r>
              <a:rPr lang="en-US" sz="1800" dirty="0">
                <a:solidFill>
                  <a:schemeClr val="tx1"/>
                </a:solidFill>
              </a:rPr>
              <a:t>D.  Keep the line and observe without anticoagulation</a:t>
            </a:r>
            <a:endParaRPr lang="en-US" sz="1800" dirty="0"/>
          </a:p>
          <a:p>
            <a:pPr indent="0" marL="0">
              <a:spcAft>
                <a:spcPts val="800"/>
              </a:spcAft>
              <a:buNone/>
            </a:pPr>
            <a:r>
              <a:rPr lang="en-US" sz="1800" dirty="0">
                <a:solidFill>
                  <a:schemeClr val="tx1"/>
                </a:solidFill>
              </a:rPr>
              <a:t>E.  Start low-dose warfarin prophylaxis for future lines only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keep the line and anticoagulate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Box 7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Keep the line; LMWH ≥ 3 months or until removal, whichever longer</a:t>
            </a:r>
            <a:endParaRPr lang="en-US" sz="2000" dirty="0"/>
          </a:p>
        </p:txBody>
      </p:sp>
      <p:sp>
        <p:nvSpPr>
          <p:cNvPr id="7" name="Text 7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Removing a catheter does not improve outcome; remove it only if nonfunctional, no longer needed or infected. Acute CRT needs anticoagulation whether or not the line is removed, preferably LMWH, for 3 months or as long as the catheter is in place, whichever is longer.</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haematuria on day 28</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sp>
        <p:nvSpPr>
          <p:cNvPr id="6" name="Text 79"/>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35-year-old man is 28 days after haploidentical PBSC HCT with post-transplant cyclophosphamide and mesna. Neutrophils engrafted on day 18. He now has macroscopic haematuria with clots, dysuria and suprapubic pain. Urine BKPyV DNA is 10⁹ copies/mL and plasma BKPyV DNA 10⁴ copies/mL. Which statement is correct?</a:t>
            </a:r>
            <a:endParaRPr lang="en-US" sz="1900" dirty="0"/>
          </a:p>
        </p:txBody>
      </p:sp>
      <p:sp>
        <p:nvSpPr>
          <p:cNvPr id="7" name="Text 80"/>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This is early-onset HC from acrolein; mesna failed</a:t>
            </a:r>
            <a:endParaRPr lang="en-US" sz="1800" dirty="0"/>
          </a:p>
          <a:p>
            <a:pPr indent="0" marL="0">
              <a:spcAft>
                <a:spcPts val="800"/>
              </a:spcAft>
              <a:buNone/>
            </a:pPr>
            <a:r>
              <a:rPr lang="en-US" sz="1800" dirty="0">
                <a:solidFill>
                  <a:schemeClr val="tx1"/>
                </a:solidFill>
              </a:rPr>
              <a:t>B.  This is late-onset BKPyV-HC; hydrate and consider cidofovir</a:t>
            </a:r>
            <a:endParaRPr lang="en-US" sz="1800" dirty="0"/>
          </a:p>
          <a:p>
            <a:pPr indent="0" marL="0">
              <a:spcAft>
                <a:spcPts val="800"/>
              </a:spcAft>
              <a:buNone/>
            </a:pPr>
            <a:r>
              <a:rPr lang="en-US" sz="1800" dirty="0">
                <a:solidFill>
                  <a:schemeClr val="tx1"/>
                </a:solidFill>
              </a:rPr>
              <a:t>C.  Ciprofloxacin prophylaxis would have prevented it</a:t>
            </a:r>
            <a:endParaRPr lang="en-US" sz="1800" dirty="0"/>
          </a:p>
          <a:p>
            <a:pPr indent="0" marL="0">
              <a:spcAft>
                <a:spcPts val="800"/>
              </a:spcAft>
              <a:buNone/>
            </a:pPr>
            <a:r>
              <a:rPr lang="en-US" sz="1800" dirty="0">
                <a:solidFill>
                  <a:schemeClr val="tx1"/>
                </a:solidFill>
              </a:rPr>
              <a:t>D.  Continuous bladder irrigation beats hyperhydration as prevention</a:t>
            </a:r>
            <a:endParaRPr lang="en-US" sz="1800" dirty="0"/>
          </a:p>
          <a:p>
            <a:pPr indent="0" marL="0">
              <a:spcAft>
                <a:spcPts val="800"/>
              </a:spcAft>
              <a:buNone/>
            </a:pPr>
            <a:r>
              <a:rPr lang="en-US" sz="1800" dirty="0">
                <a:solidFill>
                  <a:schemeClr val="tx1"/>
                </a:solidFill>
              </a:rPr>
              <a:t>E.  Weekly BK monitoring should guide pre-emptive therapy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BK virus drives late-onset HC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sp>
        <p:nvSpPr>
          <p:cNvPr id="6" name="Box 81"/>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This is late-onset BKPyV-HC; hydrate and consider cidofovir</a:t>
            </a:r>
            <a:endParaRPr lang="en-US" sz="2000" dirty="0"/>
          </a:p>
        </p:txBody>
      </p:sp>
      <p:sp>
        <p:nvSpPr>
          <p:cNvPr id="7" name="Text 82"/>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Onset at engraftment, cystitis symptoms and viruria &gt; 10⁷ copies/mL define BKPyV-HC. Treat with hyperhydration and forced diuresis, with IV (plus probenecid) or intravesical cidofovir. Early HC occurs within 48 h of conditioning. Fluoroquinolones, bladder irrigation and routine BK monitoring are not recommended.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8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Shah R, Savani BN, Chaturvedi S. Bleeding and thrombotic complications. In: Sureda A, Corbacioglu S, Greco R, Kröger N, Carreras E, editors. The EBMT Handbook: Hematopoietic Cell Transplantation and Cellular Therapies. 8th ed. Cham: Springer; 2024. p. 355–63. https://doi.org/10.1007/978-3-031-44080-9_40</a:t>
            </a:r>
            <a:endParaRPr lang="en-US" sz="1100" dirty="0"/>
          </a:p>
          <a:p>
            <a:pPr indent="0" marL="0">
              <a:spcAft>
                <a:spcPts val="700"/>
              </a:spcAft>
              <a:buNone/>
            </a:pPr>
            <a:r>
              <a:rPr lang="en-US" sz="1100" dirty="0">
                <a:solidFill>
                  <a:schemeClr val="tx1"/>
                </a:solidFill>
              </a:rPr>
              <a:t>2. Cesaro S. Haemorrhagic cystitis and renal dysfunction. In: Sureda A, Corbacioglu S, Greco R, Kröger N, Carreras E, editors. The EBMT Handbook: Hematopoietic Cell Transplantation and Cellular Therapies. 8th ed. Cham: Springer; 2024. p. 465–9. https://doi.org/10.1007/978-3-031-44080-9_51</a:t>
            </a:r>
            <a:endParaRPr lang="en-US" sz="1100" dirty="0"/>
          </a:p>
          <a:p>
            <a:pPr indent="0" marL="0">
              <a:spcAft>
                <a:spcPts val="700"/>
              </a:spcAft>
              <a:buNone/>
            </a:pPr>
            <a:r>
              <a:rPr lang="en-US" sz="1100" dirty="0">
                <a:solidFill>
                  <a:schemeClr val="tx1"/>
                </a:solidFill>
              </a:rPr>
              <a:t>3. Gerber DE, Segal JB, Levy MY, Kane J, Jones RJ, Streiff MB. The incidence and risk factors for venous thromboembolism (VTE) and bleeding among 1514 patients undergoing hematopoietic stem cell transplantation: implications for VTE prevention. Blood. 2008;112:504–10.</a:t>
            </a:r>
            <a:endParaRPr lang="en-US" sz="1100" dirty="0"/>
          </a:p>
          <a:p>
            <a:pPr indent="0" marL="0">
              <a:spcAft>
                <a:spcPts val="700"/>
              </a:spcAft>
              <a:buNone/>
            </a:pPr>
            <a:r>
              <a:rPr lang="en-US" sz="1100" dirty="0">
                <a:solidFill>
                  <a:schemeClr val="tx1"/>
                </a:solidFill>
              </a:rPr>
              <a:t>4. Pihusch R, Salat C, Schmidt E, Gohring P, Pihusch M, Hiller E, et al. Hemostatic complications in bone marrow transplantation: a retrospective analysis of 447 patients. Transplantation. 2002;74:1303–9.</a:t>
            </a:r>
            <a:endParaRPr lang="en-US" sz="1100" dirty="0"/>
          </a:p>
        </p:txBody>
      </p:sp>
      <p:sp>
        <p:nvSpPr>
          <p:cNvPr id="6" name="Text 8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Gonsalves A, Carrier M, Wells PS, McDiarmid SA, Huebsch LB, Allan DS. Incidence of symptomatic venous thromboembolism following hematopoietic stem cell transplantation. J Thromb Haemost. 2008;6:1468–73.</a:t>
            </a:r>
            <a:endParaRPr lang="en-US" sz="1100" dirty="0"/>
          </a:p>
          <a:p>
            <a:pPr indent="0" marL="0">
              <a:spcAft>
                <a:spcPts val="700"/>
              </a:spcAft>
              <a:buNone/>
            </a:pPr>
            <a:r>
              <a:rPr lang="en-US" sz="1100" dirty="0">
                <a:solidFill>
                  <a:schemeClr val="tx1"/>
                </a:solidFill>
              </a:rPr>
              <a:t>6. Cortelezzi A, Moia M, Falanga A, et al. Incidence of thrombotic complications in patients with haematological malignancies with central venous catheters: a prospective multicentre study. Br J Haematol. 2005;129(6):811–7.</a:t>
            </a:r>
            <a:endParaRPr lang="en-US" sz="1100" dirty="0"/>
          </a:p>
          <a:p>
            <a:pPr indent="0" marL="0">
              <a:spcAft>
                <a:spcPts val="700"/>
              </a:spcAft>
              <a:buNone/>
            </a:pPr>
            <a:r>
              <a:rPr lang="en-US" sz="1100" dirty="0">
                <a:solidFill>
                  <a:schemeClr val="tx1"/>
                </a:solidFill>
              </a:rPr>
              <a:t>7. Samama MM, Cohen AT, Darmon JY, Desjardins L, Eldor A, Janbon C, et al. A comparison of enoxaparin with placebo for the prevention of venous thromboembolism in acutely ill medical patients. N Engl J Med. 1999;341:793–800.</a:t>
            </a:r>
            <a:endParaRPr lang="en-US" sz="1100" dirty="0"/>
          </a:p>
          <a:p>
            <a:pPr indent="0" marL="0">
              <a:spcAft>
                <a:spcPts val="700"/>
              </a:spcAft>
              <a:buNone/>
            </a:pPr>
            <a:r>
              <a:rPr lang="en-US" sz="1100" dirty="0">
                <a:solidFill>
                  <a:schemeClr val="tx1"/>
                </a:solidFill>
              </a:rPr>
              <a:t>8. Barlogie B, Tricot G, Anaissie E, Shaughnessy J, Rasmussen E, van Rhee F, et al. Thalidomide and hematopoietic-cell transplantation for multiple myeloma. N Engl J Med. 2006;354:1021–30.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8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McCarthy PL, Owzar K, Hofmeister CC, Hurd DD, Hassoun H, Richardson PG, et al. Lenalidomide after stem-cell transplantation for multiple myeloma. N Engl J Med. 2012;366:1770–81.</a:t>
            </a:r>
            <a:endParaRPr lang="en-US" sz="1100" dirty="0"/>
          </a:p>
          <a:p>
            <a:pPr indent="0" marL="0">
              <a:spcAft>
                <a:spcPts val="700"/>
              </a:spcAft>
              <a:buNone/>
            </a:pPr>
            <a:r>
              <a:rPr lang="en-US" sz="1100" dirty="0">
                <a:solidFill>
                  <a:schemeClr val="tx1"/>
                </a:solidFill>
              </a:rPr>
              <a:t>10. Palumbo A, Cavo M, Bringhen S, Zamagni E, Romano A, Patriarca F, et al. Aspirin, warfarin, or enoxaparin thromboprophylaxis in patients with multiple myeloma treated with thalidomide: a phase III, open-label, randomized trial. J Clin Oncol. 2011;29:986–93.</a:t>
            </a:r>
            <a:endParaRPr lang="en-US" sz="1100" dirty="0"/>
          </a:p>
          <a:p>
            <a:pPr indent="0" marL="0">
              <a:spcAft>
                <a:spcPts val="700"/>
              </a:spcAft>
              <a:buNone/>
            </a:pPr>
            <a:r>
              <a:rPr lang="en-US" sz="1100" dirty="0">
                <a:solidFill>
                  <a:schemeClr val="tx1"/>
                </a:solidFill>
              </a:rPr>
              <a:t>11. Young AM, Billingham LJ, Begum G, Kerr DJ, Hughes AI, Rea DW, et al. Warfarin thromboprophylaxis in cancer patients with central venous catheters (WARP): an open-label randomised trial. Lancet. 2009;373:567–74.</a:t>
            </a:r>
            <a:endParaRPr lang="en-US" sz="1100" dirty="0"/>
          </a:p>
          <a:p>
            <a:pPr indent="0" marL="0">
              <a:spcAft>
                <a:spcPts val="700"/>
              </a:spcAft>
              <a:buNone/>
            </a:pPr>
            <a:r>
              <a:rPr lang="en-US" sz="1100" dirty="0">
                <a:solidFill>
                  <a:schemeClr val="tx1"/>
                </a:solidFill>
              </a:rPr>
              <a:t>12. Akl EA, Karmath G, Yosuico V, Yosuico VE, Barba M, Sperati F, et al. Anticoagulation for thrombosis prophylaxis in cancer patients with central venous catheters. Cochrane Database Syst Rev. 2007;18:CD006468.</a:t>
            </a:r>
            <a:endParaRPr lang="en-US" sz="1100" dirty="0"/>
          </a:p>
        </p:txBody>
      </p:sp>
      <p:sp>
        <p:nvSpPr>
          <p:cNvPr id="6" name="Text 8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Martens KL, da Costa WL, Amos CI, et al. HIGH-2-LOW risk model to predict venous thromboembolism in allogeneic transplant patients after platelet engraftment. Blood Adv. 2021;5(1):167–75. https://doi.org/10.1182/bloodadvances.2020003353.</a:t>
            </a:r>
            <a:endParaRPr lang="en-US" sz="1100" dirty="0"/>
          </a:p>
          <a:p>
            <a:pPr indent="0" marL="0">
              <a:spcAft>
                <a:spcPts val="700"/>
              </a:spcAft>
              <a:buNone/>
            </a:pPr>
            <a:r>
              <a:rPr lang="en-US" sz="1100" dirty="0">
                <a:solidFill>
                  <a:schemeClr val="tx1"/>
                </a:solidFill>
              </a:rPr>
              <a:t>14. Gangaraju R, Chen Y, Hageman L, et al. Late-occurring venous thromboembolism in allogeneic blood or marrow transplant survivors: a BMTSS-HiGHS2 risk model. Blood Adv. 2021;5(20):4102–11. https://doi.org/10.1182/bloodadvances.2021004341.</a:t>
            </a:r>
            <a:endParaRPr lang="en-US" sz="1100" dirty="0"/>
          </a:p>
          <a:p>
            <a:pPr indent="0" marL="0">
              <a:spcAft>
                <a:spcPts val="700"/>
              </a:spcAft>
              <a:buNone/>
            </a:pPr>
            <a:r>
              <a:rPr lang="en-US" sz="1100" dirty="0">
                <a:solidFill>
                  <a:schemeClr val="tx1"/>
                </a:solidFill>
              </a:rPr>
              <a:t>15. Kovacs MJ, Kahn SR, Rodger M, Anderson DR, Andreou R, Mangel JE, et al. A pilot study of central venous catheter survival in cancer patients usinglow-molecular-weight heparin (dalteparin) and warfarin without catheter removal for the treatment of upper extremity deep vein thrombosis (the catheter study). J Thromb Haemost. 2007;5:1650–3.</a:t>
            </a:r>
            <a:endParaRPr lang="en-US" sz="1100" dirty="0"/>
          </a:p>
          <a:p>
            <a:pPr indent="0" marL="0">
              <a:spcAft>
                <a:spcPts val="700"/>
              </a:spcAft>
              <a:buNone/>
            </a:pPr>
            <a:r>
              <a:rPr lang="en-US" sz="1100" dirty="0">
                <a:solidFill>
                  <a:schemeClr val="tx1"/>
                </a:solidFill>
              </a:rPr>
              <a:t>16. Ganguly N, Clough LA, Dubois LK, et al. Low-dose cidofovir in the treatment of symptomatic BK virus infection in patients undergoing allogeneic hematopoietic stem cell transplantation: a retrospective analysis of an algorithmic approach. Transpl Infect Dis. 2010;12:406–11.</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8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Bridges B, Donegan S, Badros A. Cidofovir bladder instillation for the treatment of BK hemorrhagic cystitis after allogeneic stem cell transplantation. Am J Hematol. 2006;81:535–7.</a:t>
            </a:r>
            <a:endParaRPr lang="en-US" sz="1100" dirty="0"/>
          </a:p>
          <a:p>
            <a:pPr indent="0" marL="0">
              <a:spcAft>
                <a:spcPts val="700"/>
              </a:spcAft>
              <a:buNone/>
            </a:pPr>
            <a:r>
              <a:rPr lang="en-US" sz="1100" dirty="0">
                <a:solidFill>
                  <a:schemeClr val="tx1"/>
                </a:solidFill>
              </a:rPr>
              <a:t>18. Tirindelli MC, Flammia GP, Bove P, et al. Fibrin glue therapy for severe hemorrhagic cystitis after allogeneic hematopoietic stem cell transplantation. Biol Blood Marrow Transplant. 2014;20:1612–7.</a:t>
            </a:r>
            <a:endParaRPr lang="en-US" sz="1100" dirty="0"/>
          </a:p>
          <a:p>
            <a:pPr indent="0" marL="0">
              <a:spcAft>
                <a:spcPts val="700"/>
              </a:spcAft>
              <a:buNone/>
            </a:pPr>
            <a:r>
              <a:rPr lang="en-US" sz="1100" dirty="0">
                <a:solidFill>
                  <a:schemeClr val="tx1"/>
                </a:solidFill>
              </a:rPr>
              <a:t>19. Ringden O, Uzunel M, Sundberg B, et al. Tissue repair using allogeneic mesenchymal stem cells for hemorrhagic cystitis, pneumomediastinum and perforated colon. Leukemia. 2007;21:2271–6.</a:t>
            </a:r>
            <a:endParaRPr lang="en-US" sz="1100" dirty="0"/>
          </a:p>
        </p:txBody>
      </p:sp>
      <p:sp>
        <p:nvSpPr>
          <p:cNvPr id="6" name="Text 8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20. Hashmi H, Mirza AS, Darwin A, et al. Venous thromboembolism associated with CD19-directed CAR T-cell therapy in large B-cell lymphoma. Blood Adv. 2020;4(17):4086–90. https://doi.org/10.1182/bloodadvances.2020002060.</a:t>
            </a:r>
            <a:endParaRPr lang="en-US" sz="1100" dirty="0"/>
          </a:p>
          <a:p>
            <a:pPr indent="0" marL="0">
              <a:spcAft>
                <a:spcPts val="700"/>
              </a:spcAft>
              <a:buNone/>
            </a:pPr>
            <a:r>
              <a:rPr lang="en-US" sz="1100" dirty="0">
                <a:solidFill>
                  <a:schemeClr val="tx1"/>
                </a:solidFill>
              </a:rPr>
              <a:t>21. Parks AL, Kambhampati S, Fakhri B, et al. Incidence, management and outcomes of arterial and venous thrombosis after chimeric antigen receptor modified T cells for B cell lymphoma and multiple myeloma. Leuk Lymphoma. 2021;62(4):1003–6. https://doi.org/10.1080/10428194.2020.1852474.</a:t>
            </a:r>
            <a:endParaRPr lang="en-US" sz="1100" dirty="0"/>
          </a:p>
          <a:p>
            <a:pPr indent="0" marL="0">
              <a:spcAft>
                <a:spcPts val="700"/>
              </a:spcAft>
              <a:buNone/>
            </a:pPr>
            <a:r>
              <a:rPr lang="en-US" sz="1100" dirty="0">
                <a:solidFill>
                  <a:schemeClr val="tx1"/>
                </a:solidFill>
              </a:rPr>
              <a:t>22. Johnsrud A, Craig J, Baird J, et al. Incidence and risk factors associated with bleeding and thrombosis following chimeric antigen receptor T-cell therapy. Blood Adv. 2021;5(21):4465–75. https://doi.org/10.1182/bloodadvances.2021004716.</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KIDNEY · CAUSES OF AKI</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AKI after HCT arises at every level of the kidney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27" name="Table 8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8430768"/>
              </a:tblGrid>
              <a:tr h="0">
                <a:tc>
                  <a:txBody>
                    <a:bodyPr/>
                    <a:lstStyle/>
                    <a:p>
                      <a:pPr indent="0" marL="0">
                        <a:buNone/>
                      </a:pPr>
                      <a:r>
                        <a:rPr lang="en-US" sz="1800" b="1" dirty="0">
                          <a:solidFill>
                            <a:schemeClr val="tx1"/>
                          </a:solidFill>
                        </a:rPr>
                        <a:t>Level</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Causes after HCT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Prerenal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Sepsis, engraftment syndrome, SOS/VOD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Glomerular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Transplant-associated microangiopathy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Tubular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ATN (dehydration, sepsis, shock, ES), drugs, tumour lysis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Interstitial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Acute GVHD; BKPyV or adenovirus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Post-renal</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BK or adenovirus cystitis, retroperitoneal fibrosis, nodes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KIDNEY · RISK FACTORS FOR AKI</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Nephrotoxic drugs add to baseline kidney risk at every stage of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28" name="Table 9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8065008"/>
              </a:tblGrid>
              <a:tr h="0">
                <a:tc>
                  <a:txBody>
                    <a:bodyPr/>
                    <a:lstStyle/>
                    <a:p>
                      <a:pPr indent="0" marL="0">
                        <a:buNone/>
                      </a:pPr>
                      <a:r>
                        <a:rPr lang="en-US" sz="1800" b="1" dirty="0">
                          <a:solidFill>
                            <a:schemeClr val="tx1"/>
                          </a:solidFill>
                        </a:rPr>
                        <a:t>Source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Risk factors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Before 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Diabetes, hypertension, renal impairment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Conditioning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Ifosfamide, CY, carboplatin, cisplatin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GVHD treatment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MTX, ciclosporin, tacrolimus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Anti-infectives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Liposomal amphotericin B, aminoglycosides, vancomycin</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Critical illness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ICU admission, mechanical ventilation</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HAEMOSTASIS · CAR-T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CAR-T also carries VTE and bleeding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29" name="Table 91"/>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569464"/>
                <a:gridCol w="3666744"/>
                <a:gridCol w="4581144"/>
              </a:tblGrid>
              <a:tr h="0">
                <a:tc>
                  <a:txBody>
                    <a:bodyPr/>
                    <a:lstStyle/>
                    <a:p>
                      <a:pPr indent="0" marL="0">
                        <a:buNone/>
                      </a:pPr>
                      <a:r>
                        <a:rPr lang="en-US" sz="1800" b="1" dirty="0">
                          <a:solidFill>
                            <a:schemeClr val="tx1"/>
                          </a:solidFill>
                        </a:rPr>
                        <a:t>Study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Population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Findings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Hashmi 2020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148, CD19 CAR-T for LBCL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VTE 11% by day 100; no major bleeding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Parks 2021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91, NHL or myeloma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VTE 9% by day 60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Johnsrud 2021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VTE 6.3%, bleeding 9.4% in 3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Associations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ICANS grade ≥ 3</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Linked to both bleeding and thrombosis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92"/>
          <p:cNvSpPr txBox="1"/>
          <p:nvPr/>
        </p:nvSpPr>
        <p:spPr>
          <a:xfrm>
            <a:off x="685800" y="39319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Anticoagulation for VTE may be safe when platelets are &gt; 50 × 10⁹/L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Bleeding, thrombosis, haemorrhagic cystitis and kidney</dc:title>
  <dc:subject>PptxGenJS Presentation</dc:subject>
  <dc:creator>Hsieh-Ting Lin, MD</dc:creator>
  <cp:lastModifiedBy>Hsieh-Ting Lin, MD</cp:lastModifiedBy>
  <cp:revision>1</cp:revision>
  <dcterms:created xsi:type="dcterms:W3CDTF">2026-10-09T16:11:59Z</dcterms:created>
  <dcterms:modified xsi:type="dcterms:W3CDTF">2026-10-09T16:11:59Z</dcterms:modified>
</cp:coreProperties>
</file>