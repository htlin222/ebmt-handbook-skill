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db0ee06-9519-3e10-1db4-60b6ba5a999c}">
          <p14:sldIdLst>
            <p14:sldId id="256"/>
            <p14:sldId id="257"/>
          </p14:sldIdLst>
        </p14:section>
        <p14:section name="Myeloma: first line" id="{2e6a7257-a7bf-cfef-d69f-1a433968fdc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yeloma: relapse" id="{f35d7b79-2303-951c-4d21-2ae37d81f7d1}">
          <p14:sldIdLst>
            <p14:sldId id="264"/>
            <p14:sldId id="265"/>
          </p14:sldIdLst>
        </p14:section>
        <p14:section name="AL amyloidosis" id="{d735357e-af3c-a882-5b6a-8f1d095b58c2}">
          <p14:sldIdLst>
            <p14:sldId id="266"/>
            <p14:sldId id="267"/>
            <p14:sldId id="268"/>
          </p14:sldIdLst>
        </p14:section>
        <p14:section name="POEMS and MIDD" id="{248b3bad-85ca-578f-f28a-683281d0fd08}">
          <p14:sldIdLst>
            <p14:sldId id="269"/>
            <p14:sldId id="270"/>
            <p14:sldId id="271"/>
          </p14:sldIdLst>
        </p14:section>
        <p14:section name="Board questions" id="{2d059c99-d025-abff-81de-9bc21afc5789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eferences" id="{577c9182-0645-6bd0-01b0-aef1ea8cf9df}">
          <p14:sldIdLst>
            <p14:sldId id="278"/>
            <p14:sldId id="279"/>
            <p14:sldId id="280"/>
          </p14:sldIdLst>
        </p14:section>
        <p14:section name="Backup" id="{dbce1548-9c6a-a233-25da-fa62dd4c57b8}">
          <p14:sldIdLst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各位好，第 27 堂講 plasma cell disorder 的移植，對應 EBMT Handbook 第 81、82、83 章。前半段是 multiple myeloma，從誰能做 AHCT 一路講到 maintenance 和 CAR-T；後半段是 AL amyloidosis、POEMS syndrome 和 monoclonal Ig deposition disease，這三個病都用 melphalan 做 auto，但各有各的陷阱。最後一樣是三題 board-style 題目。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今天分四段。第一段大約十分鐘，講 newly diagnosed myeloma 的整條移植路線，誰能做 AHCT、怎麼分期、induction 用什麼、AHCT 到底帶來 PFS 還是 OS、第二次移植給誰，以及 lenalidomide maintenance。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第二段講復發，包括 salvage AHCT、allo-HCT 為什麼只能在 trial 裡做，還有兩個 BCMA CAR-T 產品。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第三段是三個比較少見、但很愛考的疾病。AL amyloidosis 的重點是心臟分期決定治療強度；POEMS 的重點是診斷條件和移植後的 engraftment syndrome；MIDD 則看腎臟。最後三題，各對應一個疾病。</a:t>
            </a:r>
          </a:p>
          <a:p>
            <a:pPr>
              <a:spcAft>
                <a:spcPts val="600"/>
              </a:spcAft>
            </a:pPr>
            <a:r>
              <a:rPr lang="en-US" dirty="0"/>
              <a:t>這三章篇幅都不長，所以今天會把書上的表格、劑量和 trial 名稱盡量放進來，三題也都直接從這三章出。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1:30 至 3:00]</a:t>
            </a:r>
          </a:p>
          <a:p>
            <a:pPr>
              <a:spcAft>
                <a:spcPts val="600"/>
              </a:spcAft>
            </a:pPr>
            <a:r>
              <a:rPr lang="en-US" dirty="0"/>
              <a:t>Myeloma 的第一個問題是誰能做 AHCT。書上的立場很清楚，HDT 加 AHCT 仍是 young and fit、newly diagnosed 病人的 standard of care。Randomized trial 把年齡上限設在 65 歲，是為了減少 selection bias 和毒性，不代表 65 歲以上不能做。書上引用一個中位年齡 72 歲的研究，用 melphalan 140 mg/m² 結果很好，現在很多中心做到 70 歲，甚至 75 歲。</a:t>
            </a:r>
          </a:p>
          <a:p>
            <a:pPr>
              <a:spcAft>
                <a:spcPts val="600"/>
              </a:spcAft>
            </a:pPr>
            <a:r>
              <a:rPr lang="en-US" dirty="0"/>
              <a:t>腎功能不全本身不是禁忌，建議 melphalan 降到 140，因為這些病人比較容易出現 high-dose melphalan 的毒性。洗腎的病人 mucositis 和感染比較多，但 PFS 和 OS 跟配對的腎功能正常病人差不多，還有一部分病人移植後脫離洗腎。考題常把 renal failure 寫成禁忌，這是錯的。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最後一列是 conditioning。標準是 IV melphalan 200 mg/m²，換成 busulfan 毒性比較高又沒有勝出，加 bortezomib 也沒有好處，加 bendamustine 還在研究。所以記兩個數字就好，標準 200，年紀大或腎不好用 140。</a:t>
            </a:r>
          </a:p>
          <a:p>
            <a:pPr>
              <a:spcAft>
                <a:spcPts val="600"/>
              </a:spcAft>
            </a:pPr>
            <a:r>
              <a:rPr lang="en-US" dirty="0"/>
              <a:t>病房實務上，評估的重點是 fitness 而不是年齡；六十多歲、體能好、只有輕度腎功能不全的病人，都應該轉介做移植評估。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3:00 至 4:30]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這張是 Table 81.1 的三套分期，後面講 tandem 和 consolidation 都會用到。ISS 只看兩個數字，β2-microglobulin 小於 3.5 mg/L 而且 albumin 夠高是 stage I，β2-microglobulin 大於 5.5 是 stage III，其餘都是 stage II。</a:t>
            </a:r>
          </a:p>
          <a:p>
            <a:pPr>
              <a:spcAft>
                <a:spcPts val="600"/>
              </a:spcAft>
            </a:pPr>
            <a:r>
              <a:rPr lang="en-US" dirty="0"/>
              <a:t>R-ISS 在 ISS 上加了 FISH 和 LDH。R-ISS I 要 ISS I、standard-risk cytogenetics、LDH 正常三項都符合；R-ISS III 是 ISS III 再加上 high-risk cytogenetics 或 LDH 高。High-risk FISH 就是最下面那三個，t(4;14)、t(14;16) 和 del(17p)。</a:t>
            </a:r>
          </a:p>
          <a:p>
            <a:pPr>
              <a:spcAft>
                <a:spcPts val="600"/>
              </a:spcAft>
            </a:pPr>
            <a:r>
              <a:rPr lang="en-US" dirty="0"/>
              <a:t>R2-ISS 改成計分。ISS III 給 1.5 分，ISS II 給 1 分，del(17p) 和 LDH 高各 1 分，1q gain 給 0.5 分，加總 0 分是 I，3 到 5 分是 IV。考試最常考的是 high-risk FISH 的三個異常，還有 1q gain 只值 0.5 分。</a:t>
            </a:r>
          </a:p>
          <a:p>
            <a:pPr>
              <a:spcAft>
                <a:spcPts val="600"/>
              </a:spcAft>
            </a:pPr>
            <a:r>
              <a:rPr lang="en-US" dirty="0"/>
              <a:t>表上 albumin 的 cutoff 照書上印的寫，報告前會再核對原始定義。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臨床上診斷時就要送 FISH 和 LDH，否則 R-ISS 和 R2-ISS 都算不出來。這些分期後面會用來決定誰需要 tandem AHCT，R-ISS 3 和 high-risk FISH 正是書上建議考慮第二次移植的族群。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TO CONFIRM BEFORE PRESENTING: Table 81.1 prints ISS stage I as albumin &gt; 3.3 g/dL; check the original ISS definition (Greipp 2005) before quoting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4:30 至 6:00]</a:t>
            </a:r>
          </a:p>
          <a:p>
            <a:pPr>
              <a:spcAft>
                <a:spcPts val="600"/>
              </a:spcAft>
            </a:pPr>
            <a:r>
              <a:rPr lang="en-US" dirty="0"/>
              <a:t>Induction 的目的有兩個，降低腫瘤負擔讓反應更深，同時不要傷到正常造血，才收得到幹細胞。歷史上的 VAD 已經被含 thalidomide 或 bortezomib 的方案取代。</a:t>
            </a:r>
          </a:p>
          <a:p>
            <a:pPr>
              <a:spcAft>
                <a:spcPts val="600"/>
              </a:spcAft>
            </a:pPr>
            <a:r>
              <a:rPr lang="en-US" dirty="0"/>
              <a:t>三藥勝過兩藥，VTD 比 TD 或 VD 好；VTD 也勝過 VCD，書上解釋為 IMiD 加 proteasome inhibitor 的協同作用。VTD 給六個 cycle 比三到四個反應更深，代價是 neuropathy。VRD 在 IFM 的研究延長 PFS、反應時間和 OS，PETHEMA 的 VRD-GEM 用 full-dose lenalidomide，consolidation 後 MRD 陰性 58%。</a:t>
            </a:r>
          </a:p>
          <a:p>
            <a:pPr>
              <a:spcAft>
                <a:spcPts val="600"/>
              </a:spcAft>
            </a:pPr>
            <a:r>
              <a:rPr lang="en-US" dirty="0"/>
              <a:t>再往上是加 anti-CD38。Cassiopeia 是 D-VTD 對 VTD，Griffin 是 D-VRD 對 VRD，都顯示加 daratumumab 有好處。Lyra 的 Dara-CyBorD 不論 cytogenetics，12 個月 PFS 87%；Dara-KRd 的 phase Ib ORR 100%，而且不影響收集幹細胞。GMMG-HD7 用 isatuximab，三個 cycle 後 MRD 陰性 50.1% 比 35.6%。</a:t>
            </a:r>
          </a:p>
          <a:p>
            <a:pPr>
              <a:spcAft>
                <a:spcPts val="600"/>
              </a:spcAft>
            </a:pPr>
            <a:r>
              <a:rPr lang="en-US" dirty="0"/>
              <a:t>所以 key point 寫至少 triplet，最好是含 anti-CD38 的 quadruplet。</a:t>
            </a:r>
          </a:p>
          <a:p>
            <a:pPr>
              <a:spcAft>
                <a:spcPts val="600"/>
              </a:spcAft>
            </a:pPr>
            <a:r>
              <a:rPr lang="en-US" dirty="0"/>
              <a:t>書上提到的新 phase 3 設計，多半是四個 cycle induction、AHCT、再兩個 cycle consolidation。考題問 induction 至少要幾個藥，答案是三個；問最理想的組合，是加上 anti-CD38 的四藥。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6:00 至 8:00]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 Table 81.2 挑出的五個 trial，問的都是同一件事，novel agent 時代還需不需要 upfront AHCT。PFS 那一欄很一致，IFM 2009 中位數 50 比 36 個月，DETERMINATION 68 比 46 個月，EMN02 是 57 比 42 個月，移植組都比較長。</a:t>
            </a:r>
          </a:p>
          <a:p>
            <a:pPr>
              <a:spcAft>
                <a:spcPts val="600"/>
              </a:spcAft>
            </a:pPr>
            <a:r>
              <a:rPr lang="en-US" dirty="0"/>
              <a:t>OS 那一欄就不同了。IFM 2009 三年 81% 比 82%，DETERMINATION 五年 81% 比 79%，都沒有差異。Caption 是原因之一，IFM 2009 的對照組有 89% 在復發時做了 AHCT，DETERMINATION 只有 29%，可是延後移植的病人存活也沒有輸。</a:t>
            </a:r>
          </a:p>
          <a:p>
            <a:pPr>
              <a:spcAft>
                <a:spcPts val="600"/>
              </a:spcAft>
            </a:pPr>
            <a:r>
              <a:rPr lang="en-US" dirty="0"/>
              <a:t>這兩個 trial 還有一個共同發現，induction 後達到 MRD negativity 的人，不管有沒有做 AHCT，OS 都差不多；而且達到 MRD 陰性的 high-risk cytogenetics 病人，結果比 MRD 陽性的 standard-risk 病人還好。所以書上說 MRD 可能成為決定 consolidation 和 maintenance 的分層工具。</a:t>
            </a:r>
          </a:p>
          <a:p>
            <a:pPr>
              <a:spcAft>
                <a:spcPts val="600"/>
              </a:spcAft>
            </a:pPr>
            <a:r>
              <a:rPr lang="en-US" dirty="0"/>
              <a:t>FORTE 和 Cardamon 用 carfilzomib，結論同樣是移植組 PFS 比較好。書上的結論是 AHCT 仍是 standard of care，好處主要在 PFS；MIDAS 和 MASTER-2 正在測試 quadruplet 加 MRD 能不能取代它。考試問 upfront AHCT 證實了什麼，答案是 PFS，不是 OS。</a:t>
            </a:r>
          </a:p>
          <a:p>
            <a:pPr>
              <a:spcAft>
                <a:spcPts val="600"/>
              </a:spcAft>
            </a:pPr>
            <a:r>
              <a:rPr lang="en-US" dirty="0"/>
              <a:t>EMN02 的對照組不是新藥組合，而是 VMP，也就是 bortezomib、melphalan、prednisone，所以 PFS 差距最大，五年 OS 也是移植組數字較高。讀這張表要看清楚對照組用了什麼、maintenance 給多久，才不會把不同 trial 的數字混在一起比。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Table 81.2 abbreviates carfilzomib regimens as CarLenDex and CarCyDex; the slide uses KRd and KCd. DETERMINATION is listed in Table 81.2 as LenBorDex vs LenBorDex + AHCT; the slide puts the AHCT arm first in both PFS and 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8:00 至 9:30]</a:t>
            </a:r>
          </a:p>
          <a:p>
            <a:pPr>
              <a:spcAft>
                <a:spcPts val="600"/>
              </a:spcAft>
            </a:pPr>
            <a:r>
              <a:rPr lang="en-US" dirty="0"/>
              <a:t>Tandem AHCT 和 consolidation 的證據主要來自兩個 trial，結論剛好相反。EMN02 的 tandem 組反應深度增加，PFS 和 OS 都比較好，死亡和惡化風險降低大約 30%，五年 PFS 54% 比 45%。更重要的是 high-risk 族群也看得到效果，隨機到 double AHCT 是 PFS 的獨立預測因子。</a:t>
            </a:r>
          </a:p>
          <a:p>
            <a:pPr>
              <a:spcAft>
                <a:spcPts val="600"/>
              </a:spcAft>
            </a:pPr>
            <a:r>
              <a:rPr lang="en-US" dirty="0"/>
              <a:t>美國的 StaMINA 則是陰性，tandem 沒有勝過單次 AHCT 加 lenalidomide。要注意的是 tandem 組超過 30% 的病人其實沒有做第二次移植。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Consolidation 也一樣。EMN02 兩個 cycle 的 VRD consolidation 延長 PFS，可是 del(17p)、t(4;14)、t(14;16) 這些 high-risk 病人沒有受益；StaMINA 也看不到好處。歐洲指引沒有正式建議，書上提的實務做法是看移植後反應深度，已經 CR 而且 MRD 測不到就可以省略。</a:t>
            </a:r>
          </a:p>
          <a:p>
            <a:pPr>
              <a:spcAft>
                <a:spcPts val="600"/>
              </a:spcAft>
            </a:pPr>
            <a:r>
              <a:rPr lang="en-US" dirty="0"/>
              <a:t>考試的整合答案是，high-risk cytogenetics 或 R-ISS 3 考慮 tandem，consolidation 屬於選擇性。</a:t>
            </a:r>
          </a:p>
          <a:p>
            <a:pPr>
              <a:spcAft>
                <a:spcPts val="600"/>
              </a:spcAft>
            </a:pPr>
            <a:r>
              <a:rPr lang="en-US" dirty="0"/>
              <a:t>StaMINA 三組 38 個月 PFS 是 59%、58%、54%，六年 OS 73% 到 76%，幾乎重疊。三成病人沒有接受第二次移植，ITT 分析自然會稀釋 tandem 的效果，這是解讀兩個 trial 差異時要記得的背景。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Ch. 81 also states updated EMN02 3-year PFS as '63 months after one AHCT to 73.1 after two'; the units look wrong (probably %), so the slide uses the Table 81.2 5-year figures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9:30 至 11:00]</a:t>
            </a:r>
          </a:p>
          <a:p>
            <a:pPr>
              <a:spcAft>
                <a:spcPts val="600"/>
              </a:spcAft>
            </a:pPr>
            <a:r>
              <a:rPr lang="en-US" dirty="0"/>
              <a:t>AHCT 不是 curative，CR 之後還是會復發，所以要 maintenance。Maintenance 要溫和、長期，和短期的 consolidation 不同。</a:t>
            </a:r>
          </a:p>
          <a:p>
            <a:pPr>
              <a:spcAft>
                <a:spcPts val="600"/>
              </a:spcAft>
            </a:pPr>
            <a:r>
              <a:rPr lang="en-US" dirty="0"/>
              <a:t>Thalidomide 提高反應率，但沒有 OS 好處，neuropathy 和疲倦讓生活品質下降，已經不用。Lenalidomide 是標準，CALGB、IFM、GIMEMA 三個 trial 的 meta-analysis，PFS 52.8 比 23.5 個月，死亡風險下降 25%，中位存活多大約 2.4 年。唯一例外是 60 歲以上、poor cytogenetics 的女性，OS 沒有改善。FDA 和 EMA 核准的用法是低劑量用到惡化或出現毒性。</a:t>
            </a:r>
          </a:p>
          <a:p>
            <a:pPr>
              <a:spcAft>
                <a:spcPts val="600"/>
              </a:spcAft>
            </a:pPr>
            <a:r>
              <a:rPr lang="en-US" dirty="0"/>
              <a:t>代價是 second primary malignancy 稍微增加，不過死於第二癌的時間兩組沒有差別；約 30% 提早停藥是因為毒性或第二癌，所以最佳療程長度仍未確定。</a:t>
            </a:r>
          </a:p>
          <a:p>
            <a:pPr>
              <a:spcAft>
                <a:spcPts val="600"/>
              </a:spcAft>
            </a:pPr>
            <a:r>
              <a:rPr lang="en-US" dirty="0"/>
              <a:t>Bortezomib maintenance 改善 PFS 不改善 OS，又要皮下注射。Ixazomib 只多 5 個月 PFS，沒有在這個情境核准。Anti-CD38 加 lenalidomide 的 phase 3 結果還在等。</a:t>
            </a:r>
          </a:p>
          <a:p>
            <a:pPr>
              <a:spcAft>
                <a:spcPts val="600"/>
              </a:spcAft>
            </a:pPr>
            <a:r>
              <a:rPr lang="en-US" dirty="0"/>
              <a:t>病房常被問 lenalidomide 要吃多久。目前核准的是用到惡化或無法耐受，但因為成本和第二癌，最佳時間仍是開放問題。考試若問哪一個 maintenance 同時改善 PFS 和 OS，只有 lenalidomide。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11:00 至 12:30]</a:t>
            </a:r>
          </a:p>
          <a:p>
            <a:pPr>
              <a:spcAft>
                <a:spcPts val="600"/>
              </a:spcAft>
            </a:pPr>
            <a:r>
              <a:rPr lang="en-US" dirty="0"/>
              <a:t>復發之後有四條路。第一條是 salvage AHCT。英國的 Myeloma X 用 melphalan 200 再移植，對比每週 cyclophosphamide，time to progression 19 比 11 個月，OS 67 比 52 個月。所以第一次移植後間隔夠長，書上舉例至少兩到三年，而且病人 fit，可以考慮。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第二條是德國的 ReLApsE，salvage AHCT 加 lenalidomide maintenance 對比 Rd。71% 的病人做得到移植，但 ITT 分析 PFS 和 OS 都沒有延長。所以書上的結論是，除了少數高度篩選的病人，復發時做 AHCT 的角色是存疑的。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第三條是 allo。Biologic assignment 的 trial 結果互相矛盾，meta-analysis 顯示好處被高 TRM 抵銷。書上只說年輕、high-risk、反應不佳或早期復發的人，可以在 clinical trial 裡考慮。</a:t>
            </a:r>
          </a:p>
          <a:p>
            <a:pPr>
              <a:spcAft>
                <a:spcPts val="600"/>
              </a:spcAft>
            </a:pPr>
            <a:r>
              <a:rPr lang="en-US" dirty="0"/>
              <a:t>第四條是黑色那一格，BCMA CAR-T，下一張看數字。</a:t>
            </a:r>
          </a:p>
          <a:p>
            <a:pPr>
              <a:spcAft>
                <a:spcPts val="600"/>
              </a:spcAft>
            </a:pPr>
            <a:r>
              <a:rPr lang="en-US" dirty="0"/>
              <a:t>Myeloma X 的對照組是復發後 VAD 再 induction，接每週 cyclophosphamide 400 mg/m² 共 12 週，比的是傳統化療。ReLApsE 的對照是現代的 Rd，移植就沒有勝出，新藥時代 salvage AHCT 的空間因此變小。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12:30 至 14:00]</a:t>
            </a:r>
          </a:p>
          <a:p>
            <a:pPr>
              <a:spcAft>
                <a:spcPts val="600"/>
              </a:spcAft>
            </a:pPr>
            <a:r>
              <a:rPr lang="en-US" dirty="0"/>
              <a:t>真正改變 relapsed myeloma 的是 BCMA CAR-T。兩個商業產品是 ide-cel 和 cilta-cel，書上寫的適應症是超過三線、而且用過 IMiD、PI 和 anti-CD38。後來的 phase 3 把它往前推，KarMMa-3 收 2 到 4 線，ide-cel 中位 PFS 13 個月，對照組 4 個月；CARTITUDE-4 收 lenalidomide-refractory、1 到 3 線，cilta-cel 中位 PFS 還沒到，對照組 12 個月。</a:t>
            </a:r>
          </a:p>
          <a:p>
            <a:pPr>
              <a:spcAft>
                <a:spcPts val="600"/>
              </a:spcAft>
            </a:pPr>
            <a:r>
              <a:rPr lang="en-US" dirty="0"/>
              <a:t>兩個產品比較，cilta-cel 在重度治療過的族群 ORR 98%、PFS 35 個月，但 grade 3–4 ICANS 9%，比 ide-cel 高。表上也看得到 high-risk cytogenetics 和 extramedullary disease 的病人占相當比例，反應一樣深。</a:t>
            </a:r>
          </a:p>
          <a:p>
            <a:pPr>
              <a:spcAft>
                <a:spcPts val="600"/>
              </a:spcAft>
            </a:pPr>
            <a:r>
              <a:rPr lang="en-US" dirty="0"/>
              <a:t>ARI0002h 是西班牙的 academic product，分次給藥、三個月後加一劑 booster，ORR 100%，grade 3–4 CRS 和 ICANS 都是 0，代表 point-of-care CAR-T 可以降低成本。CRS 和 ICANS 的處理在第 20 堂講過。書上的 key point 也預告，中期內 AHCT 的角色會被 CAR-T 挑戰。</a:t>
            </a:r>
          </a:p>
          <a:p>
            <a:pPr>
              <a:spcAft>
                <a:spcPts val="600"/>
              </a:spcAft>
            </a:pPr>
            <a:r>
              <a:rPr lang="en-US" dirty="0"/>
              <a:t>KarMMa-3 和 CARTITUDE-4 的對照組都是標準治療組合，所以 CAR-T 在較早線的優勢是隨機比較出來的，不是單臂資料。考試問 BCMA 是什麼，是 B cell maturation antigen；問哪一個產品 ICANS 比較高，看表上的 9%。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TO CONFIRM BEFORE PRESENTING: current EMA/FDA/TFDA labels for ide-cel and cilta-cel by number of prior lines; Ch. 81 states '&gt;3 previous lines' and then reports KarMMa-3 and CARTITUDE-4 in earlier lines.</a:t>
            </a:r>
          </a:p>
          <a:p>
            <a:pPr>
              <a:spcAft>
                <a:spcPts val="600"/>
              </a:spcAft>
            </a:pPr>
            <a:r>
              <a:rPr lang="en-US" dirty="0"/>
              <a:t>- Table 81.3 lists the rows by product only; matching n = 386 to KarMMa-3 and n = 419 to CARTITUDE-4 is the speaker's inference from the PFS values in the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14:00 至 15:30]</a:t>
            </a:r>
          </a:p>
          <a:p>
            <a:pPr>
              <a:spcAft>
                <a:spcPts val="600"/>
              </a:spcAft>
            </a:pPr>
            <a:r>
              <a:rPr lang="en-US" dirty="0"/>
              <a:t>AL amyloidosis 每年每百萬人 5 到 10 例，clonal plasma cell 很少數是 B cell，產生會 misfold 的 light chain，沉積在心、腎、肝、神經、腸胃道和軟組織。有 monoclonal gammopathy 的人，只要出現 HFpEF、nephrotic-range proteinuria、體重減輕、neuropathy、出血傾向或 carpal tunnel syndrome，就要想到它。</a:t>
            </a:r>
          </a:p>
          <a:p>
            <a:pPr>
              <a:spcAft>
                <a:spcPts val="600"/>
              </a:spcAft>
            </a:pPr>
            <a:r>
              <a:rPr lang="en-US" dirty="0"/>
              <a:t>診斷分三步。先評估 clone，free light chain、immunofixation、骨髓、flow、iFISH，加上全身影像排除 symptomatic myeloma。再用 Congo red 證明 amyloid，偏光下 apple-green birefringence，可以切腹部脂肪、唾液腺、上消化道或骨髓。最後一定要 typing，因為 ATTR、AA 的治療完全不同。</a:t>
            </a:r>
          </a:p>
          <a:p>
            <a:pPr>
              <a:spcAft>
                <a:spcPts val="600"/>
              </a:spcAft>
            </a:pPr>
            <a:r>
              <a:rPr lang="en-US" dirty="0"/>
              <a:t>預後看兩邊。Clone 這邊，骨髓 plasma cell 超過 10%、dFLC 高都比較差；t(11;14) 的病人 high-dose melphalan 效果較好。器官這邊用 Mayo 加 European modification 的心臟分期，NT-proBNP 和 troponin，分 I、II、IIIa、IIIb。治療目標是 VGPR，也就是 dFLC 小於 40 mg/L，或 CR。</a:t>
            </a:r>
          </a:p>
          <a:p>
            <a:pPr>
              <a:spcAft>
                <a:spcPts val="600"/>
              </a:spcAft>
            </a:pPr>
            <a:r>
              <a:rPr lang="en-US" dirty="0"/>
              <a:t>這個 clone 通常很小，可能只是 MGUS 或 smoldering 的大小，所以 work-up 要完整。另外 AL 也可以是侷限型，例如咽喉或膀胱，預後很好、治療方式完全不同，不在這一章的範圍。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15:30 至 17:00]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 Table 82.1。AL 的病人很脆弱，標準劑量常常受不了，所以治療強度看心臟分期。Low risk、可以移植的病人是少數，不超過 20%，可以考慮 melphalan 200 加 autoHCT，前面可加 induction；也可以用 Dara-CyBorD。</a:t>
            </a:r>
          </a:p>
          <a:p>
            <a:pPr>
              <a:spcAft>
                <a:spcPts val="600"/>
              </a:spcAft>
            </a:pPr>
            <a:r>
              <a:rPr lang="en-US" dirty="0"/>
              <a:t>中間的 stage II 到 IIIa 用 Dara-CyBorD 或 CyBorD，或 bortezomib-melphalan-dexamethasone；有明顯 neuropathy 的人改用 Mel-dex 或 Len-dex。</a:t>
            </a:r>
          </a:p>
          <a:p>
            <a:pPr>
              <a:spcAft>
                <a:spcPts val="600"/>
              </a:spcAft>
            </a:pPr>
            <a:r>
              <a:rPr lang="en-US" dirty="0"/>
              <a:t>黑色那一格是 high risk，定義是 stage IIIb 或 NYHA III、IV。這群人只能用減量的治療，例如 daratumumab 單藥或 modified CyBorD。</a:t>
            </a:r>
          </a:p>
          <a:p>
            <a:pPr>
              <a:spcAft>
                <a:spcPts val="600"/>
              </a:spcAft>
            </a:pPr>
            <a:r>
              <a:rPr lang="en-US" dirty="0"/>
              <a:t>Andromeda 之後，EMA 在 2021 年核准 Dara-CyBorD 加 daratumumab maintenance 用在 stage I、II、IIIa。六個月時心臟反應 41.5% 比 22.2%，腎臟反應 53.0% 比 23.9%。它是多數病人的首選，但 IIIb 被排除在外，這點很常考。可以移植的病人如果血液反應不到 VGPR，仍然可以接 autoHCT。</a:t>
            </a:r>
          </a:p>
          <a:p>
            <a:pPr>
              <a:spcAft>
                <a:spcPts val="600"/>
              </a:spcAft>
            </a:pPr>
            <a:r>
              <a:rPr lang="en-US" dirty="0"/>
              <a:t>器官反應通常落後，會在血液學反應之後逐步出現，所以治療期間要頻繁追蹤血液學反應。除了心臟分期，選方案時還要看年齡、體能、eGFR、neuropathy 和收縮壓。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17:00 至 18:30]</a:t>
            </a:r>
          </a:p>
          <a:p>
            <a:pPr>
              <a:spcAft>
                <a:spcPts val="600"/>
              </a:spcAft>
            </a:pPr>
            <a:r>
              <a:rPr lang="en-US" dirty="0"/>
              <a:t>AL 做 autoHCT，選病人是成敗關鍵。早期 TRM 大約 20%，把心臟 biomarker 放進篩選之後降到 2%。</a:t>
            </a:r>
          </a:p>
          <a:p>
            <a:pPr>
              <a:spcAft>
                <a:spcPts val="600"/>
              </a:spcAft>
            </a:pPr>
            <a:r>
              <a:rPr lang="en-US" dirty="0"/>
              <a:t>常用的條件是年齡 70 歲以下、PS 0 到 2、NYHA I 或 II，NT-proBNP 小於 5000 ng/L，LVEF 至少 45 到 50%，收縮壓至少 90，沒有嚴重的 orthostatic hypotension，eGFR 大於 40。骨髓 plasma cell 10% 以上、符合 smoldering 或 myeloma 定義的人，先給 induction 再收幹細胞。</a:t>
            </a:r>
          </a:p>
          <a:p>
            <a:pPr>
              <a:spcAft>
                <a:spcPts val="600"/>
              </a:spcAft>
            </a:pPr>
            <a:r>
              <a:rPr lang="en-US" dirty="0"/>
              <a:t>Mobilization 也和 myeloma 不同。G-CSF 可能誘發 capillary leak，在動員或 apheresis 時出現低血氧和低血壓，所以要減量，例如每天 10 μg/kg 給 4 到 5 天；腫瘤負擔低的人不需要 cyclophosphamide。Conditioning 用 melphalan 200，降劑量會讓血液反應和 PFS 變差，那種病人不如走非移植的治療。</a:t>
            </a:r>
          </a:p>
          <a:p>
            <a:pPr>
              <a:spcAft>
                <a:spcPts val="600"/>
              </a:spcAft>
            </a:pPr>
            <a:r>
              <a:rPr lang="en-US" dirty="0"/>
              <a:t>結果很好，EBMT 資料中位存活超過 10 年，HOVON 104 的 TRM 是 0，五年 OS 86%。</a:t>
            </a:r>
          </a:p>
          <a:p>
            <a:pPr>
              <a:spcAft>
                <a:spcPts val="600"/>
              </a:spcAft>
            </a:pPr>
            <a:r>
              <a:rPr lang="en-US" dirty="0"/>
              <a:t>這些門檻和 myeloma 很不一樣。Myeloma 洗腎也能做 auto，AL 卻要 eGFR 大於 40；同樣是 melphalan 200，myeloma 腎不好可以降到 140，AL 降劑量就失去意義。兩章對照時這裡最容易考。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18:30 至 20:00]</a:t>
            </a:r>
          </a:p>
          <a:p>
            <a:pPr>
              <a:spcAft>
                <a:spcPts val="600"/>
              </a:spcAft>
            </a:pPr>
            <a:r>
              <a:rPr lang="en-US" dirty="0"/>
              <a:t>POEMS 是 polyneuropathy、organomegaly、endocrinopathy、monoclonal protein、skin changes 的縮寫，又叫 osteosclerotic myeloma、Takatsuki 或 Crow-Fukase syndrome，男性較多，好發在 50 到 60 歲。但診斷不需要五個字母都有。</a:t>
            </a:r>
          </a:p>
          <a:p>
            <a:pPr>
              <a:spcAft>
                <a:spcPts val="600"/>
              </a:spcAft>
            </a:pPr>
            <a:r>
              <a:rPr lang="en-US" dirty="0"/>
              <a:t>診斷公式是兩個 mandatory 加一個 major 加一個 minor。Mandatory 是 polyneuropathy 和 clonal plasma cell disorder，M-protein 幾乎都是 λ，通常是 IgA 或 IgG，量不超過 3 g/dL。Major 是 Castleman disease、sclerotic bone lesion、VEGF 上升三選一。</a:t>
            </a:r>
          </a:p>
          <a:p>
            <a:pPr>
              <a:spcAft>
                <a:spcPts val="600"/>
              </a:spcAft>
            </a:pPr>
            <a:r>
              <a:rPr lang="en-US" dirty="0"/>
              <a:t>VEGF 是和疾病活性最相關的 cytokine，plasma 200 pg/mL 以上、serum 1920 以上有診斷價值。Minor 有六項，其中 endocrinopathy 最常見的是 hypogonadism；因為糖尿病和甲狀腺異常太常見，單獨出現不算。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臨床上要和 CIDP 以及 CANOMAD 區分。一個 demyelinating neuropathy 的病人如果有 λ 的小 M-protein 加上 sclerotic lesion，就要抽 VEGF。</a:t>
            </a:r>
          </a:p>
          <a:p>
            <a:pPr>
              <a:spcAft>
                <a:spcPts val="600"/>
              </a:spcAft>
            </a:pPr>
            <a:r>
              <a:rPr lang="en-US" dirty="0"/>
              <a:t>其他線索還有 PEST，papilledema、extravascular volume overload、sclerotic bone lesion、thrombocytosis 或 erythrocytosis，以及肺功能異常和血栓傾向。Castleman variant 如果沒有 plasma cell disorder，要當成另一個疾病。貧血或血小板低在 POEMS 很少見，除非合併 Castleman。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20:00 至 21:30]</a:t>
            </a:r>
          </a:p>
          <a:p>
            <a:pPr>
              <a:spcAft>
                <a:spcPts val="600"/>
              </a:spcAft>
            </a:pPr>
            <a:r>
              <a:rPr lang="en-US" dirty="0"/>
              <a:t>POEMS 的治療先問一件事，骨病灶是不是侷限的。單一或少數侷限的病灶，放射治療 35 到 50 Gy，症狀會改善，甚至可以治癒。</a:t>
            </a:r>
          </a:p>
          <a:p>
            <a:pPr>
              <a:spcAft>
                <a:spcPts val="600"/>
              </a:spcAft>
            </a:pPr>
            <a:r>
              <a:rPr lang="en-US" dirty="0"/>
              <a:t>瀰散的病人，lenalidomide 加 dexamethasone 是 frontline 主力。替代方案有 Mel-dex、Cy 加或不加 dex；thalidomide 和 bortezomib 因為本身會造成 neuropathy，用途有限。支持性照顧，像復健和 orthotics，一定要做。</a:t>
            </a:r>
          </a:p>
          <a:p>
            <a:pPr>
              <a:spcAft>
                <a:spcPts val="600"/>
              </a:spcAft>
            </a:pPr>
            <a:r>
              <a:rPr lang="en-US" dirty="0"/>
              <a:t>體能好的瀰散病人可以做 autoHCT，可以 upfront，但多半先用 Len-dex 控制症狀。Conditioning 是 melphalan 140 到 200。EBMT 的資料 1 年 NRM 3.3%，最大的系列三年 PFS 84%、OS 94%，五年 PFS 74%、OS 89%。</a:t>
            </a:r>
          </a:p>
          <a:p>
            <a:pPr>
              <a:spcAft>
                <a:spcPts val="600"/>
              </a:spcAft>
            </a:pPr>
            <a:r>
              <a:rPr lang="en-US" dirty="0"/>
              <a:t>預後方面，POEMS 是慢性病程，中位存活接近 14 年，很少轉成 myeloma。有 clubbing、extravascular volume overload、呼吸症狀、papilledema 或合併 Castleman 的人存活較短；血液學 CR、albumin 大於 3.2 g/dL、年輕的人較好。</a:t>
            </a:r>
          </a:p>
          <a:p>
            <a:pPr>
              <a:spcAft>
                <a:spcPts val="600"/>
              </a:spcAft>
            </a:pPr>
            <a:r>
              <a:rPr lang="en-US" dirty="0"/>
              <a:t>反應評估也很特別。M-protein 很小，myeloma 的反應標準不適用，VEGF 又和疾病活性不完全一致，所以書上建議同時看四個面向，modified amyloid 血液學反應、VEGF、CT/PET，以及神經、肺功能和水腫的器官反應。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21:30 至 23:30]</a:t>
            </a:r>
          </a:p>
          <a:p>
            <a:pPr>
              <a:spcAft>
                <a:spcPts val="600"/>
              </a:spcAft>
            </a:pPr>
            <a:r>
              <a:rPr lang="en-US" dirty="0"/>
              <a:t>把三個少見疾病的 autoHCT 放在一起比。共同點是都用 melphalan，AL 用 200，POEMS 和 MIDD 用 140 到 200。差別在陷阱。</a:t>
            </a:r>
          </a:p>
          <a:p>
            <a:pPr>
              <a:spcAft>
                <a:spcPts val="600"/>
              </a:spcAft>
            </a:pPr>
            <a:r>
              <a:rPr lang="en-US" dirty="0"/>
              <a:t>MIDD，monoclonal Ig deposition disease，最常見的是 light-chain deposition disease。和 amyloid 不同，它的沉積是 nonfibrillar、幾乎都是 κ、Congo red 不染色。腎臟一定受侵犯，immunofluorescence 看到 light chain 沿著基底膜沉積，造成 nodular glomerulosclerosis、nephrotic syndrome、高血壓和快速惡化的腎功能，診斷靠腎臟切片。傳統 myeloma 化療效果不好，autoHCT 給體況好、或對 myeloma-like 治療沒反應的人。洗腎的病人要在洗腎之後給 melphalan，達到 CR 還在洗腎的人可以考慮腎移植。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POEMS 的陷阱是 engraftment syndrome，最高 50%，要盡快認出來並用 prednisone 治療，輸血需求和植入時間也會增加。用 cyclophosphamide 加 G-CSF 動員可以降低發生率；用了 lenalidomide 要早一點收幹細胞，induction 三個療程沒反應也要直接收。神經的恢復要 6 到 9 個月，完全恢復可能要 2 到 3 年。</a:t>
            </a:r>
          </a:p>
          <a:p>
            <a:pPr>
              <a:spcAft>
                <a:spcPts val="600"/>
              </a:spcAft>
            </a:pPr>
            <a:r>
              <a:rPr lang="en-US" dirty="0"/>
              <a:t>AL 的陷阱是心臟，選錯病人死亡率就高；POEMS 則沒有 AL 那種器官毒性。Engraftment syndrome 的定義和處理在第 13 堂講過。</a:t>
            </a:r>
          </a:p>
          <a:p>
            <a:pPr>
              <a:spcAft>
                <a:spcPts val="600"/>
              </a:spcAft>
            </a:pPr>
            <a:r>
              <a:rPr lang="en-US" dirty="0"/>
              <a:t>考試如果給一個腎臟切片，nodular glomerulosclerosis、κ 沉積、Congo red 陰性，答案是 light-chain deposition disease，不是 AL amyloidosis。POEMS 移植後血液學 CR 大約三個月看得到，PET/CT 的反應可能要等到 12 個月。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Ch. 83 refers to 'Chap. 20' for engraftment syndrome; it is covered in Ch. 42 (Session 13). Ch. 83 gives Cy 1.5–3 g/m² for POEMS mobilization and 3 g/m² for MIDD.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23:30 至 24:15]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第一題。58 歲女性，新診斷 IgG myeloma，ISS III，FISH 有 del(17p)。Daratumumab-VRD 四個 cycle 後 VGPR，腎功能正常，有一位 HLA 相合的姊姊。Induction 之後的計畫，哪一個最符合書上的建議？</a:t>
            </a:r>
          </a:p>
          <a:p>
            <a:pPr>
              <a:spcAft>
                <a:spcPts val="600"/>
              </a:spcAft>
            </a:pPr>
            <a:r>
              <a:rPr lang="en-US" dirty="0"/>
              <a:t>A 是用姊姊做 allo 當標準 consolidation，B 是 melphalan 200 做 tandem AHCT 再接 lenalidomide，C 是 busulfan-melphalan，D 是單次 AHCT 加 thalidomide，E 是不做 AHCT、MRD 陰性就停藥。題目特別給了一位 HLA 相合的姊姊。</a:t>
            </a:r>
          </a:p>
          <a:p>
            <a:pPr>
              <a:spcAft>
                <a:spcPts val="600"/>
              </a:spcAft>
            </a:pPr>
            <a:r>
              <a:rPr lang="en-US" dirty="0"/>
              <a:t>想一想 del(17p) 在前面哪一張表出現過，書上對這群人有特別的建議。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24:15 至 25:15]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B。Del(17p) 是 high-risk，書上的 key point 寫 double AHCT 可以考慮給這群病人，EMN02 的 tandem 在 high-risk 族群也保有 PFS 好處。Conditioning 是 melphalan 200，之後 lenalidomide maintenance。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是主要陷阱，有 matched sibling 不代表要做 allo。Myeloma 的 allo 好處被 TRM 抵銷，書上明說只在 clinical trial 裡做。C 的 busulfan 毒性較高又沒有勝出；D 的 thalidomide 沒有 OS 好處，還有 neuropathy；E 停藥的策略沒有被證實。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選項裡刻意沒有 consolidation，因為 EMN02 的 VRD consolidation 在 high-risk cytogenetics 沒有改善 PFS。</a:t>
            </a:r>
          </a:p>
          <a:p>
            <a:pPr>
              <a:spcAft>
                <a:spcPts val="600"/>
              </a:spcAft>
            </a:pPr>
            <a:r>
              <a:rPr lang="en-US" dirty="0"/>
              <a:t>Lenalidomide maintenance 在 meta-analysis 的各個 subgroup 都改善 PFS，死亡風險下降 25%，所以 high-risk 也不能省略。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25:15 至 26:00]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第二題。61 歲男性，切片證實 systemic AL amyloidosis，λ。NYHA III 心衰竭，NT-proBNP 9800，troponin 上升，收縮壓 85，心臟分期是 IIIb，eGFR 55。哪一個 first-line 最符合書上的建議？</a:t>
            </a:r>
          </a:p>
          <a:p>
            <a:pPr>
              <a:spcAft>
                <a:spcPts val="600"/>
              </a:spcAft>
            </a:pPr>
            <a:r>
              <a:rPr lang="en-US" dirty="0"/>
              <a:t>A 是 bortezomib induction 後 melphalan 200 加 auto，B 是降到 melphalan 140 做 auto，C 是 Andromeda 的全劑量 Dara-CyBorD，D 是減量治療，例如 daratumumab 單藥，E 是 RIC allo。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這題的數字很多，先把心臟分期和 auto 的門檻對一對，再看哪一個選項符合 Table 82.1。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26:00 至 27:00]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D。Stage IIIb 或 NYHA III、IV 就是 high risk，Table 82.1 給的是減量治療，daratumumab 單藥或 modified CyBorD。</a:t>
            </a:r>
          </a:p>
          <a:p>
            <a:pPr>
              <a:spcAft>
                <a:spcPts val="600"/>
              </a:spcAft>
            </a:pPr>
            <a:r>
              <a:rPr lang="en-US" dirty="0"/>
              <a:t>C 是最主要的陷阱。Dara-CyBorD 是多數病人的首選，但 Andromeda 排除了 IIIb，EMA 的核准也只到 IIIa。A 和 B 都不行，NYHA III、NT-proBNP 超過 5000、收縮壓低於 90，三項都超出 auto 的條件；而且書上說 melphalan 降劑量反應和 PFS 都比較差，不是解決辦法。E 的 allo 只在 auto 之後復發、60 歲以下、器官功能保留的人討論。</a:t>
            </a:r>
          </a:p>
          <a:p>
            <a:pPr>
              <a:spcAft>
                <a:spcPts val="600"/>
              </a:spcAft>
            </a:pPr>
            <a:r>
              <a:rPr lang="en-US" dirty="0"/>
              <a:t>如果同一位病人是 stage II，答案就變成全劑量 Dara-CyBorD；要到 stage I、而且符合心臟門檻，才考慮 melphalan 200 加 auto。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27:00 至 27:45]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第三題。54 歲男性，POEMS syndrome，有 demyelinating polyneuropathy、IgA-λ、sclerotic bone lesion 和高 VEGF。Len-dex 之後只用 G-CSF 動員，melphalan 200 做 auto。Day +9 白血球回升時，發燒、皮疹、體重增加、兩側肺浸潤，培養都是陰性。下一步最適合的是什麼？</a:t>
            </a:r>
          </a:p>
          <a:p>
            <a:pPr>
              <a:spcAft>
                <a:spcPts val="600"/>
              </a:spcAft>
            </a:pPr>
            <a:r>
              <a:rPr lang="en-US" dirty="0"/>
              <a:t>A prednisone，B 加 echinocandin 等培養，C tocilizumab，D defibrotide，E plasmapheresis。</a:t>
            </a:r>
          </a:p>
          <a:p>
            <a:pPr>
              <a:spcAft>
                <a:spcPts val="600"/>
              </a:spcAft>
            </a:pPr>
            <a:r>
              <a:rPr lang="en-US" dirty="0"/>
              <a:t>注意發生的時間點和動員方式，這兩個細節書上都寫過；選項裡有兩個是其他移植或細胞治療併發症的藥。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27:45 至 28:45]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A。白血球回升時出現發燒、皮疹、體重增加和肺浸潤，培養陰性，這是 engraftment syndrome。POEMS 做 auto 之後最高一半的人會發生，書上要求及早認出並用 prednisone 治療。</a:t>
            </a:r>
          </a:p>
          <a:p>
            <a:pPr>
              <a:spcAft>
                <a:spcPts val="600"/>
              </a:spcAft>
            </a:pPr>
            <a:r>
              <a:rPr lang="en-US" dirty="0"/>
              <a:t>D 是主要陷阱。Defibrotide 治療的是 SOS/VOD，會有黃疸、肝腫大和體重增加，但這題沒有肝的表現。E 的 plasmapheresis 在 POEMS 只有個案報告。C 的 tocilizumab 是 CAR-T 之後 CRS 的藥。</a:t>
            </a:r>
          </a:p>
          <a:p>
            <a:pPr>
              <a:spcAft>
                <a:spcPts val="600"/>
              </a:spcAft>
            </a:pPr>
            <a:r>
              <a:rPr lang="en-US" dirty="0"/>
              <a:t>還有一個預防的考點，用 cyclophosphamide 加 G-CSF 動員可以降低 engraftment syndrome，這位病人只用 G-CSF，風險就比較高。</a:t>
            </a:r>
          </a:p>
          <a:p>
            <a:pPr>
              <a:spcAft>
                <a:spcPts val="600"/>
              </a:spcAft>
            </a:pPr>
            <a:r>
              <a:rPr lang="en-US" dirty="0"/>
              <a:t>Engraftment syndrome 發生時，輸血需求會比預期高，植入也會延遲，這也是書上提醒要早點認出、早點處理的原因。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Table 81.1 的反應標準。CR 要 immunofixation 陰性、骨髓 plasma cell 小於 5%、沒有 plasmacytoma；stringent CR 再加上 free light chain ratio 正常。VGPR 是 serum M-protein 降 90% 以上，MRD 用 flow 或 NGS，敏感度到 10 的負 5 次方以上。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Table 82.2。篩選得好的病人 TRM 只有 0 到 5%，HOVON 104 是 prospective，bortezomib induction 後移植，TRM 0、五年 OS 86%。Abdallah 的資料顯示早做比延後做存活略長。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復發的 AL 沒有 randomized 資料。反應時間長的可以用原方案，短的換沒用過的藥、autoHCT 或 trial。Lenalidomide 從 15 mg 開始，t(11;14) 用 venetoclax 反應很好。Allo 在 EBMT 2006 年的 19 位病人 TRM 40%，現在只在 auto 後復發、60 歲以下、有 HLA-identical donor 的人討論。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POEMS 的臨床表現。Neuropathy 是主角，demyelinating、上行、對稱。Sclerotic bone lesion 95%，thrombocytosis 54%，papilledema 三分之一。PEST 指 papilledema、extravascular volume overload、sclerotic lesion、thrombocytosis。症狀數目不影響存活。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HCT for myeloma and other plasma cell disorders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Session 27 · Ch. 81, 82 and 83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PLASMA CELL DISORDERS · 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parts: myeloma first line, myeloma relapse, then rarer clones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Ch. 81 · Minnema M, et al. Ch. 82 · Cook G, et al. Ch. 83; EBMT Handbook 8th ed. 2024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Myeloma: AHCT in the first line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Eligibility, staging, induction, AHCT trials, tandem, maintenance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9.5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Myeloma: relapse and cellular therapy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Salvage AHCT, allo-HCT in trials, BCMA CAR-T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 amyloidosis, POEMS and MIDD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Cardiac staging, risk-adapted therapy, POEMS criteria, auto-HCT pitfalls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Board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High-risk myeloma, stage IIIb AL, POEMS after auto-HCT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WHO GETS AHCT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AHCT is standard for fit newly diagnosed myeloma, renal failure included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graphicFrame>
        <p:nvGraphicFramePr>
          <p:cNvPr id="4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80192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What Ch. 81 says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Standard of care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HDT/AHCT for young and fit, newly diagnosed patients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Age in trials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Capped at 65 to limit selection bias and toxicity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Older patients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Median age 72 series: good results with MEL 140 mg/m²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Usual upper age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Fit patients up to 70, even 75, in many centres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Renal impairment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Not a contraindication; consider MEL 140 mg/m²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Dialysis-dependent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More mucositis, infection; PFS, OS comparable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Conditioning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IV MEL 200 mg/m²; busulfan or + bortezomib not better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RISK STRATIFICATION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staging systems add cytogenetics and LDH to β2M and albumin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graphicFrame>
        <p:nvGraphicFramePr>
          <p:cNvPr id="5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8202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System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Definition (Table 81.1)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ISS 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β2M &lt; 3.5 mg/L and albumin &gt; 3.3 g/dL [verify: cut-off]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ISS III / II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β2M &gt; 5.5 mg/L / all remaining cases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R-ISS 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ISS I, standard-risk cytogenetics and normal LDH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R-ISS III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ISS III plus high-risk cytogenetics or high LDH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R2-ISS points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ISS III 1.5; ISS II 1; del(17p) 1; high LDH 1; 1q+ 0.5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R2-ISS groups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I: 0; II: 0.5–1; III: 1.5–2.5; IV: 3–5 points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High-risk FISH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t(4;14), t(14;16) and/or del(17p)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INDUCTION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Induction should be at least a triplet, ideally an anti-CD38 quadruplet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graphicFrame>
        <p:nvGraphicFramePr>
          <p:cNvPr id="6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55848"/>
                <a:gridCol w="7461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Comparison or trial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Finding in Ch. 81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Novel agents vs VAD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Thalidomide- or bortezomib-based induction wins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Doublet vs triplet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VTD beats TD and VD; VTD also beats VCD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VTD × 6 vs × 3–4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Deeper response, but more neuropathy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VRD (IFM)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Longer PFS, response duration and OS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VRD-GEM (PETHEMA)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ORR 85%; MRD-negative 58% after consolidation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Dara quadruplets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Cassiopeia D-VTD, Griffin D-VRD: daratumumab adds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GMMG-HD7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Isa-RVd vs RVd: MRD-negative 50.1% vs 35.6%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AHCT VS NO AHCT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Upfront AHCT prolongs PFS, but overall survival gains are inconsistent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 · Richardson PG, et al. NEJM 2022</a:t>
            </a:r>
            <a:endParaRPr lang="en-US" sz="1000" dirty="0"/>
          </a:p>
        </p:txBody>
      </p:sp>
      <p:graphicFrame>
        <p:nvGraphicFramePr>
          <p:cNvPr id="7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1892808"/>
                <a:gridCol w="3877056"/>
                <a:gridCol w="2523744"/>
                <a:gridCol w="25237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Trial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Comparison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PFS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IFM 2009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VRD + AHCT vs VRD × 8; Len for 1 year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50 vs 36 mo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y: 81% vs 82%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DETERMINATION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VRD + AHCT vs VRD; Len until progression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68 vs 46 mo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 y: 81% vs 79%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EMN02/HO95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AHCT (single or tandem) vs VMP; Len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57 vs 42 mo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 y: 80% vs 73% vs 72%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FORTE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KRd + AHCT vs KCd + AHCT vs KRd × 12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y: 69% vs 51% vs 56%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y: 86% vs 76% vs 85%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Cardamon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KCd + AHCT vs KCd × 4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 y: 75% vs 68%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 y: 94% vs 91%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4"/>
          <p:cNvSpPr txBox="1"/>
          <p:nvPr/>
        </p:nvSpPr>
        <p:spPr>
          <a:xfrm>
            <a:off x="685800" y="45262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AHCT at relapse in control arm: 89% (IFM 2009) vs 29% (DETERMINATION). EMN02 OS: tandem vs single vs VMP. In both IFM 2009 and DETERMINATION, MRD negativity predicted outcome better than cytogenetics.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TANDEM AND CONSOLIDATION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Tandem AHCT helps high-risk myeloma; consolidation remains optional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 · Stadtmauer EA, et al. JCO 2019</a:t>
            </a:r>
            <a:endParaRPr lang="en-US" sz="1000" dirty="0"/>
          </a:p>
        </p:txBody>
      </p:sp>
      <p:graphicFrame>
        <p:nvGraphicFramePr>
          <p:cNvPr id="8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203704"/>
                <a:gridCol w="4398264"/>
                <a:gridCol w="4215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EMN02/HO95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StaMINA (BMT CTN 0702)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Arms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Single vs tandem AHCT; VRD × 2 or not; then Len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AHCT + VRD vs tandem vs single; all Len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Tandem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PFS and OS better; ~30% lower risk of death, progression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superior; &gt; 30% never got the 2nd AHCT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Survival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5-y PFS 54% vs 45%; 5-y OS 80% vs 73%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38-mo PFS 59%, 58%, 54%; 6-y OS 73–76%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High-risk FISH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Tandem benefit kept; independent PFS predictor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subgroup benefit reported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Consolidation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VRD × 2 prolonged PFS, except in high-risk FISH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superior to AHCT + Len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6"/>
          <p:cNvSpPr txBox="1"/>
          <p:nvPr/>
        </p:nvSpPr>
        <p:spPr>
          <a:xfrm>
            <a:off x="685800" y="470916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Ch. 81: consider tandem AHCT for high-risk cytogenetics and R-ISS 3; consolidation may be skipped in CR with undetectable MRD (not tested prospectively)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MAINTENANCE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Lenalidomide until progression is the standard maintenance after AHCT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 · McCarthy PL, et al. JCO 2017</a:t>
            </a:r>
            <a:endParaRPr lang="en-US" sz="1000" dirty="0"/>
          </a:p>
        </p:txBody>
      </p:sp>
      <p:graphicFrame>
        <p:nvGraphicFramePr>
          <p:cNvPr id="9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2569464"/>
                <a:gridCol w="6053328"/>
                <a:gridCol w="22037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Agent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Result after AHCT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Thalidomide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Better response, no OS gain; neuropathy, fatigue, worse QoL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favoured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Lenalidomide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PFS 52.8 vs 23.5 mo; death risk −25%; OS ~2.4 y longer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Standard; FDA, EMA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Bortezomib ± IMiD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Better PFS, not OS; subcutaneous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Ixazomib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PFS 26.5 vs 21.3 mo vs placebo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approved here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Anti-CD38 + Len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Phase 3 trials (daratumumab, isatuximab) awaited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Investigational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8"/>
          <p:cNvSpPr txBox="1"/>
          <p:nvPr/>
        </p:nvSpPr>
        <p:spPr>
          <a:xfrm>
            <a:off x="685800" y="46177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Len meta-analysis (CALGB, IFM, GIMEMA): PFS gain in all subgroups; no OS gain in women &gt; 60 with poor cytogenetics. Modest rise in second cancers; 30% of early stops due to toxicity or second cancer.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RELAPSE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At relapse, salvage AHCT and allo-HCT have narrow roles beside CAR-T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sp>
        <p:nvSpPr>
          <p:cNvPr id="6" name="Box 29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Myeloma relapsing after first-line AHCT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0809" y="3063240"/>
            <a:ext cx="838733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0809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30"/>
          <p:cNvSpPr txBox="1"/>
          <p:nvPr/>
        </p:nvSpPr>
        <p:spPr>
          <a:xfrm>
            <a:off x="685800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Relapse ≥ 2–3 y later</a:t>
            </a:r>
            <a:endParaRPr lang="en-US" sz="1400" dirty="0"/>
          </a:p>
        </p:txBody>
      </p:sp>
      <p:sp>
        <p:nvSpPr>
          <p:cNvPr id="11" name="Box 31"/>
          <p:cNvSpPr txBox="1"/>
          <p:nvPr/>
        </p:nvSpPr>
        <p:spPr>
          <a:xfrm>
            <a:off x="685800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Salvage AHCT, MEL 200 mg/m²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900809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32"/>
          <p:cNvSpPr txBox="1"/>
          <p:nvPr/>
        </p:nvSpPr>
        <p:spPr>
          <a:xfrm>
            <a:off x="685800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Myeloma X: TTP 19 vs 11 mo, OS 67 vs 52 mo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96587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33"/>
          <p:cNvSpPr txBox="1"/>
          <p:nvPr/>
        </p:nvSpPr>
        <p:spPr>
          <a:xfrm>
            <a:off x="3481578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ReLApsE (GMMG)</a:t>
            </a:r>
            <a:endParaRPr lang="en-US" sz="1400" dirty="0"/>
          </a:p>
        </p:txBody>
      </p:sp>
      <p:sp>
        <p:nvSpPr>
          <p:cNvPr id="16" name="Box 34"/>
          <p:cNvSpPr txBox="1"/>
          <p:nvPr/>
        </p:nvSpPr>
        <p:spPr>
          <a:xfrm>
            <a:off x="3481578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Salvage AHCT + Len vs Rd alone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96587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35"/>
          <p:cNvSpPr txBox="1"/>
          <p:nvPr/>
        </p:nvSpPr>
        <p:spPr>
          <a:xfrm>
            <a:off x="3481578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Feasible in 71%; no PFS or OS gain (ITT)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2365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36"/>
          <p:cNvSpPr txBox="1"/>
          <p:nvPr/>
        </p:nvSpPr>
        <p:spPr>
          <a:xfrm>
            <a:off x="6277356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Young, high risk</a:t>
            </a:r>
            <a:endParaRPr lang="en-US" sz="1400" dirty="0"/>
          </a:p>
        </p:txBody>
      </p:sp>
      <p:sp>
        <p:nvSpPr>
          <p:cNvPr id="21" name="Box 37"/>
          <p:cNvSpPr txBox="1"/>
          <p:nvPr/>
        </p:nvSpPr>
        <p:spPr>
          <a:xfrm>
            <a:off x="6277356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Allo-HCT in a clinical trial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92365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38"/>
          <p:cNvSpPr txBox="1"/>
          <p:nvPr/>
        </p:nvSpPr>
        <p:spPr>
          <a:xfrm>
            <a:off x="6277356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GvM benefit offset by high TRM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88143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39"/>
          <p:cNvSpPr txBox="1"/>
          <p:nvPr/>
        </p:nvSpPr>
        <p:spPr>
          <a:xfrm>
            <a:off x="9073134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IMiD, PI, anti-CD38</a:t>
            </a:r>
            <a:endParaRPr lang="en-US" sz="1400" dirty="0"/>
          </a:p>
        </p:txBody>
      </p:sp>
      <p:sp>
        <p:nvSpPr>
          <p:cNvPr id="26" name="Box 40"/>
          <p:cNvSpPr txBox="1"/>
          <p:nvPr/>
        </p:nvSpPr>
        <p:spPr>
          <a:xfrm>
            <a:off x="9073134" y="3657600"/>
            <a:ext cx="2430018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BCMA CAR-T: ide-cel, cilta-cel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288143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Box 41"/>
          <p:cNvSpPr txBox="1"/>
          <p:nvPr/>
        </p:nvSpPr>
        <p:spPr>
          <a:xfrm>
            <a:off x="9073134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Deep responses, incl. EMD and high risk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CAR-T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BCMA CAR-T, not allo-HCT, is the cellular option in relapsed myeloma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graphicFrame>
        <p:nvGraphicFramePr>
          <p:cNvPr id="11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1481328"/>
                <a:gridCol w="868680"/>
                <a:gridCol w="2615184"/>
                <a:gridCol w="2267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Product, 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Median prior lines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ORR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Median PFS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CRS / ICANS gr 3–4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Ide-cel, n = 128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 mo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5% / 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Ide-cel (KarMMa-3), n = 386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71%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 vs 4 mo (SOC)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4% / 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Cilta-cel, n = 97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98%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 mo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4% / 9%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Cilta-cel (CARTITUDE-4), n = 419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NR vs 12 mo (SOC)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1% / 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ARI0002h (academic), n = 30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 mo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0% / 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3"/>
          <p:cNvSpPr txBox="1"/>
          <p:nvPr/>
        </p:nvSpPr>
        <p:spPr>
          <a:xfrm>
            <a:off x="685800" y="48920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Label in Ch. 81: &gt; 3 prior lines incl. IMiD, PI and anti-CD38 [verify: current label]. KarMMa-3: 2–4 prior lines; CARTITUDE-4: 1–3 lines, Len-refractory.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AL AMYLOIDOSIS · DIAGNOSIS AND RISK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 amyloidosis needs tissue proof, typing and cardiac staging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Minnema M, et al. EBMT Handbook 8th ed. 2024; Ch. 82</a:t>
            </a:r>
            <a:endParaRPr lang="en-US" sz="1000" dirty="0"/>
          </a:p>
        </p:txBody>
      </p:sp>
      <p:graphicFrame>
        <p:nvGraphicFramePr>
          <p:cNvPr id="12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8394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Ch. 82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Suspect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M-protein + HFpEF, nephrotic proteinuria, neuropathy, CTS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Clone work-up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FLC, serum/urine IFE, marrow, flow, iFISH, full-body scan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Prove amyloid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Congo red, apple-green birefringence; fat, salivary, GI, BM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Type it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IHC, immuno-EM, or laser microdissection + mass spec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Stage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Mayo/European: NT-proBNP + troponin → I, II, IIIa, IIIb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Adverse clone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BMPC &gt; 10%, high dFLC; t(11;14) → HDM/HCT works better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Response goal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VGPR (dFLC &lt; 40 mg/L) or CR; organ response follows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AL AMYLOIDOSIS · FIRST 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 first-line therapy is risk adapted by cardiac stage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Minnema M, et al. EBMT Handbook 8th ed. 2024; Ch. 82 (Table 82.1) · Kastritis E, et al. NEJM 2021</a:t>
            </a:r>
            <a:endParaRPr lang="en-US" sz="1000" dirty="0"/>
          </a:p>
        </p:txBody>
      </p:sp>
      <p:sp>
        <p:nvSpPr>
          <p:cNvPr id="6" name="Box 45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Systemic AL amyloidosis: cardiac stage sets the intensity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46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Stage I (≤ 20%)</a:t>
            </a:r>
            <a:endParaRPr lang="en-US" sz="1400" dirty="0"/>
          </a:p>
        </p:txBody>
      </p:sp>
      <p:sp>
        <p:nvSpPr>
          <p:cNvPr id="11" name="Box 47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± Induction, MEL 200 + autoHCT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48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 Dara-CyBorD / CyBorD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49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Stages II–IIIa</a:t>
            </a:r>
            <a:endParaRPr lang="en-US" sz="1400" dirty="0"/>
          </a:p>
        </p:txBody>
      </p:sp>
      <p:sp>
        <p:nvSpPr>
          <p:cNvPr id="16" name="Box 50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Dara-CyBorD, CyBorD or BMDex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51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Neuropathy: Mel-dex or Len-dex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52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IIIb or NYHA III–IV</a:t>
            </a:r>
            <a:endParaRPr lang="en-US" sz="1400" dirty="0"/>
          </a:p>
        </p:txBody>
      </p:sp>
      <p:sp>
        <p:nvSpPr>
          <p:cNvPr id="21" name="Box 53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Dose-reduced: Dara mono, mod. CyBorD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54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Excluded from Andromeda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AL AMYLOIDOSIS · AUTO-HCT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Strict cardiac selection cut AL auto-HCT mortality from 20% to 2%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Minnema M, et al. EBMT Handbook 8th ed. 2024; Ch. 82 · Sanchorawala V, et al. Amyloid 2022</a:t>
            </a:r>
            <a:endParaRPr lang="en-US" sz="1000" dirty="0"/>
          </a:p>
        </p:txBody>
      </p:sp>
      <p:graphicFrame>
        <p:nvGraphicFramePr>
          <p:cNvPr id="14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172968"/>
                <a:gridCol w="7644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Criterion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Usual threshold (Ch. 82)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Age, performance status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≤ 70 years; PS 0–2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Heart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NYHA I–II; NT-proBNP &lt; 5000 ng/L; LVEF ≥ 45–50%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Blood pressure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Systolic ≥ 90 mmHg (no severe orthostatic hypotension)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Kidney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eGFR &gt; 40 mL/min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Induction first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Especially if ≥ 10% marrow plasma cells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Mobilization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Reduced G-CSF, e.g. 10 μg/kg/day × 4–5 days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Conditioning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MEL 200 mg/m²; lower dose → worse response and PFS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POEMS · DIAGNOSTIC CRITERIA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POEMS needs neuropathy, a clone, one major and one minor criterion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Cook G, et al. EBMT Handbook 8th ed. 2024; Ch. 83 · Dispenzieri A. Am J Hematol 2017</a:t>
            </a:r>
            <a:endParaRPr lang="en-US" sz="1000" dirty="0"/>
          </a:p>
        </p:txBody>
      </p:sp>
      <p:graphicFrame>
        <p:nvGraphicFramePr>
          <p:cNvPr id="15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80192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Criteria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Mandatory (both)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Polyneuropathy; clonal plasma cell disorder (almost always λ)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Major (≥ 1 of 3)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Castleman disease; sclerotic bone lesions; raised VEGF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Minor (≥ 1)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Organomegaly; extravascular volume overload; endocrinopathy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Minor, continued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Skin changes; papilledema; thrombocytosis/erythrocytosis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VEGF cut-off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Plasma ≥ 200 pg/mL; serum ≥ 1920 pg/mL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Endocrine caveat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Diabetes or thyroid disease alone does not count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7"/>
          <p:cNvSpPr txBox="1"/>
          <p:nvPr/>
        </p:nvSpPr>
        <p:spPr>
          <a:xfrm>
            <a:off x="685800" y="50292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Adapted from Dispenzieri 2017. Other features: clubbing, weight loss, hyperhidrosis, low B12, pulmonary hypertension, thrombosis.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POEMS · TREATMENT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POEMS is irradiated when localized and treated systemically when not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Cook G, et al. EBMT Handbook 8th ed. 2024; Ch. 83 · Cook G, et al. Haematologica 2017</a:t>
            </a:r>
            <a:endParaRPr lang="en-US" sz="1000" dirty="0"/>
          </a:p>
        </p:txBody>
      </p:sp>
      <p:sp>
        <p:nvSpPr>
          <p:cNvPr id="6" name="Box 58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POEMS syndrome: is the bone disease localized?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59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Isolated or localized</a:t>
            </a:r>
            <a:endParaRPr lang="en-US" sz="1400" dirty="0"/>
          </a:p>
        </p:txBody>
      </p:sp>
      <p:sp>
        <p:nvSpPr>
          <p:cNvPr id="11" name="Box 60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Radiotherapy 35–50 Gy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61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Improves symptoms; can be curative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62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Disseminated</a:t>
            </a:r>
            <a:endParaRPr lang="en-US" sz="1400" dirty="0"/>
          </a:p>
        </p:txBody>
      </p:sp>
      <p:sp>
        <p:nvSpPr>
          <p:cNvPr id="16" name="Box 63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Len-dex induction (mainstay)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64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Alternatives: Mel-dex, Cy ± dex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65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Disseminated, fit</a:t>
            </a:r>
            <a:endParaRPr lang="en-US" sz="1400" dirty="0"/>
          </a:p>
        </p:txBody>
      </p:sp>
      <p:sp>
        <p:nvSpPr>
          <p:cNvPr id="21" name="Box 66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Auto-HCT, MEL 140–200 mg/m²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67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3-y PFS 84%, OS 94%; 1-y NRM 3.3%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AUTO-HCT · THREE RARE CLONES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Auto-HCT for AL, POEMS and MIDD shares melphalan but not its pitfalls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Minnema M, et al. Ch. 82 · Cook G, et al. Ch. 83; EBMT Handbook 8th ed. 2024</a:t>
            </a:r>
            <a:endParaRPr lang="en-US" sz="1000" dirty="0"/>
          </a:p>
        </p:txBody>
      </p:sp>
      <p:graphicFrame>
        <p:nvGraphicFramePr>
          <p:cNvPr id="17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1837944"/>
                <a:gridCol w="3118104"/>
                <a:gridCol w="2935224"/>
                <a:gridCol w="29352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AL amyloidosis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POEMS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MIDD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Hallmark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Congo red+ fibrils; heart, kidney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Demyelinating PN; VEGF; λ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Nonfibrillar κ deposits; kidney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Conditioning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MEL 200 mg/m²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MEL 140–200 mg/m²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MEL 140–200 mg/m²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Mobilization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Reduced G-CSF (capillary leak)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G-CSF ± Cy; early if on Len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G-CSF ± Cy 3 g/m²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Main pitfall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Cardiac death if poorly selected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Engraftment syndrome ≤ 50%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Dialysis: give MEL after HD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Mortality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TRM ~2% with selection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1-y NRM 3.3%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As other auto-HCT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Response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VGPR/CR, then organ response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Nerves improve over 6–9 mo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Renal gain; kidney Tx if CR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choose the post-induction plan in high-risk myeloma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sp>
        <p:nvSpPr>
          <p:cNvPr id="6" name="Text 69"/>
          <p:cNvSpPr txBox="1"/>
          <p:nvPr/>
        </p:nvSpPr>
        <p:spPr>
          <a:xfrm>
            <a:off x="685800" y="2194560"/>
            <a:ext cx="108173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58-year-old woman has newly diagnosed IgG myeloma, ISS III, with del(17p) on FISH. After 4 cycles of daratumumab-VRD she is in VGPR; renal function is normal and she has an HLA-matched sister. Which post-induction plan best reflects the EBMT Handbook?</a:t>
            </a:r>
            <a:endParaRPr lang="en-US" sz="1900" dirty="0"/>
          </a:p>
        </p:txBody>
      </p:sp>
      <p:sp>
        <p:nvSpPr>
          <p:cNvPr id="7" name="Text 70"/>
          <p:cNvSpPr txBox="1"/>
          <p:nvPr/>
        </p:nvSpPr>
        <p:spPr>
          <a:xfrm>
            <a:off x="960120" y="3593592"/>
            <a:ext cx="1054303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Allo-HCT from her sister as standard consolidation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MEL 200 mg/m², tandem AHCT, then lenalidomide maintenance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Busulfan-melphalan conditioning to deepen the response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Single AHCT followed by thalidomide maintenance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Omit AHCT and stop therapy once MRD is negative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high-risk myeloma gets tandem AHCT and lenalidomide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sp>
        <p:nvSpPr>
          <p:cNvPr id="6" name="Box 71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MEL 200 mg/m², tandem AHCT, then lenalidomide maintenance</a:t>
            </a:r>
            <a:endParaRPr lang="en-US" sz="2000" dirty="0"/>
          </a:p>
        </p:txBody>
      </p:sp>
      <p:sp>
        <p:nvSpPr>
          <p:cNvPr id="7" name="Text 72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MEL 200 mg/m² is the standard conditioning; double AHCT can be considered for high-risk disease such as del(17p) (EMN02/HO95), and lenalidomide maintenance prolongs PFS and OS. Allo-HCT is controversial and belongs in a clinical trial. Busulfan failed to beat melphalan; thalidomide gave no OS benefit.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choose first-line therapy for advanced cardiac AL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Minnema M, et al. EBMT Handbook 8th ed. 2024; Ch. 82</a:t>
            </a:r>
            <a:endParaRPr lang="en-US" sz="1000" dirty="0"/>
          </a:p>
        </p:txBody>
      </p:sp>
      <p:sp>
        <p:nvSpPr>
          <p:cNvPr id="6" name="Text 73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61-year-old man has biopsy-proven systemic AL amyloidosis (λ). He has NYHA class III heart failure, NT-proBNP 9800 ng/L, raised troponin and systolic BP 85 mmHg; cardiac stage is IIIb (European modification of Mayo staging). eGFR is 55 mL/min. Which first-line approach best fits the EBMT Handbook?</a:t>
            </a:r>
            <a:endParaRPr lang="en-US" sz="1900" dirty="0"/>
          </a:p>
        </p:txBody>
      </p:sp>
      <p:sp>
        <p:nvSpPr>
          <p:cNvPr id="7" name="Text 74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Bortezomib induction, then MEL 200 mg/m² and auto-HCT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MEL 140 mg/m² and auto-HCT to limit cardiac toxicity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Full-dose daratumumab-CyBorD as in the Andromeda trial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Dose-reduced therapy such as daratumumab monotherapy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Reduced-intensity allo-HCT from an HLA-identical sibling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D: stage IIIb AL gets dose-reduced therapy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Minnema M, et al. EBMT Handbook 8th ed. 2024; Ch. 82</a:t>
            </a:r>
            <a:endParaRPr lang="en-US" sz="1000" dirty="0"/>
          </a:p>
        </p:txBody>
      </p:sp>
      <p:sp>
        <p:nvSpPr>
          <p:cNvPr id="6" name="Box 75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D.  Dose-reduced therapy such as daratumumab monotherapy</a:t>
            </a:r>
            <a:endParaRPr lang="en-US" sz="2000" dirty="0"/>
          </a:p>
        </p:txBody>
      </p:sp>
      <p:sp>
        <p:nvSpPr>
          <p:cNvPr id="7" name="Text 76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Stage IIIb and/or NYHA III–IV defines high risk; Table 82.1 offers dose-reduced therapy such as daratumumab monotherapy or modified CyBorD. Andromeda (Dara-CyBorD) excluded stage IIIb. Auto-HCT needs NYHA I–II, NT-proBNP &lt; 5000 ng/L and systolic BP ≥ 90 mmHg; MEL below 200 mg/m² gives worse response.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manage this reaction after auto-HCT for POEMS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Cook G, et al. EBMT Handbook 8th ed. 2024; Ch. 83</a:t>
            </a:r>
            <a:endParaRPr lang="en-US" sz="1000" dirty="0"/>
          </a:p>
        </p:txBody>
      </p:sp>
      <p:sp>
        <p:nvSpPr>
          <p:cNvPr id="6" name="Text 77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54-year-old man with POEMS syndrome (demyelinating polyneuropathy, IgA-λ, sclerotic bone lesions, high VEGF) had lenalidomide-dexamethasone, G-CSF-only mobilization and MEL 200 mg/m² auto-HCT. On day +9, as neutrophils recover, he has fever, rash, weight gain and lung infiltrates; cultures are negative. Next step?</a:t>
            </a:r>
            <a:endParaRPr lang="en-US" sz="1900" dirty="0"/>
          </a:p>
        </p:txBody>
      </p:sp>
      <p:sp>
        <p:nvSpPr>
          <p:cNvPr id="7" name="Text 78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Start prednisone promptly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Add an echinocandin and wait for cultures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Give tocilizumab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Start defibrotide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Begin plasmapheresis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A: engraftment syndrome is common in POEMS and needs steroids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Cook G, et al. EBMT Handbook 8th ed. 2024; Ch. 83</a:t>
            </a:r>
            <a:endParaRPr lang="en-US" sz="1000" dirty="0"/>
          </a:p>
        </p:txBody>
      </p:sp>
      <p:sp>
        <p:nvSpPr>
          <p:cNvPr id="6" name="Box 79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A.  Start prednisone promptly</a:t>
            </a:r>
            <a:endParaRPr lang="en-US" sz="2000" dirty="0"/>
          </a:p>
        </p:txBody>
      </p:sp>
      <p:sp>
        <p:nvSpPr>
          <p:cNvPr id="7" name="Text 80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Engraftment syndrome occurs in up to 50% of POEMS patients after auto-HCT; Ch. 83 says recognize it and treat promptly with prednisone. It brings higher transfusion needs and delayed engraftment. Mobilizing with cyclophosphamide + G-CSF lowers its incidence. Defibrotide is for SOS/VOD; plasmapheresis appears only in case reports.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3</a:t>
            </a:r>
            <a:endParaRPr lang="en-US" sz="3600" dirty="0"/>
          </a:p>
        </p:txBody>
      </p:sp>
      <p:sp>
        <p:nvSpPr>
          <p:cNvPr id="5" name="Text 81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Mohty M, Bruno B, Gagelmann N, Mateos MV. Multiple myeloma. In: Sureda A, Corbacioglu S, Greco R, Kröger N, Carreras E, editors. The EBMT Handbook: Hematopoietic Cell Transplantation and Cellular Therapies, 8th ed. Cham: Springer; 2024. pp. 741–749. doi:10.1007/978-3-031-44080-9_81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Minnema M, Schönland S. Systemic light chain amyloidosis. In: Sureda A, Corbacioglu S, Greco R, Kröger N, Carreras E, editors. The EBMT Handbook: Hematopoietic Cell Transplantation and Cellular Therapies, 8th ed. Cham: Springer; 2024. pp. 751–755. doi:10.1007/978-3-031-44080-9_82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Cook G, Rovira M. POEMS syndrome and disease produced by other monoclonal Igs. In: Sureda A, Corbacioglu S, Greco R, Kröger N, Carreras E, editors. The EBMT Handbook: Hematopoietic Cell Transplantation and Cellular Therapies, 8th ed. Cham: Springer; 2024. pp. 757–761. doi:10.1007/978-3-031-44080-9_83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Richardson PG, Jacobus SJ, Weller EA, Hassoun H, Lonial S, Raje NS, et al. Triplet therapy, transplantation, and maintenance until progression in myeloma. N Engl J Med. 2022;387(2):132–47.</a:t>
            </a:r>
            <a:endParaRPr lang="en-US" sz="1100" dirty="0"/>
          </a:p>
        </p:txBody>
      </p:sp>
      <p:sp>
        <p:nvSpPr>
          <p:cNvPr id="6" name="Text 82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Stadtmauer EA, Pasquini MC, Blackwell B, Hari P, Bashey A, Devine S, et al. Autologous transplantation, consolidation, and maintenance therapy in multiple myeloma: results of the BMT CTN 0702 trial. J Clin Oncol. 2019;37(7):589–97.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McCarthy PL, Holstein SA, Petrucci MT, Richardson PG, Hulin C, Tosi P, et al. Lenalidomide maintenance after autologous stem-cell transplantation in newly diagnosed multiple myeloma: a meta-analysis. J Clin Oncol. 2017;35(29):3279–89.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Kastritis E, Palladini G, Minnema MC, et al. Daratumumab-based treatment for immunoglobulin light-chain amyloidosis. N Engl J Med. 2021;385(1):46–58.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3</a:t>
            </a:r>
            <a:endParaRPr lang="en-US" sz="3600" dirty="0"/>
          </a:p>
        </p:txBody>
      </p:sp>
      <p:sp>
        <p:nvSpPr>
          <p:cNvPr id="5" name="Text 83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Sanchorawala V, Boccadoro M, Gertz M, et al. Guidelines for high dose chemotherapy and stem cell transplantation for systemic AL amyloidosis: EHA-ISA Working Group Guidelines. Amyloid. 2022;29(1):1–7.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Landau H, Smith M, Landry C, et al. Long-term event-free and overall survival after risk-adapted melphalan and SCT for systemic light chain amyloidosis. Leukemia. 2017;31:136–42.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D’Souza A, Dispenzieri A, Wirk B, et al. Improved outcomes after autologous hematopoietic cell transplantation for light chain amyloidosis: a Center for International Blood and Marrow Transplant Research Study. J Clin Oncol. 2015;33:3741–9.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Minnema MC, Nasserinejad K, Hazenberg B, et al. Bortezomib-based induction followed by stem cell transplantation in light chain amyloidosis: results of the multicenter HOVON 104 trial. Haematologica. 2019;104(11):2274–82.</a:t>
            </a:r>
            <a:endParaRPr lang="en-US" sz="1100" dirty="0"/>
          </a:p>
        </p:txBody>
      </p:sp>
      <p:sp>
        <p:nvSpPr>
          <p:cNvPr id="6" name="Text 84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Abdallah N, Sidana S, Dispenzieri A, et al. Outcomes with early vs. deferred stem cell transplantation in light chain amyloidosis. Bone Marrow Transplant. 2020;55(7):1297–304.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13. Schönland SO, Lokhorst H, Buzyn A, et al. Allogeneic and syngeneic hematopoietic cell transplantation in patients with amyloid light-chain amyloidosis: a report from the European Group for Blood and Marrow Transplantation. Blood. 2006;107(6):2578–84.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14. Premkumar VJ, Lentzsch S, Pan S, et al. Venetoclax induces deep hematologic remissions in t(11;14) relapsed/refractory AL amyloidosis. Blood Cancer J. 2021;11(1):10.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3 of 3</a:t>
            </a:r>
            <a:endParaRPr lang="en-US" sz="3600" dirty="0"/>
          </a:p>
        </p:txBody>
      </p:sp>
      <p:sp>
        <p:nvSpPr>
          <p:cNvPr id="5" name="Text 85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15. Dispenzieri A. POEMS syndrome: 2017 Update on diagnosis, risk-stratification, and management. Am J Hematol. 2017;92:814–29.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16. Cook G, Iacobelli S, Van Biezen A, et al. High-dose therapy and autologous stem cell transplantation in patients with POEMS syndrome: a retrospective study of the Chronic Malignancy Working Party of the European Society for Blood and Marrow Transplantation. Haematologica. 2017;102:160–7.</a:t>
            </a:r>
            <a:endParaRPr lang="en-US" sz="1100" dirty="0"/>
          </a:p>
        </p:txBody>
      </p:sp>
      <p:sp>
        <p:nvSpPr>
          <p:cNvPr id="6" name="Text 86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17. Dispenzieri A, Lacy MQ, Hayman SR, et al. Peripheral blood stem cell transplant for POEMS síndrome is associated with high rates of engraftment syndrome. Eur J Haematol. 2008;80:397–406.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MYELOMA · RESPONSE CRITERIA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Myeloma response is graded from PR to MRD negativity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graphicFrame>
        <p:nvGraphicFramePr>
          <p:cNvPr id="27" name="Table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8394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Definition (Table 81.1)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MRD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BM flow (CD38, CD138, CD45 + panel) or NGS at ≤ 10⁻⁵–10⁻⁶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Stringent CR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CR + normal FLC ratio, no clonal plasma cells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Negative serum/urine IFE, &lt; 5% BMPC, no plasmacytoma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VGPR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Serum M-protein ↓ ≥ 90%; urine &lt; 100 mg/24 h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Serum M ↓ ≥ 50%; urine ↓ ≥ 90% or &lt; 200 mg/24 h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≥ 25% rise from nadir (serum ≥ 0.5 g/dL; urine ≥ 200 mg/24 h)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PD, other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BMPC +10%; new bone lesion, plasmacytoma or hypercalcemia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AL AMYLOIDOSIS · AUTO-HCT OUTCOMES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Recent series show low TRM and long survival after AL auto-HCT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Minnema M, et al. EBMT Handbook 8th ed. 2024; Ch. 82 (Table 82.2)</a:t>
            </a:r>
            <a:endParaRPr lang="en-US" sz="1000" dirty="0"/>
          </a:p>
        </p:txBody>
      </p:sp>
      <p:graphicFrame>
        <p:nvGraphicFramePr>
          <p:cNvPr id="28" name="Table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2340864"/>
                <a:gridCol w="2167128"/>
                <a:gridCol w="905256"/>
                <a:gridCol w="23408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Series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Type, 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Response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Overall survival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Landau 2017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Retrospective, 143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 43% at 12 mo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10.4 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D’Souza 2015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Retrospective, 1536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ORR 71%; CR 37%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 y: 77%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Minnema 2019 (HOVON 104)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Prospective, 50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ORR 86%; CR 46%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 y: 86%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Abdallah 2020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Retrospective, 651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13 vs 11.4 y *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89"/>
          <p:cNvSpPr txBox="1"/>
          <p:nvPr/>
        </p:nvSpPr>
        <p:spPr>
          <a:xfrm>
            <a:off x="685800" y="42062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* Early vs deferred auto-HCT. D’Souza figures: 2007–2012 cohort. EBMT registry (1993–2021): median OS &gt; 10 years. Induction before HCT gives better hematologic responses (Gustine 2022).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AL AMYLOIDOSIS · RELAPSE AND CELLULAR THERAPY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Relapsed AL is treated with new agents, autoHCT or selected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Minnema M, et al. EBMT Handbook 8th ed. 2024; Ch. 82 · Schönland SO, et al. Blood 2006 · Premkumar VJ, et al. 2021</a:t>
            </a:r>
            <a:endParaRPr lang="en-US" sz="1000" dirty="0"/>
          </a:p>
        </p:txBody>
      </p:sp>
      <p:graphicFrame>
        <p:nvGraphicFramePr>
          <p:cNvPr id="29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55848"/>
                <a:gridCol w="7461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Setting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Ch. 82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Long response, tolerated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Retreat with the same regimen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Short response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Unexposed agents, autoHCT or a clinical trial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IMiDs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Len or pom; Len start 15 mg/day, adjust to GFR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t(11;14)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Venetoclax: very high VGPR/CR rate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Allo-HCT (EBMT 2006)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 patients; TRM 40%; 7 long-term CR, most with cGVHD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Allo-HCT today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RIC after auto relapse; &lt; 60 y, HLA-identical donor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BCMA CAR-T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9 academic cases: all CR, organ responses seen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POEMS · CLINICAL FEATURES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POEMS features follow the acronym, plus PEST and VEGF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Cook G, et al. EBMT Handbook 8th ed. 2024; Ch. 83</a:t>
            </a:r>
            <a:endParaRPr lang="en-US" sz="1000" dirty="0"/>
          </a:p>
        </p:txBody>
      </p:sp>
      <p:graphicFrame>
        <p:nvGraphicFramePr>
          <p:cNvPr id="30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8202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Ch. 83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Polyneuropathy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Demyelinating, ascending, symmetric, sensorimotor; dominant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Organomegaly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Hepatomegaly (50%), splenomegaly, lymphadenopathy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Endocrinopathy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84%: gonadal &gt; thyroid &gt; pituitary &gt; others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M-protein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Almost always λ; IgA or IgG, ≤ 3 g/dL; BM &lt; 5–10% PCs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Skin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Hyperpigmentation, hypertrichosis, glomeruloid hemangioma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PEST and others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Sclerotic lesions 95%; Castleman 11–30%; platelets ↑ 54%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Prognosis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Median OS ~14 y; feature count does not affect survival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HCT for myeloma and other plasma cell disorders</dc:title>
  <dc:subject>PptxGenJS Presentation</dc:subject>
  <dc:creator>Hsieh-Ting Lin, MD</dc:creator>
  <cp:lastModifiedBy>Hsieh-Ting Lin, MD</cp:lastModifiedBy>
  <cp:revision>1</cp:revision>
  <dcterms:created xsi:type="dcterms:W3CDTF">2026-10-09T16:10:18Z</dcterms:created>
  <dcterms:modified xsi:type="dcterms:W3CDTF">2026-10-09T16:10:18Z</dcterms:modified>
</cp:coreProperties>
</file>