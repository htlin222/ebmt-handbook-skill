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ee59eec-ce80-ed15-515a-9fc6e88edfc1}">
          <p14:sldIdLst>
            <p14:sldId id="256"/>
            <p14:sldId id="257"/>
          </p14:sldIdLst>
        </p14:section>
        <p14:section name="AML in CR1" id="{8f60c542-a318-14ff-d5ab-dd3d454bd039}">
          <p14:sldIdLst>
            <p14:sldId id="258"/>
            <p14:sldId id="259"/>
            <p14:sldId id="260"/>
            <p14:sldId id="261"/>
            <p14:sldId id="262"/>
            <p14:sldId id="263"/>
            <p14:sldId id="264"/>
          </p14:sldIdLst>
        </p14:section>
        <p14:section name="Advanced AML" id="{c68a558d-2b96-ccf6-6a41-320c3a95f693}">
          <p14:sldIdLst>
            <p14:sldId id="265"/>
            <p14:sldId id="266"/>
            <p14:sldId id="267"/>
          </p14:sldIdLst>
        </p14:section>
        <p14:section name="APL and children" id="{ce3b4829-f855-e1a6-b208-b45d37adb3f1}">
          <p14:sldIdLst>
            <p14:sldId id="268"/>
            <p14:sldId id="269"/>
            <p14:sldId id="270"/>
            <p14:sldId id="271"/>
          </p14:sldIdLst>
        </p14:section>
        <p14:section name="Board questions" id="{c495973d-72eb-cfe3-534d-3d8f0c3dc5ef}">
          <p14:sldIdLst>
            <p14:sldId id="272"/>
            <p14:sldId id="273"/>
            <p14:sldId id="274"/>
            <p14:sldId id="275"/>
            <p14:sldId id="276"/>
            <p14:sldId id="277"/>
          </p14:sldIdLst>
        </p14:section>
        <p14:section name="References" id="{5a02a411-8aec-937c-e919-91f3424d8f17}">
          <p14:sldIdLst>
            <p14:sldId id="278"/>
            <p14:sldId id="279"/>
            <p14:sldId id="280"/>
            <p14:sldId id="281"/>
          </p14:sldIdLst>
        </p14:section>
        <p14:section name="Backup" id="{4e4f652f-be71-d10d-6029-225a80f86321}">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題目。AML 是歐洲 allo-HCT 最大宗的適應症，也是移植考題的大宗。</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a:p>
            <a:pPr>
              <a:spcAft>
                <a:spcPts val="600"/>
              </a:spcAft>
            </a:pPr>
            <a:r>
              <a:rPr lang="en-US" dirty="0"/>
              <a:t>題目分別對應 MRD 陽性的 NPM1 AML、primary refractory AML，和復發的 APL。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這張表最重要的訊息在下面的 caption。AML 治療失敗主要是 CR1 之後復發，而不是 induction 失敗或 TRM，所以後面的重點都放在 CR1 之後要怎麼鞏固。</a:t>
            </a:r>
          </a:p>
          <a:p>
            <a:pPr>
              <a:spcAft>
                <a:spcPts val="600"/>
              </a:spcAft>
            </a:pPr>
            <a:r>
              <a:rPr lang="en-US" dirty="0"/>
              <a:t>臨床上這張表決定病人用哪條路走到 CR1。走 intensive 路線的病人，後面才有 Table 70.1 的選擇；用 azacitidine 加 venetoclax 這類低強度方案的老年人，現在也有不少在緩解後接受移植，第 70 章的 practical issues 有提到。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a:p>
            <a:pPr>
              <a:spcAft>
                <a:spcPts val="600"/>
              </a:spcAft>
            </a:pPr>
            <a:r>
              <a:rPr lang="en-US" dirty="0"/>
              <a:t>這張表在臨床上的意義，是診斷時就大致知道病人會不會走向移植。書上建議所有適合移植的成人在診斷時就做 HLA typing，adverse 組更不能拖。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dirty="0"/>
              <a:t>這些改變的整體效果是 adverse 組變大。一個原本歸 intermediate 的病人，如果 NGS 抓到 SRSF2 或 STAG2，現在就是 adverse，Table 70.1 的建議也從看 MRD 決定，變成不論 MRD 都考慮 allo。反過來，TP53 VAF 只有 5% 的病人，就不再歸 adverse。</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a:p>
            <a:pPr>
              <a:spcAft>
                <a:spcPts val="600"/>
              </a:spcAft>
            </a:pPr>
            <a:r>
              <a:rPr lang="en-US" dirty="0"/>
              <a:t>MRD 的時間點有兩個用途。Induction 後早期測，用來確認緩解的深度、決定 post-remission treatment；post-remission 之後繼續測，則是為了抓即將發生的復發。所以從 ELN 2017 開始，在血液學 CR 之外，MRD negativity 也被當成一個 response end point。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a:p>
            <a:pPr>
              <a:spcAft>
                <a:spcPts val="600"/>
              </a:spcAft>
            </a:pPr>
            <a:r>
              <a:rPr lang="en-US" dirty="0"/>
              <a:t>臨床上照這張表走，先用診斷時的遺傳學分 ELN 組，再看 induction 之後的 MRD，最後用 TRM 分數判斷這位病人能不能承擔 allo。三者缺一不可，這就是書上說的 risk-adapted approach。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a:p>
            <a:pPr>
              <a:spcAft>
                <a:spcPts val="600"/>
              </a:spcAft>
            </a:pPr>
            <a:r>
              <a:rPr lang="en-US" dirty="0"/>
              <a:t>不過 MRD 陰性的 intermediate 也不是一律做 auto。Table 70.1 說，如果預估 TRM 可以接受，又有 sibling 或 10/10 MUD，仍然可以考慮 allo；TRM 偏高時，auto 和化療才是比較好的選擇。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a:p>
            <a:pPr>
              <a:spcAft>
                <a:spcPts val="600"/>
              </a:spcAft>
            </a:pPr>
            <a:r>
              <a:rPr lang="en-US" dirty="0"/>
              <a:t>這些分數的用處，是把 Table 70.1 那句「除非 TRM 過高」變成可以討論的數字，在移植會議和跟病人說明時都比較具體。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a:p>
            <a:pPr>
              <a:spcAft>
                <a:spcPts val="600"/>
              </a:spcAft>
            </a:pPr>
            <a:r>
              <a:rPr lang="en-US" dirty="0"/>
              <a:t>臨床上的意思是，PREF 的病人在診斷時就應該已經在找 donor，等到第二個 course 失敗才開始，往往錯過最好的移植時機。書上也承認，哪些 PREF 病人最能受益仍不清楚，需要更多疾病生物學和化療反應的研究。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a:p>
            <a:pPr>
              <a:spcAft>
                <a:spcPts val="600"/>
              </a:spcAft>
            </a:pPr>
            <a:r>
              <a:rPr lang="en-US" dirty="0"/>
              <a:t>第 71 章也提到，sorafenib 和移植物的 allo-immune 效應有協同作用，移植後復發的病人用 sorafenib 可以得到更深、更持久的緩解。要注意的毒性是心臟毒性、手足感覺異常和骨髓抑制。</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a:p>
            <a:pPr>
              <a:spcAft>
                <a:spcPts val="600"/>
              </a:spcAft>
            </a:pPr>
            <a:r>
              <a:rPr lang="en-US" dirty="0"/>
              <a:t>出血的來源是 leukemic blasts 活化凝血系統並造成 hyperfibrinolysis，第 70 章在 AML 的臨床表現就提過，在 APL 最明顯。另外，傳統核型除了確認 t(15;17)，三成病人還會看到額外異常，最常見的是 +8。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a:p>
            <a:pPr>
              <a:spcAft>
                <a:spcPts val="600"/>
              </a:spcAft>
            </a:pPr>
            <a:r>
              <a:rPr lang="en-US" dirty="0"/>
              <a:t>這裡的邏輯是避免用病人已經失敗過的組合再救一次。如果病人不適合移植，或 CR1 持續很久才復發，書上也接受只給 maintenance，藥物依之前的治療和臨床狀況挑選。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a:p>
            <a:pPr>
              <a:spcAft>
                <a:spcPts val="600"/>
              </a:spcAft>
            </a:pPr>
            <a:r>
              <a:rPr lang="en-US" dirty="0"/>
              <a:t>Allo 不是第一選擇，關鍵在 TRM。日本 JALSG 的非比較性研究也顯示，ATO salvage 之後接 auto-HCT 效果很好，所以只要拿到 molecular remission，auto 就是主流。</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a:p>
            <a:pPr>
              <a:spcAft>
                <a:spcPts val="600"/>
              </a:spcAft>
            </a:pPr>
            <a:r>
              <a:rPr lang="en-US" dirty="0"/>
              <a:t>兒童 MRD 的數字也可以參考。NOPHO-AML 2004 用 0.1% 當 cut-off，consolidation 前 MRD 陽性的病人五年 EFS 只有 11%，陰性的是 57%。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MRD。想想他落在 Table 70.1 的哪一格。</a:t>
            </a:r>
          </a:p>
          <a:p>
            <a:pPr>
              <a:spcAft>
                <a:spcPts val="600"/>
              </a:spcAft>
            </a:pPr>
            <a:r>
              <a:rPr lang="en-US" dirty="0"/>
              <a:t>選項 A 是只繼續 high-dose cytarabine，B 是 auto-HCT，C 是 CR1 做 sibling allo-HCT，D 是等血液學復發再移植，E 是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a:p>
            <a:pPr>
              <a:spcAft>
                <a:spcPts val="600"/>
              </a:spcAft>
            </a:pPr>
            <a:r>
              <a:rPr lang="en-US" dirty="0"/>
              <a:t>這也是 risk-adapted approach 的核心，治療反應比診斷時的特徵更重要。同樣的病人如果 MRD 是陰性，答案就會變成 chemo 或 auto-HCT。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章，下一步最好的是哪一個。先確認她算不算 primary refractory，再想移植的時機和 conditioning。</a:t>
            </a:r>
          </a:p>
          <a:p>
            <a:pPr>
              <a:spcAft>
                <a:spcPts val="600"/>
              </a:spcAft>
            </a:pPr>
            <a:r>
              <a:rPr lang="en-US" dirty="0"/>
              <a:t>A 是先給第三個 intensive course，等 CR 再移植；B 是盡快用 myeloablative conditioning 做 allo；C 是 FLAMSA 之後移植；D 是 auto-HCT；E 是 azacitidine 加 venetoclax，不移植。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a:p>
            <a:pPr>
              <a:spcAft>
                <a:spcPts val="600"/>
              </a:spcAft>
            </a:pPr>
            <a:r>
              <a:rPr lang="en-US" dirty="0"/>
              <a:t>移植之後，記得在 day 30 到 45 做骨髓 MRD，決定要不要提早減免疫抑制或給 DLI。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allo。移植後再用 RQ-PCR 每三個月追蹤，至少兩到三年。</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about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Most treatment failures are relapses from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600" b="1" dirty="0">
                          <a:solidFill>
                            <a:schemeClr val="tx1"/>
                          </a:solidFill>
                        </a:rPr>
                        <a:t>ELN 2022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Genetic lesions (Table 70.1)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Favorable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t(8;21) RUNX1::RUNX1T1; inv(16) or t(16;16) CBFB::MYH11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Favorable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Mutated NPM1 without FLT3-ITD; bZIP in-frame mutated CEBPA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Mutated NPM1 with FLT3-ITD; wild-type NPM1 without FLT3-ITD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t(9;11) MLLT3::KMT2A; lesions neither favorable nor adverse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Adverse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t(6;9) DEK::NUP214; KMT2A-r; t(9;22) BCR::ABL1; t(8;16)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Adverse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inv(3)/t(3;3) or 3q26 MECOM-r; −5/del(5q); −7; −17/abn(17p)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Adverse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Complex (not hyperdiploid) or monosomal; TP53 VAF ≥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Adverse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ASXL1, BCOR, EZH2, RUNX1, SF3B1, SRSF2, STAG2, U2AF1, ZRSR2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Multiparametric flow (MFC)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RT-qPCR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Leukaemia-aberrant or different-from-normal 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 or NPM1 mutation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Sensitivity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Applicable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90% with an appropriate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(those with a 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cut-off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 after course 1 or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Serially rising transcripts = MRD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use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response; post-remission choice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Response and serial pre-emptive 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MRD negativity is an ELN response end point in haematological CR. Ch. 71: about a quarter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ID cytarabine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Sequential conditioning + immediate HCT: LFS like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in high-risk AML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4014216"/>
                <a:gridCol w="4379976"/>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*Type not specified. EBMT, CR2 (Sanz 2021): OS 82% auto vs 64% allo; relapse 23% vs 28%.</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500" b="1" dirty="0">
                          <a:solidFill>
                            <a:schemeClr val="tx1"/>
                          </a:solidFill>
                        </a:rPr>
                        <a:t>Topic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Adults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Children (Ch. 71)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CR1 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ELN 2022 risk + MRD + TRM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Poor-risk genetics (about 30%) ± MRD after course 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 HCT in CR1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Favorable MRD−; APL in molecular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CBF, NPM1, CEBPA bZIP; APL; myeloid leukaemia of 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if &lt; 50 y (refractory); RIC otherwise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TBI-free; BU/CY with BU drug monitoring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Donor and source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unrelated or haplo; mostly PBSC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MFD or MUD; bone marrow preferred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Estimate with HCT-CI or EBMT score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Below 10% achievable in CR1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Relapse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 cause of failure after 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CR2 then HCT; second HCT TRM &gt; 30%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BU/CY/MEL (AML SCT-BFM 2007): TRM 9% under age 12, 31% above; avoid or use with caution in teenagers.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700" b="1" dirty="0">
                          <a:solidFill>
                            <a:schemeClr val="tx1"/>
                          </a:solidFill>
                        </a:rPr>
                        <a:t>Series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Salvage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 auto /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OS,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Relapse,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2007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 + chemo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195 / 137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Holter Chakrabarty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62 / 232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75 vs 54% (p = 0.002)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vs 18% (p = 0.4)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Lengfelder 2015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ATO-based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 /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77 vs 79%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39%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2021 (EBMT)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341 / 228</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82 vs 64% (p = 0.001)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vs 28% (p = 0.3)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72968"/>
                <a:gridCol w="4288536"/>
                <a:gridCol w="3355848"/>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Strength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Limitation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Karyotype t(15;17)(q22;q21)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extra anomalies in 30% (+8 most often)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Sensitivity 80%; false-negative in 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FISH PML-RARA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and rapid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very sensitive; 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rapid, sensitive; isoform allows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Occasional artefacts and contamination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Anti-PML (PG-M3) staining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rapid, cheap; microspeckled pattern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Variant RARA partners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ZBTB16 (PLZF)::RARA; STAT5B::RARA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ATRA-resistant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2026-10-09T16:09:17Z</dcterms:created>
  <dcterms:modified xsi:type="dcterms:W3CDTF">2026-10-09T16:09:17Z</dcterms:modified>
</cp:coreProperties>
</file>