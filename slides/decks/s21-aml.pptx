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80c065-074c-e7f6-fa24-fa652b30f5c5}">
          <p14:sldIdLst>
            <p14:sldId id="256"/>
            <p14:sldId id="257"/>
          </p14:sldIdLst>
        </p14:section>
        <p14:section name="AML in CR1" id="{a2333b75-2818-c8dc-7be8-97c493208c7a}">
          <p14:sldIdLst>
            <p14:sldId id="258"/>
            <p14:sldId id="259"/>
            <p14:sldId id="260"/>
            <p14:sldId id="261"/>
            <p14:sldId id="262"/>
            <p14:sldId id="263"/>
            <p14:sldId id="264"/>
          </p14:sldIdLst>
        </p14:section>
        <p14:section name="Advanced AML" id="{4101d051-f112-6928-d5f1-55959bb9af72}">
          <p14:sldIdLst>
            <p14:sldId id="265"/>
            <p14:sldId id="266"/>
            <p14:sldId id="267"/>
          </p14:sldIdLst>
        </p14:section>
        <p14:section name="APL and children" id="{3b6a8721-c71e-110a-7747-d7af37f9b9e2}">
          <p14:sldIdLst>
            <p14:sldId id="268"/>
            <p14:sldId id="269"/>
            <p14:sldId id="270"/>
            <p14:sldId id="271"/>
          </p14:sldIdLst>
        </p14:section>
        <p14:section name="Board questions" id="{fc41bc2e-065a-282c-f722-cee38bdf9f0b}">
          <p14:sldIdLst>
            <p14:sldId id="272"/>
            <p14:sldId id="273"/>
            <p14:sldId id="274"/>
            <p14:sldId id="275"/>
            <p14:sldId id="276"/>
            <p14:sldId id="277"/>
          </p14:sldIdLst>
        </p14:section>
        <p14:section name="References" id="{2973d131-65b5-3b42-81e6-0a53cb3c2203}">
          <p14:sldIdLst>
            <p14:sldId id="278"/>
            <p14:sldId id="279"/>
            <p14:sldId id="280"/>
            <p14:sldId id="281"/>
          </p14:sldIdLst>
        </p14:section>
        <p14:section name="Backup" id="{f5d0988e-d8b8-5f5d-fa73-58acfa320414}">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這張表最重要的訊息在最下面那行。AML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about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Targeted drugs need QTc, differentiation-syndrome and cytopenia monitoring. Most failures come from relapse in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600" b="1" dirty="0">
                          <a:solidFill>
                            <a:schemeClr val="tx1"/>
                          </a:solidFill>
                        </a:rPr>
                        <a:t>ELN 2022 change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it means for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MDS-related mutations added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BCOR, EZH2, SF3B1, SRSF2, STAG2, U2AF1, ZRSR2 → adverse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FLT3-ITD allelic ratio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longer used in the classification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CEBPA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Only in-frame bZIP mutations favorable, mono- or bi-allelic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NPM1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favorable when adverse-risk cytogenetics are present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New adverse rearrangements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t(3q26.2;v)/MECOM and t(8;16)/KAT6A::CREBBP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Hyperdiploid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longer counted as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TP53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Adverse only at variant allele fraction ≥ 10%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Multiparametric flow (MFC)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RT-qPCR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Target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Leukaemia-aberrant or different-from-normal 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Fusion gene or NPM1 mutation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Sensitivity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0.1–0.01%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0.1–0.001%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Applicable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About 90% with an appropriate panel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About 80% (those with a target)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Usual cut-off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0.1% after course 1 or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Serially rising transcripts = MRD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 use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response; post-remission choice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and serial pre-emptive monitoring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MRD negativity is an ELN response end point in haematological CR. 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70 position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Definition (Ferguson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CR after 2 intensive courses, ≥ 1 with ID cytarabine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Frequency; chemo-only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10–40% of adults with new AML; long-term survival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 does best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Swift HCT after ≤ 2 courses; lower disease burden at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TP53 mutation or inv(3)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poor outcome; reserve allo-HCT for those in 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if age &lt; 50; no RIC regimen favoured in older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FLAMSA vs FB2 RIC (Craddock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benefit in CR1/CR2; too few PREF patients to judge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Marrow MRD at day 30–45 to guide IS taper or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ASAP trial (Stelljes 2022; Ch. 71)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Sequential conditioning + immediate HCT: LFS like induction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for high-risk, secondary or poor-mutation AML. Drug details: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4014216"/>
                <a:gridCol w="4379976"/>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*Ch. 70 does not specify the type. EBMT registry, CR2 (Sanz 2021): OS 82% auto vs 64% allo (p = 0.001); relapse 23% vs 28% (p = 0.3).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500" b="1" dirty="0">
                          <a:solidFill>
                            <a:schemeClr val="tx1"/>
                          </a:solidFill>
                        </a:rPr>
                        <a:t>Topic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Adults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Children (Ch. 71)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CR1 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ELN 2022 risk + MRD + 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Poor-risk genetics (about 30%) ± MRD after course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 HCT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Favorable MRD−; APL in molecular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CBF, NPM1, CEBPA bZIP; APL; myeloid leukaemia of 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if &lt; 50 y (refractory); RIC otherwise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TBI-free; BU/CY with BU drug monitoring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Donor and source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unrelated or haplo; mostly PBSC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MFD or MUD; bone marrow preferred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Estimate with HCT-CI or EBMT score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Below 10% achievable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Relapse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 cause of failure after 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CR2 then HCT; second HCT TRM &gt; 30%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AML SCT-BFM 2007 (BU/CY/MEL): TRM 9% under 12 years vs 31% in older children and teenagers; avoid or use with caution in this age group.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auto /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OS,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Relapse,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ATRA +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195 / 137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 vs 59%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Holter Chakrabarty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 / 232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75 vs 54% (p = 0.002)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 vs 18% (p = 0.4)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Lengfelder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ATO-based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60 /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 vs 79%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39%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2021 (EBMT)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341 / 228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 vs 64% (p =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vs 28% (p = 0.3)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72968"/>
                <a:gridCol w="4288536"/>
                <a:gridCol w="3355848"/>
              </a:tblGrid>
              <a:tr h="0">
                <a:tc>
                  <a:txBody>
                    <a:bodyPr/>
                    <a:lstStyle/>
                    <a:p>
                      <a:pPr indent="0" marL="0">
                        <a:buNone/>
                      </a:pPr>
                      <a:r>
                        <a:rPr lang="en-US" sz="1600" b="1" dirty="0">
                          <a:solidFill>
                            <a:schemeClr val="tx1"/>
                          </a:solidFill>
                        </a:rPr>
                        <a:t>Method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Strength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Limitation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Karyotype t(15;17)(q22;q21)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specific; extra anomalies in 30% (+8 most often)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Sensitivity 80%; false-negative in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FISH PML-RARA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specific and rapid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very sensitive; no isoform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RT-PCR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Specific, rapid, sensitive; isoform allows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Occasional artefacts and contamination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Anti-PML (PG-M3) staining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Specific, rapid, cheap; microspeckled pattern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isoform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Variant RARA partners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ZBTB16 (PLZF)::RARA; STAT5B::RARA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ATRA-resistant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600" b="1" dirty="0">
                          <a:solidFill>
                            <a:schemeClr val="tx1"/>
                          </a:solidFill>
                        </a:rPr>
                        <a:t>Group</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Abnormalities considered poor risk (Ch. 71)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MECOM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inv(3)(q21q26), t(3;3)(q21;q26), abn(3q26)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Monosomies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−5/del(5q);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Fusions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t(6;9) DEK::NUP214; t(9;22) BCR::ABL1; t(7;12) MNX1::ETV6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KMT2A partners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t(6;11) MLLT4; t(4;11) AFF1; t(10;11) MLLT10 or ABI1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12p abnormalities; all NUP98 fusions; CBFA2T3::GLIS2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FLT3-ITD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Without NPM1, CEBPA bZIP mutation or CBF-AML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consensus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Complex karyotype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2026-10-09T16:08:52Z</dcterms:created>
  <dcterms:modified xsi:type="dcterms:W3CDTF">2026-10-09T16:08:52Z</dcterms:modified>
</cp:coreProperties>
</file>