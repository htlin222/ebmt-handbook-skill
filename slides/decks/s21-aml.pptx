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6bd5f17-fc60-ff4b-6252-a728b9fcb1aa}">
          <p14:sldIdLst>
            <p14:sldId id="256"/>
            <p14:sldId id="257"/>
          </p14:sldIdLst>
        </p14:section>
        <p14:section name="AML in CR1" id="{bbd75bda-4414-dfd8-275e-8273b5e9cee0}">
          <p14:sldIdLst>
            <p14:sldId id="258"/>
            <p14:sldId id="259"/>
            <p14:sldId id="260"/>
            <p14:sldId id="261"/>
            <p14:sldId id="262"/>
            <p14:sldId id="263"/>
            <p14:sldId id="264"/>
          </p14:sldIdLst>
        </p14:section>
        <p14:section name="Advanced AML" id="{a935eb54-2f32-f73d-7f5b-169c5cdbc617}">
          <p14:sldIdLst>
            <p14:sldId id="265"/>
            <p14:sldId id="266"/>
            <p14:sldId id="267"/>
          </p14:sldIdLst>
        </p14:section>
        <p14:section name="APL and children" id="{b59f6a3e-0ee0-d309-ce30-b84e9f2796a4}">
          <p14:sldIdLst>
            <p14:sldId id="268"/>
            <p14:sldId id="269"/>
            <p14:sldId id="270"/>
            <p14:sldId id="271"/>
          </p14:sldIdLst>
        </p14:section>
        <p14:section name="Board questions" id="{3074b02a-2297-d418-a1f2-c9758b0ff1d0}">
          <p14:sldIdLst>
            <p14:sldId id="272"/>
            <p14:sldId id="273"/>
            <p14:sldId id="274"/>
            <p14:sldId id="275"/>
            <p14:sldId id="276"/>
            <p14:sldId id="277"/>
          </p14:sldIdLst>
        </p14:section>
        <p14:section name="References" id="{f38e5346-18fa-5cc9-2b4e-ab5040460314}">
          <p14:sldIdLst>
            <p14:sldId id="278"/>
            <p14:sldId id="279"/>
            <p14:sldId id="280"/>
            <p14:sldId id="281"/>
          </p14:sldIdLst>
        </p14:section>
        <p14:section name="Backup" id="{f50b6650-aebe-770b-2530-040ec10add0d}">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各位好，第 21 堂講 AML 的移植，核心是 EBMT Handbook 第 70 章，兒童的第 71 章只挑對照的考點。從 CR1 要不要移植講起，再到 primary refractory AML、移植後的復發預防和 APL，最後三題 board-style 題目。AML 是歐洲 allo-HCT 最大宗的適應症，也是移植考題的大宗。</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今天分三段內容加考題。第一段最長，講 AML 在 CR1 的移植決策。先看 first-line 治療，再看 ELN 2022 的遺傳風險分組和 2022 版改了什麼，接著是 MRD，然後把這些放進 Table 70.1，最後補上 TRM 的評估工具。</a:t>
            </a:r>
          </a:p>
          <a:p>
            <a:pPr>
              <a:spcAft>
                <a:spcPts val="600"/>
              </a:spcAft>
            </a:pPr>
            <a:r>
              <a:rPr lang="en-US" dirty="0"/>
              <a:t>第二段是 advanced AML，主角是 primary refractory AML，加上實務上的安排和移植後怎麼預防復發。</a:t>
            </a:r>
          </a:p>
          <a:p>
            <a:pPr>
              <a:spcAft>
                <a:spcPts val="600"/>
              </a:spcAft>
            </a:pPr>
            <a:r>
              <a:rPr lang="en-US" dirty="0"/>
              <a:t>第三段是 APL。APL 在 CR1 幾乎不移植，復發後反而 auto-HCT 優先，這和其他 AML 剛好相反，是很典型的考點。這段最後用一張表對照兒童 AML 的做法。三題考題放在最後五分鐘。</a:t>
            </a:r>
          </a:p>
          <a:p>
            <a:pPr>
              <a:spcAft>
                <a:spcPts val="600"/>
              </a:spcAft>
            </a:pPr>
            <a:r>
              <a:rPr lang="en-US" dirty="0"/>
              <a:t>題目分別對應 MRD 陽性的 NPM1 AML、primary refractory AML，和復發的 APL。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先看移植之前的第一線治療。標準的 intensive induction 從 1980 年代到現在都是 Ara-C 給 7 到 10 天，加上 daunorubicin 或 idarubicin 給 3 天，CR rate 大約 70 到 90%。Favorable-risk 的病人 OS 大約 60 到 70%，intermediate 和 adverse 就差很多。</a:t>
            </a:r>
          </a:p>
          <a:p>
            <a:pPr>
              <a:spcAft>
                <a:spcPts val="600"/>
              </a:spcAft>
            </a:pPr>
            <a:r>
              <a:rPr lang="en-US" dirty="0"/>
              <a:t>Targeted therapy 方面，FLT3 mutation 的病人在 induction 和 consolidation 加上 midostaurin，依據是 RATIFY 試驗的存活好處。60 到 75 歲的 therapy-related 或 secondary-type AML，CPX-351 比標準 induction 好。Gemtuzumab ozogamicin 是針對特定次族群的另一個選擇。</a:t>
            </a:r>
          </a:p>
          <a:p>
            <a:pPr>
              <a:spcAft>
                <a:spcPts val="600"/>
              </a:spcAft>
            </a:pPr>
            <a:r>
              <a:rPr lang="en-US" dirty="0"/>
              <a:t>不適合 intensive 治療的病人，azacitidine 加 venetoclax 已經是新的標準；IDH1 mutation 的則可以用 ivosidenib 加 azacitidine。這些藥要注意 QTc、differentiation syndrome 和長時間的血球低下。</a:t>
            </a:r>
          </a:p>
          <a:p>
            <a:pPr>
              <a:spcAft>
                <a:spcPts val="600"/>
              </a:spcAft>
            </a:pPr>
            <a:r>
              <a:rPr lang="en-US" dirty="0"/>
              <a:t>這張表最重要的訊息在下面的 caption。AML 治療失敗主要是 CR1 之後復發，而不是 induction 失敗或 TRM，所以後面的重點都放在 CR1 之後要怎麼鞏固。</a:t>
            </a:r>
          </a:p>
          <a:p>
            <a:pPr>
              <a:spcAft>
                <a:spcPts val="600"/>
              </a:spcAft>
            </a:pPr>
            <a:r>
              <a:rPr lang="en-US" dirty="0"/>
              <a:t>臨床上這張表決定病人用哪條路走到 CR1。走 intensive 路線的病人，後面才有 Table 70.1 的選擇；用 azacitidine 加 venetoclax 這類低強度方案的老年人，現在也有不少在緩解後接受移植，第 70 章的 practical issues 有提到。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這張是 ELN 2022 的三個風險組，內容取自 Table 70.1 左欄。分組依據是診斷時的 cytogenetics 和基因突變。</a:t>
            </a:r>
          </a:p>
          <a:p>
            <a:pPr>
              <a:spcAft>
                <a:spcPts val="600"/>
              </a:spcAft>
            </a:pPr>
            <a:r>
              <a:rPr lang="en-US" dirty="0"/>
              <a:t>Favorable 有四種。兩個 core-binding factor，t(8;21) 和 inv(16)；再加上沒有 FLT3-ITD 的 NPM1 mutation，以及 bZIP 區 in-frame 的 CEBPA mutation。NPM1 那兩列有個前提，就是不能同時有 adverse 的 cytogenetics。</a:t>
            </a:r>
          </a:p>
          <a:p>
            <a:pPr>
              <a:spcAft>
                <a:spcPts val="600"/>
              </a:spcAft>
            </a:pPr>
            <a:r>
              <a:rPr lang="en-US" dirty="0"/>
              <a:t>Intermediate 包括合併 FLT3-ITD 的 NPM1、NPM1 和 FLT3-ITD 都沒有的病人、t(9;11)，以及其他不屬於兩端的異常。</a:t>
            </a:r>
          </a:p>
          <a:p>
            <a:pPr>
              <a:spcAft>
                <a:spcPts val="600"/>
              </a:spcAft>
            </a:pPr>
            <a:r>
              <a:rPr lang="en-US" dirty="0"/>
              <a:t>Adverse 最長。t(6;9)、其他 KMT2A rearrangement、BCR::ABL1、t(8;16)、inv(3) 或 MECOM rearrangement、−5、−7、17p 異常、complex 或 monosomal karyotype、VAF 10% 以上的 TP53，再加上最後一列這九個 MDS-related 基因。</a:t>
            </a:r>
          </a:p>
          <a:p>
            <a:pPr>
              <a:spcAft>
                <a:spcPts val="600"/>
              </a:spcAft>
            </a:pPr>
            <a:r>
              <a:rPr lang="en-US" dirty="0"/>
              <a:t>考試常把 t(9;11) 和其他 KMT2A rearrangement 放在一起考。t(9;11) 是 intermediate，其他 KMT2A partner 才是 adverse。</a:t>
            </a:r>
          </a:p>
          <a:p>
            <a:pPr>
              <a:spcAft>
                <a:spcPts val="600"/>
              </a:spcAft>
            </a:pPr>
            <a:r>
              <a:rPr lang="en-US" dirty="0"/>
              <a:t>這張表在臨床上的意義，是診斷時就大致知道病人會不會走向移植。書上建議所有適合移植的成人在診斷時就做 HLA typing，adverse 組更不能拖。</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4:30 至 6:00]</a:t>
            </a:r>
          </a:p>
          <a:p>
            <a:pPr>
              <a:spcAft>
                <a:spcPts val="600"/>
              </a:spcAft>
            </a:pPr>
            <a:r>
              <a:rPr lang="en-US" dirty="0"/>
              <a:t>ELN 2022 和 2017 版相比有六、七個變動，第 70 章逐條列出，都很好出題。</a:t>
            </a:r>
          </a:p>
          <a:p>
            <a:pPr>
              <a:spcAft>
                <a:spcPts val="600"/>
              </a:spcAft>
            </a:pPr>
            <a:r>
              <a:rPr lang="en-US" dirty="0"/>
              <a:t>最大的變動是把 BCOR、EZH2、SF3B1、SRSF2、STAG2、U2AF1、ZRSR2 這些 MDS-related mutations 歸到 adverse，反映疾病的生物學是 secondary-type。ASXL1 和 RUNX1 在 2017 版就已經是 adverse。</a:t>
            </a:r>
          </a:p>
          <a:p>
            <a:pPr>
              <a:spcAft>
                <a:spcPts val="600"/>
              </a:spcAft>
            </a:pPr>
            <a:r>
              <a:rPr lang="en-US" dirty="0"/>
              <a:t>FLT3-ITD 的 allelic ratio 拿掉了，所以 NPM1 合併 FLT3-ITD 現在不管 ratio 高低，一律是 intermediate。CEBPA 以前要求 biallelic，現在只要是 bZIP in-frame，單或雙 allele 都算 favorable。NPM1 若同時有 adverse cytogenetics，就不再算 favorable。</a:t>
            </a:r>
          </a:p>
          <a:p>
            <a:pPr>
              <a:spcAft>
                <a:spcPts val="600"/>
              </a:spcAft>
            </a:pPr>
            <a:r>
              <a:rPr lang="en-US" dirty="0"/>
              <a:t>t(3q26.2;v) 和 t(8;16) 新增到 adverse。Hyperdiploid 不再算 complex karyotype。TP53 要 VAF 大於等於 10% 才算 adverse。</a:t>
            </a:r>
          </a:p>
          <a:p>
            <a:pPr>
              <a:spcAft>
                <a:spcPts val="600"/>
              </a:spcAft>
            </a:pPr>
            <a:r>
              <a:rPr lang="en-US" dirty="0"/>
              <a:t>實務上，送 NGS panel 要涵蓋這些 MDS-related 基因，否則病人會被低估成 intermediate，錯過在 CR1 討論移植的時機。</a:t>
            </a:r>
          </a:p>
          <a:p>
            <a:pPr>
              <a:spcAft>
                <a:spcPts val="600"/>
              </a:spcAft>
            </a:pPr>
            <a:r>
              <a:rPr lang="en-US" dirty="0"/>
              <a:t>這些改變的整體效果是 adverse 組變大。一個原本歸 intermediate 的病人，如果 NGS 抓到 SRSF2 或 STAG2，現在就是 adverse，Table 70.1 的建議也從看 MRD 決定，變成不論 MRD 都考慮 allo。反過來，TP53 VAF 只有 5% 的病人，就不再歸 adverse。</a:t>
            </a:r>
          </a:p>
          <a:p>
            <a:pPr>
              <a:spcAft>
                <a:spcPts val="600"/>
              </a:spcAft>
            </a:pPr>
            <a:r>
              <a:rPr lang="en-US" b="1" dirty="0"/>
              <a:t>講者提醒（不念出來）：</a:t>
            </a:r>
          </a:p>
          <a:p>
            <a:pPr>
              <a:spcAft>
                <a:spcPts val="600"/>
              </a:spcAft>
            </a:pPr>
            <a:r>
              <a:rPr lang="en-US" dirty="0"/>
              <a:t>- Reference 7 (Döhner 2022) is copied verbatim from the Ch. 70 reference list, which prints Blood 2022;129(4):424–47 (the volume and pages of the ELN 2017 paper). Check before circulating the reference list.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6:00 至 7:30]</a:t>
            </a:r>
          </a:p>
          <a:p>
            <a:pPr>
              <a:spcAft>
                <a:spcPts val="600"/>
              </a:spcAft>
            </a:pPr>
            <a:r>
              <a:rPr lang="en-US" dirty="0"/>
              <a:t>第 70 章說，比起診斷時的特徵，治療反應更有預後意義，尤其是血液學 CR 時有沒有 measurable residual disease。測法有兩種，multiparametric flow cytometry，或針對特定 marker 的 quantitative PCR。</a:t>
            </a:r>
          </a:p>
          <a:p>
            <a:pPr>
              <a:spcAft>
                <a:spcPts val="600"/>
              </a:spcAft>
            </a:pPr>
            <a:r>
              <a:rPr lang="en-US" dirty="0"/>
              <a:t>兩種方法的細節第 70 章沒寫，這裡借第 71 章的數字。Flow 看 leukaemia-aberrant immunophenotype 或 different-from-normal，敏感度 0.1 到 0.01%，大約九成病人有可用的 phenotype，常用 cut-off 是 course 1 或 2 之後 0.1%。RT-qPCR 看 fusion gene 或 NPM1 mutation，敏感度到 0.001%，但只有大約八成病人有 target。</a:t>
            </a:r>
          </a:p>
          <a:p>
            <a:pPr>
              <a:spcAft>
                <a:spcPts val="600"/>
              </a:spcAft>
            </a:pPr>
            <a:r>
              <a:rPr lang="en-US" dirty="0"/>
              <a:t>PCR 的另一個用途是連續追蹤。Transcript 一路上升就是 MRD relapse，強烈預測血液學復發。</a:t>
            </a:r>
          </a:p>
          <a:p>
            <a:pPr>
              <a:spcAft>
                <a:spcPts val="600"/>
              </a:spcAft>
            </a:pPr>
            <a:r>
              <a:rPr lang="en-US" dirty="0"/>
              <a:t>MRD 也不是萬能。Course 1 之後 flow MRD 小於等於 0.1% 的病人，仍有大約四分之一會復發。MRD 陰性降低風險，但不排除復發。</a:t>
            </a:r>
          </a:p>
          <a:p>
            <a:pPr>
              <a:spcAft>
                <a:spcPts val="600"/>
              </a:spcAft>
            </a:pPr>
            <a:r>
              <a:rPr lang="en-US" dirty="0"/>
              <a:t>MRD 的時間點有兩個用途。Induction 後早期測，用來確認緩解的深度、決定 post-remission treatment；post-remission 之後繼續測，則是為了抓即將發生的復發。所以從 ELN 2017 開始，在血液學 CR 之外，MRD negativity 也被當成一個 response end point。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7:30 至 9:30]</a:t>
            </a:r>
          </a:p>
          <a:p>
            <a:pPr>
              <a:spcAft>
                <a:spcPts val="600"/>
              </a:spcAft>
            </a:pPr>
            <a:r>
              <a:rPr lang="en-US" dirty="0"/>
              <a:t>這張是 Table 70.1 的右半邊，整段 AML 最核心的一張表。左邊是 ELN 2022 三個風險組，右邊兩欄是 MRD 陰性和陽性時建議的 post-remission treatment。</a:t>
            </a:r>
          </a:p>
          <a:p>
            <a:pPr>
              <a:spcAft>
                <a:spcPts val="600"/>
              </a:spcAft>
            </a:pPr>
            <a:r>
              <a:rPr lang="en-US" dirty="0"/>
              <a:t>Favorable 組 MRD 陰性時，用 chemotherapy 或 auto-HCT 就好。只要 MRD 陽性，書上就把它當成高復發風險，建議 allo-HCT，除非就算用 RIC，預估 TRM 還是過高。</a:t>
            </a:r>
          </a:p>
          <a:p>
            <a:pPr>
              <a:spcAft>
                <a:spcPts val="600"/>
              </a:spcAft>
            </a:pPr>
            <a:r>
              <a:rPr lang="en-US" dirty="0"/>
              <a:t>Intermediate 組 MRD 陽性就做 allo；MRD 陰性則是 consider allo-HCT，前提是 TRM 可以接受，chemo 或 auto-HCT 是替代選項。Adverse 組不論 MRD 都是 allo 的候選，MRD 陽性的人要在拿到血液學 CR 之後盡快移植。MRD 陰性的 adverse 仍然有相當的復發風險，只有 TRM 非常高的人才考慮不做 allo。</a:t>
            </a:r>
          </a:p>
          <a:p>
            <a:pPr>
              <a:spcAft>
                <a:spcPts val="600"/>
              </a:spcAft>
            </a:pPr>
            <a:r>
              <a:rPr lang="en-US" dirty="0"/>
              <a:t>註腳的 donor 規則也要看。Favorable MRD 陽性和 intermediate MRD 陰性這兩格，只建議 HLA-identical sibling 或 10/10 MUD；其他格子可以接受 MMUD、cord blood 或 haplo。復發風險越高，越能容忍 HLA mismatch。</a:t>
            </a:r>
          </a:p>
          <a:p>
            <a:pPr>
              <a:spcAft>
                <a:spcPts val="600"/>
              </a:spcAft>
            </a:pPr>
            <a:r>
              <a:rPr lang="en-US" dirty="0"/>
              <a:t>這張表背後是 GVL 和 TRM 的平衡。Allo-HCT 的 GVL 效果不分 cytogenetic 亞組、也不分 MRD 狀態都存在，是最強的防復發手段；但 TRM 會把好處吃掉，尤其在原本復發率就低的病人身上。</a:t>
            </a:r>
          </a:p>
          <a:p>
            <a:pPr>
              <a:spcAft>
                <a:spcPts val="600"/>
              </a:spcAft>
            </a:pPr>
            <a:r>
              <a:rPr lang="en-US" dirty="0"/>
              <a:t>臨床上照這張表走，先用診斷時的遺傳學分 ELN 組，再看 induction 之後的 MRD，最後用 TRM 分數判斷這位病人能不能承擔 allo。三者缺一不可，這就是書上說的 risk-adapted approach。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9:30 至 10:30]</a:t>
            </a:r>
          </a:p>
          <a:p>
            <a:pPr>
              <a:spcAft>
                <a:spcPts val="600"/>
              </a:spcAft>
            </a:pPr>
            <a:r>
              <a:rPr lang="en-US" dirty="0"/>
              <a:t>Intermediate risk 是過去爭議最大的一組。Allo 和 non-allo 的比較結果互相矛盾，把分子標記放進來之後更是如此。</a:t>
            </a:r>
          </a:p>
          <a:p>
            <a:pPr>
              <a:spcAft>
                <a:spcPts val="600"/>
              </a:spcAft>
            </a:pPr>
            <a:r>
              <a:rPr lang="en-US" dirty="0"/>
              <a:t>GIMEMA AML1310 是 risk-adapted 的試驗。Intermediate risk 而且 MRD 陰性的病人分到 auto-HCT，MRD 陽性的分到 allo-HCT，結果兩組 outcome 相近。MRD 陽性的人靠 allo 的 GVL 把風險拉回來，MRD 陰性的人則不必承擔 allo 的 TRM。</a:t>
            </a:r>
          </a:p>
          <a:p>
            <a:pPr>
              <a:spcAft>
                <a:spcPts val="600"/>
              </a:spcAft>
            </a:pPr>
            <a:r>
              <a:rPr lang="en-US" dirty="0"/>
              <a:t>所以書上強烈建議 intermediate risk 一定要先測 MRD，再決定 post-remission treatment。</a:t>
            </a:r>
          </a:p>
          <a:p>
            <a:pPr>
              <a:spcAft>
                <a:spcPts val="600"/>
              </a:spcAft>
            </a:pPr>
            <a:r>
              <a:rPr lang="en-US" dirty="0"/>
              <a:t>不過 MRD 陰性的 intermediate 也不是一律做 auto。Table 70.1 說，如果預估 TRM 可以接受，又有 sibling 或 10/10 MUD，仍然可以考慮 allo；TRM 偏高時，auto 和化療才是比較好的選擇。</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10:30 至 12:00]</a:t>
            </a:r>
          </a:p>
          <a:p>
            <a:pPr>
              <a:spcAft>
                <a:spcPts val="600"/>
              </a:spcAft>
            </a:pPr>
            <a:r>
              <a:rPr lang="en-US" dirty="0"/>
              <a:t>Table 70.1 裡一直出現「除非 TRM 過高」，這張講 TRM 怎麼量化。TRM 的來源包括 GVHD、感染、器官毒性；影響因素則有 procedure 本身，例如 conditioning 和 T-cell depletion，還有 donor 的 HLA matching，以及病人的年齡和 comorbidity。</a:t>
            </a:r>
          </a:p>
          <a:p>
            <a:pPr>
              <a:spcAft>
                <a:spcPts val="600"/>
              </a:spcAft>
            </a:pPr>
            <a:r>
              <a:rPr lang="en-US" dirty="0"/>
              <a:t>最常用的兩個工具是 EBMT risk score 和 HCT-CI。EBMT risk score 看病人和移植的特徵，原本在 CML 病人身上建立，後來在 AML 也驗證過。HCT-CI 把 17 項 comorbidities 加總成一個分數，之後陸續加入年齡、疾病狀態和 biomarkers 做修正。</a:t>
            </a:r>
          </a:p>
          <a:p>
            <a:pPr>
              <a:spcAft>
                <a:spcPts val="600"/>
              </a:spcAft>
            </a:pPr>
            <a:r>
              <a:rPr lang="en-US" dirty="0"/>
              <a:t>EBMT 的 acute leukemia working party 另外用 machine learning 做了 10 個變數的模型，可以預測 100 天和兩年的死亡率。</a:t>
            </a:r>
          </a:p>
          <a:p>
            <a:pPr>
              <a:spcAft>
                <a:spcPts val="600"/>
              </a:spcAft>
            </a:pPr>
            <a:r>
              <a:rPr lang="en-US" dirty="0"/>
              <a:t>因為 RIC、支持療法和 GVHD 預防的進步，TRM 已經大幅下降，舊模型在現在的預測力變差。ALWP 因此針對老年人接受 RIC，以及使用 PTCy 的病人，各做了新的分數。書上建議盡量用針對特定族群的專屬分數。</a:t>
            </a:r>
          </a:p>
          <a:p>
            <a:pPr>
              <a:spcAft>
                <a:spcPts val="600"/>
              </a:spcAft>
            </a:pPr>
            <a:r>
              <a:rPr lang="en-US" dirty="0"/>
              <a:t>這些分數的用處，是把 Table 70.1 那句「除非 TRM 過高」變成可以討論的數字，在移植會議和跟病人說明時都比較具體。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12:00 至 14:00]</a:t>
            </a:r>
          </a:p>
          <a:p>
            <a:pPr>
              <a:spcAft>
                <a:spcPts val="600"/>
              </a:spcAft>
            </a:pPr>
            <a:r>
              <a:rPr lang="en-US" dirty="0"/>
              <a:t>接下來是 primary refractory AML，書上縮寫成 PREF。定義是兩個 course 的 intensive induction 之後仍然沒有 morphological CR，其中至少一個 course 含 intermediate-dose cytarabine。這個定義考試可能直接考。</a:t>
            </a:r>
          </a:p>
          <a:p>
            <a:pPr>
              <a:spcAft>
                <a:spcPts val="600"/>
              </a:spcAft>
            </a:pPr>
            <a:r>
              <a:rPr lang="en-US" dirty="0"/>
              <a:t>新診斷的成人 AML 有 10 到 40% 屬於 PREF。繼續只用化療，長期存活不到 10%，allo-HCT 是唯一有機會帶來長期 disease-free survival 的治療。</a:t>
            </a:r>
          </a:p>
          <a:p>
            <a:pPr>
              <a:spcAft>
                <a:spcPts val="600"/>
              </a:spcAft>
            </a:pPr>
            <a:r>
              <a:rPr lang="en-US" dirty="0"/>
              <a:t>結果比較好的是最多兩個 course 就盡快送移植、而且移植時疾病負荷較低的人。反過來，有 TP53 mutation 或 inv(3) 的病人移植結果非常差，目前合理的做法是只在達到 morphological CR 時才移植。</a:t>
            </a:r>
          </a:p>
          <a:p>
            <a:pPr>
              <a:spcAft>
                <a:spcPts val="600"/>
              </a:spcAft>
            </a:pPr>
            <a:r>
              <a:rPr lang="en-US" dirty="0"/>
              <a:t>Conditioning 方面，50 歲以下除非有很強的理由，建議 myeloablative。年紀較大的病人，沒有證據支持哪個 RIC 比較好。FLAMSA 序貫式方案早期結果不錯，但 Craddock 2021 的隨機試驗在 CR1 或 CR2 跟標準 RIC 的 FB2 比，沒有好處，只是 PREF 病人太少，無法下結論。</a:t>
            </a:r>
          </a:p>
          <a:p>
            <a:pPr>
              <a:spcAft>
                <a:spcPts val="600"/>
              </a:spcAft>
            </a:pPr>
            <a:r>
              <a:rPr lang="en-US" dirty="0"/>
              <a:t>移植後 30 到 45 天做骨髓 MRD，用來決定是否提早減免疫抑制劑，或給 prophylactic、pre-emptive DLI。第 71 章另外提到成人的 ASAP 隨機試驗，R/R AML 直接做 sequential conditioning 再立刻移植，LFS 和先做 intensive induction 再移植相近。</a:t>
            </a:r>
          </a:p>
          <a:p>
            <a:pPr>
              <a:spcAft>
                <a:spcPts val="600"/>
              </a:spcAft>
            </a:pPr>
            <a:r>
              <a:rPr lang="en-US" dirty="0"/>
              <a:t>臨床上的意思是，PREF 的病人在診斷時就應該已經在找 donor，等到第二個 course 失敗才開始，往往錯過最好的移植時機。書上也承認，哪些 PREF 病人最能受益仍不清楚，需要更多疾病生物學和化療反應的研究。</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14:00 至 15:00]</a:t>
            </a:r>
          </a:p>
          <a:p>
            <a:pPr>
              <a:spcAft>
                <a:spcPts val="600"/>
              </a:spcAft>
            </a:pPr>
            <a:r>
              <a:rPr lang="en-US" dirty="0"/>
              <a:t>AML 是歐洲 allo-HCT 最大宗的適應症，2021 年 7123 例，佔 38%，其中六成左右是 de novo AML 在 CR1。AML 的 CAR-T 還在起步，所以移植量沒有像淋巴癌那樣下降。</a:t>
            </a:r>
          </a:p>
          <a:p>
            <a:pPr>
              <a:spcAft>
                <a:spcPts val="600"/>
              </a:spcAft>
            </a:pPr>
            <a:r>
              <a:rPr lang="en-US" dirty="0"/>
              <a:t>流程從診斷當下開始，病人和家屬做 HLA typing，盡早找 donor。移植前達到 MRD 陰性和預後相關。GVHD prophylaxis 越來越多改用 PTCy，不只 haplo，matched related 和 unrelated 也是。高復發風險的病人，例如 secondary AML 或帶不良突變，移植後要考慮 maintenance 或 pre-emptive therapy。</a:t>
            </a:r>
          </a:p>
          <a:p>
            <a:pPr>
              <a:spcAft>
                <a:spcPts val="600"/>
              </a:spcAft>
            </a:pPr>
            <a:r>
              <a:rPr lang="en-US" dirty="0"/>
              <a:t>TRM 下降之後，移植病人的年齡持續上升，很多超過 60 甚至 65 歲，而且是在 venetoclax 為基礎的低強度 induction 之後接受移植。</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15:00 至 16:30]</a:t>
            </a:r>
          </a:p>
          <a:p>
            <a:pPr>
              <a:spcAft>
                <a:spcPts val="600"/>
              </a:spcAft>
            </a:pPr>
            <a:r>
              <a:rPr lang="en-US" dirty="0"/>
              <a:t>不論 CR1 或 advanced disease，TRM 幾十年來明顯下降，但移植後復發仍然居高不下，現在是 AML 移植失敗的主因。這張整理移植後能做的事。</a:t>
            </a:r>
          </a:p>
          <a:p>
            <a:pPr>
              <a:spcAft>
                <a:spcPts val="600"/>
              </a:spcAft>
            </a:pPr>
            <a:r>
              <a:rPr lang="en-US" dirty="0"/>
              <a:t>第 70 章的建議是 day 30 到 45 做骨髓 MRD，決定要不要提早減 IS 或給 DLI。第 71 章引用成人資料，cyclosporine 暴露越多，復發越多、存活越差，支持盡早停免疫抑制。</a:t>
            </a:r>
          </a:p>
          <a:p>
            <a:pPr>
              <a:spcAft>
                <a:spcPts val="600"/>
              </a:spcAft>
            </a:pPr>
            <a:r>
              <a:rPr lang="en-US" dirty="0"/>
              <a:t>藥物 maintenance 裡證據最強的是 FLT3-ITD 的 sorafenib。SORMAIN 試驗 relapse 或死亡的 HR 是 0.39，24 個月 RFS 是 85.0% 對 53.3%。Azacitidine 的 RICAZA 是 37 人的 pilot，36 mg/m² 皮下打 5 天，每 4 週一次，從 day 42 開始給 12 個月。Decitabine 加 G-CSF 的隨機 phase II，兩年 CIR 從 38.3% 降到 15%。</a:t>
            </a:r>
          </a:p>
          <a:p>
            <a:pPr>
              <a:spcAft>
                <a:spcPts val="600"/>
              </a:spcAft>
            </a:pPr>
            <a:r>
              <a:rPr lang="en-US" dirty="0"/>
              <a:t>Maintenance 的藥物細節在第 19 堂講過，這裡記住 sorafenib 和 FLT3-ITD 的配對就好。</a:t>
            </a:r>
          </a:p>
          <a:p>
            <a:pPr>
              <a:spcAft>
                <a:spcPts val="600"/>
              </a:spcAft>
            </a:pPr>
            <a:r>
              <a:rPr lang="en-US" dirty="0"/>
              <a:t>第 71 章也提到，sorafenib 和移植物的 allo-immune 效應有協同作用，移植後復發的病人用 sorafenib 可以得到更深、更持久的緩解。要注意的毒性是心臟毒性、手足感覺異常和骨髓抑制。</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16:30 至 18:00]</a:t>
            </a:r>
          </a:p>
          <a:p>
            <a:pPr>
              <a:spcAft>
                <a:spcPts val="600"/>
              </a:spcAft>
            </a:pPr>
            <a:r>
              <a:rPr lang="en-US" dirty="0"/>
              <a:t>APL 是 AML 的特殊亞型，t(15;17)，分子上是 PML-RARA，對 ATRA 和 ATO 特別敏感。臨床上最危險的是出血，診斷時和 induction 早期都有很高的出血併發症。</a:t>
            </a:r>
          </a:p>
          <a:p>
            <a:pPr>
              <a:spcAft>
                <a:spcPts val="600"/>
              </a:spcAft>
            </a:pPr>
            <a:r>
              <a:rPr lang="en-US" dirty="0"/>
              <a:t>APL 佔 AML 的 5 到 15%，中位年齡大約 40 歲，男女相當，大約一成發生在化療，特別是 topoisomerase II inhibitor，或放療之後。</a:t>
            </a:r>
          </a:p>
          <a:p>
            <a:pPr>
              <a:spcAft>
                <a:spcPts val="600"/>
              </a:spcAft>
            </a:pPr>
            <a:r>
              <a:rPr lang="en-US" dirty="0"/>
              <a:t>形態分兩型。典型 hypergranular 佔七成多，顆粒密、Auer rod 多，HLA-DR 和 CD34 陰性，CD33 強而均勻，WBC 通常低。Microgranular variant 佔兩成左右，顆粒細，CD34 和 HLA-DR 可以陽性，常有 CD2 和 CD9，WBC 通常高，BCR3 isoform 較多。</a:t>
            </a:r>
          </a:p>
          <a:p>
            <a:pPr>
              <a:spcAft>
                <a:spcPts val="600"/>
              </a:spcAft>
            </a:pPr>
            <a:r>
              <a:rPr lang="en-US" dirty="0"/>
              <a:t>診斷工具裡 RT-PCR 最有用，特異、快速又敏感，還能分出 isoform，之後才能追 MRD。傳統核型大約兩成會漏掉。變異的 RARA partner 中，PLZF 和 STAT5B 對 ATRA 有抗性，細節在 backup。</a:t>
            </a:r>
          </a:p>
          <a:p>
            <a:pPr>
              <a:spcAft>
                <a:spcPts val="600"/>
              </a:spcAft>
            </a:pPr>
            <a:r>
              <a:rPr lang="en-US" dirty="0"/>
              <a:t>出血的來源是 leukemic blasts 活化凝血系統並造成 hyperfibrinolysis，第 70 章在 AML 的臨床表現就提過，在 APL 最明顯。另外，傳統核型除了確認 t(15;17)，三成病人還會看到額外異常，最常見的是 +8。</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18:00 至 19:00]</a:t>
            </a:r>
          </a:p>
          <a:p>
            <a:pPr>
              <a:spcAft>
                <a:spcPts val="600"/>
              </a:spcAft>
            </a:pPr>
            <a:r>
              <a:rPr lang="en-US" dirty="0"/>
              <a:t>第一線的部分，Lo-Coco 2013 和 Burnett 2015 兩個隨機試驗支持 ATRA 加 ATO 成為低到中風險、WBC 小於 10 × 10⁹/L 病人的標準。High-risk 的則用 ATRA 加化療，或 ATRA 加 ATO 再配一些化療。</a:t>
            </a:r>
          </a:p>
          <a:p>
            <a:pPr>
              <a:spcAft>
                <a:spcPts val="600"/>
              </a:spcAft>
            </a:pPr>
            <a:r>
              <a:rPr lang="en-US" dirty="0"/>
              <a:t>復發之後的原則是換一套 backbone。第一線用 ATRA 加化療的，salvage 用 ATRA 加 ATO；第一線用過 ATRA 加 ATO 的，改用 ATRA 加化療。Gemtuzumab ozogamicin 兩種情況都可考慮，但一律當作通往 HCT 的橋樑。Salvage 的目標是拿到 molecular remission 再去移植。</a:t>
            </a:r>
          </a:p>
          <a:p>
            <a:pPr>
              <a:spcAft>
                <a:spcPts val="600"/>
              </a:spcAft>
            </a:pPr>
            <a:r>
              <a:rPr lang="en-US" dirty="0"/>
              <a:t>這裡的邏輯是避免用病人已經失敗過的組合再救一次。如果病人不適合移植，或 CR1 持續很久才復發，書上也接受只給 maintenance，藥物依之前的治療和臨床狀況挑選。</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19:00 至 21:00]</a:t>
            </a:r>
          </a:p>
          <a:p>
            <a:pPr>
              <a:spcAft>
                <a:spcPts val="600"/>
              </a:spcAft>
            </a:pPr>
            <a:r>
              <a:rPr lang="en-US" dirty="0"/>
              <a:t>這張是 Table 70.2，APL 的移植適應症。第一列是重點，CR1 而且 molecular remission 的病人，auto 和 allo 都不做。唯一的例外是 consolidation 結束時 PML-RARA 的 RQ-PCR 還是陽性，也就是 molecular persistence，這群人不到 1%，預後差，所以要移植。</a:t>
            </a:r>
          </a:p>
          <a:p>
            <a:pPr>
              <a:spcAft>
                <a:spcPts val="600"/>
              </a:spcAft>
            </a:pPr>
            <a:r>
              <a:rPr lang="en-US" dirty="0"/>
              <a:t>到了 CR2 或之後，如果已經 molecular remission，auto-HCT 是第一選擇。Allo-HCT 留給三種人，salvage 之後 PML-RARA 仍陽性的、之前 auto-HCT 失敗的，以及復發風險高但 TRM 風險低的。</a:t>
            </a:r>
          </a:p>
          <a:p>
            <a:pPr>
              <a:spcAft>
                <a:spcPts val="600"/>
              </a:spcAft>
            </a:pPr>
            <a:r>
              <a:rPr lang="en-US" dirty="0"/>
              <a:t>Auto 優先的理由在下面的 caption。EBMT registry 在 CR2 的資料，auto 的 OS 82%，allo 64%，p 值 0.001，但復發率 23% 和 28% 沒有顯著差異，所以 auto 贏在比較低的 TRM。CIBMTR 的方向一致。</a:t>
            </a:r>
          </a:p>
          <a:p>
            <a:pPr>
              <a:spcAft>
                <a:spcPts val="600"/>
              </a:spcAft>
            </a:pPr>
            <a:r>
              <a:rPr lang="en-US" dirty="0"/>
              <a:t>移植後要用 RQ-PCR 至少每三個月追一次，追兩到三年。考題常把 APL 跟其他 AML 混在一起，看到 molecular CR2 的 APL，答案通常是 auto，而不是 allo。</a:t>
            </a:r>
          </a:p>
          <a:p>
            <a:pPr>
              <a:spcAft>
                <a:spcPts val="600"/>
              </a:spcAft>
            </a:pPr>
            <a:r>
              <a:rPr lang="en-US" dirty="0"/>
              <a:t>表上還有幾個細節。Conditioning 用一般 AML 的方案，auto 最好含 high-dose Ara-C，例如 BEA；幹細胞來源都是 mobilized peripheral blood；曾經 CNS 復發的人要做 MTX、hydrocortisone、Ara-C 的 intrathecal 預防。移植後 maintenance 沒有證據，但 ATO 加 ATRA 可能有效。</a:t>
            </a:r>
          </a:p>
          <a:p>
            <a:pPr>
              <a:spcAft>
                <a:spcPts val="600"/>
              </a:spcAft>
            </a:pPr>
            <a:r>
              <a:rPr lang="en-US" dirty="0"/>
              <a:t>Allo 不是第一選擇，關鍵在 TRM。日本 JALSG 的非比較性研究也顯示，ATO salvage 之後接 auto-HCT 效果很好，所以只要拿到 molecular remission，auto 就是主流。</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21:00 至 22:30]</a:t>
            </a:r>
          </a:p>
          <a:p>
            <a:pPr>
              <a:spcAft>
                <a:spcPts val="600"/>
              </a:spcAft>
            </a:pPr>
            <a:r>
              <a:rPr lang="en-US" dirty="0"/>
              <a:t>最後一張內容對照兒童 AML。兒童在 CR1 移植的門檻逐年收緊，從全部移植、到 good risk 以外都移植，到現在只給 poor-risk 的 cytogenetic 或 molecular 異常，大約三成病人，再參考 course 1 或 2 之後的 MRD。</a:t>
            </a:r>
          </a:p>
          <a:p>
            <a:pPr>
              <a:spcAft>
                <a:spcPts val="600"/>
              </a:spcAft>
            </a:pPr>
            <a:r>
              <a:rPr lang="en-US" dirty="0"/>
              <a:t>CBF、NPM1、CEBPA 這些 good risk 在 CR1 沒有移植的好處；APL 和 Down syndrome 的 myeloid leukaemia 在 CR1 也不移植。</a:t>
            </a:r>
          </a:p>
          <a:p>
            <a:pPr>
              <a:spcAft>
                <a:spcPts val="600"/>
              </a:spcAft>
            </a:pPr>
            <a:r>
              <a:rPr lang="en-US" dirty="0"/>
              <a:t>Conditioning 用不含 TBI 的 MAC，BU/CY 加上 busulfan 的血中濃度監測是標準，目的是減少內分泌後遺症。Donor 首選 matched family 或 MUD，幹細胞以 bone marrow 優先，和成人以 PBSC 為主不同。CR1 移植的 TRM 應該能壓在 10% 以下。</a:t>
            </a:r>
          </a:p>
          <a:p>
            <a:pPr>
              <a:spcAft>
                <a:spcPts val="600"/>
              </a:spcAft>
            </a:pPr>
            <a:r>
              <a:rPr lang="en-US" dirty="0"/>
              <a:t>Caption 的 BFM 2007 試驗值得記。加了 melphalan 的 BU/CY/MEL，12 歲以下 TRM 9%，青少年卻到 31%，所以這個年齡層要避免。復發後第二次移植的 TRM 超過 30%，可以考慮 RIC。</a:t>
            </a:r>
          </a:p>
          <a:p>
            <a:pPr>
              <a:spcAft>
                <a:spcPts val="600"/>
              </a:spcAft>
            </a:pPr>
            <a:r>
              <a:rPr lang="en-US" dirty="0"/>
              <a:t>兒童 MRD 的數字也可以參考。NOPHO-AML 2004 用 0.1% 當 cut-off，consolidation 前 MRD 陽性的病人五年 EFS 只有 11%，陰性的是 57%。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22:30 至 23:15]</a:t>
            </a:r>
          </a:p>
          <a:p>
            <a:pPr>
              <a:spcAft>
                <a:spcPts val="600"/>
              </a:spcAft>
            </a:pPr>
            <a:r>
              <a:rPr lang="en-US" dirty="0"/>
              <a:t>第一題。45 歲男性，AML，NPM1 mutation、沒有 FLT3-ITD、正常核型。一次 induction 就 CR，但兩個 cycle 之後 NPM1 qPCR 的 MRD 仍然陽性。他有 HLA 相合的兄弟，HCT-CI 是 1 分。依第 70 章，最適合的 post-remission treatment 是哪一個。先判斷 ELN 風險組，再看 MRD。想想他落在 Table 70.1 的哪一格。</a:t>
            </a:r>
          </a:p>
          <a:p>
            <a:pPr>
              <a:spcAft>
                <a:spcPts val="600"/>
              </a:spcAft>
            </a:pPr>
            <a:r>
              <a:rPr lang="en-US" dirty="0"/>
              <a:t>選項 A 是只繼續 high-dose cytarabine，B 是 auto-HCT，C 是 CR1 做 sibling allo-HCT，D 是等血液學復發再移植，E 是 azacitidine 加 venetoclax maintenance 取代移植。</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23:15 至 24:15]</a:t>
            </a:r>
          </a:p>
          <a:p>
            <a:pPr>
              <a:spcAft>
                <a:spcPts val="600"/>
              </a:spcAft>
            </a:pPr>
            <a:r>
              <a:rPr lang="en-US" dirty="0"/>
              <a:t>正確是 C。先分組，NPM1 mutation、沒有 FLT3-ITD、沒有不良核型，在 ELN 2022 是 favorable。可是 favorable 只要 MRD 陽性，Table 70.1 就把他當成高復發風險，建議在 CR1 做 allo-HCT，除非預估 TRM 過高。這位病人 HCT-CI 只有 1 分，又有 sibling donor，沒有理由不做。</a:t>
            </a:r>
          </a:p>
          <a:p>
            <a:pPr>
              <a:spcAft>
                <a:spcPts val="600"/>
              </a:spcAft>
            </a:pPr>
            <a:r>
              <a:rPr lang="en-US" dirty="0"/>
              <a:t>最常見的錯誤是 A 或 B，看到 favorable 就直覺不移植。Chemo 或 auto-HCT 只適用在 MRD 陰性的 favorable。D 等到復發才移植，錯過 CR1 的時機；E 的 azacitidine 加 venetoclax 是給不適合 intensive 治療的人的第一線，不是取代移植的選項。</a:t>
            </a:r>
          </a:p>
          <a:p>
            <a:pPr>
              <a:spcAft>
                <a:spcPts val="600"/>
              </a:spcAft>
            </a:pPr>
            <a:r>
              <a:rPr lang="en-US" dirty="0"/>
              <a:t>這也是 risk-adapted approach 的核心，治療反應比診斷時的特徵更重要。同樣的病人如果 MRD 是陰性，答案就會變成 chemo 或 auto-HCT。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24:15 至 25:00]</a:t>
            </a:r>
          </a:p>
          <a:p>
            <a:pPr>
              <a:spcAft>
                <a:spcPts val="600"/>
              </a:spcAft>
            </a:pPr>
            <a:r>
              <a:rPr lang="en-US" dirty="0"/>
              <a:t>第二題。44 歲女性，AML，正常核型，NPM1、FLT3 都是 wild-type，沒有 TP53 mutation。7+3 之後再給一個含 intermediate-dose cytarabine 的 course，骨髓仍有 18% blasts。有 10/10 的 unrelated donor，HCT-CI 是 0。依第 70 章，下一步最好的是哪一個。先確認她算不算 primary refractory，再想移植的時機和 conditioning。</a:t>
            </a:r>
          </a:p>
          <a:p>
            <a:pPr>
              <a:spcAft>
                <a:spcPts val="600"/>
              </a:spcAft>
            </a:pPr>
            <a:r>
              <a:rPr lang="en-US" dirty="0"/>
              <a:t>A 是先給第三個 intensive course，等 CR 再移植；B 是盡快用 myeloablative conditioning 做 allo；C 是 FLAMSA 之後移植；D 是 auto-HCT；E 是 azacitidine 加 venetoclax，不移植。</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25:00 至 26:00]</a:t>
            </a:r>
          </a:p>
          <a:p>
            <a:pPr>
              <a:spcAft>
                <a:spcPts val="600"/>
              </a:spcAft>
            </a:pPr>
            <a:r>
              <a:rPr lang="en-US" dirty="0"/>
              <a:t>這題選 B。兩個 intensive course、其中一個含 intermediate-dose cytarabine 仍未 CR，就是 primary refractory AML。繼續化療長期存活不到 10%，而最多兩個 course 就盡快移植的人結果最好。她 44 歲，在 50 歲以下，所以用 myeloablative conditioning。</a:t>
            </a:r>
          </a:p>
          <a:p>
            <a:pPr>
              <a:spcAft>
                <a:spcPts val="600"/>
              </a:spcAft>
            </a:pPr>
            <a:r>
              <a:rPr lang="en-US" dirty="0"/>
              <a:t>A 是最常見的陷阱。等到 morphological CR 才移植，書上只建議用在 TP53 mutation 或 inv(3) 這類極高風險的病人，她兩者都沒有。C 錯在 FLAMSA 在 Craddock 2021 的隨機試驗中沒有贏過 FB2。D 的 auto-HCT 沒有 GVL，E 則放棄了唯一的治癒機會。</a:t>
            </a:r>
          </a:p>
          <a:p>
            <a:pPr>
              <a:spcAft>
                <a:spcPts val="600"/>
              </a:spcAft>
            </a:pPr>
            <a:r>
              <a:rPr lang="en-US" dirty="0"/>
              <a:t>移植之後，記得在 day 30 到 45 做骨髓 MRD，決定要不要提早減免疫抑制或給 DLI。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26:00 至 26:45]</a:t>
            </a:r>
          </a:p>
          <a:p>
            <a:pPr>
              <a:spcAft>
                <a:spcPts val="600"/>
              </a:spcAft>
            </a:pPr>
            <a:r>
              <a:rPr lang="en-US" dirty="0"/>
              <a:t>第三題是 APL。38 歲女性，low-risk APL，第一線用 ATRA 加 ATO，拿到 molecular CR。18 個月後 RQ-PCR 的 PML-RARA 轉陽，骨髓證實復發。她體能好，有 matched sibling。依第 70 章，最好的計畫是哪一個。這題要做兩個決定，salvage 用什麼，移植用哪一種。</a:t>
            </a:r>
          </a:p>
          <a:p>
            <a:pPr>
              <a:spcAft>
                <a:spcPts val="600"/>
              </a:spcAft>
            </a:pPr>
            <a:r>
              <a:rPr lang="en-US" dirty="0"/>
              <a:t>A 是再給一次 ATRA 加 ATO，CR2 做 allo；B 是 ATRA 加化療，molecular CR2 後做 auto；C 是不救援直接 allo；D 是 gemtuzumab maintenance 不移植；E 是 ATRA 加化療，molecular CR2 後做 allo。</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26:45 至 27:45]</a:t>
            </a:r>
          </a:p>
          <a:p>
            <a:pPr>
              <a:spcAft>
                <a:spcPts val="600"/>
              </a:spcAft>
            </a:pPr>
            <a:r>
              <a:rPr lang="en-US" dirty="0"/>
              <a:t>答案 B。Salvage 的原則是換 backbone，第一線用過 ATRA 加 ATO，復發就改 ATRA 加化療，所以 A 不對。拿到 molecular CR2 之後，第 70 章建議 auto-HCT 為第一選擇，EBMT registry 裡 auto 的 OS 82%，allo 64%，復發率沒有差別。</a:t>
            </a:r>
          </a:p>
          <a:p>
            <a:pPr>
              <a:spcAft>
                <a:spcPts val="600"/>
              </a:spcAft>
            </a:pPr>
            <a:r>
              <a:rPr lang="en-US" dirty="0"/>
              <a:t>E 最容易誤選，有 sibling donor 就直覺選 allo。但 allo 只保留給 salvage 後 PML-RARA 仍陽性、auto 失敗，或復發風險高而 TRM 低的人。C 不先救援就移植，D 的 gemtuzumab 只能當 bridge，都不對。</a:t>
            </a:r>
          </a:p>
          <a:p>
            <a:pPr>
              <a:spcAft>
                <a:spcPts val="600"/>
              </a:spcAft>
            </a:pPr>
            <a:r>
              <a:rPr lang="en-US" dirty="0"/>
              <a:t>記法是換 backbone、拿到 molecular CR、做 auto。Salvage 後 PML-RARA 仍是陽性，才改走 allo。移植後再用 RQ-PCR 每三個月追蹤，至少兩到三年。</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這張是 Table 70.3 挑出的幾個系列。APL 復發後的移植沒有隨機試驗，全部是回溯性資料。EBMT 和 CIBMTR 都顯示 auto 的 overall survival 比 allo 好，但復發率沒有顯著差異。</a:t>
            </a:r>
          </a:p>
          <a:p>
            <a:pPr>
              <a:spcAft>
                <a:spcPts val="600"/>
              </a:spcAft>
            </a:pPr>
            <a:r>
              <a:rPr lang="en-US" b="1" dirty="0"/>
              <a:t>講者提醒（不念出來）：</a:t>
            </a:r>
          </a:p>
          <a:p>
            <a:pPr>
              <a:spcAft>
                <a:spcPts val="600"/>
              </a:spcAft>
            </a:pPr>
            <a:r>
              <a:rPr lang="en-US" dirty="0"/>
              <a:t>- Kohno 2008 is left out: its relapse values (79 vs 92%) duplicate the De Botton 2005 row in Table 70.3 and look like a copying error.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四種診斷方法各有長短。RT-PCR 最實用，因為它能分出 isoform，之後才能追 MRD。少見的 RARA 變異 partner 中，PLZF 和 STAT5B 對 ATRA 有抗性，這是考題偶爾會出的點。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兒童 AML 的 poor-risk 名單比成人 ELN 更細，包括 MECOM rearrangement、−7、−5、NUP98 fusion、CBFA2T3::GLIS2 等等。Good-risk 的 CBF 和 NPM1 在 CR1 沒有移植的好處；complex karyotype 目前沒有共識。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HCT for AML</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21 · Ch. 70 (with Ch. 71)</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Three parts, from AML in first remission to APL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AML in CR1: genetics, MRD and TRM</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First-line therapy, ELN 2022, MRD, Table 70.1, TRM scores</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Advanced AML and relapse prevention</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Primary refractory AML, practical issues, post-HCT strategies</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4.5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APL and the paediatric contrast</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Diagnosis, salvage, Table 70.2; children with AML (Ch. 71)</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MRD-positive NPM1 AML, refractory AML, relapsed APL</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FIRST-LINE THERAPY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Intensive induction brings 70–90% of fit adults into first CR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980944"/>
                <a:gridCol w="3913632"/>
                <a:gridCol w="3913632"/>
              </a:tblGrid>
              <a:tr h="0">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Regimen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Evidence in Ch. 70</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Fit adults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Ara-C 7–10 days + anthracycline 3 days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 70–90%; favorable-risk OS 60–70%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FLT3-mutated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Midostaurin + intensive chemotherapy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RATIFY (Stone 2017): survival benefit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Age 60–75, therapy-related or MDS-related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CPX-351, liposomal cytarabine + daunorubicin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Better than standard induction (Lancet 2018)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Specific subgroups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Gemtuzumab ozogamicin (anti-CD33 ADC)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Alternative induction strategy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Unfit for intensive therapy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Azacitidine + venetoclax</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New standard: response, OS, QoL (DiNardo 2020)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Unfit, IDH1-mutated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Ivosidenib + azacitidine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Response and survival over aza alone (Montesinos 2022)</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Most treatment failures are relapses from CR1, not induction failure or TRM.</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ELN 2022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ELN 2022 sorts AML into three genetic risk groups at diagnosis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40280"/>
                <a:gridCol w="8577072"/>
              </a:tblGrid>
              <a:tr h="0">
                <a:tc>
                  <a:txBody>
                    <a:bodyPr/>
                    <a:lstStyle/>
                    <a:p>
                      <a:pPr indent="0" marL="0">
                        <a:buNone/>
                      </a:pPr>
                      <a:r>
                        <a:rPr lang="en-US" sz="1500" b="1" dirty="0">
                          <a:solidFill>
                            <a:schemeClr val="tx1"/>
                          </a:solidFill>
                        </a:rPr>
                        <a:t>ELN 2022</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Genetic lesions (Table 70.1)</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Favorable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t(8;21) RUNX1::RUNX1T1; inv(16) or t(16;16) CBFB::MYH11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Favorable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Mutated NPM1 without FLT3-ITD; bZIP in-frame mutated CEBPA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Intermediate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Mutated NPM1 with FLT3-ITD; wild-type NPM1 without FLT3-ITD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Intermediate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t(9;11) MLLT3::KMT2A; lesions neither favorable nor adverse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Adverse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t(6;9) DEK::NUP214; KMT2A-r; t(9;22) BCR::ABL1; t(8;16)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Adverse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inv(3)/t(3;3) or 3q26 MECOM-r; −5/del(5q); −7; −17/abn(17p)</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Adverse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Complex (not hyperdiploid) or monosomal; TP53 VAF ≥ 10%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Adverse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ASXL1, BCOR, EZH2, RUNX1, SF3B1, SRSF2, STAG2, U2AF1, ZRSR2</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NPM1 rows apply only without adverse-risk cytogenetics. Children use a different poor-risk list (backup).</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ELN 2022 CHANGES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ELN 2022 moves MDS-related mutations into the adverse group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graphicFrame>
        <p:nvGraphicFramePr>
          <p:cNvPr id="6" name="Table 2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730752"/>
                <a:gridCol w="7086600"/>
              </a:tblGrid>
              <a:tr h="0">
                <a:tc>
                  <a:txBody>
                    <a:bodyPr/>
                    <a:lstStyle/>
                    <a:p>
                      <a:pPr indent="0" marL="0">
                        <a:buNone/>
                      </a:pPr>
                      <a:r>
                        <a:rPr lang="en-US" sz="1700" b="1" dirty="0">
                          <a:solidFill>
                            <a:schemeClr val="tx1"/>
                          </a:solidFill>
                        </a:rPr>
                        <a:t>ELN 2022 change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What it means for risk</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MDS-related mutations added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BCOR, EZH2, SF3B1, SRSF2, STAG2, U2AF1, ZRSR2 → adverse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FLT3-ITD allelic ratio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longer used in the classification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CEBPA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Only in-frame bZIP mutations favorable, mono- or bi-allelic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NPM1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favorable when adverse-risk cytogenetics are present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New adverse rearrangements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t(3q26.2;v)/MECOM and t(8;16)/KAT6A::CREBBP</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Hyperdiploid karyotype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longer counted as complex karyotype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TP53</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Adverse only at variant allele fraction ≥ 10%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Döhner 2022, as summarised in Ch. 70. ASXL1 and RUNX1 were already adverse in ELN 2017.</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MRD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MRD after induction outweighs pretreatment features in AML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Gibson BES, et al. EBMT Handbook 8th ed. 2024; Ch. 71</a:t>
            </a:r>
            <a:endParaRPr lang="en-US" sz="1000" dirty="0"/>
          </a:p>
        </p:txBody>
      </p:sp>
      <p:graphicFrame>
        <p:nvGraphicFramePr>
          <p:cNvPr id="7" name="Table 26"/>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240280"/>
                <a:gridCol w="4480560"/>
                <a:gridCol w="4105656"/>
              </a:tblGrid>
              <a:tr h="0">
                <a:tc>
                  <a:txBody>
                    <a:bodyPr/>
                    <a:lstStyle/>
                    <a:p>
                      <a:pPr indent="0" marL="0">
                        <a:buNone/>
                      </a:pP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Multiparametric flow (MFC)</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RT-qPCR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Target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LAIP or different-from-normal phenotype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Fusion gene or NPM1 mutation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Sensitivity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0.1–0.01%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0.1–0.001%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Applicable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About 90% with an appropriate panel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About 80% (those with a target)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Usual cut-off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0.1% after course 1 or 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Serially rising transcripts = MRD relapse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Main use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Early response; post-remission choice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Serial pre-emptive monitoring</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7"/>
          <p:cNvSpPr txBox="1"/>
          <p:nvPr/>
        </p:nvSpPr>
        <p:spPr>
          <a:xfrm>
            <a:off x="685800" y="45720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71: about a quarter with flow MRD ≤ 0.1% after course 1 still relapse.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RISK-ADAPTED CHOICE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ELN 2022 risk and MRD together decide allo-HCT in CR1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graphicFrame>
        <p:nvGraphicFramePr>
          <p:cNvPr id="8" name="Table 2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773936"/>
                <a:gridCol w="3547872"/>
                <a:gridCol w="2660904"/>
                <a:gridCol w="2834640"/>
              </a:tblGrid>
              <a:tr h="0">
                <a:tc>
                  <a:txBody>
                    <a:bodyPr/>
                    <a:lstStyle/>
                    <a:p>
                      <a:pPr indent="0" marL="0">
                        <a:buNone/>
                      </a:pPr>
                      <a:r>
                        <a:rPr lang="en-US" sz="1700" b="1" dirty="0">
                          <a:solidFill>
                            <a:schemeClr val="tx1"/>
                          </a:solidFill>
                        </a:rPr>
                        <a:t>ELN 2022 risk</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Examples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MRD negative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MRD positive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Favorable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t(8;21); inv(16); NPM1 without FLT3-ITD; bZIP CEBPA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Chemo or auto-HCT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 unless excessive TRM predicted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Intermediate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NPM1 with FLT3-ITD; wild-type NPM1 without FLT3-ITD; t(9;11)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Consider allo-HCT if TRM acceptable; else chemo/auto-HCT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Adverse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t(6;9); KMT2A-r; BCR::ABL1; inv(3); −5/−7/17p; complex; TP53</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 non-allo only if TRM very high</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Allo-HCT as soon as in CR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9"/>
          <p:cNvSpPr txBox="1"/>
          <p:nvPr/>
        </p:nvSpPr>
        <p:spPr>
          <a:xfrm>
            <a:off x="685800" y="50292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70.1. Favorable MRD+ and intermediate MRD−: sibling or 10/10 MUD only. Other allo-HCT cells: any donor, including MMUD, cord blood or haplo.</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INTERMEDIATE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MRD splits intermediate-risk AML between auto- and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Box 30"/>
          <p:cNvSpPr txBox="1"/>
          <p:nvPr/>
        </p:nvSpPr>
        <p:spPr>
          <a:xfrm>
            <a:off x="2665476" y="2148840"/>
            <a:ext cx="6858000" cy="68580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b="1" dirty="0">
                <a:solidFill>
                  <a:schemeClr val="bg1"/>
                </a:solidFill>
              </a:rPr>
              <a:t>Intermediate-risk AML in CR1 (GIMEMA AML1310)</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3298698" y="3063240"/>
            <a:ext cx="5591556" cy="0"/>
          </a:xfrm>
          <a:prstGeom prst="line">
            <a:avLst/>
          </a:prstGeom>
          <a:noFill/>
          <a:ln w="15875">
            <a:solidFill>
              <a:schemeClr val="tx1"/>
            </a:solidFill>
            <a:prstDash val="solid"/>
          </a:ln>
        </p:spPr>
      </p:sp>
      <p:sp>
        <p:nvSpPr>
          <p:cNvPr id="9" name="Shape 6"/>
          <p:cNvSpPr/>
          <p:nvPr/>
        </p:nvSpPr>
        <p:spPr>
          <a:xfrm>
            <a:off x="3298698" y="3063240"/>
            <a:ext cx="0" cy="576072"/>
          </a:xfrm>
          <a:prstGeom prst="line">
            <a:avLst/>
          </a:prstGeom>
          <a:noFill/>
          <a:ln w="15875">
            <a:solidFill>
              <a:schemeClr val="tx1"/>
            </a:solidFill>
            <a:prstDash val="solid"/>
            <a:tailEnd type="triangle"/>
          </a:ln>
        </p:spPr>
      </p:sp>
      <p:sp>
        <p:nvSpPr>
          <p:cNvPr id="10" name="Text 31"/>
          <p:cNvSpPr txBox="1"/>
          <p:nvPr/>
        </p:nvSpPr>
        <p:spPr>
          <a:xfrm>
            <a:off x="685800" y="3136392"/>
            <a:ext cx="5225796"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MRD negative</a:t>
            </a:r>
            <a:endParaRPr lang="en-US" sz="1400" dirty="0"/>
          </a:p>
        </p:txBody>
      </p:sp>
      <p:sp>
        <p:nvSpPr>
          <p:cNvPr id="11" name="Box 32"/>
          <p:cNvSpPr txBox="1"/>
          <p:nvPr/>
        </p:nvSpPr>
        <p:spPr>
          <a:xfrm>
            <a:off x="685800" y="3657600"/>
            <a:ext cx="5225796"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Auto-HCT</a:t>
            </a:r>
            <a:endParaRPr lang="en-US" sz="1600" dirty="0"/>
          </a:p>
        </p:txBody>
      </p:sp>
      <p:sp>
        <p:nvSpPr>
          <p:cNvPr id="12" name="Shape 9"/>
          <p:cNvSpPr/>
          <p:nvPr/>
        </p:nvSpPr>
        <p:spPr>
          <a:xfrm>
            <a:off x="3298698" y="4480560"/>
            <a:ext cx="0" cy="256032"/>
          </a:xfrm>
          <a:prstGeom prst="line">
            <a:avLst/>
          </a:prstGeom>
          <a:noFill/>
          <a:ln w="15875">
            <a:solidFill>
              <a:schemeClr val="tx1"/>
            </a:solidFill>
            <a:prstDash val="solid"/>
            <a:tailEnd type="triangle"/>
          </a:ln>
        </p:spPr>
      </p:sp>
      <p:sp>
        <p:nvSpPr>
          <p:cNvPr id="13" name="Box 33"/>
          <p:cNvSpPr txBox="1"/>
          <p:nvPr/>
        </p:nvSpPr>
        <p:spPr>
          <a:xfrm>
            <a:off x="685800" y="4754880"/>
            <a:ext cx="5225796"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Outcome similar to the allo-HCT group</a:t>
            </a:r>
            <a:endParaRPr lang="en-US" sz="1500" dirty="0"/>
          </a:p>
        </p:txBody>
      </p:sp>
      <p:sp>
        <p:nvSpPr>
          <p:cNvPr id="14" name="Shape 11"/>
          <p:cNvSpPr/>
          <p:nvPr/>
        </p:nvSpPr>
        <p:spPr>
          <a:xfrm>
            <a:off x="8890254" y="3063240"/>
            <a:ext cx="0" cy="576072"/>
          </a:xfrm>
          <a:prstGeom prst="line">
            <a:avLst/>
          </a:prstGeom>
          <a:noFill/>
          <a:ln w="15875">
            <a:solidFill>
              <a:schemeClr val="tx1"/>
            </a:solidFill>
            <a:prstDash val="solid"/>
            <a:tailEnd type="triangle"/>
          </a:ln>
        </p:spPr>
      </p:sp>
      <p:sp>
        <p:nvSpPr>
          <p:cNvPr id="15" name="Text 34"/>
          <p:cNvSpPr txBox="1"/>
          <p:nvPr/>
        </p:nvSpPr>
        <p:spPr>
          <a:xfrm>
            <a:off x="6277356" y="3136392"/>
            <a:ext cx="5225796"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MRD positive</a:t>
            </a:r>
            <a:endParaRPr lang="en-US" sz="1400" dirty="0"/>
          </a:p>
        </p:txBody>
      </p:sp>
      <p:sp>
        <p:nvSpPr>
          <p:cNvPr id="16" name="Box 35"/>
          <p:cNvSpPr txBox="1"/>
          <p:nvPr/>
        </p:nvSpPr>
        <p:spPr>
          <a:xfrm>
            <a:off x="6277356" y="3657600"/>
            <a:ext cx="5225796"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Allo-HCT</a:t>
            </a:r>
            <a:endParaRPr lang="en-US" sz="1600" dirty="0"/>
          </a:p>
        </p:txBody>
      </p:sp>
      <p:sp>
        <p:nvSpPr>
          <p:cNvPr id="17" name="Shape 14"/>
          <p:cNvSpPr/>
          <p:nvPr/>
        </p:nvSpPr>
        <p:spPr>
          <a:xfrm>
            <a:off x="8890254" y="4480560"/>
            <a:ext cx="0" cy="256032"/>
          </a:xfrm>
          <a:prstGeom prst="line">
            <a:avLst/>
          </a:prstGeom>
          <a:noFill/>
          <a:ln w="15875">
            <a:solidFill>
              <a:schemeClr val="tx1"/>
            </a:solidFill>
            <a:prstDash val="solid"/>
            <a:tailEnd type="triangle"/>
          </a:ln>
        </p:spPr>
      </p:sp>
      <p:sp>
        <p:nvSpPr>
          <p:cNvPr id="18" name="Box 36"/>
          <p:cNvSpPr txBox="1"/>
          <p:nvPr/>
        </p:nvSpPr>
        <p:spPr>
          <a:xfrm>
            <a:off x="6277356" y="4754880"/>
            <a:ext cx="5225796"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Outcome similar to the auto-HCT group</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AML CR1 · TRANSPLANT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TRM scores turn transplant fitness into a number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Text 37"/>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EBMT risk score</a:t>
            </a:r>
            <a:endParaRPr lang="en-US" sz="1800" dirty="0"/>
          </a:p>
          <a:p>
            <a:pPr indent="0" marL="0">
              <a:spcAft>
                <a:spcPts val="600"/>
              </a:spcAft>
              <a:buNone/>
            </a:pPr>
            <a:r>
              <a:rPr lang="en-US" sz="1800" dirty="0">
                <a:solidFill>
                  <a:schemeClr val="tx1"/>
                </a:solidFill>
              </a:rPr>
              <a:t>Patient and transplant characteristics; built in CML (Gratwohl 1998), then validated in AML</a:t>
            </a:r>
            <a:endParaRPr lang="en-US" sz="1800" dirty="0"/>
          </a:p>
          <a:p>
            <a:pPr indent="0" marL="0">
              <a:buNone/>
            </a:pPr>
            <a:r>
              <a:rPr lang="en-US" sz="1800" i="1" dirty="0">
                <a:solidFill>
                  <a:schemeClr val="tx1"/>
                </a:solidFill>
              </a:rPr>
              <a:t>Composite risk score</a:t>
            </a:r>
            <a:endParaRPr lang="en-US" sz="1800" dirty="0"/>
          </a:p>
        </p:txBody>
      </p:sp>
      <p:sp>
        <p:nvSpPr>
          <p:cNvPr id="7" name="Text 38"/>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HCT-CI</a:t>
            </a:r>
            <a:endParaRPr lang="en-US" sz="1800" dirty="0"/>
          </a:p>
          <a:p>
            <a:pPr indent="0" marL="0">
              <a:spcAft>
                <a:spcPts val="600"/>
              </a:spcAft>
              <a:buNone/>
            </a:pPr>
            <a:r>
              <a:rPr lang="en-US" sz="1800" dirty="0">
                <a:solidFill>
                  <a:schemeClr val="tx1"/>
                </a:solidFill>
              </a:rPr>
              <a:t>17 comorbidities add up to one score (Sorror 2005); refined with age, disease status, biomarkers</a:t>
            </a:r>
            <a:endParaRPr lang="en-US" sz="1800" dirty="0"/>
          </a:p>
          <a:p>
            <a:pPr indent="0" marL="0">
              <a:buNone/>
            </a:pPr>
            <a:r>
              <a:rPr lang="en-US" sz="1800" i="1" dirty="0">
                <a:solidFill>
                  <a:schemeClr val="tx1"/>
                </a:solidFill>
              </a:rPr>
              <a:t>Extensively validated</a:t>
            </a:r>
            <a:endParaRPr lang="en-US" sz="1800" dirty="0"/>
          </a:p>
        </p:txBody>
      </p:sp>
      <p:sp>
        <p:nvSpPr>
          <p:cNvPr id="8" name="Text 39"/>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EBMT-ALWP models</a:t>
            </a:r>
            <a:endParaRPr lang="en-US" sz="1800" dirty="0"/>
          </a:p>
          <a:p>
            <a:pPr indent="0" marL="0">
              <a:spcAft>
                <a:spcPts val="600"/>
              </a:spcAft>
              <a:buNone/>
            </a:pPr>
            <a:r>
              <a:rPr lang="en-US" sz="1800" dirty="0">
                <a:solidFill>
                  <a:schemeClr val="tx1"/>
                </a:solidFill>
              </a:rPr>
              <a:t>Machine learning, 10 variables, predicts 100-day and 2-year mortality (Shouval 2015)</a:t>
            </a:r>
            <a:endParaRPr lang="en-US" sz="1800" dirty="0"/>
          </a:p>
          <a:p>
            <a:pPr indent="0" marL="0">
              <a:buNone/>
            </a:pPr>
            <a:r>
              <a:rPr lang="en-US" sz="1800" i="1" dirty="0">
                <a:solidFill>
                  <a:schemeClr val="tx1"/>
                </a:solidFill>
              </a:rPr>
              <a:t>Newer scores for RIC and PTCy (Versluis 2015; Hermans 2023)</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ADVANCED AML · PRIMARY REFRACTORY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Primary refractory AML remains curable with a timely allograft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Gibson BES, et al. EBMT Handbook 8th ed. 2024; Ch. 71</a:t>
            </a:r>
            <a:endParaRPr lang="en-US" sz="1000" dirty="0"/>
          </a:p>
        </p:txBody>
      </p:sp>
      <p:graphicFrame>
        <p:nvGraphicFramePr>
          <p:cNvPr id="11"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913632"/>
                <a:gridCol w="6903720"/>
              </a:tblGrid>
              <a:tr h="0">
                <a:tc>
                  <a:txBody>
                    <a:bodyPr/>
                    <a:lstStyle/>
                    <a:p>
                      <a:pPr indent="0" marL="0">
                        <a:buNone/>
                      </a:pPr>
                      <a:r>
                        <a:rPr lang="en-US" sz="1700" b="1" dirty="0">
                          <a:solidFill>
                            <a:schemeClr val="tx1"/>
                          </a:solidFill>
                        </a:rPr>
                        <a:t>Issue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70 position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Definition (Ferguson 2016)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CR after 2 intensive courses, ≥ 1 with ID cytarabine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Frequency; chemo-only outcome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10–40% of adults with new AML; long-term survival &lt; 10%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Who does best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Swift HCT after ≤ 2 courses; lower disease burden at 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TP53 mutation or inv(3)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Very poor outcome; reserve allo-HCT for those in 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MAC if age &lt; 50; no RIC regimen favoured in older adults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FLAMSA vs FB2 RIC (Craddock 2021)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benefit in CR1/CR2; too few PREF patients to judge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After 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Marrow MRD at day 30–45 to guide IS taper or DLI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ASAP trial (Stelljes 2022; Ch. 71)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Sequential conditioning + immediate HCT: LFS like induction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ADVANCED AML · PRACTICAL ISSUES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Practical AML allografting starts with HLA typing at diagnosis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Box 41"/>
          <p:cNvSpPr txBox="1"/>
          <p:nvPr/>
        </p:nvSpPr>
        <p:spPr>
          <a:xfrm>
            <a:off x="685800"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HLA-type patient and family</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42"/>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Start the donor search early</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43"/>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Aim for MRD-negative CR</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44"/>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PTCy-based GVHD prophylaxis</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45"/>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Maintenance if high risk</a:t>
            </a:r>
            <a:endParaRPr lang="en-US" sz="1500" dirty="0"/>
          </a:p>
        </p:txBody>
      </p:sp>
      <p:sp>
        <p:nvSpPr>
          <p:cNvPr id="15" name="Text 46"/>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Europe 2021 (Passweg): 7,123 allo-HCT for AML, 38% of all allogeneic activity; 4,266 de novo CR1, 1,775 not in CR, 1,082 therapy- or MDS-related. Most grafts are unrelated or haplo, mostly PBSC.</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ADVANCED AML · AFTER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Relapse is now the main cause of failure after AML allografts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Gibson BES, et al. EBMT Handbook 8th ed. 2024; Ch. 71</a:t>
            </a:r>
            <a:endParaRPr lang="en-US" sz="1000" dirty="0"/>
          </a:p>
        </p:txBody>
      </p:sp>
      <p:graphicFrame>
        <p:nvGraphicFramePr>
          <p:cNvPr id="13" name="Table 4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730752"/>
                <a:gridCol w="3355848"/>
                <a:gridCol w="3730752"/>
              </a:tblGrid>
              <a:tr h="0">
                <a:tc>
                  <a:txBody>
                    <a:bodyPr/>
                    <a:lstStyle/>
                    <a:p>
                      <a:pPr indent="0" marL="0">
                        <a:buNone/>
                      </a:pPr>
                      <a:r>
                        <a:rPr lang="en-US" sz="1600" b="1" dirty="0">
                          <a:solidFill>
                            <a:schemeClr val="tx1"/>
                          </a:solidFill>
                        </a:rPr>
                        <a:t>Strategy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Trial or source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Marrow MRD at day 30–45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Ch. 70 (Loke 2023)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Guides IS taper or prophylactic/pre-emptive DLI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Early IS withdrawal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Ch. 71 (Craddock 2010)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More CSA exposure: more relapse, worse survival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Sorafenib, FLT3-ITD AML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SORMAIN (Burchert 2020)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Relapse/death HR 0.39; 24-mo RFS 85.0% vs 53.3%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Azacitidine 36 mg/m² × 5 d, q4w from day +42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RICAZA (Craddock 2016), n = 37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1-year and 2-year RFS 57% and 49%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Decitabine + G-CSF</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Gao 2020, randomised phase II</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2-year CIR 15% vs 38.3%; HR 0.32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8"/>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70: consider maintenance or pre-emptive therapy in high-risk AML (Session 19).</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APL ·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APL is defined by PML-RARA and a dangerous coagulopathy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graphicFrame>
        <p:nvGraphicFramePr>
          <p:cNvPr id="14" name="Table 4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048256"/>
                <a:gridCol w="4288536"/>
                <a:gridCol w="4480560"/>
              </a:tblGrid>
              <a:tr h="0">
                <a:tc>
                  <a:txBody>
                    <a:bodyPr/>
                    <a:lstStyle/>
                    <a:p>
                      <a:pPr indent="0" marL="0">
                        <a:buNone/>
                      </a:pPr>
                      <a:r>
                        <a:rPr lang="en-US" sz="1600" b="1" dirty="0">
                          <a:solidFill>
                            <a:schemeClr val="tx1"/>
                          </a:solidFill>
                        </a:rPr>
                        <a:t>Feature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Typical M3 (75–80%)</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Variant M3v (20–25%)</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Granules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Dense; frequent Auer rods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Fine or hypogranular; fewer Auer rods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Nucleus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Reniform or bilobed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Reniform, bi- or multilobed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Phenotype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HLA-DR−, CD34−, CD33+, CD13+, CD15−/+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HLA-DR±, CD34±, CD33+, CD13+, CD9+, CD2±, CD56±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WBC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Most often low</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Most often high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PML-RARA isoform</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BCR3 less frequent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BCR3 most frequent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0"/>
          <p:cNvSpPr txBox="1"/>
          <p:nvPr/>
        </p:nvSpPr>
        <p:spPr>
          <a:xfrm>
            <a:off x="685800" y="48463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5–15% of AML; median age about 40; about 10% follow cytotoxics or radiation. RT-PCR is sensitive and gives the isoform for MRD; karyotype misses about 20%.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APL · SALVAGE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APL salvage switches the backbone and bridges to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Box 51"/>
          <p:cNvSpPr txBox="1"/>
          <p:nvPr/>
        </p:nvSpPr>
        <p:spPr>
          <a:xfrm>
            <a:off x="2665476" y="2148840"/>
            <a:ext cx="6858000" cy="68580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b="1" dirty="0">
                <a:solidFill>
                  <a:schemeClr val="bg1"/>
                </a:solidFill>
              </a:rPr>
              <a:t>Relapsed APL: aim for molecular remission</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5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After ATRA + chemo</a:t>
            </a:r>
            <a:endParaRPr lang="en-US" sz="1400" dirty="0"/>
          </a:p>
        </p:txBody>
      </p:sp>
      <p:sp>
        <p:nvSpPr>
          <p:cNvPr id="11" name="Box 5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Salvage with ATRA + ATO</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Bridge to HCT</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After ATRA + ATO</a:t>
            </a:r>
            <a:endParaRPr lang="en-US" sz="1400" dirty="0"/>
          </a:p>
        </p:txBody>
      </p:sp>
      <p:sp>
        <p:nvSpPr>
          <p:cNvPr id="16" name="Box 56"/>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Salvage with ATRA + chemo</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Bridge to HCT</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Either front line</a:t>
            </a:r>
            <a:endParaRPr lang="en-US" sz="1400" dirty="0"/>
          </a:p>
        </p:txBody>
      </p:sp>
      <p:sp>
        <p:nvSpPr>
          <p:cNvPr id="21" name="Box 59"/>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Gemtuzumab ozogamicin</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6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Always as a bridge to HCT</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APL · HCT INDICATIONS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APL needs HCT only beyond CR1 or with molecular persistence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graphicFrame>
        <p:nvGraphicFramePr>
          <p:cNvPr id="16" name="Table 6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105656"/>
                <a:gridCol w="3355848"/>
                <a:gridCol w="3355848"/>
              </a:tblGrid>
              <a:tr h="0">
                <a:tc>
                  <a:txBody>
                    <a:bodyPr/>
                    <a:lstStyle/>
                    <a:p>
                      <a:pPr indent="0" marL="0">
                        <a:buNone/>
                      </a:pPr>
                      <a:r>
                        <a:rPr lang="en-US" sz="1600" b="1" dirty="0">
                          <a:solidFill>
                            <a:schemeClr val="tx1"/>
                          </a:solidFill>
                        </a:rPr>
                        <a:t>Situation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Auto-HCT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Allo-HCT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CR1 in molecular remission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Not 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Not 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PML-RARA+ after consolidation (&lt;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HCT 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HCT 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CR2 in molecular remission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First choice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If high relapse and low TRM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CR2, PML-RARA+ after salvage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Relapse after a previous auto-HCT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Monitoring after HCT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RQ-PCR at least every 3 months for 2–3 years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Same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70.2. *Type not specified. EBMT, CR2 (Sanz 2021): OS 82% auto vs 64% allo; relapse 23% vs 28%.</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PAEDIATRIC AML · CONTRAST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with AML receive allografts in CR1 only for poor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 · Gibson BES, et al. EBMT Handbook 8th ed. 2024; Ch. 71</a:t>
            </a:r>
            <a:endParaRPr lang="en-US" sz="1000" dirty="0"/>
          </a:p>
        </p:txBody>
      </p:sp>
      <p:graphicFrame>
        <p:nvGraphicFramePr>
          <p:cNvPr id="17" name="Table 6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23160"/>
                <a:gridCol w="3913632"/>
                <a:gridCol w="4480560"/>
              </a:tblGrid>
              <a:tr h="0">
                <a:tc>
                  <a:txBody>
                    <a:bodyPr/>
                    <a:lstStyle/>
                    <a:p>
                      <a:pPr indent="0" marL="0">
                        <a:buNone/>
                      </a:pPr>
                      <a:r>
                        <a:rPr lang="en-US" sz="1500" b="1" dirty="0">
                          <a:solidFill>
                            <a:schemeClr val="tx1"/>
                          </a:solidFill>
                        </a:rPr>
                        <a:t>Topic</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Adults (Ch. 70)</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Children (Ch. 71)</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CR1 indication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ELN 2022 risk + MRD + TRM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Poor-risk genetics (about 30%) ± early MRD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No HCT in CR1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Favorable MRD−; APL in molecular CR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CBF, NPM1, CEBPA bZIP; APL; ML-DS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Conditioning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MAC if &lt; 50 y (refractory); RIC otherwise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MAC, TBI-free; BU/CY with BU drug monitoring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Donor and source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Mostly unrelated or haplo; mostly PBSC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MFD or MUD; bone marrow preferred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Estimate with HCT-CI or EBMT score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Below 10% achievable in CR1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Relapse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 cause of failure after HCT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CR2 then HCT; second HCT TRM &gt; 30%</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4"/>
          <p:cNvSpPr txBox="1"/>
          <p:nvPr/>
        </p:nvSpPr>
        <p:spPr>
          <a:xfrm>
            <a:off x="685800" y="46634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BU/CY/MEL (AML SCT-BFM 2007): TRM 9% under age 12, 31% above; avoid or use with caution in teenagers.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post-remission therapy for this AML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Text 65"/>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45-year-old man has AML with mutated NPM1, no FLT3-ITD and a normal karyotype. He reaches CR after one induction. After two cycles, NPM1 qPCR MRD remains positive. He has an HLA-identical sibling and an HCT-CI of 1. Following Ch. 70, what is the preferred post-remission treatment?</a:t>
            </a:r>
            <a:endParaRPr lang="en-US" sz="1900" dirty="0"/>
          </a:p>
        </p:txBody>
      </p:sp>
      <p:sp>
        <p:nvSpPr>
          <p:cNvPr id="7" name="Text 66"/>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Continue high-dose cytarabine consolidation alone</a:t>
            </a:r>
            <a:endParaRPr lang="en-US" sz="1800" dirty="0"/>
          </a:p>
          <a:p>
            <a:pPr indent="0" marL="0">
              <a:spcAft>
                <a:spcPts val="800"/>
              </a:spcAft>
              <a:buNone/>
            </a:pPr>
            <a:r>
              <a:rPr lang="en-US" sz="1800" dirty="0">
                <a:solidFill>
                  <a:schemeClr val="tx1"/>
                </a:solidFill>
              </a:rPr>
              <a:t>B.  High-dose chemotherapy followed by auto-HCT</a:t>
            </a:r>
            <a:endParaRPr lang="en-US" sz="1800" dirty="0"/>
          </a:p>
          <a:p>
            <a:pPr indent="0" marL="0">
              <a:spcAft>
                <a:spcPts val="800"/>
              </a:spcAft>
              <a:buNone/>
            </a:pPr>
            <a:r>
              <a:rPr lang="en-US" sz="1800" dirty="0">
                <a:solidFill>
                  <a:schemeClr val="tx1"/>
                </a:solidFill>
              </a:rPr>
              <a:t>C.  Allo-HCT from the HLA-identical sibling in CR1</a:t>
            </a:r>
            <a:endParaRPr lang="en-US" sz="1800" dirty="0"/>
          </a:p>
          <a:p>
            <a:pPr indent="0" marL="0">
              <a:spcAft>
                <a:spcPts val="800"/>
              </a:spcAft>
              <a:buNone/>
            </a:pPr>
            <a:r>
              <a:rPr lang="en-US" sz="1800" dirty="0">
                <a:solidFill>
                  <a:schemeClr val="tx1"/>
                </a:solidFill>
              </a:rPr>
              <a:t>D.  Observe and transplant at haematological relapse</a:t>
            </a:r>
            <a:endParaRPr lang="en-US" sz="1800" dirty="0"/>
          </a:p>
          <a:p>
            <a:pPr indent="0" marL="0">
              <a:spcAft>
                <a:spcPts val="800"/>
              </a:spcAft>
              <a:buNone/>
            </a:pPr>
            <a:r>
              <a:rPr lang="en-US" sz="1800" dirty="0">
                <a:solidFill>
                  <a:schemeClr val="tx1"/>
                </a:solidFill>
              </a:rPr>
              <a:t>E.  Azacitidine plus venetoclax maintenance instead of 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MRD-positive favorable-risk AML goes to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Box 6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Allo-HCT from the HLA-identical sibling in CR1</a:t>
            </a:r>
            <a:endParaRPr lang="en-US" sz="2000" dirty="0"/>
          </a:p>
        </p:txBody>
      </p:sp>
      <p:sp>
        <p:nvSpPr>
          <p:cNvPr id="7" name="Text 6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NPM1-mutated AML without FLT3-ITD or adverse cytogenetics is ELN 2022 favorable. With MRD positivity it is treated as high relapse risk: Table 70.1 prefers allo-HCT (sibling or 10/10 MUD) unless excessive TRM is predicted. Chemotherapy or auto-HCT is preferred only for MRD-negative favorable disease.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plan the next step in refractory AML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Text 69"/>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44-year-old woman has AML with a normal karyotype, wild-type NPM1 and FLT3, and no TP53 mutation. After 7+3 and a second course containing intermediate-dose cytarabine, her marrow still shows 18% blasts. A 10/10 unrelated donor is available; HCT-CI is 0. Following Ch. 70, what is the best next step?</a:t>
            </a:r>
            <a:endParaRPr lang="en-US" sz="1900" dirty="0"/>
          </a:p>
        </p:txBody>
      </p:sp>
      <p:sp>
        <p:nvSpPr>
          <p:cNvPr id="7" name="Text 70"/>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A third intensive course; transplant only after morphological CR</a:t>
            </a:r>
            <a:endParaRPr lang="en-US" sz="1800" dirty="0"/>
          </a:p>
          <a:p>
            <a:pPr indent="0" marL="0">
              <a:spcAft>
                <a:spcPts val="800"/>
              </a:spcAft>
              <a:buNone/>
            </a:pPr>
            <a:r>
              <a:rPr lang="en-US" sz="1800" dirty="0">
                <a:solidFill>
                  <a:schemeClr val="tx1"/>
                </a:solidFill>
              </a:rPr>
              <a:t>B.  Prompt allo-HCT with myeloablative conditioning</a:t>
            </a:r>
            <a:endParaRPr lang="en-US" sz="1800" dirty="0"/>
          </a:p>
          <a:p>
            <a:pPr indent="0" marL="0">
              <a:spcAft>
                <a:spcPts val="800"/>
              </a:spcAft>
              <a:buNone/>
            </a:pPr>
            <a:r>
              <a:rPr lang="en-US" sz="1800" dirty="0">
                <a:solidFill>
                  <a:schemeClr val="tx1"/>
                </a:solidFill>
              </a:rPr>
              <a:t>C.  Allo-HCT after FLAMSA, proven superior to FB2 RIC</a:t>
            </a:r>
            <a:endParaRPr lang="en-US" sz="1800" dirty="0"/>
          </a:p>
          <a:p>
            <a:pPr indent="0" marL="0">
              <a:spcAft>
                <a:spcPts val="800"/>
              </a:spcAft>
              <a:buNone/>
            </a:pPr>
            <a:r>
              <a:rPr lang="en-US" sz="1800" dirty="0">
                <a:solidFill>
                  <a:schemeClr val="tx1"/>
                </a:solidFill>
              </a:rPr>
              <a:t>D.  High-dose chemotherapy followed by auto-HCT</a:t>
            </a:r>
            <a:endParaRPr lang="en-US" sz="1800" dirty="0"/>
          </a:p>
          <a:p>
            <a:pPr indent="0" marL="0">
              <a:spcAft>
                <a:spcPts val="800"/>
              </a:spcAft>
              <a:buNone/>
            </a:pPr>
            <a:r>
              <a:rPr lang="en-US" sz="1800" dirty="0">
                <a:solidFill>
                  <a:schemeClr val="tx1"/>
                </a:solidFill>
              </a:rPr>
              <a:t>E.  Azacitidine plus venetoclax without transplant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primary refractory AML goes swiftly to a MAC allograft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Box 7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Prompt allo-HCT with myeloablative conditioning</a:t>
            </a:r>
            <a:endParaRPr lang="en-US" sz="2000" dirty="0"/>
          </a:p>
        </p:txBody>
      </p:sp>
      <p:sp>
        <p:nvSpPr>
          <p:cNvPr id="7" name="Text 7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No CR after two intensive courses, one with intermediate-dose cytarabine, defines primary refractory AML; chemotherapy alone gives &lt; 10% long-term survival. Swift allo-HCT after ≤ 2 courses does best, and MAC is advised under age 50. FLAMSA showed no benefit over FB2 (Craddock 2021). Waiting for CR is reserved for TP53 or inv(3).</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plan treatment for relapsed APL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Text 73"/>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38-year-old woman with low-risk APL received ATRA plus arsenic trioxide as front-line therapy and reached molecular CR. Eighteen months later, PML-RARA becomes positive by RQ-PCR and a marrow relapse is confirmed. She is fit and has a matched sibling. According to Ch. 70, what is the best plan?</a:t>
            </a:r>
            <a:endParaRPr lang="en-US" sz="1900" dirty="0"/>
          </a:p>
        </p:txBody>
      </p:sp>
      <p:sp>
        <p:nvSpPr>
          <p:cNvPr id="7" name="Text 74"/>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Repeat ATRA plus ATO, then allo-HCT in CR2</a:t>
            </a:r>
            <a:endParaRPr lang="en-US" sz="1800" dirty="0"/>
          </a:p>
          <a:p>
            <a:pPr indent="0" marL="0">
              <a:spcAft>
                <a:spcPts val="800"/>
              </a:spcAft>
              <a:buNone/>
            </a:pPr>
            <a:r>
              <a:rPr lang="en-US" sz="1800" dirty="0">
                <a:solidFill>
                  <a:schemeClr val="tx1"/>
                </a:solidFill>
              </a:rPr>
              <a:t>B.  ATRA plus chemotherapy; auto-HCT if molecular CR2</a:t>
            </a:r>
            <a:endParaRPr lang="en-US" sz="1800" dirty="0"/>
          </a:p>
          <a:p>
            <a:pPr indent="0" marL="0">
              <a:spcAft>
                <a:spcPts val="800"/>
              </a:spcAft>
              <a:buNone/>
            </a:pPr>
            <a:r>
              <a:rPr lang="en-US" sz="1800" dirty="0">
                <a:solidFill>
                  <a:schemeClr val="tx1"/>
                </a:solidFill>
              </a:rPr>
              <a:t>C.  Immediate allo-HCT without salvage therapy</a:t>
            </a:r>
            <a:endParaRPr lang="en-US" sz="1800" dirty="0"/>
          </a:p>
          <a:p>
            <a:pPr indent="0" marL="0">
              <a:spcAft>
                <a:spcPts val="800"/>
              </a:spcAft>
              <a:buNone/>
            </a:pPr>
            <a:r>
              <a:rPr lang="en-US" sz="1800" dirty="0">
                <a:solidFill>
                  <a:schemeClr val="tx1"/>
                </a:solidFill>
              </a:rPr>
              <a:t>D.  Gemtuzumab ozogamicin maintenance without HCT</a:t>
            </a:r>
            <a:endParaRPr lang="en-US" sz="1800" dirty="0"/>
          </a:p>
          <a:p>
            <a:pPr indent="0" marL="0">
              <a:spcAft>
                <a:spcPts val="800"/>
              </a:spcAft>
              <a:buNone/>
            </a:pPr>
            <a:r>
              <a:rPr lang="en-US" sz="1800" dirty="0">
                <a:solidFill>
                  <a:schemeClr val="tx1"/>
                </a:solidFill>
              </a:rPr>
              <a:t>E.  ATRA plus chemotherapy; allo-HCT if molecular CR2</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switch the backbone, then auto-HCT in molecular CR2</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ATRA plus chemotherapy; auto-HCT if molecular CR2</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After front-line ATRA plus ATO, salvage with ATRA plus chemotherapy (and vice versa), aiming for molecular remission. Auto-HCT is the first choice in molecular CR2: EBMT registry OS 82% vs 64% for allo, with similar relapse. Allo-HCT is for PML-RARA persistence, failed auto-HCT, or high relapse and low TRM risk.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7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Versluis J, Cornelissen JJ, Craddock C, Sanz MÁ, Nagler A. AML in adults. In: Sureda A, Corbacioglu S, Greco R, Kröger N, Carreras E, eds. The EBMT Handbook: Hematopoietic Cell Transplantation and Cellular Therapies. 8th ed. Springer, Cham; 2024. pp. 617–631. https://doi.org/10.1007/978-3-031-44080-9_70</a:t>
            </a:r>
            <a:endParaRPr lang="en-US" sz="1100" dirty="0"/>
          </a:p>
          <a:p>
            <a:pPr indent="0" marL="0">
              <a:spcAft>
                <a:spcPts val="700"/>
              </a:spcAft>
              <a:buNone/>
            </a:pPr>
            <a:r>
              <a:rPr lang="en-US" sz="1100" dirty="0">
                <a:solidFill>
                  <a:schemeClr val="tx1"/>
                </a:solidFill>
              </a:rPr>
              <a:t>2. Gibson BES, Sauer MG, Ramanathan S, Amrolia PJ. Acute myeloid leukaemia in children. In: Sureda A, Corbacioglu S, Greco R, Kröger N, Carreras E, eds. The EBMT Handbook: Hematopoietic Cell Transplantation and Cellular Therapies. 8th ed. Springer, Cham; 2024. pp. 633–648. https://doi.org/10.1007/978-3-031-44080-9_71</a:t>
            </a:r>
            <a:endParaRPr lang="en-US" sz="1100" dirty="0"/>
          </a:p>
          <a:p>
            <a:pPr indent="0" marL="0">
              <a:spcAft>
                <a:spcPts val="700"/>
              </a:spcAft>
              <a:buNone/>
            </a:pPr>
            <a:r>
              <a:rPr lang="en-US" sz="1100" dirty="0">
                <a:solidFill>
                  <a:schemeClr val="tx1"/>
                </a:solidFill>
              </a:rPr>
              <a:t>3. Stone RM, Mandrekar SJ, Sanford BL, et al. Midostaurin plus chemotherapy for acute myeloid leukemia with a FLT3 mutation. N Engl J Med. 2017;377:454–64.</a:t>
            </a:r>
            <a:endParaRPr lang="en-US" sz="1100" dirty="0"/>
          </a:p>
          <a:p>
            <a:pPr indent="0" marL="0">
              <a:spcAft>
                <a:spcPts val="700"/>
              </a:spcAft>
              <a:buNone/>
            </a:pPr>
            <a:r>
              <a:rPr lang="en-US" sz="1100" dirty="0">
                <a:solidFill>
                  <a:schemeClr val="tx1"/>
                </a:solidFill>
              </a:rPr>
              <a:t>4. Lancet JE, Uy GL, Cortes JE, Newell LF, Lin TL, Ritchie EK, Stuart RK, et al. CPX-351 (cytarabine and Daunorubicin) liposome for injection versus conventional Cytarabine plus Daunorubicin in older patients with newly diagnosed secondary acute myeloid leukemia. J Clin Oncol. 2018;36(26):2684–92.</a:t>
            </a:r>
            <a:endParaRPr lang="en-US" sz="1100" dirty="0"/>
          </a:p>
        </p:txBody>
      </p:sp>
      <p:sp>
        <p:nvSpPr>
          <p:cNvPr id="6" name="Text 7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DiNardo CD, Jonas BA, Pullarkat V, Thirman MJ, Garcia JS, Wei AH, Konopleva M, et al. Azacitidine and Venetoclax in previously untreated acute myeloid leukemia. N Engl J. 2020;383(7):617–29.</a:t>
            </a:r>
            <a:endParaRPr lang="en-US" sz="1100" dirty="0"/>
          </a:p>
          <a:p>
            <a:pPr indent="0" marL="0">
              <a:spcAft>
                <a:spcPts val="700"/>
              </a:spcAft>
              <a:buNone/>
            </a:pPr>
            <a:r>
              <a:rPr lang="en-US" sz="1100" dirty="0">
                <a:solidFill>
                  <a:schemeClr val="tx1"/>
                </a:solidFill>
              </a:rPr>
              <a:t>6. Montesinos P, Recher C, Vives S, Zarzycka E, Wang J, Bertani G, Heuser M, et al. Ivosidenib and Azacitidine in -mutated acute myeloid leukemia. N Engl J Med. 2022;386(16):1519–31.</a:t>
            </a:r>
            <a:endParaRPr lang="en-US" sz="1100" dirty="0"/>
          </a:p>
          <a:p>
            <a:pPr indent="0" marL="0">
              <a:spcAft>
                <a:spcPts val="700"/>
              </a:spcAft>
              <a:buNone/>
            </a:pPr>
            <a:r>
              <a:rPr lang="en-US" sz="1100" dirty="0">
                <a:solidFill>
                  <a:schemeClr val="tx1"/>
                </a:solidFill>
              </a:rPr>
              <a:t>7. Dohner H, Wei AH, Appelbaum FR, Craddock C, DiNardo CD, Dombret H, et al. Diagnosis and management of AML in adults: 2022 ELN recommendations from an international expert panel. Blood. 2022;129(4):424–47.</a:t>
            </a:r>
            <a:endParaRPr lang="en-US" sz="1100" dirty="0"/>
          </a:p>
          <a:p>
            <a:pPr indent="0" marL="0">
              <a:spcAft>
                <a:spcPts val="700"/>
              </a:spcAft>
              <a:buNone/>
            </a:pPr>
            <a:r>
              <a:rPr lang="en-US" sz="1100" dirty="0">
                <a:solidFill>
                  <a:schemeClr val="tx1"/>
                </a:solidFill>
              </a:rPr>
              <a:t>8. Venditti A, Piciocchi A, Candoni A, Melillo L, Calafiore V, Cairoli R, de Fabritiis P, et al. GIMEMA AML1310 trial of risk-adapted, MRD-directed therapy for young adults with newly diagnosed acute myeloid leukemia. Blood. 2019;134(12):935–45.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7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Gratwohl A, Hermans J, Goldman JM, et al. Risk assessment for patients with chronic myeloid leukaemia before allogeneic blood or marrow transplantation. Chronic leukemia working Party of the European Group for blood and marrow transplantation. Lancet. 1998;352:1087–92.</a:t>
            </a:r>
            <a:endParaRPr lang="en-US" sz="1100" dirty="0"/>
          </a:p>
          <a:p>
            <a:pPr indent="0" marL="0">
              <a:spcAft>
                <a:spcPts val="700"/>
              </a:spcAft>
              <a:buNone/>
            </a:pPr>
            <a:r>
              <a:rPr lang="en-US" sz="1100" dirty="0">
                <a:solidFill>
                  <a:schemeClr val="tx1"/>
                </a:solidFill>
              </a:rPr>
              <a:t>10. Sorror ML, Maris MB, Storb R, et al. Hematopoietic cell transplantation (HCT)-specific comorbidity index: a new tool for risk assessment before allogeneic HCT. Blood. 2005;106:2912–9.</a:t>
            </a:r>
            <a:endParaRPr lang="en-US" sz="1100" dirty="0"/>
          </a:p>
          <a:p>
            <a:pPr indent="0" marL="0">
              <a:spcAft>
                <a:spcPts val="700"/>
              </a:spcAft>
              <a:buNone/>
            </a:pPr>
            <a:r>
              <a:rPr lang="en-US" sz="1100" dirty="0">
                <a:solidFill>
                  <a:schemeClr val="tx1"/>
                </a:solidFill>
              </a:rPr>
              <a:t>11. Shouval R, Labopin M, Bondi O, et al. Prediction of allogeneic hematopoietic stem-cell transplantation mortality 100 days after transplantation using a machine learning algorithm: a European Group for Blood and Marrow Transplantation Acute Leukemia Working Party Retrospective Data Mining Study. J Clin Oncol. 2015;33:3144–51.</a:t>
            </a:r>
            <a:endParaRPr lang="en-US" sz="1100" dirty="0"/>
          </a:p>
          <a:p>
            <a:pPr indent="0" marL="0">
              <a:spcAft>
                <a:spcPts val="700"/>
              </a:spcAft>
              <a:buNone/>
            </a:pPr>
            <a:r>
              <a:rPr lang="en-US" sz="1100" dirty="0">
                <a:solidFill>
                  <a:schemeClr val="tx1"/>
                </a:solidFill>
              </a:rPr>
              <a:t>12. Versluis J, Labopin M, Niederwieser D, et al. Prediction of non-relapse mortality in recipients of reduced intensity conditioning allogeneic stem cell transplantation with AML in first complete remission. Leukemia. 2015;29:51–7.</a:t>
            </a:r>
            <a:endParaRPr lang="en-US" sz="1100" dirty="0"/>
          </a:p>
        </p:txBody>
      </p:sp>
      <p:sp>
        <p:nvSpPr>
          <p:cNvPr id="6" name="Text 8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Hermans SJF, Versluis J, Labopin M, Giebel S, van Norden Y, Moiseev I, Blaise D, et al. Prediction of nonrelapse mortality in patients with acute myeloid leukemia and acute lymphoblastic leukemia receiving allogeneic stem cell transplantation with Posttransplantation cyclophosphamide-based graft versus host disease prophylaxis. HemaSphere. 2023;7(3):e846.</a:t>
            </a:r>
            <a:endParaRPr lang="en-US" sz="1100" dirty="0"/>
          </a:p>
          <a:p>
            <a:pPr indent="0" marL="0">
              <a:spcAft>
                <a:spcPts val="700"/>
              </a:spcAft>
              <a:buNone/>
            </a:pPr>
            <a:r>
              <a:rPr lang="en-US" sz="1100" dirty="0">
                <a:solidFill>
                  <a:schemeClr val="tx1"/>
                </a:solidFill>
              </a:rPr>
              <a:t>14. Ferguson P, Hills RK, Grech A, et al. An operational definition of primary refractory acute myeloid leukemia allowing early identification of patients who may benefit from allogeneic stem cell transplantation. Haematologica. 2016;101:1351–8.</a:t>
            </a:r>
            <a:endParaRPr lang="en-US" sz="1100" dirty="0"/>
          </a:p>
          <a:p>
            <a:pPr indent="0" marL="0">
              <a:spcAft>
                <a:spcPts val="700"/>
              </a:spcAft>
              <a:buNone/>
            </a:pPr>
            <a:r>
              <a:rPr lang="en-US" sz="1100" dirty="0">
                <a:solidFill>
                  <a:schemeClr val="tx1"/>
                </a:solidFill>
              </a:rPr>
              <a:t>15. Craddock C, Jackson A, Loke J, Siddique S, Hodgkinson A, Mason J, et al. Augmented reduced-intensity regimen does not improve Postallogeneic transplant outcomes in acute myeloid leukemia. J Clin Oncol. 2021;39(7):768–78.</a:t>
            </a:r>
            <a:endParaRPr lang="en-US" sz="1100" dirty="0"/>
          </a:p>
          <a:p>
            <a:pPr indent="0" marL="0">
              <a:spcAft>
                <a:spcPts val="700"/>
              </a:spcAft>
              <a:buNone/>
            </a:pPr>
            <a:r>
              <a:rPr lang="en-US" sz="1100" dirty="0">
                <a:solidFill>
                  <a:schemeClr val="tx1"/>
                </a:solidFill>
              </a:rPr>
              <a:t>16. Stelljes M, Middeke JM, Bug G, et al. In patients with relapsed/refractory AML sequential conditioning and immediate allogeneic stem cell transplantation (Allo-HCT) results in similar overall and leukemia-free survival compared to intensive remission induction chemotherapy followed by Allo-HCT: results from the randomized phase III ASAP trial. Blood. 2022;140(Supplement 1):9–11. https://doi.org/10.1182/blood-2022-159962.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8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Passweg JR et al, for the European Society for Blood and Marrow Transplantation (EBMT)hematopoietic cell transplantation and cellular therapy survey of the EBMT: monitoring of activities and trends over 30 years. Bone Marrow Transplant. 2021;56:1651–64.</a:t>
            </a:r>
            <a:endParaRPr lang="en-US" sz="1100" dirty="0"/>
          </a:p>
          <a:p>
            <a:pPr indent="0" marL="0">
              <a:spcAft>
                <a:spcPts val="700"/>
              </a:spcAft>
              <a:buNone/>
            </a:pPr>
            <a:r>
              <a:rPr lang="en-US" sz="1100" dirty="0">
                <a:solidFill>
                  <a:schemeClr val="tx1"/>
                </a:solidFill>
              </a:rPr>
              <a:t>18. Loke J, McCarthy N, Jackson AE, Siddique S, Hodgkinson A, Mason J, et al. Posttransplant MRD and T-cell chimerism status predict outcomes in patients allografted with AML/MDS. Blood Adv. 2023;8(14):3666–76.</a:t>
            </a:r>
            <a:endParaRPr lang="en-US" sz="1100" dirty="0"/>
          </a:p>
          <a:p>
            <a:pPr indent="0" marL="0">
              <a:spcAft>
                <a:spcPts val="700"/>
              </a:spcAft>
              <a:buNone/>
            </a:pPr>
            <a:r>
              <a:rPr lang="en-US" sz="1100" dirty="0">
                <a:solidFill>
                  <a:schemeClr val="tx1"/>
                </a:solidFill>
              </a:rPr>
              <a:t>19. Craddock C, Nagra S, Peniket A, et al. Factors predicting long-term survival after T-cell depleted reduced intensity allogeneic stem cell transplantation for acute myeloid leukaemia. Haematologica. 2010;95:989–95.</a:t>
            </a:r>
            <a:endParaRPr lang="en-US" sz="1100" dirty="0"/>
          </a:p>
          <a:p>
            <a:pPr indent="0" marL="0">
              <a:spcAft>
                <a:spcPts val="700"/>
              </a:spcAft>
              <a:buNone/>
            </a:pPr>
            <a:r>
              <a:rPr lang="en-US" sz="1100" dirty="0">
                <a:solidFill>
                  <a:schemeClr val="tx1"/>
                </a:solidFill>
              </a:rPr>
              <a:t>20. Burchert A, Bug G, Fritz LV, et al. Sorafenib maintenance after allogeneic hematopoietic stem cell transplantation for acute myeloid leukemia with FLT3-internal tandem duplication mutation (SORMAIN)J. Clin Oncol. 2020;38(26):2993–3002. https://doi.org/10.1200/JCO.19.03345. Epub 2020 Jul 16</a:t>
            </a:r>
            <a:endParaRPr lang="en-US" sz="1100" dirty="0"/>
          </a:p>
        </p:txBody>
      </p:sp>
      <p:sp>
        <p:nvSpPr>
          <p:cNvPr id="6" name="Text 8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Craddock C, Jilani N, Siddique S, et al. Tolerability and Clinical Activity of Post-Transplantation Azacitidine in Patients Allografted for Acute Myeloid Leukemia Treated on the RICAZA Trial. Biol Blood Marrow Transplant. 2016;22(2):385–90. https://doi.org/10.1016/j.bbmt.2015.09.004. Epub 2015 Sep 9</a:t>
            </a:r>
            <a:endParaRPr lang="en-US" sz="1100" dirty="0"/>
          </a:p>
          <a:p>
            <a:pPr indent="0" marL="0">
              <a:spcAft>
                <a:spcPts val="700"/>
              </a:spcAft>
              <a:buNone/>
            </a:pPr>
            <a:r>
              <a:rPr lang="en-US" sz="1100" dirty="0">
                <a:solidFill>
                  <a:schemeClr val="tx1"/>
                </a:solidFill>
              </a:rPr>
              <a:t>22. Gao L, Zhang Y, Wang S, et al. Effect of rhG-CSF combined with Decitabine prophylaxis on relapse of patients with high-risk MRD-negative AML after HSCT: an open-label, Multicenter, Randomized Controlled Trial. J Clin Oncol. 2020;38(36):4249–59. https://doi.org/10.1200/JCO.19.03277. Epub 2020 Oct 27</a:t>
            </a:r>
            <a:endParaRPr lang="en-US" sz="1100" dirty="0"/>
          </a:p>
          <a:p>
            <a:pPr indent="0" marL="0">
              <a:spcAft>
                <a:spcPts val="700"/>
              </a:spcAft>
              <a:buNone/>
            </a:pPr>
            <a:r>
              <a:rPr lang="en-US" sz="1100" dirty="0">
                <a:solidFill>
                  <a:schemeClr val="tx1"/>
                </a:solidFill>
              </a:rPr>
              <a:t>23. Lo-Coco F, Avvisati G, Vignetti M, et al. Retinoic acid and arsenic trioxide for acute promyelocytic leukemia. N Engl J Med. 2013;369:111–21.</a:t>
            </a:r>
            <a:endParaRPr lang="en-US" sz="1100" dirty="0"/>
          </a:p>
          <a:p>
            <a:pPr indent="0" marL="0">
              <a:spcAft>
                <a:spcPts val="700"/>
              </a:spcAft>
              <a:buNone/>
            </a:pPr>
            <a:r>
              <a:rPr lang="en-US" sz="1100" dirty="0">
                <a:solidFill>
                  <a:schemeClr val="tx1"/>
                </a:solidFill>
              </a:rPr>
              <a:t>24. Burnett AK, Russell NH, Hills RK, et al. Arsenic trioxide and all-trans retinoic acid treatment for acute promyelocytic leukaemia in all risk groups (AML17): results of a randomised, controlled, phase 3 trial. Lancet Oncol. 2015;16:1295–305.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8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Sanz J, Labopin M, Sanz MA, Aljurf M, Sousa AB, Craddock C, et al. Hematopoietic stem cell transplantation for adults with relapsed acute promyelocytic leukemia in second complete remission. Bone Marrow Transplant. 2021;56(6):1272–80.</a:t>
            </a:r>
            <a:endParaRPr lang="en-US" sz="1100" dirty="0"/>
          </a:p>
          <a:p>
            <a:pPr indent="0" marL="0">
              <a:spcAft>
                <a:spcPts val="700"/>
              </a:spcAft>
              <a:buNone/>
            </a:pPr>
            <a:r>
              <a:rPr lang="en-US" sz="1100" dirty="0">
                <a:solidFill>
                  <a:schemeClr val="tx1"/>
                </a:solidFill>
              </a:rPr>
              <a:t>26. Holter Chakrabarty JL, Rubinger M, Le-Rademacher J, et al. Autologous is superior to allogeneic hematopoietic cell transplantation for acute promyelocytic leukemia in second complete remission. Biol Blood Marrow Transplant. 2014;20:1021–5.</a:t>
            </a:r>
            <a:endParaRPr lang="en-US" sz="1100" dirty="0"/>
          </a:p>
          <a:p>
            <a:pPr indent="0" marL="0">
              <a:spcAft>
                <a:spcPts val="700"/>
              </a:spcAft>
              <a:buNone/>
            </a:pPr>
            <a:r>
              <a:rPr lang="en-US" sz="1100" dirty="0">
                <a:solidFill>
                  <a:schemeClr val="tx1"/>
                </a:solidFill>
              </a:rPr>
              <a:t>27. Sanz MA, Labopin M, Gorin NC, et al. Hematopoietic stem cell transplantation for adults with acute promyelocytic leukemia in the ATRA era: a survey of the European cooperative Group for Blood and Marrow Transplantation. Bone Marrow Transplant. 2007;39:461–9.</a:t>
            </a:r>
            <a:endParaRPr lang="en-US" sz="1100" dirty="0"/>
          </a:p>
        </p:txBody>
      </p:sp>
      <p:sp>
        <p:nvSpPr>
          <p:cNvPr id="6" name="Text 8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28. Lengfelder E, Lo-Coco F, Adès L, et al. Arsenic trioxide-based therapy of relapsed acute promyelocytic leukemia: registry results from the European LeukemiaNet. Leukemia. 2015;29:1084–91.</a:t>
            </a:r>
            <a:endParaRPr lang="en-US" sz="1100" dirty="0"/>
          </a:p>
          <a:p>
            <a:pPr indent="0" marL="0">
              <a:spcAft>
                <a:spcPts val="700"/>
              </a:spcAft>
              <a:buNone/>
            </a:pPr>
            <a:r>
              <a:rPr lang="en-US" sz="1100" dirty="0">
                <a:solidFill>
                  <a:schemeClr val="tx1"/>
                </a:solidFill>
              </a:rPr>
              <a:t>29. Sauer MG, Lang PJ, Albert MH, et al. Hematopoietic stem cell transplantation for children with acute myeloid leukemia-results of the AML SCT-BFM 2007 trial. Leukemia. 2020;34(2):613–24. https://doi.org/10.1038/s41375-019-0584-8. Epub 2019 Oct 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APL · REGISTRY SERIES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Registry series favour auto-HCT for APL in second remission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graphicFrame>
        <p:nvGraphicFramePr>
          <p:cNvPr id="28" name="Table 8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1737360"/>
                <a:gridCol w="1645920"/>
                <a:gridCol w="2386584"/>
                <a:gridCol w="2295144"/>
              </a:tblGrid>
              <a:tr h="0">
                <a:tc>
                  <a:txBody>
                    <a:bodyPr/>
                    <a:lstStyle/>
                    <a:p>
                      <a:pPr indent="0" marL="0">
                        <a:buNone/>
                      </a:pPr>
                      <a:r>
                        <a:rPr lang="en-US" sz="1700" b="1" dirty="0">
                          <a:solidFill>
                            <a:schemeClr val="tx1"/>
                          </a:solidFill>
                        </a:rPr>
                        <a:t>Series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Salvage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n auto / allo</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OS, auto vs allo</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Relapse, auto vs allo</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Sanz 2007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ATRA + chemo</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195 / 137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51%* vs 59%</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37% vs 17%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Holter Chakrabarty 2014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62 / 232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75 vs 54% (p = 0.002)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30 vs 18% (p = 0.4)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Lengfelder 2015</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ATO-based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60 / 33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77 vs 79% (NS)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37 vs 39% (NS)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Sanz 2021 (EBMT)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NA</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341 / 228</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82 vs 64% (p = 0.001)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23 vs 28% (p = 0.3)</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6"/>
          <p:cNvSpPr txBox="1"/>
          <p:nvPr/>
        </p:nvSpPr>
        <p:spPr>
          <a:xfrm>
            <a:off x="685800" y="44805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70.3, selected rows. *Leukemia-free survival. No randomized trials exist; all data are retrospective.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APL · GENETIC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RT-PCR confirms APL and gives the isoform for MRD monitoring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Versluis J, et al. EBMT Handbook 8th ed. 2024; Ch. 70</a:t>
            </a:r>
            <a:endParaRPr lang="en-US" sz="1000" dirty="0"/>
          </a:p>
        </p:txBody>
      </p:sp>
      <p:graphicFrame>
        <p:nvGraphicFramePr>
          <p:cNvPr id="29" name="Table 8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80944"/>
                <a:gridCol w="4288536"/>
                <a:gridCol w="3547872"/>
              </a:tblGrid>
              <a:tr h="0">
                <a:tc>
                  <a:txBody>
                    <a:bodyPr/>
                    <a:lstStyle/>
                    <a:p>
                      <a:pPr indent="0" marL="0">
                        <a:buNone/>
                      </a:pPr>
                      <a:r>
                        <a:rPr lang="en-US" sz="1700" b="1" dirty="0">
                          <a:solidFill>
                            <a:schemeClr val="tx1"/>
                          </a:solidFill>
                        </a:rPr>
                        <a:t>Method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Strength</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Limitation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Karyotype t(15;17)(q22;q21)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Very specific; extra anomalies in 30%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Sensitivity 80%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FISH PML-RARA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Very specific and rapid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very sensitive; no isoform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RT-PCR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Specific, sensitive; isoform for MRD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Artefacts, contamination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Anti-PML (PG-M3) staining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Rapid, cheap; microspeckled pattern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isoform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Variant RARA partners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ZBTB16 (PLZF)::RARA; STAT5B::RARA</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ATRA-resistant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8"/>
          <p:cNvSpPr txBox="1"/>
          <p:nvPr/>
        </p:nvSpPr>
        <p:spPr>
          <a:xfrm>
            <a:off x="685800" y="44805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+8 is the commonest extra anomaly; karyotype is falsely negative or inadequate in 20%.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PAEDIATRIC AML · POOR-RISK GENETICS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Poor-risk genetics select children with AML for HCT in CR1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Gibson BES, et al. EBMT Handbook 8th ed. 2024; Ch. 71</a:t>
            </a:r>
            <a:endParaRPr lang="en-US" sz="1000" dirty="0"/>
          </a:p>
        </p:txBody>
      </p:sp>
      <p:graphicFrame>
        <p:nvGraphicFramePr>
          <p:cNvPr id="30" name="Table 8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615184"/>
                <a:gridCol w="8202168"/>
              </a:tblGrid>
              <a:tr h="0">
                <a:tc>
                  <a:txBody>
                    <a:bodyPr/>
                    <a:lstStyle/>
                    <a:p>
                      <a:pPr indent="0" marL="0">
                        <a:buNone/>
                      </a:pPr>
                      <a:r>
                        <a:rPr lang="en-US" sz="1700" b="1" dirty="0">
                          <a:solidFill>
                            <a:schemeClr val="tx1"/>
                          </a:solidFill>
                        </a:rPr>
                        <a:t>Group</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Abnormalities considered poor risk (Ch. 71)</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MECOM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inv(3)(q21q26), t(3;3)(q21;q26), abn(3q26)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Monosomies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−5/del(5q); −7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Fusions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t(6;9) DEK::NUP214; t(9;22) BCR::ABL1; t(7;12) MNX1::ETV6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KMT2A partners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t(6;11) MLLT4; t(4;11) AFF1; t(10;11) MLLT10 or ABI1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Other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12p abnormalities; all NUP98 fusions; CBFA2T3::GLIS2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FLT3-ITD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Without NPM1, CEBPA bZIP mutation or CBF-AML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 consensus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Complex karyotype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for AML</dc:title>
  <dc:subject>PptxGenJS Presentation</dc:subject>
  <dc:creator>Hsieh-Ting Lin, MD</dc:creator>
  <cp:lastModifiedBy>Hsieh-Ting Lin, MD</cp:lastModifiedBy>
  <cp:revision>1</cp:revision>
  <dcterms:created xsi:type="dcterms:W3CDTF">2026-10-09T16:10:03Z</dcterms:created>
  <dcterms:modified xsi:type="dcterms:W3CDTF">2026-10-09T16:10:03Z</dcterms:modified>
</cp:coreProperties>
</file>