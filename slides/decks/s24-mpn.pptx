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fad76ee-a410-aedc-e3be-7ec9acd04c19}">
          <p14:sldIdLst>
            <p14:sldId id="256"/>
            <p14:sldId id="257"/>
          </p14:sldIdLst>
        </p14:section>
        <p14:section name="Myelofibrosis" id="{b212ff49-340e-815a-fc4c-4d86ca7a84c6}">
          <p14:sldIdLst>
            <p14:sldId id="258"/>
            <p14:sldId id="259"/>
            <p14:sldId id="260"/>
            <p14:sldId id="261"/>
            <p14:sldId id="262"/>
            <p14:sldId id="263"/>
            <p14:sldId id="264"/>
          </p14:sldIdLst>
        </p14:section>
        <p14:section name="CML" id="{8924b5ed-83fd-e010-d073-0b6527b462d1}">
          <p14:sldIdLst>
            <p14:sldId id="265"/>
            <p14:sldId id="266"/>
            <p14:sldId id="267"/>
            <p14:sldId id="268"/>
            <p14:sldId id="269"/>
            <p14:sldId id="270"/>
            <p14:sldId id="271"/>
          </p14:sldIdLst>
        </p14:section>
        <p14:section name="Questions" id="{aa104328-4a47-0062-19b7-3c605e5e87b0}">
          <p14:sldIdLst>
            <p14:sldId id="272"/>
            <p14:sldId id="273"/>
            <p14:sldId id="274"/>
            <p14:sldId id="275"/>
            <p14:sldId id="276"/>
            <p14:sldId id="277"/>
          </p14:sldIdLst>
        </p14:section>
        <p14:section name="References" id="{a34dbe9a-5cc0-03dd-188b-1e61608432b3}">
          <p14:sldIdLst>
            <p14:sldId id="278"/>
            <p14:sldId id="279"/>
            <p14:sldId id="280"/>
            <p14:sldId id="281"/>
          </p14:sldIdLst>
        </p14:section>
        <p14:section name="Backup" id="{2e6d02c8-8078-5c84-c597-b6da646f411f}">
          <p14:sldIdLst>
            <p14:sldId id="282"/>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[0:30 本頁 · 0:00 至 0:30]</a:t>
            </a:r>
          </a:p>
          <a:p>
            <a:pPr>
              <a:spcAft>
                <a:spcPts val="600"/>
              </a:spcAft>
            </a:pPr>
            <a:r>
              <a:rPr lang="en-US" dirty="0"/>
              <a:t>各位好，第 24 堂談 myeloproliferative neoplasms 的移植，對應 EBMT Handbook 第 77 章。前半是 primary 和 post-ET/PV myelofibrosis，後半是 CML。兩個病的共同點是 allo-HCT 仍是唯一能治癒的方法，但多數病人不需要馬上移植，所以今天的重點是風險分數和移植時機，最後用三題練習收尾。</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0:30 至 1:30]</a:t>
            </a:r>
          </a:p>
          <a:p>
            <a:pPr>
              <a:spcAft>
                <a:spcPts val="600"/>
              </a:spcAft>
            </a:pPr>
            <a:r>
              <a:rPr lang="en-US" dirty="0"/>
              <a:t>今天分三段。第一段是 myelofibrosis，大約十分鐘。先把 IPSS、DIPSS、DIPSS-plus 和 MIPSS70 這幾個疾病分數分清楚，再看 EBMT/ELN 的移植適應症，接著是移植專用的 MTSS、donor 和 conditioning 的選擇，最後是 ruxolitinib 怎麼銜接移植，以及移植後用 driver mutation 追 MRD。</a:t>
            </a:r>
          </a:p>
          <a:p>
            <a:pPr>
              <a:spcAft>
                <a:spcPts val="600"/>
              </a:spcAft>
            </a:pPr>
            <a:r>
              <a:rPr lang="en-US" dirty="0"/>
              <a:t>第二段是 CML，時間稍微多一點，因為這部分過去講得比較少。內容包括 EBMT 的 Gratwohl risk score、disease phase 的影響、TKI 時代誰還需要移植、conditioning 和 GVHD prophylaxis，以及移植後 BCR-ABL1 molecular relapse 的定義和 DLI。</a:t>
            </a:r>
          </a:p>
          <a:p>
            <a:pPr>
              <a:spcAft>
                <a:spcPts val="600"/>
              </a:spcAft>
            </a:pPr>
            <a:r>
              <a:rPr lang="en-US" dirty="0"/>
              <a:t>最後三題 board-style 題目，前兩段各至少對應一題。</a:t>
            </a:r>
          </a:p>
          <a:p>
            <a:pPr>
              <a:spcAft>
                <a:spcPts val="600"/>
              </a:spcAft>
            </a:pPr>
            <a:r>
              <a:rPr lang="en-US" dirty="0"/>
              <a:t>每一段都照同一個順序走，先看疾病本身的風險，再看移植本身的風險，最後才談時機和移植後的監測。</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1:30 至 3:00]</a:t>
            </a:r>
          </a:p>
          <a:p>
            <a:pPr>
              <a:spcAft>
                <a:spcPts val="600"/>
              </a:spcAft>
            </a:pPr>
            <a:r>
              <a:rPr lang="en-US" dirty="0"/>
              <a:t>PV 和 ET 本身預後好，不需要移植，除非進展成 post-ET/PV myelofibrosis 或 secondary AML。Primary 或 post-ET/PV myelofibrosis 是 Ph-negative MPN 裡預後最差的，median survival 大約 6 年，但從不到 2 年到超過 15 年都有，所以要靠風險分數分層。</a:t>
            </a:r>
          </a:p>
          <a:p>
            <a:pPr>
              <a:spcAft>
                <a:spcPts val="600"/>
              </a:spcAft>
            </a:pPr>
            <a:r>
              <a:rPr lang="en-US" dirty="0"/>
              <a:t>IPSS 和 DIPSS 用同樣五個因子：年紀超過 65、constitutional symptoms、Hb 小於 100 g/L、白血球超過 25、周邊血 blast 至少 1%。差別只在 DIPSS 的貧血給 2 分，這一點考試最愛考。</a:t>
            </a:r>
          </a:p>
          <a:p>
            <a:pPr>
              <a:spcAft>
                <a:spcPts val="600"/>
              </a:spcAft>
            </a:pPr>
            <a:r>
              <a:rPr lang="en-US" dirty="0"/>
              <a:t>看下面三列。DIPSS 的 intermediate-2 是 3 到 4 分，high 是 5 到 6 分，median OS 分別是 4 年和 1.5 年。移植適應症就是用 4 年、也就是不到 5 年這條線切的。</a:t>
            </a:r>
          </a:p>
          <a:p>
            <a:pPr>
              <a:spcAft>
                <a:spcPts val="600"/>
              </a:spcAft>
            </a:pPr>
            <a:r>
              <a:rPr lang="en-US" dirty="0"/>
              <a:t>DIPSS 的 D 是 dynamic，病程中任何時間都可以重算，所以適合在追蹤時決定什麼時候該轉介移植。書上附了 DIPSS 和 DIPSS-plus 的線上計算器連結，臨床直接用就好。</a:t>
            </a:r>
          </a:p>
          <a:p>
            <a:pPr>
              <a:spcAft>
                <a:spcPts val="600"/>
              </a:spcAft>
            </a:pPr>
            <a:r>
              <a:rPr lang="en-US" dirty="0"/>
              <a:t>考題常給一組數字要你算分。記得 IPSS 只用在診斷時，DIPSS 可以在追蹤中任何時間用，兩者差 1 分就可能跨過 intermediate-2 的門檻。</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3:00 至 4:30]</a:t>
            </a:r>
          </a:p>
          <a:p>
            <a:pPr>
              <a:spcAft>
                <a:spcPts val="600"/>
              </a:spcAft>
            </a:pPr>
            <a:r>
              <a:rPr lang="en-US" dirty="0"/>
              <a:t>DIPSS-plus 是在 DIPSS 的基礎上再加三個因子。DIPSS 的 int-1、int-2、high 分別換成 1、2、3 分，再加血小板小於 100、需要輸血、不良 karyotype 各 1 分。不良 karyotype 指的是 +8、−7 或 7q−、−5 或 5q−、i(17q)、12p− 和 11q23 rearrangement。High risk 的 median survival 只剩 1.3 年。</a:t>
            </a:r>
          </a:p>
          <a:p>
            <a:pPr>
              <a:spcAft>
                <a:spcPts val="600"/>
              </a:spcAft>
            </a:pPr>
            <a:r>
              <a:rPr lang="en-US" dirty="0"/>
              <a:t>MIPSS70 是給移植年紀病人用的分數，把突變放進來。白血球超過 25 和血小板小於 100 各 2 分，貧血、症狀、fibrosis grade 2 以上、周邊 blast 至少 2% 各 1 分。High-molecular-risk mutation 指 IDH1/2、SRSF2、ASXL1 和 EZH2，一個 1 分，兩個以上 2 分。CALR type 1 這一列書上印成 1 分，原始分數是沒有 type 1 才給分，上台前要核對。</a:t>
            </a:r>
          </a:p>
          <a:p>
            <a:pPr>
              <a:spcAft>
                <a:spcPts val="600"/>
              </a:spcAft>
            </a:pPr>
            <a:r>
              <a:rPr lang="en-US" dirty="0"/>
              <a:t>Post-ET/PV myelofibrosis 另有專用的 MYSEC 分數。這些分數回答的是不移植會活多久，下一張才是要不要移植。</a:t>
            </a:r>
          </a:p>
          <a:p>
            <a:pPr>
              <a:spcAft>
                <a:spcPts val="600"/>
              </a:spcAft>
            </a:pPr>
            <a:r>
              <a:rPr lang="en-US" dirty="0"/>
              <a:t>臨床上的用法是這樣：DIPSS 落在 intermediate-1 的病人，再用 DIPSS-plus 或 MIPSS70 看有沒有隱藏的高風險，例如輸血依賴、不良 karyotype 或 ASXL1，這正好接到下一張的適應症。</a:t>
            </a:r>
          </a:p>
          <a:p>
            <a:pPr>
              <a:spcAft>
                <a:spcPts val="600"/>
              </a:spcAft>
            </a:pPr>
            <a:r>
              <a:rPr lang="en-US" b="1" dirty="0"/>
              <a:t>講者提醒（不念出來）：</a:t>
            </a:r>
          </a:p>
          <a:p>
            <a:pPr>
              <a:spcAft>
                <a:spcPts val="600"/>
              </a:spcAft>
            </a:pPr>
            <a:r>
              <a:rPr lang="en-US" dirty="0"/>
              <a:t>- TO CONFIRM BEFORE PRESENTING: Table 77.1 prints 'CALR typ1 (1 p)' for MIPSS70; check Guglielmelli 2018 whether the point is for absence of CALR type 1.</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4:30 至 6:00]</a:t>
            </a:r>
          </a:p>
          <a:p>
            <a:pPr>
              <a:spcAft>
                <a:spcPts val="600"/>
              </a:spcAft>
            </a:pPr>
            <a:r>
              <a:rPr lang="en-US" dirty="0"/>
              <a:t>EBMT 和 ELN 的 consensus 建議，70 歲以下、預估 median survival 小於 5 年的 myelofibrosis 病人做 allo-HCT，也就是 IPSS 或 DIPSS intermediate-2 和 high risk。這個結論來自移植和不移植病人的比較，資料在 ruxolitinib 之前的年代。</a:t>
            </a:r>
          </a:p>
          <a:p>
            <a:pPr>
              <a:spcAft>
                <a:spcPts val="600"/>
              </a:spcAft>
            </a:pPr>
            <a:r>
              <a:rPr lang="en-US" dirty="0"/>
              <a:t>Intermediate-1 不是一律不做。如果有額外的高風險特徵，包括 ASXL1 突變、周邊血 blast 超過 2%、refractory 的輸血依賴貧血，或 DIPSS-plus 定義的不良 karyotype，也可以考慮移植。Low risk 沒有移植適應症，這是我依 5 年門檻推論的 speaker's summary。</a:t>
            </a:r>
          </a:p>
          <a:p>
            <a:pPr>
              <a:spcAft>
                <a:spcPts val="600"/>
              </a:spcAft>
            </a:pPr>
            <a:r>
              <a:rPr lang="en-US" dirty="0"/>
              <a:t>適應症成立之後，還要用移植專用的 MTSS 評估移植本身的風險。病人本身的因素裡年紀最重要，comorbidity 和 geriatric assessment 也會影響結果，但還沒有在 myelofibrosis 專門研究過。考題若給 72 歲的病人，要想到 70 歲這個上限。</a:t>
            </a:r>
          </a:p>
          <a:p>
            <a:pPr>
              <a:spcAft>
                <a:spcPts val="600"/>
              </a:spcAft>
            </a:pPr>
            <a:r>
              <a:rPr lang="en-US" dirty="0"/>
              <a:t>實務上，病人一被歸到 intermediate-2 或 high，就該開始 HLA typing 和找 donor，因為從決定到真正移植通常要好幾個月。Intermediate-1 的病人則要定期重算 DIPSS，並且送 NGS 看 ASXL1 等突變，分數一升高就轉介。</a:t>
            </a:r>
          </a:p>
          <a:p>
            <a:pPr>
              <a:spcAft>
                <a:spcPts val="600"/>
              </a:spcAft>
            </a:pPr>
            <a:r>
              <a:rPr lang="en-US" dirty="0"/>
              <a:t>PV 和 ET 只有在轉成 myelofibrosis 或 AML 之後，才進入這張圖的流程。</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6:00 至 7:30]</a:t>
            </a:r>
          </a:p>
          <a:p>
            <a:pPr>
              <a:spcAft>
                <a:spcPts val="600"/>
              </a:spcAft>
            </a:pPr>
            <a:r>
              <a:rPr lang="en-US" dirty="0"/>
              <a:t>DIPSS 和 MIPSS70 預測的是不移植的存活，MTSS 則是專門給要移植的病人，適用 primary 和 post-ET/PV myelofibrosis。七個因子：血小板小於 150、白血球超過 25、Karnofsky 小於 90%、年紀 57 歲以上、非 CALR 或 MPL 的 driver genotype、ASXL1 突變，以及 HLA-mismatched unrelated donor。Genotype 和 mismatched donor 各 2 分，年紀在書上的表沒有印分數，上台前要核對。</a:t>
            </a:r>
          </a:p>
          <a:p>
            <a:pPr>
              <a:spcAft>
                <a:spcPts val="600"/>
              </a:spcAft>
            </a:pPr>
            <a:r>
              <a:rPr lang="en-US" dirty="0"/>
              <a:t>右邊是第 77 章的結果，low risk 5 年存活 90%、NRM 10%，very high 只剩 34%，NRM 高達 57%。第 11 章引用同一篇 Gagelmann 2019，但寫的是 83、64、37、22%，兩章數字不一樣，考試時看題目怎麼問，趨勢是一致的。</a:t>
            </a:r>
          </a:p>
          <a:p>
            <a:pPr>
              <a:spcAft>
                <a:spcPts val="600"/>
              </a:spcAft>
            </a:pPr>
            <a:r>
              <a:rPr lang="en-US" dirty="0"/>
              <a:t>臨床上 MTSS 最有用的地方是 donor 這一項是可以改變的，找得到 matched donor 就能少 2 分。</a:t>
            </a:r>
          </a:p>
          <a:p>
            <a:pPr>
              <a:spcAft>
                <a:spcPts val="600"/>
              </a:spcAft>
            </a:pPr>
            <a:r>
              <a:rPr lang="en-US" dirty="0"/>
              <a:t>所以一個 DIPSS high 的病人，如果 MTSS 也是 very high，NRM 可能超過一半，這時候就要很仔細地和病人討論移植的利弊；反過來 MTSS low 的病人，移植的 5 年存活可以到九成左右。疾病分數決定要不要移植，MTSS 幫忙估計移植要付出的代價。</a:t>
            </a:r>
          </a:p>
          <a:p>
            <a:pPr>
              <a:spcAft>
                <a:spcPts val="600"/>
              </a:spcAft>
            </a:pPr>
            <a:r>
              <a:rPr lang="en-US" b="1" dirty="0"/>
              <a:t>講者提醒（不念出來）：</a:t>
            </a:r>
          </a:p>
          <a:p>
            <a:pPr>
              <a:spcAft>
                <a:spcPts val="600"/>
              </a:spcAft>
            </a:pPr>
            <a:r>
              <a:rPr lang="en-US" dirty="0"/>
              <a:t>- TO CONFIRM BEFORE PRESENTING: Table 77.1 lists 'Age ≥ 57 years' without a point value; check Gagelmann 2019 (Blood 133:2233) for the age points.</a:t>
            </a:r>
          </a:p>
          <a:p>
            <a:pPr>
              <a:spcAft>
                <a:spcPts val="600"/>
              </a:spcAft>
            </a:pPr>
            <a:r>
              <a:rPr lang="en-US" dirty="0"/>
              <a:t>- Inconsistency inside the book: MTSS 5-y OS 90/77/50/34% (Table 77.1) vs 83/64/37/22% (Ch. 11, 11.1.4.2.5).</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7:30 至 9:00]</a:t>
            </a:r>
          </a:p>
          <a:p>
            <a:pPr>
              <a:spcAft>
                <a:spcPts val="600"/>
              </a:spcAft>
            </a:pPr>
            <a:r>
              <a:rPr lang="en-US" dirty="0"/>
              <a:t>這張整理移植本身的風險因子。最大的兩個是年紀和 HLA-mismatched donor，在 EBMT 的 BU/FLU RIC prospective study 都是存活變差的獨立因子。</a:t>
            </a:r>
          </a:p>
          <a:p>
            <a:pPr>
              <a:spcAft>
                <a:spcPts val="600"/>
              </a:spcAft>
            </a:pPr>
            <a:r>
              <a:rPr lang="en-US" dirty="0"/>
              <a:t>Donor 的影響有多大，看 MPD-RC 101。66 位病人用 MEL/FLU RIC，sibling donor 的 OS 75%，unrelated donor 只有 32%，差別來自 NRM，22% 對 59%。Haplo 加 PTCy 還在研究中，EBMT 資料的 5 年存活只有 38%。Cord blood 的 graft failure 很高。</a:t>
            </a:r>
          </a:p>
          <a:p>
            <a:pPr>
              <a:spcAft>
                <a:spcPts val="600"/>
              </a:spcAft>
            </a:pPr>
            <a:r>
              <a:rPr lang="en-US" dirty="0"/>
              <a:t>Conditioning 強度則沒有 prospective 比較，回溯性資料 MAC 和 RIC 結果相近。因為病人年紀偏大，RIC 占 EBMT 登錄的 myelofibrosis 移植大約三分之二。Accelerated phase 的移植結果和 chronic phase 差不多，blast phase 就明顯較差，所以別等到轉成 blast phase 才送。</a:t>
            </a:r>
          </a:p>
          <a:p>
            <a:pPr>
              <a:spcAft>
                <a:spcPts val="600"/>
              </a:spcAft>
            </a:pPr>
            <a:r>
              <a:rPr lang="en-US" dirty="0"/>
              <a:t>這些資料放在一起看，可以得到一個實用的順序，和書上 Figure 77.1 一致：先找 matched sibling，再找 matched unrelated，最後才是 mismatched unrelated、haplo 或 cord。Conditioning 則依年紀、疾病狀態和 comorbidity 選，強度本身不是決定結果的主要因素。</a:t>
            </a:r>
          </a:p>
          <a:p>
            <a:pPr>
              <a:spcAft>
                <a:spcPts val="600"/>
              </a:spcAft>
            </a:pPr>
            <a:r>
              <a:rPr lang="en-US" dirty="0"/>
              <a:t>EBMT 登錄裡 RIC 用得多，是因為毒性較低、病人年紀較大，不是因為療效比較好。</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9:00 至 10:30]</a:t>
            </a:r>
          </a:p>
          <a:p>
            <a:pPr>
              <a:spcAft>
                <a:spcPts val="600"/>
              </a:spcAft>
            </a:pPr>
            <a:r>
              <a:rPr lang="en-US" dirty="0"/>
              <a:t>脾臟腫大是 myelofibrosis 的特徵，會影響 engraftment 和移植後的 graft function，所以移植前要先處理症狀和脾臟。</a:t>
            </a:r>
          </a:p>
          <a:p>
            <a:pPr>
              <a:spcAft>
                <a:spcPts val="600"/>
              </a:spcAft>
            </a:pPr>
            <a:r>
              <a:rPr lang="en-US" dirty="0"/>
              <a:t>ELN 和 EBMT 建議移植前至少用 ruxolitinib 2 個月，改善 constitutional symptoms、縮小脾臟。反白的這一步最常考，conditioning 之前要小心慢慢減量，避免 rebound phenomenon，不能突然停。</a:t>
            </a:r>
          </a:p>
          <a:p>
            <a:pPr>
              <a:spcAft>
                <a:spcPts val="600"/>
              </a:spcAft>
            </a:pPr>
            <a:r>
              <a:rPr lang="en-US" dirty="0"/>
              <a:t>第二格是時機。EBMT 的資料顯示，在 ruxolitinib 還有反應時去移植，結果比拖到 ruxolitinib 失敗才移植好。所以 ruxolitinib 是移植的 bridge，不是用來延後移植的理由。</a:t>
            </a:r>
          </a:p>
          <a:p>
            <a:pPr>
              <a:spcAft>
                <a:spcPts val="600"/>
              </a:spcAft>
            </a:pPr>
            <a:r>
              <a:rPr lang="en-US" dirty="0"/>
              <a:t>脾臟非常大時可以考慮 splenectomy，脾臟放射則只有個案報告。書上的 Figure 77.1 也把 iron chelation 列為移植前的準備。</a:t>
            </a:r>
          </a:p>
          <a:p>
            <a:pPr>
              <a:spcAft>
                <a:spcPts val="600"/>
              </a:spcAft>
            </a:pPr>
            <a:r>
              <a:rPr lang="en-US" dirty="0"/>
              <a:t>突然停 ruxolitinib 會出現 rebound phenomenon，如果剛好發生在 conditioning 期間，病人的狀況會變差。所以要和移植團隊事先排好減量的時間表，讓停藥和 conditioning 銜接起來。</a:t>
            </a:r>
          </a:p>
          <a:p>
            <a:pPr>
              <a:spcAft>
                <a:spcPts val="600"/>
              </a:spcAft>
            </a:pPr>
            <a:r>
              <a:rPr lang="en-US" dirty="0"/>
              <a:t>Ruxolitinib 在這裡的角色是讓病人以比較好的狀態進入移植，症狀改善、脾臟縮小、體能變好，Karnofsky 也可能跟著改善，而 Karnofsky 本身就是 MTSS 的一項。</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10:30 至 12:00]</a:t>
            </a:r>
          </a:p>
          <a:p>
            <a:pPr>
              <a:spcAft>
                <a:spcPts val="600"/>
              </a:spcAft>
            </a:pPr>
            <a:r>
              <a:rPr lang="en-US" dirty="0"/>
              <a:t>移植後的追蹤靠 driver mutation。大約 90% 的 myelofibrosis 帶有 JAK2 V617F、CALR 或 MPL 其中一個，可以用高敏感度的 qPCR 或 digital PCR 在周邊血追 MRD。</a:t>
            </a:r>
          </a:p>
          <a:p>
            <a:pPr>
              <a:spcAft>
                <a:spcPts val="600"/>
              </a:spcAft>
            </a:pPr>
            <a:r>
              <a:rPr lang="en-US" dirty="0"/>
              <a:t>反白的是關鍵時間點。Hamburg 的單中心經驗發現，day 180 還沒達到 molecular remission 的病人，之後臨床復發明顯較多。因為有 graft-versus-myelofibrosis effect，分子或血液學復發時可以給 DLI，重新誘導 molecular remission。Figure 77.1 的做法是先停 calcineurin inhibitor，MRD 仍陽性再考慮 DLI。</a:t>
            </a:r>
          </a:p>
          <a:p>
            <a:pPr>
              <a:spcAft>
                <a:spcPts val="600"/>
              </a:spcAft>
            </a:pPr>
            <a:r>
              <a:rPr lang="en-US" dirty="0"/>
              <a:t>骨髓纖維化在移植後消退得很快，day 100 大約 60% 達到完全或接近完全消退，day 180 增加到 90%。纖維化消得越快，長期結果越好，這也說明 fibrosis 是一個動態的過程。</a:t>
            </a:r>
          </a:p>
          <a:p>
            <a:pPr>
              <a:spcAft>
                <a:spcPts val="600"/>
              </a:spcAft>
            </a:pPr>
            <a:r>
              <a:rPr lang="en-US" dirty="0"/>
              <a:t>實務上，移植前就要知道病人帶哪一個 driver，移植後才有 marker 可追。反過來算，大約一成的病人沒有這三個 marker 可以追。</a:t>
            </a:r>
          </a:p>
          <a:p>
            <a:pPr>
              <a:spcAft>
                <a:spcPts val="600"/>
              </a:spcAft>
            </a:pPr>
            <a:r>
              <a:rPr lang="en-US" dirty="0"/>
              <a:t>DLI 在 myelofibrosis 有效，本身就是 graft-versus-myelofibrosis effect 的證據。最早的報告是移植失敗後給 DLI 仍能誘導緩解。</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12:00 至 14:00]</a:t>
            </a:r>
          </a:p>
          <a:p>
            <a:pPr>
              <a:spcAft>
                <a:spcPts val="600"/>
              </a:spcAft>
            </a:pPr>
            <a:r>
              <a:rPr lang="en-US" dirty="0"/>
              <a:t>CML 的疾病預後分數有 Sokal、Hasford 和較新的 ELTS，這些是用來決定 TKI 治療策略的。要評估移植本身的風險，用的是 EBMT 的 Gratwohl score，最早就是為 CML 設計，後來才推廣到所有疾病。</a:t>
            </a:r>
          </a:p>
          <a:p>
            <a:pPr>
              <a:spcAft>
                <a:spcPts val="600"/>
              </a:spcAft>
            </a:pPr>
            <a:r>
              <a:rPr lang="en-US" dirty="0"/>
              <a:t>五個因子。年紀小於 20 歲 0 分，20 到 40 歲 1 分，超過 40 歲 2 分。Disease phase 是第一個 chronic phase 0 分，blast crisis 2 分，中間的 intermediate 1 分。診斷到移植小於 12 個月 0 分，超過 1 分。HLA-identical sibling 0 分，unrelated donor 1 分。最後是女性 donor 給男性病人 1 分。總分 0 到 7。</a:t>
            </a:r>
          </a:p>
          <a:p>
            <a:pPr>
              <a:spcAft>
                <a:spcPts val="600"/>
              </a:spcAft>
            </a:pPr>
            <a:r>
              <a:rPr lang="en-US" dirty="0"/>
              <a:t>看下面的數字，CML 0 分的 5 年 OS 76%，到 6 到 7 分只剩 14%，5 年 TRM 從 15% 升到 55%。這是第 11 章的表，資料來自 Gratwohl 2009。</a:t>
            </a:r>
          </a:p>
          <a:p>
            <a:pPr>
              <a:spcAft>
                <a:spcPts val="600"/>
              </a:spcAft>
            </a:pPr>
            <a:r>
              <a:rPr lang="en-US" dirty="0"/>
              <a:t>中間那格要注意。第 11 章的註腳把 CML 的 intermediate 寫成 accelerated 或 blastic 以外的狀態，原始文獻一般把 AP 歸在 intermediate，上台前要核對。考試若考 CML 的 Gratwohl score，最常見的陷阱是 female donor to male 和診斷到移植超過一年這兩項。</a:t>
            </a:r>
          </a:p>
          <a:p>
            <a:pPr>
              <a:spcAft>
                <a:spcPts val="600"/>
              </a:spcAft>
            </a:pPr>
            <a:r>
              <a:rPr lang="en-US" dirty="0"/>
              <a:t>這個分數的價值在於五個因子都在移植前就知道，可以在門診直接算給病人聽。第 11 章也提醒，所有這類模型的預測能力都有限，Gratwohl score 的預測值大約 0.63，所以它是討論的起點，不是唯一的決定依據。</a:t>
            </a:r>
          </a:p>
          <a:p>
            <a:pPr>
              <a:spcAft>
                <a:spcPts val="600"/>
              </a:spcAft>
            </a:pPr>
            <a:r>
              <a:rPr lang="en-US" b="1" dirty="0"/>
              <a:t>講者提醒（不念出來）：</a:t>
            </a:r>
          </a:p>
          <a:p>
            <a:pPr>
              <a:spcAft>
                <a:spcPts val="600"/>
              </a:spcAft>
            </a:pPr>
            <a:r>
              <a:rPr lang="en-US" dirty="0"/>
              <a:t>- TO CONFIRM BEFORE PRESENTING: Ch. 11 Table 11.2 footnote defines CML 'intermediate' as 'another status than accelerated phase or blastic phase' and 'late' as blast crisis, leaving AP unassigned; check Gratwohl 1998 for where AP scores (usually intermediate = 1).</a:t>
            </a:r>
          </a:p>
          <a:p>
            <a:pPr>
              <a:spcAft>
                <a:spcPts val="600"/>
              </a:spcAft>
            </a:pPr>
            <a:r>
              <a:rPr lang="en-US" dirty="0"/>
              <a:t>- Ch. 11 table header says 'Advanced' while its footnote says 'Late' for the 2-point stage.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14:00 至 15:00]</a:t>
            </a:r>
          </a:p>
          <a:p>
            <a:pPr>
              <a:spcAft>
                <a:spcPts val="600"/>
              </a:spcAft>
            </a:pPr>
            <a:r>
              <a:rPr lang="en-US" dirty="0"/>
              <a:t>左邊是 Gratwohl 1998 的原始曲線，3142 位在 1989 到 1996 年移植的病人。0 到 1 分的 5 年存活大約七成，5 到 7 分掉到一成多，分得很開。</a:t>
            </a:r>
          </a:p>
          <a:p>
            <a:pPr>
              <a:spcAft>
                <a:spcPts val="600"/>
              </a:spcAft>
            </a:pPr>
            <a:r>
              <a:rPr lang="en-US" dirty="0"/>
              <a:t>右邊是 EBMT CMWP 在 2011 到 2021 年的資料。每個分數組別的 5 年 OS 都進步了 11 到 41%，而且組別之間的差距縮小，2 分和 3 分幾乎重疊，現在可以合併成一組。</a:t>
            </a:r>
          </a:p>
          <a:p>
            <a:pPr>
              <a:spcAft>
                <a:spcPts val="600"/>
              </a:spcAft>
            </a:pPr>
            <a:r>
              <a:rPr lang="en-US" dirty="0"/>
              <a:t>解讀時要小心。1990 年代所有 CML 都以移植為首選，現在移植的病人多半是 TKI 失敗或已經進展，轉介原因從登錄資料看不清楚。書上這段的病人數，內文寫 3185 位，圖說寫 3497 位，兩者不一致，引用時寫大約三千多位即可。</a:t>
            </a:r>
          </a:p>
          <a:p>
            <a:pPr>
              <a:spcAft>
                <a:spcPts val="600"/>
              </a:spcAft>
            </a:pPr>
            <a:r>
              <a:rPr lang="en-US" dirty="0"/>
              <a:t>所以分數依然有用，但高分病人現在的結果比過去好得多。</a:t>
            </a:r>
          </a:p>
          <a:p>
            <a:pPr>
              <a:spcAft>
                <a:spcPts val="600"/>
              </a:spcAft>
            </a:pPr>
            <a:r>
              <a:rPr lang="en-US" b="1" dirty="0"/>
              <a:t>講者提醒（不念出來）：</a:t>
            </a:r>
          </a:p>
          <a:p>
            <a:pPr>
              <a:spcAft>
                <a:spcPts val="600"/>
              </a:spcAft>
            </a:pPr>
            <a:r>
              <a:rPr lang="en-US" dirty="0"/>
              <a:t>- Inconsistency inside the book: Section 77.2.2 says the 2011–2021 analysis included 3185 patients; the Fig. 77.2b legend says 3497.</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15:00 至 16:30]</a:t>
            </a:r>
          </a:p>
          <a:p>
            <a:pPr>
              <a:spcAft>
                <a:spcPts val="600"/>
              </a:spcAft>
            </a:pPr>
            <a:r>
              <a:rPr lang="en-US" dirty="0"/>
              <a:t>第一列是 IBMTR 1978 到 1982 年 138 位病人的結果，3 年存活 chronic phase 63%，accelerated phase 36%，blast crisis 只有 12%，CP 移植的復發率 7%。Disease phase 的影響幾十年來都沒有變。</a:t>
            </a:r>
          </a:p>
          <a:p>
            <a:pPr>
              <a:spcAft>
                <a:spcPts val="600"/>
              </a:spcAft>
            </a:pPr>
            <a:r>
              <a:rPr lang="en-US" dirty="0"/>
              <a:t>下面三列是 Table 77.2 挑出來的年份，是 TKI 帶來的副作用。2011 年 CML 的移植有 46% 在第一個 CP，到 2021 年只剩 37%，而 blast crisis 從 14% 增加到 33%。越來越多病人是在進展之後才被送來。</a:t>
            </a:r>
          </a:p>
          <a:p>
            <a:pPr>
              <a:spcAft>
                <a:spcPts val="600"/>
              </a:spcAft>
            </a:pPr>
            <a:r>
              <a:rPr lang="en-US" dirty="0"/>
              <a:t>EBMT 在第三代 TKI 時代的分析發現，移植前用過幾種 TKI 不影響結果，disease phase 和 performance status 才有影響。所以照顧 CML 的醫師要密切追蹤，一出現 molecular progression 就送移植，不要等到 AP、BC 或已經回到 CP2 才送。Blast crisis 的病人則要先用 TKI 或化療回到第二個 CP 再移植。</a:t>
            </a:r>
          </a:p>
          <a:p>
            <a:pPr>
              <a:spcAft>
                <a:spcPts val="600"/>
              </a:spcAft>
            </a:pPr>
            <a:r>
              <a:rPr lang="en-US" dirty="0"/>
              <a:t>這張表也解釋了為什麼現在 CML 移植的整體結果看起來沒有想像中好，因為進來的病人組成變差了。病人在 TKI 治療下出現 molecular progression，就是該轉介移植評估的訊號。</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16:30 至 18:00]</a:t>
            </a:r>
          </a:p>
          <a:p>
            <a:pPr>
              <a:spcAft>
                <a:spcPts val="600"/>
              </a:spcAft>
            </a:pPr>
            <a:r>
              <a:rPr lang="en-US" dirty="0"/>
              <a:t>TKI 出現之後，移植從 CML 的首選退到第二、第三甚至第四線。Imatinib 讓大約 60% 的病人長期控制良好，少數人甚至可以停藥。沒有達到長期控制的病人，大約一半可以在第二代、第三代 TKI 或 asciminib 重新取得緩解。</a:t>
            </a:r>
          </a:p>
          <a:p>
            <a:pPr>
              <a:spcAft>
                <a:spcPts val="600"/>
              </a:spcAft>
            </a:pPr>
            <a:r>
              <a:rPr lang="en-US" dirty="0"/>
              <a:t>第二代有 bosutinib、dasatinib、nilotinib，第一年的 complete cytogenetic remission 大約 80%，imatinib 是 65%，所以 dasatinib 和 nilotinib 已核准作為第一線。對 T315I 有效的只有 ponatinib 和作用在 ABL myristoyl pocket 的 STAMP inhibitor asciminib，這一點很常考。</a:t>
            </a:r>
          </a:p>
          <a:p>
            <a:pPr>
              <a:spcAft>
                <a:spcPts val="600"/>
              </a:spcAft>
            </a:pPr>
            <a:r>
              <a:rPr lang="en-US" dirty="0"/>
              <a:t>TKI 治不好 CML 的原因在 quiescent 的白血病幹細胞，它們不依賴 BCR-ABL signaling，TKI 打不到。RQ-PCR 在 3 個月和 6 個月看 BCR-ABL 下降速度，可以在第一年內找出日後需要移植的人。Autologous HCT 目前不建議，EBMT 每年只剩 0 到 1 例。</a:t>
            </a:r>
          </a:p>
          <a:p>
            <a:pPr>
              <a:spcAft>
                <a:spcPts val="600"/>
              </a:spcAft>
            </a:pPr>
            <a:r>
              <a:rPr lang="en-US" dirty="0"/>
              <a:t>這張表和移植的關係在最下面一列。BCR-ABL 在 3 個月、6 個月下降不夠快的病人，長期對 TKI 的反應通常不好，就可以在第一年內、還在 chronic phase 的時候，冷靜地規劃移植，而不是等到 blast crisis 再緊急送。</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18:00 至 19:30]</a:t>
            </a:r>
          </a:p>
          <a:p>
            <a:pPr>
              <a:spcAft>
                <a:spcPts val="600"/>
              </a:spcAft>
            </a:pPr>
            <a:r>
              <a:rPr lang="en-US" dirty="0"/>
              <a:t>這是第 77 章 key points 的移植適應症。Chronic phase 的病人在第三或第四線 TKI 失敗，或帶有 T315I 突變，建議移植。反白的就是這一格。</a:t>
            </a:r>
          </a:p>
          <a:p>
            <a:pPr>
              <a:spcAft>
                <a:spcPts val="600"/>
              </a:spcAft>
            </a:pPr>
            <a:r>
              <a:rPr lang="en-US" dirty="0"/>
              <a:t>在 TKI 治療中從 CP 進展到 AP，不移植的結果不好，要立刻找 donor、轉介移植中心，先用 TKI 重新取得反應再移植。Blast crisis 則先用第二或第三代 TKI 加 induction chemotherapy 減積，回到 CP 之後再移植。</a:t>
            </a:r>
          </a:p>
          <a:p>
            <a:pPr>
              <a:spcAft>
                <a:spcPts val="600"/>
              </a:spcAft>
            </a:pPr>
            <a:r>
              <a:rPr lang="en-US" dirty="0"/>
              <a:t>最右邊是灰色地帶。第一線用第二代 TKI 的病人失敗了，可以換另一個第二代、第三代或 asciminib，到底要馬上移植，還是等下一次失敗，書上說仍有爭議。所以選擇題如果出現第二線失敗，通常不會是唯一正確答案；T315I 或第三線以後失敗才是明確的移植適應症。AP 的處理要個別化，但不能拖。</a:t>
            </a:r>
          </a:p>
          <a:p>
            <a:pPr>
              <a:spcAft>
                <a:spcPts val="600"/>
              </a:spcAft>
            </a:pPr>
            <a:r>
              <a:rPr lang="en-US" dirty="0"/>
              <a:t>Blast crisis 的病人移植前一定要先回到 chronic phase，直接在 BC 移植的結果非常差。CP1 的移植結果比其他所有狀況都好，所以目標是讓需要移植的人在 CP1 就完成移植。</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19:30 至 21:30]</a:t>
            </a:r>
          </a:p>
          <a:p>
            <a:pPr>
              <a:spcAft>
                <a:spcPts val="600"/>
              </a:spcAft>
            </a:pPr>
            <a:r>
              <a:rPr lang="en-US" dirty="0"/>
              <a:t>CML 最好的 conditioning 和 GVHD prophylaxis 其實還沒有定論，書上的立場是這樣。MAC 用 CY 加 BU 或 CY 加 TBI，長期存活最好。RIC 是為了讓年紀大或有 comorbidity 的病人也能移植，但沒有比 MAC 好，主要是復發較多。所以老人或 comorbidity 多的人用 FLU 加 BU 或 MEL 的 RIC，其他人，尤其是 advanced phase，要用 MAC 把病控制好。</a:t>
            </a:r>
          </a:p>
          <a:p>
            <a:pPr>
              <a:spcAft>
                <a:spcPts val="600"/>
              </a:spcAft>
            </a:pPr>
            <a:r>
              <a:rPr lang="en-US" dirty="0"/>
              <a:t>Stem cell source 大約三分之二用 PBSC，整體結果沒有差別，BM 的 chronic GVHD 比較少也比較輕。在 advanced disease 或用 RIC 時，PBSC 可能可以降低 graft failure 和復發。</a:t>
            </a:r>
          </a:p>
          <a:p>
            <a:pPr>
              <a:spcAft>
                <a:spcPts val="600"/>
              </a:spcAft>
            </a:pPr>
            <a:r>
              <a:rPr lang="en-US" dirty="0"/>
              <a:t>GVHD prophylaxis 的標準仍是 CSA 加 short-course MTX。1980 年代用 T-cell depletion 降低 GVHD，但復發增加，很多中心就放棄了。</a:t>
            </a:r>
          </a:p>
          <a:p>
            <a:pPr>
              <a:spcAft>
                <a:spcPts val="600"/>
              </a:spcAft>
            </a:pPr>
            <a:r>
              <a:rPr lang="en-US" dirty="0"/>
              <a:t>PTCy 讓 haplo 和 mismatched unrelated donor 也可行。EBMT 的 CML 資料，haplo 的 OS 和 MUD 相近，RFS 稍低，但和 matched related 比沒有差。MUD 或 MMUD 用 PTCy 和傳統 CNI 加 MTX 相比，OS、RFS、復發和 NRM 都沒有差別。所以 donor 不是 matched sibling 時，PTCy 已經是可以接受的選擇，不必因為缺少 matched donor 而延後移植。</a:t>
            </a:r>
          </a:p>
          <a:p>
            <a:pPr>
              <a:spcAft>
                <a:spcPts val="600"/>
              </a:spcAft>
            </a:pPr>
            <a:r>
              <a:rPr lang="en-US" dirty="0"/>
              <a:t>在病房上的應用是這樣：一個年輕、CP 的 CML 病人，有 matched sibling，標準做法就是 MAC 加 CSA 和 MTX，不需要刻意選 RIC。年紀大、comorbidity 多，才改用 FLU 為主的 RIC，並且接受較高的復發風險，移植後更要密切追 BCR-ABL1。</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21:30 至 23:30]</a:t>
            </a:r>
          </a:p>
          <a:p>
            <a:pPr>
              <a:spcAft>
                <a:spcPts val="600"/>
              </a:spcAft>
            </a:pPr>
            <a:r>
              <a:rPr lang="en-US" dirty="0"/>
              <a:t>移植後 BCR-ABL1 要長期追蹤，因為有人超過 15 年才復發。Transcript 低或下降代表持續緩解，高或上升就預測復發。前 3 個月仍是 PCR 陽性很常見，尤其是 RIC 或 T-cell depletion，所以 molecular relapse 的定義只用在移植 4 個月以後。</a:t>
            </a:r>
          </a:p>
          <a:p>
            <a:pPr>
              <a:spcAft>
                <a:spcPts val="600"/>
              </a:spcAft>
            </a:pPr>
            <a:r>
              <a:rPr lang="en-US" dirty="0"/>
              <a:t>三條符合一條即可。BCR-ABL/ABL1 超過 0.02%，連續三次、每次至少間隔 4 週；或三次明顯上升，最後兩次超過 0.02%；或超過 0.05%，兩次、間隔至少 4 週。0.02 配三次，0.05 配兩次，這兩組數字不要搞混。</a:t>
            </a:r>
          </a:p>
          <a:p>
            <a:pPr>
              <a:spcAft>
                <a:spcPts val="600"/>
              </a:spcAft>
            </a:pPr>
            <a:r>
              <a:rPr lang="en-US" dirty="0"/>
              <a:t>CP 移植、CP 復發的病人，DLI 可以讓 60 到 90% 再緩解，逐步加量可以降低 GVHD。EBMT 328 位的 5 年存活 69%，DLI 相關死亡 11%，38% 出現某種 GVHD，有 GVHD 的人死亡風險高 2.3 倍。DLI 後 GVHD 的危險因子是第一次的 T-cell 劑量、移植到 DLI 的間隔和 donor 類型。</a:t>
            </a:r>
          </a:p>
          <a:p>
            <a:pPr>
              <a:spcAft>
                <a:spcPts val="600"/>
              </a:spcAft>
            </a:pPr>
            <a:r>
              <a:rPr lang="en-US" dirty="0"/>
              <a:t>TKI 和 DLI 可以合併，但先後順序還沒有定論。EBMT 431 位只有 42% 達到某種緩解，可能因為一半以上原本就在 advanced phase 移植。預防性 TKI maintenance 在 CIBMTR 資料沒有好處。</a:t>
            </a:r>
          </a:p>
          <a:p>
            <a:pPr>
              <a:spcAft>
                <a:spcPts val="600"/>
              </a:spcAft>
            </a:pPr>
            <a:r>
              <a:rPr lang="en-US" dirty="0"/>
              <a:t>逐步加量的概念來自 Mackinnon 1995，從低劑量開始，沒有反應再往上加，讓 graft-versus-leukaemia 和 GVHD 在一定程度上分開。</a:t>
            </a:r>
          </a:p>
          <a:p>
            <a:pPr>
              <a:spcAft>
                <a:spcPts val="600"/>
              </a:spcAft>
            </a:pPr>
            <a:r>
              <a:rPr lang="en-US" dirty="0"/>
              <a:t>這也是 CML 和其他疾病不同的地方，有一個敏感、可定量的 marker，可以在血液學復發前好幾個月就介入，DLI 的效果也最好。</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23:30 至 24:15]</a:t>
            </a:r>
          </a:p>
          <a:p>
            <a:pPr>
              <a:spcAft>
                <a:spcPts val="600"/>
              </a:spcAft>
            </a:pPr>
            <a:r>
              <a:rPr lang="en-US" dirty="0"/>
              <a:t>第一題是 myelofibrosis。58 歲男性，primary myelofibrosis，有夜間盜汗和體重減輕，Hb 92 g/L，白血球 30，周邊血 blast 0.5%，脾臟明顯腫大，有 matched sibling donor。哪一個計畫最符合 EBMT/ELN 的建議？</a:t>
            </a:r>
          </a:p>
          <a:p>
            <a:pPr>
              <a:spcAft>
                <a:spcPts val="600"/>
              </a:spcAft>
            </a:pPr>
            <a:r>
              <a:rPr lang="en-US" dirty="0"/>
              <a:t>先算 DIPSS，再想 ruxolitinib 要怎麼銜接移植。題目沒有給 driver mutation，只用 DIPSS 的五個臨床變數就夠了。</a:t>
            </a:r>
          </a:p>
          <a:p>
            <a:pPr>
              <a:spcAft>
                <a:spcPts val="600"/>
              </a:spcAft>
            </a:pPr>
            <a:r>
              <a:rPr lang="en-US" dirty="0"/>
              <a:t>A 是用到失敗才移植，B 是至少兩個月再慢慢減量後移植，C 是 conditioning 時突然停藥，D 是 intermediate-1 不移植，E 是 splenectomy 後做 autologous。</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24:15 至 25:15]</a:t>
            </a:r>
          </a:p>
          <a:p>
            <a:pPr>
              <a:spcAft>
                <a:spcPts val="600"/>
              </a:spcAft>
            </a:pPr>
            <a:r>
              <a:rPr lang="en-US" dirty="0"/>
              <a:t>答案是 B。年紀 58，0 分；constitutional symptoms 1 分；Hb 小於 100 在 DIPSS 是 2 分；白血球超過 25 是 1 分；blast 小於 1%，0 分。總共 4 分，intermediate-2，70 歲以下建議移植。選 D 的人用了 IPSS 的算法，忘了貧血在 DIPSS 是 2 分。</a:t>
            </a:r>
          </a:p>
          <a:p>
            <a:pPr>
              <a:spcAft>
                <a:spcPts val="600"/>
              </a:spcAft>
            </a:pPr>
            <a:r>
              <a:rPr lang="en-US" dirty="0"/>
              <a:t>A 是主要陷阱。Ruxolitinib 用來改善症狀、縮小脾臟，但資料顯示在還有反應時移植，比等失敗再移植好。C 錯在突然停藥，會有 rebound，要在 conditioning 前小心減量。</a:t>
            </a:r>
          </a:p>
          <a:p>
            <a:pPr>
              <a:spcAft>
                <a:spcPts val="600"/>
              </a:spcAft>
            </a:pPr>
            <a:r>
              <a:rPr lang="en-US" dirty="0"/>
              <a:t>E 也不對，myelofibrosis 只有 allo-HCT 能治癒，脾臟處理只是移植前的輔助。脾臟對 ruxolitinib 沒反應又非常大，才考慮 splenectomy 或脾臟放射。</a:t>
            </a:r>
          </a:p>
          <a:p>
            <a:pPr>
              <a:spcAft>
                <a:spcPts val="600"/>
              </a:spcAft>
            </a:pPr>
            <a:r>
              <a:rPr lang="en-US" dirty="0"/>
              <a:t>如果把題目的年紀改成 72 歲，DIPSS 一樣是 4 分，但已超過 70 歲的建議上限。</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25:15 至 26:00]</a:t>
            </a:r>
          </a:p>
          <a:p>
            <a:pPr>
              <a:spcAft>
                <a:spcPts val="600"/>
              </a:spcAft>
            </a:pPr>
            <a:r>
              <a:rPr lang="en-US" dirty="0"/>
              <a:t>第二題是 CML。38 歲男性，chronic phase，兩年前第一線用 dasatinib。現在 BCR-ABL1 上升，周邊血 blast 12%，驗到 T315I，歸類為 accelerated phase。可能找得到 10/10 matched unrelated donor。下一步最好的處置是什麼？</a:t>
            </a:r>
          </a:p>
          <a:p>
            <a:pPr>
              <a:spcAft>
                <a:spcPts val="600"/>
              </a:spcAft>
            </a:pPr>
            <a:r>
              <a:rPr lang="en-US" dirty="0"/>
              <a:t>這題要同時想兩件事，T315I 該用什麼藥，以及在治療中進展到 AP 的病人什麼時候移植。</a:t>
            </a:r>
          </a:p>
          <a:p>
            <a:pPr>
              <a:spcAft>
                <a:spcPts val="600"/>
              </a:spcAft>
            </a:pPr>
            <a:r>
              <a:rPr lang="en-US" dirty="0"/>
              <a:t>選項 A 換 nilotinib 再追三個月，B 加量 dasatinib 並延後 HLA typing，C 是 ponatinib 或 asciminib、現在就找 donor、取得新反應後移植，D 是直接移植不再用 TKI，E 是 autologous HCT。</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26:00 至 27:00]</a:t>
            </a:r>
          </a:p>
          <a:p>
            <a:pPr>
              <a:spcAft>
                <a:spcPts val="600"/>
              </a:spcAft>
            </a:pPr>
            <a:r>
              <a:rPr lang="en-US" dirty="0"/>
              <a:t>答案是 C。T315I 只有第三代的 ponatinib 和 STAMP inhibitor asciminib 有效，所以換 nilotinib 的 A 和加量 dasatinib 的 B 都不對，B 還延後了 HLA typing。</a:t>
            </a:r>
          </a:p>
          <a:p>
            <a:pPr>
              <a:spcAft>
                <a:spcPts val="600"/>
              </a:spcAft>
            </a:pPr>
            <a:r>
              <a:rPr lang="en-US" dirty="0"/>
              <a:t>主要陷阱是 D。T315I 和在 TKI 治療中從 CP 進展到 AP，都是移植適應症，但第 77 章的建議是立刻找 donor、轉介移植中心，同時用 TKI 重新取得反應，再進行移植。帶著活躍疾病直接移植，結果會比較差。E 的 autologous HCT 在 CML 已經不建議。</a:t>
            </a:r>
          </a:p>
          <a:p>
            <a:pPr>
              <a:spcAft>
                <a:spcPts val="600"/>
              </a:spcAft>
            </a:pPr>
            <a:r>
              <a:rPr lang="en-US" dirty="0"/>
              <a:t>Phase 才是決定移植結果的因素，前面用過幾種 TKI 反而不影響，所以重點是讓病人在進入 BC 之前完成移植。</a:t>
            </a:r>
          </a:p>
          <a:p>
            <a:pPr>
              <a:spcAft>
                <a:spcPts val="600"/>
              </a:spcAft>
            </a:pPr>
            <a:r>
              <a:rPr lang="en-US" dirty="0"/>
              <a:t>AP 的處理要個別化，但 donor search 和轉介要快，因為這類病人不移植的結果不好。</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27:00 至 27:45]</a:t>
            </a:r>
          </a:p>
          <a:p>
            <a:pPr>
              <a:spcAft>
                <a:spcPts val="600"/>
              </a:spcAft>
            </a:pPr>
            <a:r>
              <a:rPr lang="en-US" dirty="0"/>
              <a:t>第三題回到移植後。45 歲女性，CML 第一個 chronic phase，接受 sibling donor 的 MAC allo-HCT。免疫抑制劑已停，沒有 GVHD。第 5、6、7 個月的 BCR-ABL/ABL1 分別是 0.03%、0.04% 和 0.06%，骨髓 cytogenetics 正常。最適當的處置是什麼？</a:t>
            </a:r>
          </a:p>
          <a:p>
            <a:pPr>
              <a:spcAft>
                <a:spcPts val="600"/>
              </a:spcAft>
            </a:pPr>
            <a:r>
              <a:rPr lang="en-US" dirty="0"/>
              <a:t>注意幾個細節：移植已經超過 4 個月，三次檢體間隔各約 4 週，數值持續上升。選項 A 是第一年都觀察，B 是 molecular relapse、給逐步加量的 DLI，可以合併 TKI，C 是第二次移植，D 是一次給大劑量 DLI，E 是等 cytogenetic relapse 再處理。</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27:45 至 28:45]</a:t>
            </a:r>
          </a:p>
          <a:p>
            <a:pPr>
              <a:spcAft>
                <a:spcPts val="600"/>
              </a:spcAft>
            </a:pPr>
            <a:r>
              <a:rPr lang="en-US" dirty="0"/>
              <a:t>答案是 B。移植超過 4 個月，三次檢體、間隔至少 4 週，都超過 0.02%，而且持續上升，同時符合 (a) 和 (b)，就是 molecular relapse，最後一次 0.06% 也接近 (c) 的 0.05% 門檻。</a:t>
            </a:r>
          </a:p>
          <a:p>
            <a:pPr>
              <a:spcAft>
                <a:spcPts val="600"/>
              </a:spcAft>
            </a:pPr>
            <a:r>
              <a:rPr lang="en-US" dirty="0"/>
              <a:t>A 是主要陷阱。移植後 PCR 陽性只在前 3 個月左右算常見，不是第一年都可以觀察。E 等到 cytogenetic relapse 才處理，就錯過了疾病量最低、DLI 效果最好的時機。</a:t>
            </a:r>
          </a:p>
          <a:p>
            <a:pPr>
              <a:spcAft>
                <a:spcPts val="600"/>
              </a:spcAft>
            </a:pPr>
            <a:r>
              <a:rPr lang="en-US" dirty="0"/>
              <a:t>CP 復發的 DLI 有 60 到 90% 能再緩解。D 錯在一次給大劑量，逐步加量才能降低 GVHD，而 DLI 後的 GVHD 會讓死亡風險增加 2.3 倍。TKI 可以合併，順序沒有定論。</a:t>
            </a:r>
          </a:p>
          <a:p>
            <a:pPr>
              <a:spcAft>
                <a:spcPts val="600"/>
              </a:spcAft>
            </a:pPr>
            <a:r>
              <a:rPr lang="en-US" dirty="0"/>
              <a:t>如果移植後才 2 個月就看到 0.03%，那不符合定義，可以繼續追蹤。</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早期 MAC 的研究 NRM 大約三成，但已證明可以治癒。EBMT 的 BU/FLU RIC prospective study 收 103 位，1 年 NRM 16%，更新後 8 年 OS 65%，呈現穩定平台。MPD-RC 101 則顯示 unrelated donor 的 NRM 高達 59%。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這是書上的流程圖，把前面講的步驟串起來：移植前處理鐵沉積、症狀和脾臟，依序選 donor，依年紀、疾病狀態和 comorbidity 選 conditioning，移植後追分子 MRD，停 CNI 後仍陽性就考慮 DLI。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CML 是第一個靠移植治癒的白血病。T-cell depletion 會增加復發，但日內瓦用部分 TCD 加上逐步加量的 DLI，23 位 sibling 移植的 15 年 OS 達 95%，不過這是未發表資料。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rtlCol="0"/>
          <a:lstStyle>
            <a:lvl1pPr algn="l" indent="0" marL="0">
              <a:buNone/>
              <a:defRPr lang="en-US" sz="1200" spc="300" kern="0" dirty="0">
                <a:solidFill>
                  <a:schemeClr val="tx1"/>
                </a:solidFill>
              </a:defRPr>
            </a:lvl1pPr>
          </a:lstStyle>
          <a:p>
            <a:pPr algn="l" indent="0" marL="0">
              <a:buNone/>
            </a:pP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rtlCol="0"/>
          <a:lstStyle>
            <a:lvl1pPr algn="l" indent="0" marL="0">
              <a:buNone/>
              <a:defRPr lang="en-US" sz="2000" b="1" dirty="0">
                <a:solidFill>
                  <a:schemeClr val="tx1"/>
                </a:solidFill>
              </a:defRPr>
            </a:lvl1pPr>
          </a:lstStyle>
          <a:p>
            <a:pPr algn="l" indent="0" marL="0">
              <a:buNone/>
            </a:pP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rtlCol="0"/>
          <a:lstStyle>
            <a:lvl1pPr algn="l" indent="0" marL="0">
              <a:buNone/>
              <a:defRPr lang="en-US" sz="1400" dirty="0">
                <a:solidFill>
                  <a:schemeClr val="tx1"/>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1737360"/>
            <a:ext cx="10817352" cy="228600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4" name="Text 0"/>
          <p:cNvSpPr/>
          <p:nvPr>
            <p:ph idx="102" type="body" hasCustomPrompt="1"/>
          </p:nvPr>
        </p:nvSpPr>
        <p:spPr>
          <a:xfrm>
            <a:off x="685800" y="4297680"/>
            <a:ext cx="10817352" cy="82296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lIns="0" tIns="0" rIns="0" bIns="0" rtlCol="0" anchor="t"/>
          <a:lstStyle/>
          <a:p>
            <a:pPr algn="l" indent="0" marL="0">
              <a:buNone/>
            </a:pPr>
            <a:r>
              <a:rPr lang="en-US" sz="1200" spc="300" kern="0" dirty="0">
                <a:solidFill>
                  <a:schemeClr val="tx1"/>
                </a:solidFill>
              </a:rPr>
              <a:t>EBMT HANDBOOK BOARD REVIEW</a:t>
            </a: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lIns="0" tIns="0" rIns="0" bIns="0" rtlCol="0" anchor="t"/>
          <a:lstStyle/>
          <a:p>
            <a:pPr algn="l" indent="0" marL="0">
              <a:buNone/>
            </a:pPr>
            <a:r>
              <a:rPr lang="en-US" sz="4400" b="1" dirty="0">
                <a:solidFill>
                  <a:schemeClr val="tx1"/>
                </a:solidFill>
              </a:rPr>
              <a:t>HCT for myelofibrosis and CML</a:t>
            </a: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lIns="0" tIns="0" rIns="0" bIns="0" rtlCol="0" anchor="t"/>
          <a:lstStyle/>
          <a:p>
            <a:pPr algn="l" indent="0" marL="0">
              <a:buNone/>
            </a:pPr>
            <a:r>
              <a:rPr lang="en-US" sz="2000" dirty="0">
                <a:solidFill>
                  <a:schemeClr val="tx1"/>
                </a:solidFill>
              </a:rPr>
              <a:t>Session 24 · Ch. 77 (with Ch. 11)</a:t>
            </a: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lIns="0" tIns="0" rIns="0" bIns="0" rtlCol="0" anchor="t"/>
          <a:lstStyle/>
          <a:p>
            <a:pPr algn="l" indent="0" marL="0">
              <a:buNone/>
            </a:pPr>
            <a:r>
              <a:rPr lang="en-US" sz="2000" b="1" dirty="0">
                <a:solidFill>
                  <a:schemeClr val="tx1"/>
                </a:solidFill>
              </a:rPr>
              <a:t>Hsieh-Ting Lin, MD</a:t>
            </a: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lIns="0" tIns="0" rIns="0" bIns="0" rtlCol="0" anchor="t"/>
          <a:lstStyle/>
          <a:p>
            <a:pPr algn="l" indent="0" marL="0">
              <a:buNone/>
            </a:pPr>
            <a:r>
              <a:rPr lang="en-US" sz="1400" dirty="0">
                <a:solidFill>
                  <a:schemeClr val="tx1"/>
                </a:solidFill>
              </a:rPr>
              <a:t>Department of Medical Oncology, Koo Foundation Sun Yat-Sen Cancer Center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MPN · OUTLINE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Two curable-only-by-HCT diseases, two different timing problems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Kröger N, et al. EBMT Handbook 8th ed. 2024; Ch. 77</a:t>
            </a:r>
            <a:endParaRPr lang="en-US" sz="1000" dirty="0"/>
          </a:p>
        </p:txBody>
      </p:sp>
      <p:sp>
        <p:nvSpPr>
          <p:cNvPr id="6" name="Text 1"/>
          <p:cNvSpPr txBox="1"/>
          <p:nvPr/>
        </p:nvSpPr>
        <p:spPr>
          <a:xfrm>
            <a:off x="685800" y="25146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1</a:t>
            </a:r>
            <a:endParaRPr lang="en-US" sz="3200" dirty="0"/>
          </a:p>
        </p:txBody>
      </p:sp>
      <p:sp>
        <p:nvSpPr>
          <p:cNvPr id="7" name="Text 2"/>
          <p:cNvSpPr txBox="1"/>
          <p:nvPr/>
        </p:nvSpPr>
        <p:spPr>
          <a:xfrm>
            <a:off x="1463040" y="25603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Myelofibrosis</a:t>
            </a:r>
            <a:endParaRPr lang="en-US" sz="2000" dirty="0"/>
          </a:p>
        </p:txBody>
      </p:sp>
      <p:sp>
        <p:nvSpPr>
          <p:cNvPr id="8" name="Text 3"/>
          <p:cNvSpPr txBox="1"/>
          <p:nvPr/>
        </p:nvSpPr>
        <p:spPr>
          <a:xfrm>
            <a:off x="1463040" y="2953512"/>
            <a:ext cx="8412480" cy="320040"/>
          </a:xfrm>
          <a:prstGeom prst="rect">
            <a:avLst/>
          </a:prstGeom>
          <a:noFill/>
          <a:ln/>
        </p:spPr>
        <p:txBody>
          <a:bodyPr wrap="square" lIns="0" tIns="0" rIns="0" bIns="0" rtlCol="0" anchor="t"/>
          <a:lstStyle/>
          <a:p>
            <a:pPr indent="0" marL="0">
              <a:buNone/>
            </a:pPr>
            <a:r>
              <a:rPr lang="en-US" sz="1600" dirty="0">
                <a:solidFill>
                  <a:schemeClr val="tx1"/>
                </a:solidFill>
              </a:rPr>
              <a:t>IPSS/DIPSS, DIPSS-plus, MIPSS70, indication, MTSS, donor, ruxolitinib, MRD</a:t>
            </a:r>
            <a:endParaRPr lang="en-US" sz="1600" dirty="0"/>
          </a:p>
        </p:txBody>
      </p:sp>
      <p:sp>
        <p:nvSpPr>
          <p:cNvPr id="9" name="Text 4"/>
          <p:cNvSpPr txBox="1"/>
          <p:nvPr/>
        </p:nvSpPr>
        <p:spPr>
          <a:xfrm>
            <a:off x="10058400" y="26060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10.5 min</a:t>
            </a:r>
            <a:endParaRPr lang="en-US" sz="1200" dirty="0"/>
          </a:p>
        </p:txBody>
      </p:sp>
      <p:sp>
        <p:nvSpPr>
          <p:cNvPr id="10" name="Rule 5"/>
          <p:cNvSpPr/>
          <p:nvPr/>
        </p:nvSpPr>
        <p:spPr>
          <a:xfrm>
            <a:off x="685800" y="3328416"/>
            <a:ext cx="10817352" cy="0"/>
          </a:xfrm>
          <a:prstGeom prst="line">
            <a:avLst/>
          </a:prstGeom>
          <a:noFill/>
          <a:ln w="6350">
            <a:solidFill>
              <a:schemeClr val="tx1"/>
            </a:solidFill>
            <a:prstDash val="solid"/>
          </a:ln>
        </p:spPr>
      </p:sp>
      <p:sp>
        <p:nvSpPr>
          <p:cNvPr id="11" name="Text 6"/>
          <p:cNvSpPr txBox="1"/>
          <p:nvPr/>
        </p:nvSpPr>
        <p:spPr>
          <a:xfrm>
            <a:off x="685800" y="34290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2</a:t>
            </a:r>
            <a:endParaRPr lang="en-US" sz="3200" dirty="0"/>
          </a:p>
        </p:txBody>
      </p:sp>
      <p:sp>
        <p:nvSpPr>
          <p:cNvPr id="12" name="Text 7"/>
          <p:cNvSpPr txBox="1"/>
          <p:nvPr/>
        </p:nvSpPr>
        <p:spPr>
          <a:xfrm>
            <a:off x="1463040" y="34747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Chronic myeloid leukaemia</a:t>
            </a:r>
            <a:endParaRPr lang="en-US" sz="2000" dirty="0"/>
          </a:p>
        </p:txBody>
      </p:sp>
      <p:sp>
        <p:nvSpPr>
          <p:cNvPr id="13" name="Text 8"/>
          <p:cNvSpPr txBox="1"/>
          <p:nvPr/>
        </p:nvSpPr>
        <p:spPr>
          <a:xfrm>
            <a:off x="1463040" y="3867912"/>
            <a:ext cx="8412480" cy="320040"/>
          </a:xfrm>
          <a:prstGeom prst="rect">
            <a:avLst/>
          </a:prstGeom>
          <a:noFill/>
          <a:ln/>
        </p:spPr>
        <p:txBody>
          <a:bodyPr wrap="square" lIns="0" tIns="0" rIns="0" bIns="0" rtlCol="0" anchor="t"/>
          <a:lstStyle/>
          <a:p>
            <a:pPr indent="0" marL="0">
              <a:buNone/>
            </a:pPr>
            <a:r>
              <a:rPr lang="en-US" sz="1600" dirty="0">
                <a:solidFill>
                  <a:schemeClr val="tx1"/>
                </a:solidFill>
              </a:rPr>
              <a:t>EBMT score, phase, TKI failure, conditioning, BCR-ABL1 relapse and DLI</a:t>
            </a:r>
            <a:endParaRPr lang="en-US" sz="1600" dirty="0"/>
          </a:p>
        </p:txBody>
      </p:sp>
      <p:sp>
        <p:nvSpPr>
          <p:cNvPr id="14" name="Text 9"/>
          <p:cNvSpPr txBox="1"/>
          <p:nvPr/>
        </p:nvSpPr>
        <p:spPr>
          <a:xfrm>
            <a:off x="10058400" y="35204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11.5 min</a:t>
            </a:r>
            <a:endParaRPr lang="en-US" sz="1200" dirty="0"/>
          </a:p>
        </p:txBody>
      </p:sp>
      <p:sp>
        <p:nvSpPr>
          <p:cNvPr id="15" name="Rule 10"/>
          <p:cNvSpPr/>
          <p:nvPr/>
        </p:nvSpPr>
        <p:spPr>
          <a:xfrm>
            <a:off x="685800" y="4242816"/>
            <a:ext cx="10817352" cy="0"/>
          </a:xfrm>
          <a:prstGeom prst="line">
            <a:avLst/>
          </a:prstGeom>
          <a:noFill/>
          <a:ln w="6350">
            <a:solidFill>
              <a:schemeClr val="tx1"/>
            </a:solidFill>
            <a:prstDash val="solid"/>
          </a:ln>
        </p:spPr>
      </p:sp>
      <p:sp>
        <p:nvSpPr>
          <p:cNvPr id="16" name="Text 11"/>
          <p:cNvSpPr txBox="1"/>
          <p:nvPr/>
        </p:nvSpPr>
        <p:spPr>
          <a:xfrm>
            <a:off x="685800" y="43434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3</a:t>
            </a:r>
            <a:endParaRPr lang="en-US" sz="3200" dirty="0"/>
          </a:p>
        </p:txBody>
      </p:sp>
      <p:sp>
        <p:nvSpPr>
          <p:cNvPr id="17" name="Text 12"/>
          <p:cNvSpPr txBox="1"/>
          <p:nvPr/>
        </p:nvSpPr>
        <p:spPr>
          <a:xfrm>
            <a:off x="1463040" y="43891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Board questions</a:t>
            </a:r>
            <a:endParaRPr lang="en-US" sz="2000" dirty="0"/>
          </a:p>
        </p:txBody>
      </p:sp>
      <p:sp>
        <p:nvSpPr>
          <p:cNvPr id="18" name="Text 13"/>
          <p:cNvSpPr txBox="1"/>
          <p:nvPr/>
        </p:nvSpPr>
        <p:spPr>
          <a:xfrm>
            <a:off x="1463040" y="4782312"/>
            <a:ext cx="8412480" cy="320040"/>
          </a:xfrm>
          <a:prstGeom prst="rect">
            <a:avLst/>
          </a:prstGeom>
          <a:noFill/>
          <a:ln/>
        </p:spPr>
        <p:txBody>
          <a:bodyPr wrap="square" lIns="0" tIns="0" rIns="0" bIns="0" rtlCol="0" anchor="t"/>
          <a:lstStyle/>
          <a:p>
            <a:pPr indent="0" marL="0">
              <a:buNone/>
            </a:pPr>
            <a:r>
              <a:rPr lang="en-US" sz="1600" dirty="0">
                <a:solidFill>
                  <a:schemeClr val="tx1"/>
                </a:solidFill>
              </a:rPr>
              <a:t>DIPSS and ruxolitinib; T315I in AP; molecular relapse after HCT</a:t>
            </a:r>
            <a:endParaRPr lang="en-US" sz="1600" dirty="0"/>
          </a:p>
        </p:txBody>
      </p:sp>
      <p:sp>
        <p:nvSpPr>
          <p:cNvPr id="19" name="Text 14"/>
          <p:cNvSpPr txBox="1"/>
          <p:nvPr/>
        </p:nvSpPr>
        <p:spPr>
          <a:xfrm>
            <a:off x="10058400" y="44348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5.25 min</a:t>
            </a:r>
            <a:endParaRPr lang="en-US" sz="12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MYELOFIBROSIS · RISK SCORING</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DIPSS doubles the weight of anaemia in myelofibrosis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Kröger N, et al. EBMT Handbook 8th ed. 2024; Ch. 77</a:t>
            </a:r>
            <a:endParaRPr lang="en-US" sz="1000" dirty="0"/>
          </a:p>
        </p:txBody>
      </p:sp>
      <p:graphicFrame>
        <p:nvGraphicFramePr>
          <p:cNvPr id="4" name="Table 15"/>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4946904"/>
                <a:gridCol w="2935224"/>
                <a:gridCol w="2935224"/>
              </a:tblGrid>
              <a:tr h="0">
                <a:tc>
                  <a:txBody>
                    <a:bodyPr/>
                    <a:lstStyle/>
                    <a:p>
                      <a:pPr indent="0" marL="0">
                        <a:buNone/>
                      </a:pPr>
                      <a:r>
                        <a:rPr lang="en-US" sz="1600" b="1" dirty="0">
                          <a:solidFill>
                            <a:schemeClr val="tx1"/>
                          </a:solidFill>
                        </a:rPr>
                        <a:t>Adverse factor</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IPSS points</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DIPSS points</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Age &gt; 65 years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Constitutional symptoms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Hb &lt; 100 g/L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2</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WBC &gt; 25 × 10⁹/L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Peripheral blood blasts ≥ 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Low / Int-1: points (median OS)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0 (11.3 y) / 1 (7.9 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0 (NR) / 1–2 (14.2 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Intermediate-2: points (median OS)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2 (4 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3–4 (4 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High: points (median OS)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3–5 (2.3 y)</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5–6 (1.5 y)</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MYELOFIBROSIS · REFINED SCORES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DIPSS-plus adds karyotype and transfusion; MIPSS70 adds mutations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Kröger N, et al. EBMT Handbook 8th ed. 2024; Ch. 77</a:t>
            </a:r>
            <a:endParaRPr lang="en-US" sz="1000" dirty="0"/>
          </a:p>
        </p:txBody>
      </p:sp>
      <p:graphicFrame>
        <p:nvGraphicFramePr>
          <p:cNvPr id="5" name="Table 16"/>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5879592"/>
                <a:gridCol w="2468880"/>
                <a:gridCol w="2468880"/>
              </a:tblGrid>
              <a:tr h="0">
                <a:tc>
                  <a:txBody>
                    <a:bodyPr/>
                    <a:lstStyle/>
                    <a:p>
                      <a:pPr indent="0" marL="0">
                        <a:buNone/>
                      </a:pPr>
                      <a:r>
                        <a:rPr lang="en-US" sz="1500" b="1" dirty="0">
                          <a:solidFill>
                            <a:schemeClr val="tx1"/>
                          </a:solidFill>
                        </a:rPr>
                        <a:t>Adverse factor</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DIPSS-plus</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MIPSS70</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DIPSS category: Int-1 / Int-2 / high</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1 / 2 / 3</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Platelets &lt; 100 × 10⁹/L</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1</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2</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Transfusion requirement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1</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Unfavourable karyotype (a)</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1</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WBC &gt; 25 × 10⁹/L; Hb &lt; 100 g/L; symptoms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(in DIPSS)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2; 1; 1</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Marrow fibrosis ≥ grade 2; PB blasts ≥ 2%</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1; 1</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CALR type 1 [verify: scored when absent]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1</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High-molecular-risk mutations: 1 / ≥ 2 (b)</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1 / 2</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17"/>
          <p:cNvSpPr txBox="1"/>
          <p:nvPr/>
        </p:nvSpPr>
        <p:spPr>
          <a:xfrm>
            <a:off x="685800" y="544068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Median survival. DIPSS-plus: low 15.4, int-1 6.5, int-2 2.9, high 1.3 y. MIPSS70: low 27.7, int 7.1, high 2.3 y.</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MYELOFIBROSIS · INDICATION</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EBMT/ELN offers allo-HCT when expected survival is under five years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Kröger N, et al. EBMT Handbook 8th ed. 2024; Ch. 77</a:t>
            </a:r>
            <a:endParaRPr lang="en-US" sz="1000" dirty="0"/>
          </a:p>
        </p:txBody>
      </p:sp>
      <p:sp>
        <p:nvSpPr>
          <p:cNvPr id="6" name="Box 18"/>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Primary or post-ET/PV myelofibrosis, age &lt; 70</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1900809" y="3063240"/>
            <a:ext cx="8387334" cy="0"/>
          </a:xfrm>
          <a:prstGeom prst="line">
            <a:avLst/>
          </a:prstGeom>
          <a:noFill/>
          <a:ln w="15875">
            <a:solidFill>
              <a:schemeClr val="tx1"/>
            </a:solidFill>
            <a:prstDash val="solid"/>
          </a:ln>
        </p:spPr>
      </p:sp>
      <p:sp>
        <p:nvSpPr>
          <p:cNvPr id="9" name="Shape 6"/>
          <p:cNvSpPr/>
          <p:nvPr/>
        </p:nvSpPr>
        <p:spPr>
          <a:xfrm>
            <a:off x="1900809" y="3063240"/>
            <a:ext cx="0" cy="576072"/>
          </a:xfrm>
          <a:prstGeom prst="line">
            <a:avLst/>
          </a:prstGeom>
          <a:noFill/>
          <a:ln w="15875">
            <a:solidFill>
              <a:schemeClr val="tx1"/>
            </a:solidFill>
            <a:prstDash val="solid"/>
            <a:tailEnd type="triangle"/>
          </a:ln>
        </p:spPr>
      </p:sp>
      <p:sp>
        <p:nvSpPr>
          <p:cNvPr id="10" name="Text 19"/>
          <p:cNvSpPr txBox="1"/>
          <p:nvPr/>
        </p:nvSpPr>
        <p:spPr>
          <a:xfrm>
            <a:off x="685800"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DIPSS int-2 / high</a:t>
            </a:r>
            <a:endParaRPr lang="en-US" sz="1400" dirty="0"/>
          </a:p>
        </p:txBody>
      </p:sp>
      <p:sp>
        <p:nvSpPr>
          <p:cNvPr id="11" name="Box 20"/>
          <p:cNvSpPr txBox="1"/>
          <p:nvPr/>
        </p:nvSpPr>
        <p:spPr>
          <a:xfrm>
            <a:off x="685800" y="3657600"/>
            <a:ext cx="2430018"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500" b="1" dirty="0">
                <a:solidFill>
                  <a:schemeClr val="bg1"/>
                </a:solidFill>
              </a:rPr>
              <a:t>Median survival &lt; 5 years</a:t>
            </a:r>
            <a:endParaRPr lang="en-US" sz="1500" dirty="0"/>
          </a:p>
        </p:txBody>
      </p:sp>
      <p:sp>
        <p:nvSpPr>
          <p:cNvPr id="12" name="Shape 9"/>
          <p:cNvSpPr/>
          <p:nvPr/>
        </p:nvSpPr>
        <p:spPr>
          <a:xfrm>
            <a:off x="1900809" y="4480560"/>
            <a:ext cx="0" cy="256032"/>
          </a:xfrm>
          <a:prstGeom prst="line">
            <a:avLst/>
          </a:prstGeom>
          <a:noFill/>
          <a:ln w="15875">
            <a:solidFill>
              <a:schemeClr val="tx1"/>
            </a:solidFill>
            <a:prstDash val="solid"/>
            <a:tailEnd type="triangle"/>
          </a:ln>
        </p:spPr>
      </p:sp>
      <p:sp>
        <p:nvSpPr>
          <p:cNvPr id="13" name="Box 21"/>
          <p:cNvSpPr txBox="1"/>
          <p:nvPr/>
        </p:nvSpPr>
        <p:spPr>
          <a:xfrm>
            <a:off x="685800"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Recommend allo-HCT</a:t>
            </a:r>
            <a:endParaRPr lang="en-US" sz="1400" dirty="0"/>
          </a:p>
        </p:txBody>
      </p:sp>
      <p:sp>
        <p:nvSpPr>
          <p:cNvPr id="14" name="Shape 11"/>
          <p:cNvSpPr/>
          <p:nvPr/>
        </p:nvSpPr>
        <p:spPr>
          <a:xfrm>
            <a:off x="4696587" y="3063240"/>
            <a:ext cx="0" cy="576072"/>
          </a:xfrm>
          <a:prstGeom prst="line">
            <a:avLst/>
          </a:prstGeom>
          <a:noFill/>
          <a:ln w="15875">
            <a:solidFill>
              <a:schemeClr val="tx1"/>
            </a:solidFill>
            <a:prstDash val="solid"/>
            <a:tailEnd type="triangle"/>
          </a:ln>
        </p:spPr>
      </p:sp>
      <p:sp>
        <p:nvSpPr>
          <p:cNvPr id="15" name="Text 22"/>
          <p:cNvSpPr txBox="1"/>
          <p:nvPr/>
        </p:nvSpPr>
        <p:spPr>
          <a:xfrm>
            <a:off x="3481578"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DIPSS int-1</a:t>
            </a:r>
            <a:endParaRPr lang="en-US" sz="1400" dirty="0"/>
          </a:p>
        </p:txBody>
      </p:sp>
      <p:sp>
        <p:nvSpPr>
          <p:cNvPr id="16" name="Box 23"/>
          <p:cNvSpPr txBox="1"/>
          <p:nvPr/>
        </p:nvSpPr>
        <p:spPr>
          <a:xfrm>
            <a:off x="3481578"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ASXL1 mutation or &gt; 2% PB blasts</a:t>
            </a:r>
            <a:endParaRPr lang="en-US" sz="1500" dirty="0"/>
          </a:p>
        </p:txBody>
      </p:sp>
      <p:sp>
        <p:nvSpPr>
          <p:cNvPr id="17" name="Shape 14"/>
          <p:cNvSpPr/>
          <p:nvPr/>
        </p:nvSpPr>
        <p:spPr>
          <a:xfrm>
            <a:off x="4696587" y="4480560"/>
            <a:ext cx="0" cy="256032"/>
          </a:xfrm>
          <a:prstGeom prst="line">
            <a:avLst/>
          </a:prstGeom>
          <a:noFill/>
          <a:ln w="15875">
            <a:solidFill>
              <a:schemeClr val="tx1"/>
            </a:solidFill>
            <a:prstDash val="solid"/>
            <a:tailEnd type="triangle"/>
          </a:ln>
        </p:spPr>
      </p:sp>
      <p:sp>
        <p:nvSpPr>
          <p:cNvPr id="18" name="Box 24"/>
          <p:cNvSpPr txBox="1"/>
          <p:nvPr/>
        </p:nvSpPr>
        <p:spPr>
          <a:xfrm>
            <a:off x="3481578"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Consider allo-HCT</a:t>
            </a:r>
            <a:endParaRPr lang="en-US" sz="1400" dirty="0"/>
          </a:p>
        </p:txBody>
      </p:sp>
      <p:sp>
        <p:nvSpPr>
          <p:cNvPr id="19" name="Shape 16"/>
          <p:cNvSpPr/>
          <p:nvPr/>
        </p:nvSpPr>
        <p:spPr>
          <a:xfrm>
            <a:off x="7492365" y="3063240"/>
            <a:ext cx="0" cy="576072"/>
          </a:xfrm>
          <a:prstGeom prst="line">
            <a:avLst/>
          </a:prstGeom>
          <a:noFill/>
          <a:ln w="15875">
            <a:solidFill>
              <a:schemeClr val="tx1"/>
            </a:solidFill>
            <a:prstDash val="solid"/>
            <a:tailEnd type="triangle"/>
          </a:ln>
        </p:spPr>
      </p:sp>
      <p:sp>
        <p:nvSpPr>
          <p:cNvPr id="20" name="Text 25"/>
          <p:cNvSpPr txBox="1"/>
          <p:nvPr/>
        </p:nvSpPr>
        <p:spPr>
          <a:xfrm>
            <a:off x="6277356"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DIPSS int-1</a:t>
            </a:r>
            <a:endParaRPr lang="en-US" sz="1400" dirty="0"/>
          </a:p>
        </p:txBody>
      </p:sp>
      <p:sp>
        <p:nvSpPr>
          <p:cNvPr id="21" name="Box 26"/>
          <p:cNvSpPr txBox="1"/>
          <p:nvPr/>
        </p:nvSpPr>
        <p:spPr>
          <a:xfrm>
            <a:off x="6277356"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Refractory TD anaemia or bad karyotype</a:t>
            </a:r>
            <a:endParaRPr lang="en-US" sz="1500" dirty="0"/>
          </a:p>
        </p:txBody>
      </p:sp>
      <p:sp>
        <p:nvSpPr>
          <p:cNvPr id="22" name="Shape 19"/>
          <p:cNvSpPr/>
          <p:nvPr/>
        </p:nvSpPr>
        <p:spPr>
          <a:xfrm>
            <a:off x="7492365" y="4480560"/>
            <a:ext cx="0" cy="256032"/>
          </a:xfrm>
          <a:prstGeom prst="line">
            <a:avLst/>
          </a:prstGeom>
          <a:noFill/>
          <a:ln w="15875">
            <a:solidFill>
              <a:schemeClr val="tx1"/>
            </a:solidFill>
            <a:prstDash val="solid"/>
            <a:tailEnd type="triangle"/>
          </a:ln>
        </p:spPr>
      </p:sp>
      <p:sp>
        <p:nvSpPr>
          <p:cNvPr id="23" name="Box 27"/>
          <p:cNvSpPr txBox="1"/>
          <p:nvPr/>
        </p:nvSpPr>
        <p:spPr>
          <a:xfrm>
            <a:off x="6277356"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Consider allo-HCT</a:t>
            </a:r>
            <a:endParaRPr lang="en-US" sz="1400" dirty="0"/>
          </a:p>
        </p:txBody>
      </p:sp>
      <p:sp>
        <p:nvSpPr>
          <p:cNvPr id="24" name="Shape 21"/>
          <p:cNvSpPr/>
          <p:nvPr/>
        </p:nvSpPr>
        <p:spPr>
          <a:xfrm>
            <a:off x="10288143" y="3063240"/>
            <a:ext cx="0" cy="576072"/>
          </a:xfrm>
          <a:prstGeom prst="line">
            <a:avLst/>
          </a:prstGeom>
          <a:noFill/>
          <a:ln w="15875">
            <a:solidFill>
              <a:schemeClr val="tx1"/>
            </a:solidFill>
            <a:prstDash val="solid"/>
            <a:tailEnd type="triangle"/>
          </a:ln>
        </p:spPr>
      </p:sp>
      <p:sp>
        <p:nvSpPr>
          <p:cNvPr id="25" name="Text 28"/>
          <p:cNvSpPr txBox="1"/>
          <p:nvPr/>
        </p:nvSpPr>
        <p:spPr>
          <a:xfrm>
            <a:off x="9073134"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DIPSS low</a:t>
            </a:r>
            <a:endParaRPr lang="en-US" sz="1400" dirty="0"/>
          </a:p>
        </p:txBody>
      </p:sp>
      <p:sp>
        <p:nvSpPr>
          <p:cNvPr id="26" name="Box 29"/>
          <p:cNvSpPr txBox="1"/>
          <p:nvPr/>
        </p:nvSpPr>
        <p:spPr>
          <a:xfrm>
            <a:off x="9073134"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No high-risk features</a:t>
            </a:r>
            <a:endParaRPr lang="en-US" sz="1500" dirty="0"/>
          </a:p>
        </p:txBody>
      </p:sp>
      <p:sp>
        <p:nvSpPr>
          <p:cNvPr id="27" name="Shape 24"/>
          <p:cNvSpPr/>
          <p:nvPr/>
        </p:nvSpPr>
        <p:spPr>
          <a:xfrm>
            <a:off x="10288143" y="4480560"/>
            <a:ext cx="0" cy="256032"/>
          </a:xfrm>
          <a:prstGeom prst="line">
            <a:avLst/>
          </a:prstGeom>
          <a:noFill/>
          <a:ln w="15875">
            <a:solidFill>
              <a:schemeClr val="tx1"/>
            </a:solidFill>
            <a:prstDash val="solid"/>
            <a:tailEnd type="triangle"/>
          </a:ln>
        </p:spPr>
      </p:sp>
      <p:sp>
        <p:nvSpPr>
          <p:cNvPr id="28" name="Box 30"/>
          <p:cNvSpPr txBox="1"/>
          <p:nvPr/>
        </p:nvSpPr>
        <p:spPr>
          <a:xfrm>
            <a:off x="9073134"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No indication (speaker's summary)</a:t>
            </a:r>
            <a:endParaRPr lang="en-US" sz="14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MYELOFIBROSIS · TRANSPLANT-SPECIFIC SCORE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MTSS combines genotype, blood counts, age and donor to predict NRM</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Kröger N, et al. EBMT Handbook 8th ed. 2024; Ch. 77 · Barba P, et al. Ch. 11</a:t>
            </a:r>
            <a:endParaRPr lang="en-US" sz="1000" dirty="0"/>
          </a:p>
        </p:txBody>
      </p:sp>
      <p:graphicFrame>
        <p:nvGraphicFramePr>
          <p:cNvPr id="7" name="Table 31"/>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4215384"/>
                <a:gridCol w="1645920"/>
                <a:gridCol w="2752344"/>
                <a:gridCol w="2203704"/>
              </a:tblGrid>
              <a:tr h="0">
                <a:tc>
                  <a:txBody>
                    <a:bodyPr/>
                    <a:lstStyle/>
                    <a:p>
                      <a:pPr indent="0" marL="0">
                        <a:buNone/>
                      </a:pPr>
                      <a:r>
                        <a:rPr lang="en-US" sz="1600" b="1" dirty="0">
                          <a:solidFill>
                            <a:schemeClr val="tx1"/>
                          </a:solidFill>
                        </a:rPr>
                        <a:t>MTSS factor</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Points</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Risk group (score)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5-y OS / NRM</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Platelets &lt; 150 × 10⁹/L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Low (0–2)</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90% / 10%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WBC &gt; 25 × 10⁹/L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Intermediate (3–4)</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77% / 22%</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Karnofsky &lt; 90%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High (5)</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50% / 36%</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Age ≥ 57 years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[verify: 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Very high (≥ 6)</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34% / 57%</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Non-CALR/MPL driver genotype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2</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ASXL1 mutation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HLA-mismatched unrelated donor</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2</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32"/>
          <p:cNvSpPr txBox="1"/>
          <p:nvPr/>
        </p:nvSpPr>
        <p:spPr>
          <a:xfrm>
            <a:off x="685800" y="544068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OS/NRM from Table 77.1. Ch. 11 quotes 5-y survival of 83 / 64 / 37 / 22% for the same four groups.</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MYELOFIBROSIS · DONOR AND CONDITIONING</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Donor type and age, not conditioning intensity, drive MF outcome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Kröger N, et al. EBMT Handbook 8th ed. 2024; Ch. 77</a:t>
            </a:r>
            <a:endParaRPr lang="en-US" sz="1000" dirty="0"/>
          </a:p>
        </p:txBody>
      </p:sp>
      <p:graphicFrame>
        <p:nvGraphicFramePr>
          <p:cNvPr id="8" name="Table 33"/>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4946904"/>
                <a:gridCol w="5870448"/>
              </a:tblGrid>
              <a:tr h="0">
                <a:tc>
                  <a:txBody>
                    <a:bodyPr/>
                    <a:lstStyle/>
                    <a:p>
                      <a:pPr indent="0" marL="0">
                        <a:buNone/>
                      </a:pPr>
                      <a:r>
                        <a:rPr lang="en-US" sz="1700" b="1" dirty="0">
                          <a:solidFill>
                            <a:schemeClr val="tx1"/>
                          </a:solidFill>
                        </a:rPr>
                        <a:t>Factor</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Chapter data</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Sibling vs unrelated (MPD-RC 101, MEL/FLU)</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OS 75% vs 32%; NRM 22% vs 59%</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HLA-mismatched donor; older age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Independent predictors of worse survival (EBMT RIC)</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Haploidentical with PTCy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Under study; EBMT 5-y survival only 38%</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Cord blood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High risk of graft failure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MAC vs RIC</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Similar outcome (retrospective); RIC ≈ two-thirds in EBMT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Disease phase</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Accelerated ≈ chronic phase; blast phase worse</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34"/>
          <p:cNvSpPr txBox="1"/>
          <p:nvPr/>
        </p:nvSpPr>
        <p:spPr>
          <a:xfrm>
            <a:off x="685800" y="512064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Donor priority in Fig. 77.1: MSD &gt; MUD &gt; MMUD / haplo / cord</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MYELOFIBROSIS · BEFORE TRANSPLANT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Ruxolitinib prepares the patient, then is tapered before conditioning</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Kröger N, et al. EBMT Handbook 8th ed. 2024; Ch. 77</a:t>
            </a:r>
            <a:endParaRPr lang="en-US" sz="1000" dirty="0"/>
          </a:p>
        </p:txBody>
      </p:sp>
      <p:sp>
        <p:nvSpPr>
          <p:cNvPr id="6" name="Box 35"/>
          <p:cNvSpPr txBox="1"/>
          <p:nvPr/>
        </p:nvSpPr>
        <p:spPr>
          <a:xfrm>
            <a:off x="685800"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Ruxolitinib ≥ 2 months: symptoms and spleen</a:t>
            </a:r>
            <a:endParaRPr lang="en-US" sz="1700" dirty="0"/>
          </a:p>
        </p:txBody>
      </p:sp>
      <p:sp>
        <p:nvSpPr>
          <p:cNvPr id="7" name="Shape 4"/>
          <p:cNvSpPr/>
          <p:nvPr/>
        </p:nvSpPr>
        <p:spPr>
          <a:xfrm>
            <a:off x="3067812" y="3474720"/>
            <a:ext cx="393192" cy="0"/>
          </a:xfrm>
          <a:prstGeom prst="line">
            <a:avLst/>
          </a:prstGeom>
          <a:noFill/>
          <a:ln w="15875">
            <a:solidFill>
              <a:schemeClr val="tx1"/>
            </a:solidFill>
            <a:prstDash val="solid"/>
            <a:tailEnd type="triangle"/>
          </a:ln>
        </p:spPr>
      </p:sp>
      <p:sp>
        <p:nvSpPr>
          <p:cNvPr id="8" name="Box 36"/>
          <p:cNvSpPr txBox="1"/>
          <p:nvPr/>
        </p:nvSpPr>
        <p:spPr>
          <a:xfrm>
            <a:off x="3515868"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Transplant while still responding</a:t>
            </a:r>
            <a:endParaRPr lang="en-US" sz="1700" dirty="0"/>
          </a:p>
        </p:txBody>
      </p:sp>
      <p:sp>
        <p:nvSpPr>
          <p:cNvPr id="9" name="Shape 6"/>
          <p:cNvSpPr/>
          <p:nvPr/>
        </p:nvSpPr>
        <p:spPr>
          <a:xfrm>
            <a:off x="5897880" y="3474720"/>
            <a:ext cx="393192" cy="0"/>
          </a:xfrm>
          <a:prstGeom prst="line">
            <a:avLst/>
          </a:prstGeom>
          <a:noFill/>
          <a:ln w="15875">
            <a:solidFill>
              <a:schemeClr val="tx1"/>
            </a:solidFill>
            <a:prstDash val="solid"/>
            <a:tailEnd type="triangle"/>
          </a:ln>
        </p:spPr>
      </p:sp>
      <p:sp>
        <p:nvSpPr>
          <p:cNvPr id="10" name="Box 37"/>
          <p:cNvSpPr txBox="1"/>
          <p:nvPr/>
        </p:nvSpPr>
        <p:spPr>
          <a:xfrm>
            <a:off x="6345936" y="2606040"/>
            <a:ext cx="2327148"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700" dirty="0">
                <a:solidFill>
                  <a:schemeClr val="bg1"/>
                </a:solidFill>
              </a:rPr>
              <a:t>Careful taper before conditioning</a:t>
            </a:r>
            <a:endParaRPr lang="en-US" sz="1700" dirty="0"/>
          </a:p>
        </p:txBody>
      </p:sp>
      <p:sp>
        <p:nvSpPr>
          <p:cNvPr id="11" name="Shape 8"/>
          <p:cNvSpPr/>
          <p:nvPr/>
        </p:nvSpPr>
        <p:spPr>
          <a:xfrm>
            <a:off x="8727948" y="3474720"/>
            <a:ext cx="393192" cy="0"/>
          </a:xfrm>
          <a:prstGeom prst="line">
            <a:avLst/>
          </a:prstGeom>
          <a:noFill/>
          <a:ln w="15875">
            <a:solidFill>
              <a:schemeClr val="tx1"/>
            </a:solidFill>
            <a:prstDash val="solid"/>
            <a:tailEnd type="triangle"/>
          </a:ln>
        </p:spPr>
      </p:sp>
      <p:sp>
        <p:nvSpPr>
          <p:cNvPr id="12" name="Box 38"/>
          <p:cNvSpPr txBox="1"/>
          <p:nvPr/>
        </p:nvSpPr>
        <p:spPr>
          <a:xfrm>
            <a:off x="9176004"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Conditioning and stem cell infusion</a:t>
            </a:r>
            <a:endParaRPr lang="en-US" sz="1700" dirty="0"/>
          </a:p>
        </p:txBody>
      </p:sp>
      <p:sp>
        <p:nvSpPr>
          <p:cNvPr id="13" name="Text 39"/>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Very large spleen: splenectomy, or splenic irradiation (single cases). Fig. 77.1 also lists iron chelation before HCT.</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MYELOFIBROSIS · AFTER TRANSPLANT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Driver-mutation MRD after HCT guides donor lymphocyte infusion</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Kröger N, et al. EBMT Handbook 8th ed. 2024; Ch. 77</a:t>
            </a:r>
            <a:endParaRPr lang="en-US" sz="1000" dirty="0"/>
          </a:p>
        </p:txBody>
      </p:sp>
      <p:sp>
        <p:nvSpPr>
          <p:cNvPr id="6" name="Box 40"/>
          <p:cNvSpPr txBox="1"/>
          <p:nvPr/>
        </p:nvSpPr>
        <p:spPr>
          <a:xfrm>
            <a:off x="685800"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~90% carry JAK2 V617F, CALR or MPL</a:t>
            </a:r>
            <a:endParaRPr lang="en-US" sz="1700" dirty="0"/>
          </a:p>
        </p:txBody>
      </p:sp>
      <p:sp>
        <p:nvSpPr>
          <p:cNvPr id="7" name="Shape 4"/>
          <p:cNvSpPr/>
          <p:nvPr/>
        </p:nvSpPr>
        <p:spPr>
          <a:xfrm>
            <a:off x="3067812" y="3474720"/>
            <a:ext cx="393192" cy="0"/>
          </a:xfrm>
          <a:prstGeom prst="line">
            <a:avLst/>
          </a:prstGeom>
          <a:noFill/>
          <a:ln w="15875">
            <a:solidFill>
              <a:schemeClr val="tx1"/>
            </a:solidFill>
            <a:prstDash val="solid"/>
            <a:tailEnd type="triangle"/>
          </a:ln>
        </p:spPr>
      </p:sp>
      <p:sp>
        <p:nvSpPr>
          <p:cNvPr id="8" name="Box 41"/>
          <p:cNvSpPr txBox="1"/>
          <p:nvPr/>
        </p:nvSpPr>
        <p:spPr>
          <a:xfrm>
            <a:off x="3515868"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Blood qPCR or digital PCR for MRD</a:t>
            </a:r>
            <a:endParaRPr lang="en-US" sz="1700" dirty="0"/>
          </a:p>
        </p:txBody>
      </p:sp>
      <p:sp>
        <p:nvSpPr>
          <p:cNvPr id="9" name="Shape 6"/>
          <p:cNvSpPr/>
          <p:nvPr/>
        </p:nvSpPr>
        <p:spPr>
          <a:xfrm>
            <a:off x="5897880" y="3474720"/>
            <a:ext cx="393192" cy="0"/>
          </a:xfrm>
          <a:prstGeom prst="line">
            <a:avLst/>
          </a:prstGeom>
          <a:noFill/>
          <a:ln w="15875">
            <a:solidFill>
              <a:schemeClr val="tx1"/>
            </a:solidFill>
            <a:prstDash val="solid"/>
            <a:tailEnd type="triangle"/>
          </a:ln>
        </p:spPr>
      </p:sp>
      <p:sp>
        <p:nvSpPr>
          <p:cNvPr id="10" name="Box 42"/>
          <p:cNvSpPr txBox="1"/>
          <p:nvPr/>
        </p:nvSpPr>
        <p:spPr>
          <a:xfrm>
            <a:off x="6345936" y="2606040"/>
            <a:ext cx="2327148"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700" dirty="0">
                <a:solidFill>
                  <a:schemeClr val="bg1"/>
                </a:solidFill>
              </a:rPr>
              <a:t>No molecular remission by day +180</a:t>
            </a:r>
            <a:endParaRPr lang="en-US" sz="1700" dirty="0"/>
          </a:p>
        </p:txBody>
      </p:sp>
      <p:sp>
        <p:nvSpPr>
          <p:cNvPr id="11" name="Shape 8"/>
          <p:cNvSpPr/>
          <p:nvPr/>
        </p:nvSpPr>
        <p:spPr>
          <a:xfrm>
            <a:off x="8727948" y="3474720"/>
            <a:ext cx="393192" cy="0"/>
          </a:xfrm>
          <a:prstGeom prst="line">
            <a:avLst/>
          </a:prstGeom>
          <a:noFill/>
          <a:ln w="15875">
            <a:solidFill>
              <a:schemeClr val="tx1"/>
            </a:solidFill>
            <a:prstDash val="solid"/>
            <a:tailEnd type="triangle"/>
          </a:ln>
        </p:spPr>
      </p:sp>
      <p:sp>
        <p:nvSpPr>
          <p:cNvPr id="12" name="Box 43"/>
          <p:cNvSpPr txBox="1"/>
          <p:nvPr/>
        </p:nvSpPr>
        <p:spPr>
          <a:xfrm>
            <a:off x="9176004"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Off CNI, MRD-positive: give DLI</a:t>
            </a:r>
            <a:endParaRPr lang="en-US" sz="1700" dirty="0"/>
          </a:p>
        </p:txBody>
      </p:sp>
      <p:sp>
        <p:nvSpPr>
          <p:cNvPr id="13" name="Text 44"/>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Marrow fibrosis: complete or near-complete regression in ~60% by day +100 and ~90% by day +180; rapid regression predicts the best outcome.</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CML · EBMT RISK SCORE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The EBMT (Gratwohl) score sums five pre-transplant factors, 0–7</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Kröger N, et al. EBMT Handbook 8th ed. 2024; Ch. 77 · Barba P, et al. Ch. 11</a:t>
            </a:r>
            <a:endParaRPr lang="en-US" sz="1000" dirty="0"/>
          </a:p>
        </p:txBody>
      </p:sp>
      <p:graphicFrame>
        <p:nvGraphicFramePr>
          <p:cNvPr id="11" name="Table 45"/>
          <p:cNvGraphicFramePr>
            <a:graphicFrameLocks noGrp="1"/>
          </p:cNvGraphicFramePr>
          <p:nvPr>
            <p:extLst>
              <p:ext uri="{D42A27DB-BD31-4B8C-83A1-F6EECF244321}">
                <p14:modId xmlns:p14="http://schemas.microsoft.com/office/powerpoint/2010/main" val="1579011935"/>
              </p:ext>
            </p:extLst>
          </p:nvPr>
        </p:nvGraphicFramePr>
        <p:xfrm>
          <a:off x="685800" y="2240280"/>
          <a:ext cx="10826496" cy="914400"/>
        </p:xfrm>
        <a:graphic>
          <a:graphicData uri="http://schemas.openxmlformats.org/drawingml/2006/table">
            <a:tbl>
              <a:tblPr/>
              <a:tblGrid>
                <a:gridCol w="3300984"/>
                <a:gridCol w="2569464"/>
                <a:gridCol w="2569464"/>
                <a:gridCol w="2386584"/>
              </a:tblGrid>
              <a:tr h="0">
                <a:tc>
                  <a:txBody>
                    <a:bodyPr/>
                    <a:lstStyle/>
                    <a:p>
                      <a:pPr indent="0" marL="0">
                        <a:buNone/>
                      </a:pPr>
                      <a:r>
                        <a:rPr lang="en-US" sz="1800" b="1" dirty="0">
                          <a:solidFill>
                            <a:schemeClr val="tx1"/>
                          </a:solidFill>
                        </a:rPr>
                        <a:t>Factor</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0 points</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1 point</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2 points</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Recipient age</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&lt; 20 years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20–40 years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&gt; 40 years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Disease phase</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First CP</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Intermediate</a:t>
                      </a:r>
                      <a:endParaRPr lang="en-US" sz="1800" dirty="0"/>
                    </a:p>
                    <a:p>
                      <a:pPr indent="0" marL="0">
                        <a:buNone/>
                      </a:pPr>
                      <a:r>
                        <a:rPr lang="en-US" sz="1800" dirty="0">
                          <a:solidFill>
                            <a:schemeClr val="tx1"/>
                          </a:solidFill>
                        </a:rPr>
                        <a:t>[verify: AP]</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Blast crisis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Diagnosis to HCT</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&lt; 12 months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 12 months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Donor</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HLA-identical sibling</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Unrelated</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Donor–recipient sex</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Other</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Female → male</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46"/>
          <p:cNvSpPr txBox="1"/>
          <p:nvPr/>
        </p:nvSpPr>
        <p:spPr>
          <a:xfrm>
            <a:off x="685800" y="507492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CML, score 0 → 6–7: 5-y OS 76, 72, 60, 51, 39, 26, 14%; 5-y TRM 15 → 55% (Tables 11.3–11.4)</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CML · EBMT SCORE THEN AND NOW</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Survival rose in every EBMT score group, and the groups converged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Kröger N, et al. EBMT Handbook 8th ed. 2024; Ch. 77</a:t>
            </a:r>
            <a:endParaRPr lang="en-US" sz="1000" dirty="0"/>
          </a:p>
        </p:txBody>
      </p:sp>
      <p:pic>
        <p:nvPicPr>
          <p:cNvPr id="6" name="Figure ch77-fig2" descr="Overall survival after allo-HCT for CML by EBMT risk score: (a) 1989–1996, (b) 2011–2021">    </p:cNvPr>
          <p:cNvPicPr>
            <a:picLocks noChangeAspect="1"/>
          </p:cNvPicPr>
          <p:nvPr/>
        </p:nvPicPr>
        <p:blipFill>
          <a:blip r:embed="rId1"/>
          <a:stretch>
            <a:fillRect/>
          </a:stretch>
        </p:blipFill>
        <p:spPr>
          <a:xfrm>
            <a:off x="685800" y="2148840"/>
            <a:ext cx="6706758" cy="2638659"/>
          </a:xfrm>
          <a:prstGeom prst="rect">
            <a:avLst/>
          </a:prstGeom>
        </p:spPr>
      </p:pic>
      <p:sp>
        <p:nvSpPr>
          <p:cNvPr id="7" name="Text 47"/>
          <p:cNvSpPr txBox="1"/>
          <p:nvPr/>
        </p:nvSpPr>
        <p:spPr>
          <a:xfrm>
            <a:off x="7825252" y="2240280"/>
            <a:ext cx="3677900" cy="3657600"/>
          </a:xfrm>
          <a:prstGeom prst="rect">
            <a:avLst/>
          </a:prstGeom>
          <a:noFill/>
          <a:ln/>
        </p:spPr>
        <p:txBody>
          <a:bodyPr wrap="square" lIns="0" tIns="0" rIns="0" bIns="0" rtlCol="0" anchor="t"/>
          <a:lstStyle/>
          <a:p>
            <a:pPr indent="0" marL="0">
              <a:buNone/>
            </a:pPr>
            <a:r>
              <a:rPr lang="en-US" sz="1600" dirty="0">
                <a:solidFill>
                  <a:schemeClr val="tx1"/>
                </a:solidFill>
              </a:rPr>
              <a:t>(a) 3142 patients, 1989–1996 (Gratwohl 1998). (b) EBMT CMWP, 2011–2021: 5-y OS better by 11–41% across all scores; groups 2 and 3 now overlap. Recent referrals are less clear-cut, so read with caution.</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CML · DISEASE PHASE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Phase still decides CML transplant outcome, and more arrive advanced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Kröger N, et al. EBMT Handbook 8th ed. 2024; Ch. 77</a:t>
            </a:r>
            <a:endParaRPr lang="en-US" sz="1000" dirty="0"/>
          </a:p>
        </p:txBody>
      </p:sp>
      <p:graphicFrame>
        <p:nvGraphicFramePr>
          <p:cNvPr id="13" name="Table 48"/>
          <p:cNvGraphicFramePr>
            <a:graphicFrameLocks noGrp="1"/>
          </p:cNvGraphicFramePr>
          <p:nvPr>
            <p:extLst>
              <p:ext uri="{D42A27DB-BD31-4B8C-83A1-F6EECF244321}">
                <p14:modId xmlns:p14="http://schemas.microsoft.com/office/powerpoint/2010/main" val="1579011935"/>
              </p:ext>
            </p:extLst>
          </p:nvPr>
        </p:nvGraphicFramePr>
        <p:xfrm>
          <a:off x="685800" y="2240280"/>
          <a:ext cx="10808208" cy="914400"/>
        </p:xfrm>
        <a:graphic>
          <a:graphicData uri="http://schemas.openxmlformats.org/drawingml/2006/table">
            <a:tbl>
              <a:tblPr/>
              <a:tblGrid>
                <a:gridCol w="4846320"/>
                <a:gridCol w="1490472"/>
                <a:gridCol w="1490472"/>
                <a:gridCol w="1490472"/>
                <a:gridCol w="1490472"/>
              </a:tblGrid>
              <a:tr h="0">
                <a:tc>
                  <a:txBody>
                    <a:bodyPr/>
                    <a:lstStyle/>
                    <a:p>
                      <a:pPr indent="0" marL="0">
                        <a:buNone/>
                      </a:pPr>
                      <a:r>
                        <a:rPr lang="en-US" sz="1800" b="1" dirty="0">
                          <a:solidFill>
                            <a:schemeClr val="tx1"/>
                          </a:solidFill>
                        </a:rPr>
                        <a:t>Data set</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CP1</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AP</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 CP2</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BC</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IBMTR 1978–82: 3-y survival</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63%</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36%</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12%</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EBMT 2011: share of CML HCT</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46%</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15%</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25%</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14%</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EBMT 2016: share of CML HCT</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41%</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11%</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26%</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22%</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EBMT 2021: share of CML HCT</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37%</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12%</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18%</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33%</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49"/>
          <p:cNvSpPr txBox="1"/>
          <p:nvPr/>
        </p:nvSpPr>
        <p:spPr>
          <a:xfrm>
            <a:off x="685800" y="4343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Relapse after HCT in CP: 7% (Speck 1984). Number of prior TKIs did not affect outcome; phase and performance status did (Chalandon 2023).</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CML · TKI ERA</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TKIs control most CML, but quiescent stem cells escape them</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Kröger N, et al. EBMT Handbook 8th ed. 2024; Ch. 77</a:t>
            </a:r>
            <a:endParaRPr lang="en-US" sz="1000" dirty="0"/>
          </a:p>
        </p:txBody>
      </p:sp>
      <p:graphicFrame>
        <p:nvGraphicFramePr>
          <p:cNvPr id="14" name="Table 50"/>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569464"/>
                <a:gridCol w="3118104"/>
                <a:gridCol w="5129784"/>
              </a:tblGrid>
              <a:tr h="0">
                <a:tc>
                  <a:txBody>
                    <a:bodyPr/>
                    <a:lstStyle/>
                    <a:p>
                      <a:pPr indent="0" marL="0">
                        <a:buNone/>
                      </a:pPr>
                      <a:r>
                        <a:rPr lang="en-US" sz="1600" b="1" dirty="0">
                          <a:solidFill>
                            <a:schemeClr val="tx1"/>
                          </a:solidFill>
                        </a:rPr>
                        <a:t>Class</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Agents</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Chapter data</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First generation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Imatinib</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~60% excellent long-term control;</a:t>
                      </a:r>
                      <a:endParaRPr lang="en-US" sz="1600" dirty="0"/>
                    </a:p>
                    <a:p>
                      <a:pPr indent="0" marL="0">
                        <a:buNone/>
                      </a:pPr>
                      <a:r>
                        <a:rPr lang="en-US" sz="1600" dirty="0">
                          <a:solidFill>
                            <a:schemeClr val="tx1"/>
                          </a:solidFill>
                        </a:rPr>
                        <a:t>a few can stop treatment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Second generation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Bosutinib, dasatinib,</a:t>
                      </a:r>
                      <a:endParaRPr lang="en-US" sz="1600" dirty="0"/>
                    </a:p>
                    <a:p>
                      <a:pPr indent="0" marL="0">
                        <a:buNone/>
                      </a:pPr>
                      <a:r>
                        <a:rPr lang="en-US" sz="1600" dirty="0">
                          <a:solidFill>
                            <a:schemeClr val="tx1"/>
                          </a:solidFill>
                        </a:rPr>
                        <a:t>nilotinib</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CCyR at 1 year ~80% vs 65% on imatinib;</a:t>
                      </a:r>
                      <a:endParaRPr lang="en-US" sz="1600" dirty="0"/>
                    </a:p>
                    <a:p>
                      <a:pPr indent="0" marL="0">
                        <a:buNone/>
                      </a:pPr>
                      <a:r>
                        <a:rPr lang="en-US" sz="1600" dirty="0">
                          <a:solidFill>
                            <a:schemeClr val="tx1"/>
                          </a:solidFill>
                        </a:rPr>
                        <a:t>dasatinib, nilotinib licensed first line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Third generation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Ponatinib</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Active against T315I</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STAMP inhibitor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Asciminib</a:t>
                      </a:r>
                      <a:endParaRPr lang="en-US" sz="1600" dirty="0"/>
                    </a:p>
                    <a:p>
                      <a:pPr indent="0" marL="0">
                        <a:buNone/>
                      </a:pPr>
                      <a:r>
                        <a:rPr lang="en-US" sz="1600" dirty="0">
                          <a:solidFill>
                            <a:schemeClr val="tx1"/>
                          </a:solidFill>
                        </a:rPr>
                        <a:t>(ABL myristoyl pocket)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Active against T315I</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Early response</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RQ-PCR BCR-ABL1</a:t>
                      </a:r>
                      <a:endParaRPr lang="en-US" sz="1600" dirty="0"/>
                    </a:p>
                    <a:p>
                      <a:pPr indent="0" marL="0">
                        <a:buNone/>
                      </a:pPr>
                      <a:r>
                        <a:rPr lang="en-US" sz="1600" dirty="0">
                          <a:solidFill>
                            <a:schemeClr val="tx1"/>
                          </a:solidFill>
                        </a:rPr>
                        <a:t>at 3 and 6 months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Fall rate predicts long-term response;</a:t>
                      </a:r>
                      <a:endParaRPr lang="en-US" sz="1600" dirty="0"/>
                    </a:p>
                    <a:p>
                      <a:pPr indent="0" marL="0">
                        <a:buNone/>
                      </a:pPr>
                      <a:r>
                        <a:rPr lang="en-US" sz="1600" dirty="0">
                          <a:solidFill>
                            <a:schemeClr val="tx1"/>
                          </a:solidFill>
                        </a:rPr>
                        <a:t>flags HCT candidates in year 1</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51"/>
          <p:cNvSpPr txBox="1"/>
          <p:nvPr/>
        </p:nvSpPr>
        <p:spPr>
          <a:xfrm>
            <a:off x="685800" y="544068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Autologous HCT: not recommended (0–1 per year in EBMT, 2017–2022)</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CML · INDICATION</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CML goes to allo-HCT after TKI failure, T315I or progression</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Kröger N, et al. EBMT Handbook 8th ed. 2024; Ch. 77</a:t>
            </a:r>
            <a:endParaRPr lang="en-US" sz="1000" dirty="0"/>
          </a:p>
        </p:txBody>
      </p:sp>
      <p:sp>
        <p:nvSpPr>
          <p:cNvPr id="6" name="Box 52"/>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CML on TKI: when to proceed to allo-HCT</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1900809" y="3063240"/>
            <a:ext cx="8387334" cy="0"/>
          </a:xfrm>
          <a:prstGeom prst="line">
            <a:avLst/>
          </a:prstGeom>
          <a:noFill/>
          <a:ln w="15875">
            <a:solidFill>
              <a:schemeClr val="tx1"/>
            </a:solidFill>
            <a:prstDash val="solid"/>
          </a:ln>
        </p:spPr>
      </p:sp>
      <p:sp>
        <p:nvSpPr>
          <p:cNvPr id="9" name="Shape 6"/>
          <p:cNvSpPr/>
          <p:nvPr/>
        </p:nvSpPr>
        <p:spPr>
          <a:xfrm>
            <a:off x="1900809" y="3063240"/>
            <a:ext cx="0" cy="576072"/>
          </a:xfrm>
          <a:prstGeom prst="line">
            <a:avLst/>
          </a:prstGeom>
          <a:noFill/>
          <a:ln w="15875">
            <a:solidFill>
              <a:schemeClr val="tx1"/>
            </a:solidFill>
            <a:prstDash val="solid"/>
            <a:tailEnd type="triangle"/>
          </a:ln>
        </p:spPr>
      </p:sp>
      <p:sp>
        <p:nvSpPr>
          <p:cNvPr id="10" name="Text 53"/>
          <p:cNvSpPr txBox="1"/>
          <p:nvPr/>
        </p:nvSpPr>
        <p:spPr>
          <a:xfrm>
            <a:off x="685800"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Chronic phase</a:t>
            </a:r>
            <a:endParaRPr lang="en-US" sz="1400" dirty="0"/>
          </a:p>
        </p:txBody>
      </p:sp>
      <p:sp>
        <p:nvSpPr>
          <p:cNvPr id="11" name="Box 54"/>
          <p:cNvSpPr txBox="1"/>
          <p:nvPr/>
        </p:nvSpPr>
        <p:spPr>
          <a:xfrm>
            <a:off x="685800" y="3657600"/>
            <a:ext cx="2430018"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500" b="1" dirty="0">
                <a:solidFill>
                  <a:schemeClr val="bg1"/>
                </a:solidFill>
              </a:rPr>
              <a:t>Failing 3rd- or 4th-line TKI, or T315I</a:t>
            </a:r>
            <a:endParaRPr lang="en-US" sz="1500" dirty="0"/>
          </a:p>
        </p:txBody>
      </p:sp>
      <p:sp>
        <p:nvSpPr>
          <p:cNvPr id="12" name="Shape 9"/>
          <p:cNvSpPr/>
          <p:nvPr/>
        </p:nvSpPr>
        <p:spPr>
          <a:xfrm>
            <a:off x="1900809" y="4480560"/>
            <a:ext cx="0" cy="256032"/>
          </a:xfrm>
          <a:prstGeom prst="line">
            <a:avLst/>
          </a:prstGeom>
          <a:noFill/>
          <a:ln w="15875">
            <a:solidFill>
              <a:schemeClr val="tx1"/>
            </a:solidFill>
            <a:prstDash val="solid"/>
            <a:tailEnd type="triangle"/>
          </a:ln>
        </p:spPr>
      </p:sp>
      <p:sp>
        <p:nvSpPr>
          <p:cNvPr id="13" name="Box 55"/>
          <p:cNvSpPr txBox="1"/>
          <p:nvPr/>
        </p:nvSpPr>
        <p:spPr>
          <a:xfrm>
            <a:off x="685800"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Allo-HCT recommended</a:t>
            </a:r>
            <a:endParaRPr lang="en-US" sz="1400" dirty="0"/>
          </a:p>
        </p:txBody>
      </p:sp>
      <p:sp>
        <p:nvSpPr>
          <p:cNvPr id="14" name="Shape 11"/>
          <p:cNvSpPr/>
          <p:nvPr/>
        </p:nvSpPr>
        <p:spPr>
          <a:xfrm>
            <a:off x="4696587" y="3063240"/>
            <a:ext cx="0" cy="576072"/>
          </a:xfrm>
          <a:prstGeom prst="line">
            <a:avLst/>
          </a:prstGeom>
          <a:noFill/>
          <a:ln w="15875">
            <a:solidFill>
              <a:schemeClr val="tx1"/>
            </a:solidFill>
            <a:prstDash val="solid"/>
            <a:tailEnd type="triangle"/>
          </a:ln>
        </p:spPr>
      </p:sp>
      <p:sp>
        <p:nvSpPr>
          <p:cNvPr id="15" name="Text 56"/>
          <p:cNvSpPr txBox="1"/>
          <p:nvPr/>
        </p:nvSpPr>
        <p:spPr>
          <a:xfrm>
            <a:off x="3481578"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CP → AP on TKI</a:t>
            </a:r>
            <a:endParaRPr lang="en-US" sz="1400" dirty="0"/>
          </a:p>
        </p:txBody>
      </p:sp>
      <p:sp>
        <p:nvSpPr>
          <p:cNvPr id="16" name="Box 57"/>
          <p:cNvSpPr txBox="1"/>
          <p:nvPr/>
        </p:nvSpPr>
        <p:spPr>
          <a:xfrm>
            <a:off x="3481578"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Donor search now; regain TKI response</a:t>
            </a:r>
            <a:endParaRPr lang="en-US" sz="1500" dirty="0"/>
          </a:p>
        </p:txBody>
      </p:sp>
      <p:sp>
        <p:nvSpPr>
          <p:cNvPr id="17" name="Shape 14"/>
          <p:cNvSpPr/>
          <p:nvPr/>
        </p:nvSpPr>
        <p:spPr>
          <a:xfrm>
            <a:off x="4696587" y="4480560"/>
            <a:ext cx="0" cy="256032"/>
          </a:xfrm>
          <a:prstGeom prst="line">
            <a:avLst/>
          </a:prstGeom>
          <a:noFill/>
          <a:ln w="15875">
            <a:solidFill>
              <a:schemeClr val="tx1"/>
            </a:solidFill>
            <a:prstDash val="solid"/>
            <a:tailEnd type="triangle"/>
          </a:ln>
        </p:spPr>
      </p:sp>
      <p:sp>
        <p:nvSpPr>
          <p:cNvPr id="18" name="Box 58"/>
          <p:cNvSpPr txBox="1"/>
          <p:nvPr/>
        </p:nvSpPr>
        <p:spPr>
          <a:xfrm>
            <a:off x="3481578"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Then allo-HCT</a:t>
            </a:r>
            <a:endParaRPr lang="en-US" sz="1400" dirty="0"/>
          </a:p>
        </p:txBody>
      </p:sp>
      <p:sp>
        <p:nvSpPr>
          <p:cNvPr id="19" name="Shape 16"/>
          <p:cNvSpPr/>
          <p:nvPr/>
        </p:nvSpPr>
        <p:spPr>
          <a:xfrm>
            <a:off x="7492365" y="3063240"/>
            <a:ext cx="0" cy="576072"/>
          </a:xfrm>
          <a:prstGeom prst="line">
            <a:avLst/>
          </a:prstGeom>
          <a:noFill/>
          <a:ln w="15875">
            <a:solidFill>
              <a:schemeClr val="tx1"/>
            </a:solidFill>
            <a:prstDash val="solid"/>
            <a:tailEnd type="triangle"/>
          </a:ln>
        </p:spPr>
      </p:sp>
      <p:sp>
        <p:nvSpPr>
          <p:cNvPr id="20" name="Text 59"/>
          <p:cNvSpPr txBox="1"/>
          <p:nvPr/>
        </p:nvSpPr>
        <p:spPr>
          <a:xfrm>
            <a:off x="6277356"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Blast crisis</a:t>
            </a:r>
            <a:endParaRPr lang="en-US" sz="1400" dirty="0"/>
          </a:p>
        </p:txBody>
      </p:sp>
      <p:sp>
        <p:nvSpPr>
          <p:cNvPr id="21" name="Box 60"/>
          <p:cNvSpPr txBox="1"/>
          <p:nvPr/>
        </p:nvSpPr>
        <p:spPr>
          <a:xfrm>
            <a:off x="6277356"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2nd/3rd-gen TKI + induction chemo</a:t>
            </a:r>
            <a:endParaRPr lang="en-US" sz="1500" dirty="0"/>
          </a:p>
        </p:txBody>
      </p:sp>
      <p:sp>
        <p:nvSpPr>
          <p:cNvPr id="22" name="Shape 19"/>
          <p:cNvSpPr/>
          <p:nvPr/>
        </p:nvSpPr>
        <p:spPr>
          <a:xfrm>
            <a:off x="7492365" y="4480560"/>
            <a:ext cx="0" cy="256032"/>
          </a:xfrm>
          <a:prstGeom prst="line">
            <a:avLst/>
          </a:prstGeom>
          <a:noFill/>
          <a:ln w="15875">
            <a:solidFill>
              <a:schemeClr val="tx1"/>
            </a:solidFill>
            <a:prstDash val="solid"/>
            <a:tailEnd type="triangle"/>
          </a:ln>
        </p:spPr>
      </p:sp>
      <p:sp>
        <p:nvSpPr>
          <p:cNvPr id="23" name="Box 61"/>
          <p:cNvSpPr txBox="1"/>
          <p:nvPr/>
        </p:nvSpPr>
        <p:spPr>
          <a:xfrm>
            <a:off x="6277356"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Allo-HCT once back in CP</a:t>
            </a:r>
            <a:endParaRPr lang="en-US" sz="1400" dirty="0"/>
          </a:p>
        </p:txBody>
      </p:sp>
      <p:sp>
        <p:nvSpPr>
          <p:cNvPr id="24" name="Shape 21"/>
          <p:cNvSpPr/>
          <p:nvPr/>
        </p:nvSpPr>
        <p:spPr>
          <a:xfrm>
            <a:off x="10288143" y="3063240"/>
            <a:ext cx="0" cy="576072"/>
          </a:xfrm>
          <a:prstGeom prst="line">
            <a:avLst/>
          </a:prstGeom>
          <a:noFill/>
          <a:ln w="15875">
            <a:solidFill>
              <a:schemeClr val="tx1"/>
            </a:solidFill>
            <a:prstDash val="solid"/>
            <a:tailEnd type="triangle"/>
          </a:ln>
        </p:spPr>
      </p:sp>
      <p:sp>
        <p:nvSpPr>
          <p:cNvPr id="25" name="Text 62"/>
          <p:cNvSpPr txBox="1"/>
          <p:nvPr/>
        </p:nvSpPr>
        <p:spPr>
          <a:xfrm>
            <a:off x="9073134"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CP, earlier failure</a:t>
            </a:r>
            <a:endParaRPr lang="en-US" sz="1400" dirty="0"/>
          </a:p>
        </p:txBody>
      </p:sp>
      <p:sp>
        <p:nvSpPr>
          <p:cNvPr id="26" name="Box 63"/>
          <p:cNvSpPr txBox="1"/>
          <p:nvPr/>
        </p:nvSpPr>
        <p:spPr>
          <a:xfrm>
            <a:off x="9073134"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First-line 2nd-gen TKI fails</a:t>
            </a:r>
            <a:endParaRPr lang="en-US" sz="1500" dirty="0"/>
          </a:p>
        </p:txBody>
      </p:sp>
      <p:sp>
        <p:nvSpPr>
          <p:cNvPr id="27" name="Shape 24"/>
          <p:cNvSpPr/>
          <p:nvPr/>
        </p:nvSpPr>
        <p:spPr>
          <a:xfrm>
            <a:off x="10288143" y="4480560"/>
            <a:ext cx="0" cy="256032"/>
          </a:xfrm>
          <a:prstGeom prst="line">
            <a:avLst/>
          </a:prstGeom>
          <a:noFill/>
          <a:ln w="15875">
            <a:solidFill>
              <a:schemeClr val="tx1"/>
            </a:solidFill>
            <a:prstDash val="solid"/>
            <a:tailEnd type="triangle"/>
          </a:ln>
        </p:spPr>
      </p:sp>
      <p:sp>
        <p:nvSpPr>
          <p:cNvPr id="28" name="Box 64"/>
          <p:cNvSpPr txBox="1"/>
          <p:nvPr/>
        </p:nvSpPr>
        <p:spPr>
          <a:xfrm>
            <a:off x="9073134"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Debated: next TKI or HCT</a:t>
            </a:r>
            <a:endParaRPr lang="en-US" sz="14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CML · CONDITIONING, SOURCE, GVHD PROPHYLAXIS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MAC with CY plus BU or TBI remains the CML benchmark</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Kröger N, et al. EBMT Handbook 8th ed. 2024; Ch. 77</a:t>
            </a:r>
            <a:endParaRPr lang="en-US" sz="1000" dirty="0"/>
          </a:p>
        </p:txBody>
      </p:sp>
      <p:graphicFrame>
        <p:nvGraphicFramePr>
          <p:cNvPr id="16" name="Table 65"/>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483864"/>
                <a:gridCol w="7333488"/>
              </a:tblGrid>
              <a:tr h="0">
                <a:tc>
                  <a:txBody>
                    <a:bodyPr/>
                    <a:lstStyle/>
                    <a:p>
                      <a:pPr indent="0" marL="0">
                        <a:buNone/>
                      </a:pPr>
                      <a:r>
                        <a:rPr lang="en-US" sz="1600" b="1" dirty="0">
                          <a:solidFill>
                            <a:schemeClr val="tx1"/>
                          </a:solidFill>
                        </a:rPr>
                        <a:t>Element</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Chapter position</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MAC</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CY + BU or CY + TBI: best long-term OS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RIC (FLU + BU or MEL)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Older or comorbid only; more relapse, no better OS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Advanced phase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MAC preferred for disease control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Stem cell source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PBSC ~two-thirds; BM: less chronic GVHD;</a:t>
                      </a:r>
                      <a:endParaRPr lang="en-US" sz="1600" dirty="0"/>
                    </a:p>
                    <a:p>
                      <a:pPr indent="0" marL="0">
                        <a:buNone/>
                      </a:pPr>
                      <a:r>
                        <a:rPr lang="en-US" sz="1600" dirty="0">
                          <a:solidFill>
                            <a:schemeClr val="tx1"/>
                          </a:solidFill>
                        </a:rPr>
                        <a:t>PBSC may cut graft failure and relapse with RIC</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GVHD prophylaxis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CSA + short-course MTX remains standard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T-cell depletion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Less GVHD but more relapse (Apperley 1986)</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PTCy</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Haplo: similar OS, slightly lower RFS vs MUD;</a:t>
                      </a:r>
                      <a:endParaRPr lang="en-US" sz="1600" dirty="0"/>
                    </a:p>
                    <a:p>
                      <a:pPr indent="0" marL="0">
                        <a:buNone/>
                      </a:pPr>
                      <a:r>
                        <a:rPr lang="en-US" sz="1600" dirty="0">
                          <a:solidFill>
                            <a:schemeClr val="tx1"/>
                          </a:solidFill>
                        </a:rPr>
                        <a:t>MUD/MMUD: PTCy ≈ CNI + MTX</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CML · AFTER TRANSPLANT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BCR-ABL1 defines molecular relapse, and DLI rescues most CP relapses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Kröger N, et al. EBMT Handbook 8th ed. 2024; Ch. 77</a:t>
            </a:r>
            <a:endParaRPr lang="en-US" sz="1000" dirty="0"/>
          </a:p>
        </p:txBody>
      </p:sp>
      <p:graphicFrame>
        <p:nvGraphicFramePr>
          <p:cNvPr id="17" name="Table 66"/>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849624"/>
                <a:gridCol w="6967728"/>
              </a:tblGrid>
              <a:tr h="0">
                <a:tc>
                  <a:txBody>
                    <a:bodyPr/>
                    <a:lstStyle/>
                    <a:p>
                      <a:pPr indent="0" marL="0">
                        <a:buNone/>
                      </a:pPr>
                      <a:r>
                        <a:rPr lang="en-US" sz="1600" b="1" dirty="0">
                          <a:solidFill>
                            <a:schemeClr val="tx1"/>
                          </a:solidFill>
                        </a:rPr>
                        <a:t>Topic</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Data</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Molecular relapse (a)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BCR-ABL/ABL1 &gt; 0.02% in 3 samples ≥ 4 weeks apart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Molecular relapse (b)</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Clearly rising in 3 samples, last two &gt; 0.02%</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Molecular relapse (c)</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&gt; 0.05% in 2 samples ≥ 4 weeks apart (Kaeda 2006)</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DLI for relapse in CP</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Remission in 60–90%; escalating doses cut GVHD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EBMT DLI cohort, n = 328</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5-y OS 69%; DLI deaths 11%; GVHD 38% (death risk × 2.3)</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TKI ± DLI, n = 431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Any remission 42%; 5-y OS 60%, RFS 47%</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TKI maintenance (CIBMTR)</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5-y LFS 42% vs 44% without (p = 0.65)</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67"/>
          <p:cNvSpPr txBox="1"/>
          <p:nvPr/>
        </p:nvSpPr>
        <p:spPr>
          <a:xfrm>
            <a:off x="685800" y="544068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Definitions apply ≥ 4 months after HCT; any one of (a)–(c) is enough</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1: plan the transplant pathway in myelofibrosis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Kröger N, et al. EBMT Handbook 8th ed. 2024; Ch. 77</a:t>
            </a:r>
            <a:endParaRPr lang="en-US" sz="1000" dirty="0"/>
          </a:p>
        </p:txBody>
      </p:sp>
      <p:sp>
        <p:nvSpPr>
          <p:cNvPr id="6" name="Text 68"/>
          <p:cNvSpPr txBox="1"/>
          <p:nvPr/>
        </p:nvSpPr>
        <p:spPr>
          <a:xfrm>
            <a:off x="685800" y="2194560"/>
            <a:ext cx="10817352" cy="1124712"/>
          </a:xfrm>
          <a:prstGeom prst="rect">
            <a:avLst/>
          </a:prstGeom>
          <a:noFill/>
          <a:ln/>
        </p:spPr>
        <p:txBody>
          <a:bodyPr wrap="square" lIns="0" tIns="0" rIns="0" bIns="0" rtlCol="0" anchor="t"/>
          <a:lstStyle/>
          <a:p>
            <a:pPr indent="0" marL="0">
              <a:buNone/>
            </a:pPr>
            <a:r>
              <a:rPr lang="en-US" sz="1900" dirty="0">
                <a:solidFill>
                  <a:schemeClr val="tx1"/>
                </a:solidFill>
              </a:rPr>
              <a:t>A 58-year-old man with primary myelofibrosis has night sweats and weight loss. Hb is 92 g/L, WBC 30 × 10⁹/L, blood blasts 0.5%, and the spleen is markedly enlarged. He has a matched sibling donor. Which plan best follows EBMT/ELN guidance?</a:t>
            </a:r>
            <a:endParaRPr lang="en-US" sz="1900" dirty="0"/>
          </a:p>
        </p:txBody>
      </p:sp>
      <p:sp>
        <p:nvSpPr>
          <p:cNvPr id="7" name="Text 69"/>
          <p:cNvSpPr txBox="1"/>
          <p:nvPr/>
        </p:nvSpPr>
        <p:spPr>
          <a:xfrm>
            <a:off x="960120" y="3593592"/>
            <a:ext cx="10543032" cy="2304288"/>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Ruxolitinib alone; transplant only after it fails</a:t>
            </a:r>
            <a:endParaRPr lang="en-US" sz="1800" dirty="0"/>
          </a:p>
          <a:p>
            <a:pPr indent="0" marL="0">
              <a:spcAft>
                <a:spcPts val="800"/>
              </a:spcAft>
              <a:buNone/>
            </a:pPr>
            <a:r>
              <a:rPr lang="en-US" sz="1800" dirty="0">
                <a:solidFill>
                  <a:schemeClr val="tx1"/>
                </a:solidFill>
              </a:rPr>
              <a:t>B.  Ruxolitinib for ≥ 2 months, taper before conditioning, then allo-HCT</a:t>
            </a:r>
            <a:endParaRPr lang="en-US" sz="1800" dirty="0"/>
          </a:p>
          <a:p>
            <a:pPr indent="0" marL="0">
              <a:spcAft>
                <a:spcPts val="800"/>
              </a:spcAft>
              <a:buNone/>
            </a:pPr>
            <a:r>
              <a:rPr lang="en-US" sz="1800" dirty="0">
                <a:solidFill>
                  <a:schemeClr val="tx1"/>
                </a:solidFill>
              </a:rPr>
              <a:t>C.  Ruxolitinib stopped abruptly when conditioning starts, then allo-HCT</a:t>
            </a:r>
            <a:endParaRPr lang="en-US" sz="1800" dirty="0"/>
          </a:p>
          <a:p>
            <a:pPr indent="0" marL="0">
              <a:spcAft>
                <a:spcPts val="800"/>
              </a:spcAft>
              <a:buNone/>
            </a:pPr>
            <a:r>
              <a:rPr lang="en-US" sz="1800" dirty="0">
                <a:solidFill>
                  <a:schemeClr val="tx1"/>
                </a:solidFill>
              </a:rPr>
              <a:t>D.  No allo-HCT, because he is DIPSS intermediate-1</a:t>
            </a:r>
            <a:endParaRPr lang="en-US" sz="1800" dirty="0"/>
          </a:p>
          <a:p>
            <a:pPr indent="0" marL="0">
              <a:spcAft>
                <a:spcPts val="800"/>
              </a:spcAft>
              <a:buNone/>
            </a:pPr>
            <a:r>
              <a:rPr lang="en-US" sz="1800" dirty="0">
                <a:solidFill>
                  <a:schemeClr val="tx1"/>
                </a:solidFill>
              </a:rPr>
              <a:t>E.  Autologous HCT after splenectomy</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B: DIPSS int-2, ruxolitinib first, then a tapered switch to HCT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Kröger N, et al. EBMT Handbook 8th ed. 2024; Ch. 77</a:t>
            </a:r>
            <a:endParaRPr lang="en-US" sz="1000" dirty="0"/>
          </a:p>
        </p:txBody>
      </p:sp>
      <p:sp>
        <p:nvSpPr>
          <p:cNvPr id="6" name="Box 70"/>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B.  Ruxolitinib for ≥ 2 months, taper before conditioning, then allo-HCT</a:t>
            </a:r>
            <a:endParaRPr lang="en-US" sz="2000" dirty="0"/>
          </a:p>
        </p:txBody>
      </p:sp>
      <p:sp>
        <p:nvSpPr>
          <p:cNvPr id="7" name="Text 71"/>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DIPSS: symptoms (1) + Hb &lt; 100 g/L (2) + WBC &gt; 25 (1) = 4, intermediate-2: allo-HCT is recommended below age 70. Use ruxolitinib for ≥ 2 months and taper before conditioning to avoid rebound (C). Outcomes are better when transplanted while responding than after failure (A).</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2: CML progressing on a second-generation TKI</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Kröger N, et al. EBMT Handbook 8th ed. 2024; Ch. 77</a:t>
            </a:r>
            <a:endParaRPr lang="en-US" sz="1000" dirty="0"/>
          </a:p>
        </p:txBody>
      </p:sp>
      <p:sp>
        <p:nvSpPr>
          <p:cNvPr id="6" name="Text 72"/>
          <p:cNvSpPr txBox="1"/>
          <p:nvPr/>
        </p:nvSpPr>
        <p:spPr>
          <a:xfrm>
            <a:off x="685800" y="21945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38-year-old man with chronic-phase CML started first-line dasatinib two years ago. BCR-ABL1 is now rising, blood blasts are 12% and a T315I mutation is found; the disease is classified as accelerated phase. A 10/10 matched unrelated donor is likely. What is the best next step?</a:t>
            </a:r>
            <a:endParaRPr lang="en-US" sz="1900" dirty="0"/>
          </a:p>
        </p:txBody>
      </p:sp>
      <p:sp>
        <p:nvSpPr>
          <p:cNvPr id="7" name="Text 73"/>
          <p:cNvSpPr txBox="1"/>
          <p:nvPr/>
        </p:nvSpPr>
        <p:spPr>
          <a:xfrm>
            <a:off x="960120" y="3922776"/>
            <a:ext cx="10543032" cy="19751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Switch to nilotinib and repeat RQ-PCR in 3 months</a:t>
            </a:r>
            <a:endParaRPr lang="en-US" sz="1800" dirty="0"/>
          </a:p>
          <a:p>
            <a:pPr indent="0" marL="0">
              <a:spcAft>
                <a:spcPts val="800"/>
              </a:spcAft>
              <a:buNone/>
            </a:pPr>
            <a:r>
              <a:rPr lang="en-US" sz="1800" dirty="0">
                <a:solidFill>
                  <a:schemeClr val="tx1"/>
                </a:solidFill>
              </a:rPr>
              <a:t>B.  Increase the dasatinib dose and defer HLA typing</a:t>
            </a:r>
            <a:endParaRPr lang="en-US" sz="1800" dirty="0"/>
          </a:p>
          <a:p>
            <a:pPr indent="0" marL="0">
              <a:spcAft>
                <a:spcPts val="800"/>
              </a:spcAft>
              <a:buNone/>
            </a:pPr>
            <a:r>
              <a:rPr lang="en-US" sz="1800" dirty="0">
                <a:solidFill>
                  <a:schemeClr val="tx1"/>
                </a:solidFill>
              </a:rPr>
              <a:t>C.  Ponatinib or asciminib, donor search now, allo-HCT after a new response</a:t>
            </a:r>
            <a:endParaRPr lang="en-US" sz="1800" dirty="0"/>
          </a:p>
          <a:p>
            <a:pPr indent="0" marL="0">
              <a:spcAft>
                <a:spcPts val="800"/>
              </a:spcAft>
              <a:buNone/>
            </a:pPr>
            <a:r>
              <a:rPr lang="en-US" sz="1800" dirty="0">
                <a:solidFill>
                  <a:schemeClr val="tx1"/>
                </a:solidFill>
              </a:rPr>
              <a:t>D.  Immediate allo-HCT without further TKI therapy</a:t>
            </a:r>
            <a:endParaRPr lang="en-US" sz="1800" dirty="0"/>
          </a:p>
          <a:p>
            <a:pPr indent="0" marL="0">
              <a:spcAft>
                <a:spcPts val="800"/>
              </a:spcAft>
              <a:buNone/>
            </a:pPr>
            <a:r>
              <a:rPr lang="en-US" sz="1800" dirty="0">
                <a:solidFill>
                  <a:schemeClr val="tx1"/>
                </a:solidFill>
              </a:rPr>
              <a:t>E.  High-dose therapy with autologous HCT</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C: regain a response with a T315I-active drug, then transplant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Kröger N, et al. EBMT Handbook 8th ed. 2024; Ch. 77</a:t>
            </a:r>
            <a:endParaRPr lang="en-US" sz="1000" dirty="0"/>
          </a:p>
        </p:txBody>
      </p:sp>
      <p:sp>
        <p:nvSpPr>
          <p:cNvPr id="6" name="Box 74"/>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C.  Ponatinib or asciminib, donor search now, allo-HCT after a new response</a:t>
            </a:r>
            <a:endParaRPr lang="en-US" sz="2000" dirty="0"/>
          </a:p>
        </p:txBody>
      </p:sp>
      <p:sp>
        <p:nvSpPr>
          <p:cNvPr id="7" name="Text 75"/>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T315I and CP → AP progression on TKI are both transplant indications. Only ponatinib or asciminib act on T315I (A, B fail). For AP arising on therapy, start the donor search at once and transplant after a new TKI response (D skips this). Auto-HCT is not recommended (E).</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3: BCR-ABL1 after allo-HCT for CML</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Kröger N, et al. EBMT Handbook 8th ed. 2024; Ch. 77</a:t>
            </a:r>
            <a:endParaRPr lang="en-US" sz="1000" dirty="0"/>
          </a:p>
        </p:txBody>
      </p:sp>
      <p:sp>
        <p:nvSpPr>
          <p:cNvPr id="6" name="Text 76"/>
          <p:cNvSpPr txBox="1"/>
          <p:nvPr/>
        </p:nvSpPr>
        <p:spPr>
          <a:xfrm>
            <a:off x="685800" y="2194560"/>
            <a:ext cx="10817352" cy="1124712"/>
          </a:xfrm>
          <a:prstGeom prst="rect">
            <a:avLst/>
          </a:prstGeom>
          <a:noFill/>
          <a:ln/>
        </p:spPr>
        <p:txBody>
          <a:bodyPr wrap="square" lIns="0" tIns="0" rIns="0" bIns="0" rtlCol="0" anchor="t"/>
          <a:lstStyle/>
          <a:p>
            <a:pPr indent="0" marL="0">
              <a:buNone/>
            </a:pPr>
            <a:r>
              <a:rPr lang="en-US" sz="1900" dirty="0">
                <a:solidFill>
                  <a:schemeClr val="tx1"/>
                </a:solidFill>
              </a:rPr>
              <a:t>A 45-year-old woman had MAC allo-HCT from a sibling for CML in first chronic phase. Immunosuppression is off and she has no GVHD. At months 5, 6 and 7, BCR-ABL/ABL1 is 0.03%, 0.04% and 0.06%. Marrow cytogenetics are normal. What is the most appropriate management?</a:t>
            </a:r>
            <a:endParaRPr lang="en-US" sz="1900" dirty="0"/>
          </a:p>
        </p:txBody>
      </p:sp>
      <p:sp>
        <p:nvSpPr>
          <p:cNvPr id="7" name="Text 77"/>
          <p:cNvSpPr txBox="1"/>
          <p:nvPr/>
        </p:nvSpPr>
        <p:spPr>
          <a:xfrm>
            <a:off x="960120" y="3593592"/>
            <a:ext cx="10543032" cy="2304288"/>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Observe: PCR positivity is expected during the first year</a:t>
            </a:r>
            <a:endParaRPr lang="en-US" sz="1800" dirty="0"/>
          </a:p>
          <a:p>
            <a:pPr indent="0" marL="0">
              <a:spcAft>
                <a:spcPts val="800"/>
              </a:spcAft>
              <a:buNone/>
            </a:pPr>
            <a:r>
              <a:rPr lang="en-US" sz="1800" dirty="0">
                <a:solidFill>
                  <a:schemeClr val="tx1"/>
                </a:solidFill>
              </a:rPr>
              <a:t>B.  Molecular relapse: escalating-dose DLI, with or without a TKI</a:t>
            </a:r>
            <a:endParaRPr lang="en-US" sz="1800" dirty="0"/>
          </a:p>
          <a:p>
            <a:pPr indent="0" marL="0">
              <a:spcAft>
                <a:spcPts val="800"/>
              </a:spcAft>
              <a:buNone/>
            </a:pPr>
            <a:r>
              <a:rPr lang="en-US" sz="1800" dirty="0">
                <a:solidFill>
                  <a:schemeClr val="tx1"/>
                </a:solidFill>
              </a:rPr>
              <a:t>C.  Second allo-HCT from an unrelated donor</a:t>
            </a:r>
            <a:endParaRPr lang="en-US" sz="1800" dirty="0"/>
          </a:p>
          <a:p>
            <a:pPr indent="0" marL="0">
              <a:spcAft>
                <a:spcPts val="800"/>
              </a:spcAft>
              <a:buNone/>
            </a:pPr>
            <a:r>
              <a:rPr lang="en-US" sz="1800" dirty="0">
                <a:solidFill>
                  <a:schemeClr val="tx1"/>
                </a:solidFill>
              </a:rPr>
              <a:t>D.  A single high-dose DLI to maximise the graft-versus-leukaemia effect</a:t>
            </a:r>
            <a:endParaRPr lang="en-US" sz="1800" dirty="0"/>
          </a:p>
          <a:p>
            <a:pPr indent="0" marL="0">
              <a:spcAft>
                <a:spcPts val="800"/>
              </a:spcAft>
              <a:buNone/>
            </a:pPr>
            <a:r>
              <a:rPr lang="en-US" sz="1800" dirty="0">
                <a:solidFill>
                  <a:schemeClr val="tx1"/>
                </a:solidFill>
              </a:rPr>
              <a:t>E.  Wait for cytogenetic relapse before any intervention</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B: this meets the molecular relapse definition; start DLI</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Kröger N, et al. EBMT Handbook 8th ed. 2024; Ch. 77</a:t>
            </a:r>
            <a:endParaRPr lang="en-US" sz="1000" dirty="0"/>
          </a:p>
        </p:txBody>
      </p:sp>
      <p:sp>
        <p:nvSpPr>
          <p:cNvPr id="6" name="Box 78"/>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B.  Molecular relapse: escalating-dose DLI, with or without a TKI</a:t>
            </a:r>
            <a:endParaRPr lang="en-US" sz="2000" dirty="0"/>
          </a:p>
        </p:txBody>
      </p:sp>
      <p:sp>
        <p:nvSpPr>
          <p:cNvPr id="7" name="Text 79"/>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Beyond month 4, &gt; 0.02% in three samples ≥ 4 weeks apart, rising, is molecular relapse. DLI re-induces remission in 60–90% of CP relapses; escalating doses reduce GVHD (D). PCR positivity is expected only in the first ~3 months (A), and waiting for cytogenetic relapse loses the early window (E).</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1 of 4</a:t>
            </a:r>
            <a:endParaRPr lang="en-US" sz="3600" dirty="0"/>
          </a:p>
        </p:txBody>
      </p:sp>
      <p:sp>
        <p:nvSpPr>
          <p:cNvPr id="5" name="Text 80"/>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 Kröger N, McLornan DP, Chalandon Y. Myeloproliferative neoplasms. In: Sureda A, Corbacioglu S, Greco R, Kröger N, Carreras E, editors. The EBMT Handbook: Hematopoietic Cell Transplantation and Cellular Therapies. 8th ed. Cham: Springer; 2024. p. 695–705. https://doi.org/10.1007/978-3-031-44080-9_77</a:t>
            </a:r>
            <a:endParaRPr lang="en-US" sz="1100" dirty="0"/>
          </a:p>
          <a:p>
            <a:pPr indent="0" marL="0">
              <a:spcAft>
                <a:spcPts val="700"/>
              </a:spcAft>
              <a:buNone/>
            </a:pPr>
            <a:r>
              <a:rPr lang="en-US" sz="1100" dirty="0">
                <a:solidFill>
                  <a:schemeClr val="tx1"/>
                </a:solidFill>
              </a:rPr>
              <a:t>2. Barba P, Rambaldi A. Evaluation and counseling of candidates. In: Sureda A, Corbacioglu S, Greco R, Kröger N, Carreras E, editors. The EBMT Handbook: Hematopoietic Cell Transplantation and Cellular Therapies. 8th ed. Cham: Springer; 2024. p. 99–110. https://doi.org/10.1007/978-3-031-44080-9_11</a:t>
            </a:r>
            <a:endParaRPr lang="en-US" sz="1100" dirty="0"/>
          </a:p>
          <a:p>
            <a:pPr indent="0" marL="0">
              <a:spcAft>
                <a:spcPts val="700"/>
              </a:spcAft>
              <a:buNone/>
            </a:pPr>
            <a:r>
              <a:rPr lang="en-US" sz="1100" dirty="0">
                <a:solidFill>
                  <a:schemeClr val="tx1"/>
                </a:solidFill>
              </a:rPr>
              <a:t>3. Kroger NM, Deeg JH, Olavarria E, et al. Indication and management of allogeneic stem cell transplantation in primary myelofibrosis: a consensus process by an EBMT/ELN international working group. Leukemia. 2015a;29:2126–33.</a:t>
            </a:r>
            <a:endParaRPr lang="en-US" sz="1100" dirty="0"/>
          </a:p>
          <a:p>
            <a:pPr indent="0" marL="0">
              <a:spcAft>
                <a:spcPts val="700"/>
              </a:spcAft>
              <a:buNone/>
            </a:pPr>
            <a:r>
              <a:rPr lang="en-US" sz="1100" dirty="0">
                <a:solidFill>
                  <a:schemeClr val="tx1"/>
                </a:solidFill>
              </a:rPr>
              <a:t>4. Gangat N, Caramazza D, Vaidya R, et al. DIPSS plus: a refined dynamic international prognostic scoring system for primary myelofibrosis that incorporates prognostic information from karyotype, platelet count, and transfusion status. J Clin Oncol. 2011;29:392–7.</a:t>
            </a:r>
            <a:endParaRPr lang="en-US" sz="1100" dirty="0"/>
          </a:p>
        </p:txBody>
      </p:sp>
      <p:sp>
        <p:nvSpPr>
          <p:cNvPr id="6" name="Text 81"/>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5. Guglielmelli P, Lasho TL, Rotunno G, et al. MIPSS70: mutation-enhanced international prognostic score system for transplantation-age patients with primary myelofibrosis. J Clin Oncol. 2018;36:310–8.</a:t>
            </a:r>
            <a:endParaRPr lang="en-US" sz="1100" dirty="0"/>
          </a:p>
          <a:p>
            <a:pPr indent="0" marL="0">
              <a:spcAft>
                <a:spcPts val="700"/>
              </a:spcAft>
              <a:buNone/>
            </a:pPr>
            <a:r>
              <a:rPr lang="en-US" sz="1100" dirty="0">
                <a:solidFill>
                  <a:schemeClr val="tx1"/>
                </a:solidFill>
              </a:rPr>
              <a:t>6. Gagelmann N, Ditschkowski M, Bogdanov R, et al. Comprehensive clinical-molecular transplant scoring system for myelofibrosis undergoing stem cell transplantation. Blood. 2019b;133:2233–42.</a:t>
            </a:r>
            <a:endParaRPr lang="en-US" sz="1100" dirty="0"/>
          </a:p>
          <a:p>
            <a:pPr indent="0" marL="0">
              <a:spcAft>
                <a:spcPts val="700"/>
              </a:spcAft>
              <a:buNone/>
            </a:pPr>
            <a:r>
              <a:rPr lang="en-US" sz="1100" dirty="0">
                <a:solidFill>
                  <a:schemeClr val="tx1"/>
                </a:solidFill>
              </a:rPr>
              <a:t>7. Kroger N, Holler E, Kobbe G, et al. Allogeneic stem cell transplantation after reduced-intensity conditioning in patients with myelofibrosis: a prospective, multicenter study of the chronic leukemia working Party of the European Group for blood and marrow transplantation. Blood. 2009;114:5264–70.</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2 of 4</a:t>
            </a:r>
            <a:endParaRPr lang="en-US" sz="3600" dirty="0"/>
          </a:p>
        </p:txBody>
      </p:sp>
      <p:sp>
        <p:nvSpPr>
          <p:cNvPr id="5" name="Text 82"/>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8. Rondelli D, Goldberg JD, Isola L, et al. MPD-RC 101 prospective study of reduced-intensity allogeneic hematopoietic stem cell transplantation in patients with myelofibrosis. Blood. 2014;124:1183–91.</a:t>
            </a:r>
            <a:endParaRPr lang="en-US" sz="1100" dirty="0"/>
          </a:p>
          <a:p>
            <a:pPr indent="0" marL="0">
              <a:spcAft>
                <a:spcPts val="700"/>
              </a:spcAft>
              <a:buNone/>
            </a:pPr>
            <a:r>
              <a:rPr lang="en-US" sz="1100" dirty="0">
                <a:solidFill>
                  <a:schemeClr val="tx1"/>
                </a:solidFill>
              </a:rPr>
              <a:t>9. Raj K, Olavarria E, Eikema D-J, et al. Family mismatched donor transplantation for myelofibrosis: a retrospective analysis of the EBMT chronic leukaemia working party. Blood. 2016;128:4655.</a:t>
            </a:r>
            <a:endParaRPr lang="en-US" sz="1100" dirty="0"/>
          </a:p>
          <a:p>
            <a:pPr indent="0" marL="0">
              <a:spcAft>
                <a:spcPts val="700"/>
              </a:spcAft>
              <a:buNone/>
            </a:pPr>
            <a:r>
              <a:rPr lang="en-US" sz="1100" dirty="0">
                <a:solidFill>
                  <a:schemeClr val="tx1"/>
                </a:solidFill>
              </a:rPr>
              <a:t>10. Robin M, Giannotti F, Deconinck E, et al. Unrelated cord blood transplantation for patients with primary or secondary myelofibrosis. Biol Blood Marrow Transplant. 2014;20:1841–6.</a:t>
            </a:r>
            <a:endParaRPr lang="en-US" sz="1100" dirty="0"/>
          </a:p>
          <a:p>
            <a:pPr indent="0" marL="0">
              <a:spcAft>
                <a:spcPts val="700"/>
              </a:spcAft>
              <a:buNone/>
            </a:pPr>
            <a:r>
              <a:rPr lang="en-US" sz="1100" dirty="0">
                <a:solidFill>
                  <a:schemeClr val="tx1"/>
                </a:solidFill>
              </a:rPr>
              <a:t>11. Kröger N, Sbianchi G, Sirait T, et al. Impact of prior JAK-inhibitor therapy with ruxolitinib on outcome after allogeneic hematopoietic stem cell transplantation for myelofibrosis: a study of the CMWP of EBMT. Leukemia. 2021;35:3551–60.</a:t>
            </a:r>
            <a:endParaRPr lang="en-US" sz="1100" dirty="0"/>
          </a:p>
        </p:txBody>
      </p:sp>
      <p:sp>
        <p:nvSpPr>
          <p:cNvPr id="6" name="Text 83"/>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12. Wolschke C, Badbaran A, Zabelina T, et al. Impact of molecular residual disease post allografting in myelofibrosis patients. Bone Marrow Transplant. 2017;52:1526–9.</a:t>
            </a:r>
            <a:endParaRPr lang="en-US" sz="1100" dirty="0"/>
          </a:p>
          <a:p>
            <a:pPr indent="0" marL="0">
              <a:spcAft>
                <a:spcPts val="700"/>
              </a:spcAft>
              <a:buNone/>
            </a:pPr>
            <a:r>
              <a:rPr lang="en-US" sz="1100" dirty="0">
                <a:solidFill>
                  <a:schemeClr val="tx1"/>
                </a:solidFill>
              </a:rPr>
              <a:t>13. Kröger N, Thiele J, Zander A, et al. Rapid regression of bone marrow fibrosis after dose-reduced allogeneic stem cell transplantation in patients with primary myelofibrosis. Exp Hematol. 2007;35:1719–22.</a:t>
            </a:r>
            <a:endParaRPr lang="en-US" sz="1100" dirty="0"/>
          </a:p>
          <a:p>
            <a:pPr indent="0" marL="0">
              <a:spcAft>
                <a:spcPts val="700"/>
              </a:spcAft>
              <a:buNone/>
            </a:pPr>
            <a:r>
              <a:rPr lang="en-US" sz="1100" dirty="0">
                <a:solidFill>
                  <a:schemeClr val="tx1"/>
                </a:solidFill>
              </a:rPr>
              <a:t>14. Gratwohl A, Hermans J, Goldman JM, et al. Risk assessment for patients with chronic myeloid leukaemia before allogeneic blood or marrow transplantation. Chronic leukemia working Party of the European Group for blood and marrow transplantation. Lancet. 1998;352:1087–92.</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3 of 4</a:t>
            </a:r>
            <a:endParaRPr lang="en-US" sz="3600" dirty="0"/>
          </a:p>
        </p:txBody>
      </p:sp>
      <p:sp>
        <p:nvSpPr>
          <p:cNvPr id="5" name="Text 84"/>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15. Gratwohl A, Stern M, Brand R, et al. Risk score for outcome after allogeneic hematopoietic stem cell transplantation: a retrospective analysis. Cancer. 2009;115:4715–26.</a:t>
            </a:r>
            <a:endParaRPr lang="en-US" sz="1100" dirty="0"/>
          </a:p>
          <a:p>
            <a:pPr indent="0" marL="0">
              <a:spcAft>
                <a:spcPts val="700"/>
              </a:spcAft>
              <a:buNone/>
            </a:pPr>
            <a:r>
              <a:rPr lang="en-US" sz="1100" dirty="0">
                <a:solidFill>
                  <a:schemeClr val="tx1"/>
                </a:solidFill>
              </a:rPr>
              <a:t>16. Speck B, Bortin MM, Champlin R, et al. Allogeneic bone-marrow transplantation for chronic myelogenous leukaemia. Lancet. 1984;1:665–8.</a:t>
            </a:r>
            <a:endParaRPr lang="en-US" sz="1100" dirty="0"/>
          </a:p>
          <a:p>
            <a:pPr indent="0" marL="0">
              <a:spcAft>
                <a:spcPts val="700"/>
              </a:spcAft>
              <a:buNone/>
            </a:pPr>
            <a:r>
              <a:rPr lang="en-US" sz="1100" dirty="0">
                <a:solidFill>
                  <a:schemeClr val="tx1"/>
                </a:solidFill>
              </a:rPr>
              <a:t>17. Chalandon Y, Sbianchi G, Gras L, et al. Allogeneic hematopoietic cell transplantation in patients with chronic phase chronic myleloid leukemia in the era of third generation tyrosine kinase inhibitors: a study by the CMWP of the EBMT. Am J Hematol. 2023;98:112–21.</a:t>
            </a:r>
            <a:endParaRPr lang="en-US" sz="1100" dirty="0"/>
          </a:p>
          <a:p>
            <a:pPr indent="0" marL="0">
              <a:spcAft>
                <a:spcPts val="700"/>
              </a:spcAft>
              <a:buNone/>
            </a:pPr>
            <a:r>
              <a:rPr lang="en-US" sz="1100" dirty="0">
                <a:solidFill>
                  <a:schemeClr val="tx1"/>
                </a:solidFill>
              </a:rPr>
              <a:t>18. Copelan EA. Hematopoietic stem-cell transplantation. N Engl J Med. 2006;354:1813–26.</a:t>
            </a:r>
            <a:endParaRPr lang="en-US" sz="1100" dirty="0"/>
          </a:p>
        </p:txBody>
      </p:sp>
      <p:sp>
        <p:nvSpPr>
          <p:cNvPr id="6" name="Text 85"/>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19. Apperley JF, Jones L, Hale G, et al. Bone marrow transplantation for patients with chronic myeloid leukaemia: T-cell depletion with Campath-1 reduces the incidence of graft-versus-host disease but may increase the risk of leukaemic relapse. Bone Marrow Transplant. 1986;1:53–66.</a:t>
            </a:r>
            <a:endParaRPr lang="en-US" sz="1100" dirty="0"/>
          </a:p>
          <a:p>
            <a:pPr indent="0" marL="0">
              <a:spcAft>
                <a:spcPts val="700"/>
              </a:spcAft>
              <a:buNone/>
            </a:pPr>
            <a:r>
              <a:rPr lang="en-US" sz="1100" dirty="0">
                <a:solidFill>
                  <a:schemeClr val="tx1"/>
                </a:solidFill>
              </a:rPr>
              <a:t>20. Ortí G, Gras L, Koster L, et al. Graft-versus-host prophylaxis with post transplant cyclophosphamide in chronic myeloid leukemia patients undergoing allogeneic hematopoietic cell transplantation from either an unrelated or mismatched related donor: a comparative study from the chronic malignancies working party of the EBMT (CMWP-EBMT). Transplant Cell Ther. 2023;S2666–6367(23):01573–7.</a:t>
            </a:r>
            <a:endParaRPr lang="en-US" sz="1100" dirty="0"/>
          </a:p>
          <a:p>
            <a:pPr indent="0" marL="0">
              <a:spcAft>
                <a:spcPts val="700"/>
              </a:spcAft>
              <a:buNone/>
            </a:pPr>
            <a:r>
              <a:rPr lang="en-US" sz="1100" dirty="0">
                <a:solidFill>
                  <a:schemeClr val="tx1"/>
                </a:solidFill>
              </a:rPr>
              <a:t>21. Kaeda J, O'Shea D, Szydlo RM, et al. Serial measurement of BCR-ABL transcripts in the peripheral blood after allogeneic stem cell transplantation for chronic myeloid leukemia: an attempt to define patients who may not require further therapy. Blood. 2006;107:4171–6.</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4 of 4</a:t>
            </a:r>
            <a:endParaRPr lang="en-US" sz="3600" dirty="0"/>
          </a:p>
        </p:txBody>
      </p:sp>
      <p:sp>
        <p:nvSpPr>
          <p:cNvPr id="5" name="Text 86"/>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22. Mackinnon S, Papadopoulos EB, Carabasi MH, et al. Adoptive immunotherapy evaluating escalating doses of donor leukocytes for relapse of chronic myeloid leukemia after bone marrow transplantation: separation of graft-versus-leukemia responses from graft-versus-host disease. Blood. 1995;86:1261–8.</a:t>
            </a:r>
            <a:endParaRPr lang="en-US" sz="1100" dirty="0"/>
          </a:p>
          <a:p>
            <a:pPr indent="0" marL="0">
              <a:spcAft>
                <a:spcPts val="700"/>
              </a:spcAft>
              <a:buNone/>
            </a:pPr>
            <a:r>
              <a:rPr lang="en-US" sz="1100" dirty="0">
                <a:solidFill>
                  <a:schemeClr val="tx1"/>
                </a:solidFill>
              </a:rPr>
              <a:t>23. Chalandon Y, Passweg JR, Schmid C, et al. Outcome of patients developing GVHD after DLI given to treat CML relapse: a study by the chronic leukemia working party of the EBMT. Bone Marrow Transplant. 2010;45:558–64.</a:t>
            </a:r>
            <a:endParaRPr lang="en-US" sz="1100" dirty="0"/>
          </a:p>
          <a:p>
            <a:pPr indent="0" marL="0">
              <a:spcAft>
                <a:spcPts val="700"/>
              </a:spcAft>
              <a:buNone/>
            </a:pPr>
            <a:r>
              <a:rPr lang="en-US" sz="1100" dirty="0">
                <a:solidFill>
                  <a:schemeClr val="tx1"/>
                </a:solidFill>
              </a:rPr>
              <a:t>24. Chalandon Y, Iacobelli S, Hoek J et al. Use of first or second generation TKI for CML after allogeneic hematopoietic stem cell transplantation: a study by the CMWP of the EBMT. In: EBMT annual meeting, Marseille, France, 2017.</a:t>
            </a:r>
            <a:endParaRPr lang="en-US" sz="1100" dirty="0"/>
          </a:p>
        </p:txBody>
      </p:sp>
      <p:sp>
        <p:nvSpPr>
          <p:cNvPr id="6" name="Text 87"/>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25. DeFilipp Z, Anchetta R, Liu Y, et al. Maintenance tyrosine kinase inhibitors following allogeneic hematopoietic stem cell transplantation for chronic myelogenous leukemia: a center for international blood and marrow transplant research study. Biol Blood Marrow Transplant. 2020;26:472–9.</a:t>
            </a:r>
            <a:endParaRPr lang="en-US" sz="1100" dirty="0"/>
          </a:p>
          <a:p>
            <a:pPr indent="0" marL="0">
              <a:spcAft>
                <a:spcPts val="700"/>
              </a:spcAft>
              <a:buNone/>
            </a:pPr>
            <a:r>
              <a:rPr lang="en-US" sz="1100" dirty="0">
                <a:solidFill>
                  <a:schemeClr val="tx1"/>
                </a:solidFill>
              </a:rPr>
              <a:t>26. Guardiola P, Anderson JE, Bandini G, et al. Allogeneic stem cell transplantation for agnogenic myeloid metaplasia: a European Group for Blood and Marrow Transplantation, Societe Francaise de Greffe de Moelle, Gruppo Italiano per il Trapianto del Midollo Osseo, and Fred Hutchinson Cancer Research Center collaborative study. Blood. 1999;93:2831–8.</a:t>
            </a:r>
            <a:endParaRPr lang="en-US" sz="1100" dirty="0"/>
          </a:p>
          <a:p>
            <a:pPr indent="0" marL="0">
              <a:spcAft>
                <a:spcPts val="700"/>
              </a:spcAft>
              <a:buNone/>
            </a:pPr>
            <a:r>
              <a:rPr lang="en-US" sz="1100" dirty="0">
                <a:solidFill>
                  <a:schemeClr val="tx1"/>
                </a:solidFill>
              </a:rPr>
              <a:t>27. Deeg HJ, Gooley TA, Flowers ME, et al. Allogeneic hematopoietic stem cell transplantation for myelofibrosis. Blood. 2003;102:3912–8.</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MYELOFIBROSIS TRIALS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Prospective RIC studies showed durable cure in myelofibrosis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Kröger N, et al. EBMT Handbook 8th ed. 2024; Ch. 77</a:t>
            </a:r>
            <a:endParaRPr lang="en-US" sz="1000" dirty="0"/>
          </a:p>
        </p:txBody>
      </p:sp>
      <p:graphicFrame>
        <p:nvGraphicFramePr>
          <p:cNvPr id="28" name="Table 88"/>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118104"/>
                <a:gridCol w="3483864"/>
                <a:gridCol w="4215384"/>
              </a:tblGrid>
              <a:tr h="0">
                <a:tc>
                  <a:txBody>
                    <a:bodyPr/>
                    <a:lstStyle/>
                    <a:p>
                      <a:pPr indent="0" marL="0">
                        <a:buNone/>
                      </a:pPr>
                      <a:r>
                        <a:rPr lang="en-US" sz="1600" b="1" dirty="0">
                          <a:solidFill>
                            <a:schemeClr val="tx1"/>
                          </a:solidFill>
                        </a:rPr>
                        <a:t>Study</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Design</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Result</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Guardiola 1999</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Multicentre MAC; median age 42</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NRM 27%; graft failure 9%;</a:t>
                      </a:r>
                      <a:endParaRPr lang="en-US" sz="1600" dirty="0"/>
                    </a:p>
                    <a:p>
                      <a:pPr indent="0" marL="0">
                        <a:buNone/>
                      </a:pPr>
                      <a:r>
                        <a:rPr lang="en-US" sz="1600" dirty="0">
                          <a:solidFill>
                            <a:schemeClr val="tx1"/>
                          </a:solidFill>
                        </a:rPr>
                        <a:t>5-y OS 47%, PFS 39%</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Deeg 2003 (Seattle)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 = 104, mostly MAC</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5-y NRM 34%; 7-y OS 61%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EBMT RIC (Kroger 2009)</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 = 103, BU/FLU RIC;</a:t>
                      </a:r>
                      <a:endParaRPr lang="en-US" sz="1600" dirty="0"/>
                    </a:p>
                    <a:p>
                      <a:pPr indent="0" marL="0">
                        <a:buNone/>
                      </a:pPr>
                      <a:r>
                        <a:rPr lang="en-US" sz="1600" dirty="0">
                          <a:solidFill>
                            <a:schemeClr val="tx1"/>
                          </a:solidFill>
                        </a:rPr>
                        <a:t>median age 55</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1-y NRM 16%; 3-y relapse 22%;</a:t>
                      </a:r>
                      <a:endParaRPr lang="en-US" sz="1600" dirty="0"/>
                    </a:p>
                    <a:p>
                      <a:pPr indent="0" marL="0">
                        <a:buNone/>
                      </a:pPr>
                      <a:r>
                        <a:rPr lang="en-US" sz="1600" dirty="0">
                          <a:solidFill>
                            <a:schemeClr val="tx1"/>
                          </a:solidFill>
                        </a:rPr>
                        <a:t>5-y PFS 51%, OS 67%</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EBMT RIC update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Median follow-up 60 months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8-y OS 65%; 5-y DFS 40%;</a:t>
                      </a:r>
                      <a:endParaRPr lang="en-US" sz="1600" dirty="0"/>
                    </a:p>
                    <a:p>
                      <a:pPr indent="0" marL="0">
                        <a:buNone/>
                      </a:pPr>
                      <a:r>
                        <a:rPr lang="en-US" sz="1600" dirty="0">
                          <a:solidFill>
                            <a:schemeClr val="tx1"/>
                          </a:solidFill>
                        </a:rPr>
                        <a:t>relapse 28%; 3-y NRM 21%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MPD-RC 101 (Rondelli 2014)</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 = 66, MEL/FLU RIC</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OS sibling 75% vs URD 32%;</a:t>
                      </a:r>
                      <a:endParaRPr lang="en-US" sz="1600" dirty="0"/>
                    </a:p>
                    <a:p>
                      <a:pPr indent="0" marL="0">
                        <a:buNone/>
                      </a:pPr>
                      <a:r>
                        <a:rPr lang="en-US" sz="1600" dirty="0">
                          <a:solidFill>
                            <a:schemeClr val="tx1"/>
                          </a:solidFill>
                        </a:rPr>
                        <a:t>NRM 22% vs 59%</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MYELOFIBROSIS PATHWAY</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Fig. 77.1 lays out myelofibrosis transplant care step by step</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Kröger N, et al. EBMT Handbook 8th ed. 2024; Ch. 77</a:t>
            </a:r>
            <a:endParaRPr lang="en-US" sz="1000" dirty="0"/>
          </a:p>
        </p:txBody>
      </p:sp>
      <p:pic>
        <p:nvPicPr>
          <p:cNvPr id="6" name="Figure ch77-fig1" descr="Timeline from pretransplant to relapse prevention in myelofibrosis">    </p:cNvPr>
          <p:cNvPicPr>
            <a:picLocks noChangeAspect="1"/>
          </p:cNvPicPr>
          <p:nvPr/>
        </p:nvPicPr>
        <p:blipFill>
          <a:blip r:embed="rId1"/>
          <a:stretch>
            <a:fillRect/>
          </a:stretch>
        </p:blipFill>
        <p:spPr>
          <a:xfrm>
            <a:off x="685800" y="2148840"/>
            <a:ext cx="5761139" cy="3749040"/>
          </a:xfrm>
          <a:prstGeom prst="rect">
            <a:avLst/>
          </a:prstGeom>
        </p:spPr>
      </p:pic>
      <p:sp>
        <p:nvSpPr>
          <p:cNvPr id="7" name="Text 89"/>
          <p:cNvSpPr txBox="1"/>
          <p:nvPr/>
        </p:nvSpPr>
        <p:spPr>
          <a:xfrm>
            <a:off x="7825252" y="2240280"/>
            <a:ext cx="3677900" cy="3657600"/>
          </a:xfrm>
          <a:prstGeom prst="rect">
            <a:avLst/>
          </a:prstGeom>
          <a:noFill/>
          <a:ln/>
        </p:spPr>
        <p:txBody>
          <a:bodyPr wrap="square" lIns="0" tIns="0" rIns="0" bIns="0" rtlCol="0" anchor="t"/>
          <a:lstStyle/>
          <a:p>
            <a:pPr indent="0" marL="0">
              <a:buNone/>
            </a:pPr>
            <a:r>
              <a:rPr lang="en-US" sz="1600" dirty="0">
                <a:solidFill>
                  <a:schemeClr val="tx1"/>
                </a:solidFill>
              </a:rPr>
              <a:t>Pretransplant: chelation, JAK inhibition, spleen. Donor: MSD &gt; MUD &gt; MMUD / haplo / cord. Conditioning by age, disease status and comorbidity. GVHD prophylaxis by relapse risk. Molecular MRD; DLI if positive after CNI stop.</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CML HISTORY AND T-CELL DEPLETION</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Older CML strategies show the graft-versus-leukaemia effect at work</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Kröger N, et al. EBMT Handbook 8th ed. 2024; Ch. 77</a:t>
            </a:r>
            <a:endParaRPr lang="en-US" sz="1000" dirty="0"/>
          </a:p>
        </p:txBody>
      </p:sp>
      <p:sp>
        <p:nvSpPr>
          <p:cNvPr id="6" name="Text 90"/>
          <p:cNvSpPr txBox="1"/>
          <p:nvPr/>
        </p:nvSpPr>
        <p:spPr>
          <a:xfrm>
            <a:off x="685800" y="2240280"/>
            <a:ext cx="10817352" cy="365760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chemeClr val="tx1"/>
                </a:solidFill>
              </a:rPr>
              <a:t>Busulfan, hydroxycarbamide and radiotherapy controlled CP but never prevented blast crisis</a:t>
            </a:r>
            <a:endParaRPr lang="en-US" sz="2000" dirty="0"/>
          </a:p>
          <a:p>
            <a:pPr marL="342900" indent="-342900">
              <a:spcAft>
                <a:spcPts val="800"/>
              </a:spcAft>
              <a:buSzPct val="100000"/>
              <a:buChar char="•"/>
            </a:pPr>
            <a:r>
              <a:rPr lang="en-US" sz="2000" dirty="0">
                <a:solidFill>
                  <a:schemeClr val="tx1"/>
                </a:solidFill>
              </a:rPr>
              <a:t>BMT (syngeneic, then sibling, then unrelated) was the first treatment that cured CML</a:t>
            </a:r>
            <a:endParaRPr lang="en-US" sz="2000" dirty="0"/>
          </a:p>
          <a:p>
            <a:pPr marL="342900" indent="-342900">
              <a:spcAft>
                <a:spcPts val="800"/>
              </a:spcAft>
              <a:buSzPct val="100000"/>
              <a:buChar char="•"/>
            </a:pPr>
            <a:r>
              <a:rPr lang="en-US" sz="2000" dirty="0">
                <a:solidFill>
                  <a:schemeClr val="tx1"/>
                </a:solidFill>
              </a:rPr>
              <a:t>Autologous HCT: not recommended; role unknown for lack of randomised trials</a:t>
            </a:r>
            <a:endParaRPr lang="en-US" sz="2000" dirty="0"/>
          </a:p>
          <a:p>
            <a:pPr marL="342900" indent="-342900">
              <a:spcAft>
                <a:spcPts val="800"/>
              </a:spcAft>
              <a:buSzPct val="100000"/>
              <a:buChar char="•"/>
            </a:pPr>
            <a:r>
              <a:rPr lang="en-US" sz="2000" dirty="0">
                <a:solidFill>
                  <a:schemeClr val="tx1"/>
                </a:solidFill>
              </a:rPr>
              <a:t>Geneva, 23 sibling MAC with partial TCD (alemtuzumab) + escalating DLI: 15-y OS 95%</a:t>
            </a:r>
            <a:endParaRPr lang="en-US" sz="2000" dirty="0"/>
          </a:p>
          <a:p>
            <a:pPr marL="342900" indent="-342900">
              <a:spcAft>
                <a:spcPts val="800"/>
              </a:spcAft>
              <a:buSzPct val="100000"/>
              <a:buChar char="•"/>
            </a:pPr>
            <a:r>
              <a:rPr lang="en-US" sz="2000" dirty="0">
                <a:solidFill>
                  <a:schemeClr val="tx1"/>
                </a:solidFill>
              </a:rPr>
              <a:t>This Geneva series is unpublished data quoted in the chapter</a:t>
            </a:r>
            <a:endParaRPr lang="en-US" sz="2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29</a:t>
            </a:fld>
            <a:endParaRPr lang="en-US"/>
          </a:p>
        </p:txBody>
      </p:sp>
    </p:spTree>
  </p:cSld>
  <p:clrMapOvr>
    <a:masterClrMapping/>
  </p:clrMapOvr>
</p:sld>
</file>

<file path=ppt/theme/theme1.xml><?xml version="1.0" encoding="utf-8"?>
<a:theme xmlns:a="http://schemas.openxmlformats.org/drawingml/2006/main" name="Monochrome">
  <a:themeElements>
    <a:clrScheme name="Monochrome">
      <a:dk1>
        <a:srgbClr val="000000"/>
      </a:dk1>
      <a:lt1>
        <a:srgbClr val="FFFFFF"/>
      </a:lt1>
      <a:dk2>
        <a:srgbClr val="000000"/>
      </a:dk2>
      <a:lt2>
        <a:srgbClr val="FFFFFF"/>
      </a:lt2>
      <a:accent1>
        <a:srgbClr val="000000"/>
      </a:accent1>
      <a:accent2>
        <a:srgbClr val="000000"/>
      </a:accent2>
      <a:accent3>
        <a:srgbClr val="000000"/>
      </a:accent3>
      <a:accent4>
        <a:srgbClr val="000000"/>
      </a:accent4>
      <a:accent5>
        <a:srgbClr val="000000"/>
      </a:accent5>
      <a:accent6>
        <a:srgbClr val="000000"/>
      </a:accent6>
      <a:hlink>
        <a:srgbClr val="000000"/>
      </a:hlink>
      <a:folHlink>
        <a:srgbClr val="000000"/>
      </a:folHlink>
    </a:clrScheme>
    <a:fontScheme name="Monochrom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HCT for myelofibrosis and CML</dc:title>
  <dc:subject>PptxGenJS Presentation</dc:subject>
  <dc:creator>Hsieh-Ting Lin, MD</dc:creator>
  <cp:lastModifiedBy>Hsieh-Ting Lin, MD</cp:lastModifiedBy>
  <cp:revision>1</cp:revision>
  <dcterms:created xsi:type="dcterms:W3CDTF">2026-10-09T16:12:07Z</dcterms:created>
  <dcterms:modified xsi:type="dcterms:W3CDTF">2026-10-09T16:12:07Z</dcterms:modified>
</cp:coreProperties>
</file>