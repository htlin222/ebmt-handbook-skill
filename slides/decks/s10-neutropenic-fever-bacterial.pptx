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e867f19-27a7-3c57-75d4-824e8222786b}">
          <p14:sldIdLst>
            <p14:sldId id="256"/>
            <p14:sldId id="257"/>
          </p14:sldIdLst>
        </p14:section>
        <p14:section name="Neutropenic fever" id="{bcdb3487-5eea-4655-d7c2-f6d6de548455}">
          <p14:sldIdLst>
            <p14:sldId id="258"/>
            <p14:sldId id="259"/>
            <p14:sldId id="260"/>
            <p14:sldId id="261"/>
            <p14:sldId id="262"/>
          </p14:sldIdLst>
        </p14:section>
        <p14:section name="Bacterial infections" id="{d2144b87-fac5-a3c2-78e9-8ade7ffe8db6}">
          <p14:sldIdLst>
            <p14:sldId id="263"/>
            <p14:sldId id="264"/>
            <p14:sldId id="265"/>
            <p14:sldId id="266"/>
            <p14:sldId id="267"/>
            <p14:sldId id="268"/>
          </p14:sldIdLst>
        </p14:section>
        <p14:section name="Other life-threatening infections" id="{deb3728e-c516-a099-b2d0-190bff550995}">
          <p14:sldIdLst>
            <p14:sldId id="269"/>
            <p14:sldId id="270"/>
            <p14:sldId id="271"/>
          </p14:sldIdLst>
        </p14:section>
        <p14:section name="Board questions" id="{227ee79a-6b42-cf99-4651-676e381ab56a}">
          <p14:sldIdLst>
            <p14:sldId id="272"/>
            <p14:sldId id="273"/>
            <p14:sldId id="274"/>
            <p14:sldId id="275"/>
            <p14:sldId id="276"/>
            <p14:sldId id="277"/>
          </p14:sldIdLst>
        </p14:section>
        <p14:section name="References" id="{0bcf63ff-436b-aff4-8763-6803008578cf}">
          <p14:sldIdLst>
            <p14:sldId id="278"/>
            <p14:sldId id="279"/>
            <p14:sldId id="280"/>
          </p14:sldIdLst>
        </p14:section>
        <p14:section name="Backup" id="{83c1566c-67d0-bb2c-5c9a-ead66d4df8c4}">
          <p14:sldIdLst>
            <p14:sldId id="281"/>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各位早安，第 10 堂的主題是 neutropenic fever、細菌感染，以及其他少見但會致命的感染，對應 EBMT Handbook 第 35、36、39 章。移植後的發燒幾乎人人都會碰到，抗藥 Gram-negative 又是早期死亡的重要原因，所以這幾章在專科考試很常出現。黴菌留到第 11 堂，病毒在第 12 堂。最後一樣用三題 board-style 題目收尾。</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今天分三段。第一段是 neutropenic fever，從發燒當下要做哪些檢查開始，接著是 escalation 和 de-escalation 怎麼選、抗生素用了還在燒怎麼辦，最後是什麼時候可以停藥。這一段是病房每天都會遇到的決策。</a:t>
            </a:r>
          </a:p>
          <a:p>
            <a:pPr>
              <a:spcAft>
                <a:spcPts val="600"/>
              </a:spcAft>
            </a:pPr>
            <a:r>
              <a:rPr lang="en-US" dirty="0"/>
              <a:t>第二段是細菌感染。先看移植後不同時期的細菌風險，再把 Gram-positive 和抗藥 Gram-negative 的首選藥物整理成表，然後是 CVC 什麼時候一定要拔，以及 fluoroquinolone prophylaxis 的爭議。藥名最多的是這段，考題也最喜歡在這裡設陷阱。</a:t>
            </a:r>
          </a:p>
          <a:p>
            <a:pPr>
              <a:spcAft>
                <a:spcPts val="600"/>
              </a:spcAft>
            </a:pPr>
            <a:r>
              <a:rPr lang="en-US" dirty="0"/>
              <a:t>第三段是第 39 章，toxoplasma、結核、NTM、Listeria 和 Nocardia。這幾個病原少見，但只要沒想到就會延誤診斷，而且台灣是結核的盛行區。最後三題分別對應這三段。</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Neutropenic 病人沒有 neutrophil，膿瘍、肺部浸潤、膿尿這些局部表現都出不來，發燒常常是唯一的症狀。發燒的原因很多，病毒、黴菌、ATG、輸血反應、CRS、mucositis、engraftment syndrome、GVHD 都有可能，但 Gram-negative，尤其 Pseudomonas aeruginosa，可以在幾小時內惡化致死，所以在排除之前，一律先當 Gram-negative bacteremia 處理。</a:t>
            </a:r>
          </a:p>
          <a:p>
            <a:pPr>
              <a:spcAft>
                <a:spcPts val="600"/>
              </a:spcAft>
            </a:pPr>
            <a:r>
              <a:rPr lang="en-US" dirty="0"/>
              <a:t>第一步是至少兩套 blood culture，一套是一瓶 aerobic 加一瓶 anaerobic。有 CVC 的話，其中一套從 CVC 抽。每瓶 10 mL，血量是偵測 bacteremia 和 candidemia 最關鍵的因素，病房最常見的問題就是抽太少。</a:t>
            </a:r>
          </a:p>
          <a:p>
            <a:pPr>
              <a:spcAft>
                <a:spcPts val="600"/>
              </a:spcAft>
            </a:pPr>
            <a:r>
              <a:rPr lang="en-US" dirty="0"/>
              <a:t>理學檢查要找細微的局部線索。CVC 出口紅腫想到導管感染，會陰部疼痛想到膿瘍，皮膚指甲病灶想到黴菌，腹部壓痛或腹瀉想到 neutropenic enterocolitis 或 C. difficile，流鼻水送鼻腔病毒檢測，肋膜性胸痛想到 mould。懷疑肺部時直接做 lung CT，因為 chest X-ray 在 neutropenia 的敏感度太低。</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3:00 至 4:00]</a:t>
            </a:r>
          </a:p>
          <a:p>
            <a:pPr>
              <a:spcAft>
                <a:spcPts val="600"/>
              </a:spcAft>
            </a:pPr>
            <a:r>
              <a:rPr lang="en-US" dirty="0"/>
              <a:t>抽完培養，接著做兩個風險評估。一個是臨床嚴重度，決定監測強度和門診病人要不要住院；另一個是抗藥 Gram-negative 的風險。高風險有三種情況，之前有抗藥菌 colonisation、曾經感染過抗藥菌，或單位本身抗藥菌很常見。</a:t>
            </a:r>
          </a:p>
          <a:p>
            <a:pPr>
              <a:spcAft>
                <a:spcPts val="600"/>
              </a:spcAft>
            </a:pPr>
            <a:r>
              <a:rPr lang="en-US" dirty="0"/>
              <a:t>沒有抗藥風險的病人走 escalation，用單一的 anti-pseudomonal β-lactam。有抗藥風險，尤其表現嚴重的，走 de-escalation，一開始就涵蓋 MDR 菌。已知 colonising strain 的病人，可以在發燒之前就依它的藥敏把 empirical 處方寫在病歷上。</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4:00 至 6:00]</a:t>
            </a:r>
          </a:p>
          <a:p>
            <a:pPr>
              <a:spcAft>
                <a:spcPts val="600"/>
              </a:spcAft>
            </a:pPr>
            <a:r>
              <a:rPr lang="en-US" dirty="0"/>
              <a:t>這是書上的 Table 35.1。Escalation 是傳統做法，先用涵蓋 susceptible Enterobacteriaceae 和 Pseudomonas 的單一藥物，cefepime、ceftazidime 或 piperacillin-tazobactam，發燒持續 48 到 72 小時再調整。好處是省下 carbapenem，毒性也比較低。弱點在於萬一分離出的 Gram-negative 對起始藥物無效，預後會明顯變差。</a:t>
            </a:r>
          </a:p>
          <a:p>
            <a:pPr>
              <a:spcAft>
                <a:spcPts val="600"/>
              </a:spcAft>
            </a:pPr>
            <a:r>
              <a:rPr lang="en-US" dirty="0"/>
              <a:t>De-escalation 反過來，一開始就涵蓋 MDR Gram-negative，用 carbapenem 或新的 β-lactam/β-lactamase inhibitor，例如 ceftolozane-tazobactam 或 ceftazidime-avibactam，必要時合併 aminoglycoside 或 Gram-positive coverage。72 到 96 小時後如果沒有分離出 MDR 菌，不論是培養到敏感菌還是培養陰性，就降階。好處是培養結果出來前就給到有效藥物，死亡率較低；風險是沒有確實降階時，抗生素壓力非常大。</a:t>
            </a:r>
          </a:p>
          <a:p>
            <a:pPr>
              <a:spcAft>
                <a:spcPts val="600"/>
              </a:spcAft>
            </a:pPr>
            <a:r>
              <a:rPr lang="en-US" dirty="0"/>
              <a:t>Escalation 時，不建議常規用 carbapenem，也不建議常規合併 β-lactam 和 aminoglycoside，後者毒性較多，卻沒有臨床好處。起始藥物要依自己醫院最常見 Gram-negative 的藥敏來選。</a:t>
            </a:r>
          </a:p>
          <a:p>
            <a:pPr>
              <a:spcAft>
                <a:spcPts val="600"/>
              </a:spcAft>
            </a:pPr>
            <a:r>
              <a:rPr lang="en-US" dirty="0"/>
              <a:t>底下這行常考。Vancomycin 這類 Gram-positive coverage，不論是起始治療或持續發燒，都不建議常規加上，除非有皮膚或 CVC 感染、肺炎，或已證實 Gram-positive 感染。Cochrane 的 Beyar-Katz 2017 也沒有看到常規加藥的效益。</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6:00 至 7:30]</a:t>
            </a:r>
          </a:p>
          <a:p>
            <a:pPr>
              <a:spcAft>
                <a:spcPts val="600"/>
              </a:spcAft>
            </a:pPr>
            <a:r>
              <a:rPr lang="en-US" dirty="0"/>
              <a:t>抗生素用了還在燒並不少見，判斷的關鍵是病人的臨床狀況。沒有 septic shock、意識改變或呼吸變差時，先想到反應比較慢，尤其 CRP 或 procalcitonin 在下降；也要想到病毒、黴菌，或 mucositis、CRS、engraftment syndrome 這些非感染原因。病情穩定時，通常不需要換抗生素。</a:t>
            </a:r>
          </a:p>
          <a:p>
            <a:pPr>
              <a:spcAft>
                <a:spcPts val="600"/>
              </a:spcAft>
            </a:pPr>
            <a:r>
              <a:rPr lang="en-US" dirty="0"/>
              <a:t>黴菌方面，screening 或發燒當天送的 serum GM、PCR，到發燒第 2 到 3 天應該有結果，用來決定抗黴菌治療，IA 高風險的病人要安排 lung CT。EORTC 的 Maertens 2023 randomized trial 顯示，在 fluconazole 預防的高風險病人，diagnostic-driven 策略讓接受抗黴菌藥的人數少一半，死亡率和黴菌感染都沒有增加。細節在第 11 堂。</a:t>
            </a:r>
          </a:p>
          <a:p>
            <a:pPr>
              <a:spcAft>
                <a:spcPts val="600"/>
              </a:spcAft>
            </a:pPr>
            <a:r>
              <a:rPr lang="en-US" dirty="0"/>
              <a:t>病情惡化時，積極 work-up，包括重複血液培養、病毒和黴菌檢查、CT、肺炎做 BAL、有 CNS 症狀做腰椎穿刺；等結果的同時把抗生素升級，涵蓋 ESBL、MRSA 和 ampicillin-resistant enterococci，必要時加抗黴菌藥。有腹瀉一定先驗 C. difficile，單純升級抗生素會讓 CDI 更嚴重。</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7:30 至 9:00]</a:t>
            </a:r>
          </a:p>
          <a:p>
            <a:pPr>
              <a:spcAft>
                <a:spcPts val="600"/>
              </a:spcAft>
            </a:pPr>
            <a:r>
              <a:rPr lang="en-US" dirty="0"/>
              <a:t>停藥時機是近年改變最大的地方。傳統做法是用到 neutrophil 回升，ECIL 的建議是，沒有 documented infection 的病人，IV 抗生素用滿 72 小時以上，從發燒開始血行動力學一直穩定，並且已退燒 48 小時以上，就可以停，不看 ANC，也不管 neutropenia 還要多久。理由是菌相被破壞，會增加抗藥菌 colonisation 和之後致命的感染。</a:t>
            </a:r>
          </a:p>
          <a:p>
            <a:pPr>
              <a:spcAft>
                <a:spcPts val="600"/>
              </a:spcAft>
            </a:pPr>
            <a:r>
              <a:rPr lang="en-US" dirty="0"/>
              <a:t>證據來自 How Long trial，157 位高風險病人，退燒 72 小時加上臨床恢復就停藥，安全，也省下抗生素天數。注意同一章的 key points 用的是這個 72 小時退燒的條件，和 ECIL 的 48 小時不同，考試看清楚題目引用哪一個。de Jonge 2022 更積極，carbapenem 第 3 天就停，治療失敗沒有差別，但短療程組的 serious adverse events 比較多，主要是持續發燒者的再住院，所以停藥前最好先看到臨床改善。</a:t>
            </a:r>
          </a:p>
          <a:p>
            <a:pPr>
              <a:spcAft>
                <a:spcPts val="600"/>
              </a:spcAft>
            </a:pPr>
            <a:r>
              <a:rPr lang="en-US" dirty="0"/>
              <a:t>有 documented infection 的話，依第 36 章至少 7 天，並且退燒至少 4 天。</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9:00 至 10:00]</a:t>
            </a:r>
          </a:p>
          <a:p>
            <a:pPr>
              <a:spcAft>
                <a:spcPts val="600"/>
              </a:spcAft>
            </a:pPr>
            <a:r>
              <a:rPr lang="en-US" dirty="0"/>
              <a:t>細菌感染最常見的是 bloodstream infection，auto-HCT 大約 5 到 10%，allo-HCT 20 到 50%，多數在 engraftment 之前。Pre-engraftment 的風險來自 neutropenia 和屏障破壞，也就是 mucositis 和血管導管，Gram-positive cocci 和 Gram-negative 都有；haplo 和 cord blood engraftment 比較慢，風險更高。</a:t>
            </a:r>
          </a:p>
          <a:p>
            <a:pPr>
              <a:spcAft>
                <a:spcPts val="600"/>
              </a:spcAft>
            </a:pPr>
            <a:r>
              <a:rPr lang="en-US" dirty="0"/>
              <a:t>Engraftment 到 day 100，主要是 CVC、免疫尚未重建，以及 GVHD 和它的治療。Day 100 以後是 humoral 和 cellular immunity 不足，要想到肺炎鏈球菌和 Haemophilus influenzae，少數是 mycobacteria、Nocardia、Listeria，這幾個在第三段再談。</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10:00 至 12:00]</a:t>
            </a:r>
          </a:p>
          <a:p>
            <a:pPr>
              <a:spcAft>
                <a:spcPts val="600"/>
              </a:spcAft>
            </a:pPr>
            <a:r>
              <a:rPr lang="en-US" dirty="0"/>
              <a:t>Gram-positive 依序看五種菌。CoNS 佔 BSI 的 7 到 63%，真正的 CoNS BSI 要至少兩套連續陽性，通常和 CVC 有關。Methicillin 抗藥很常見，所以用 glycopeptide，預後通常不錯。</a:t>
            </a:r>
          </a:p>
          <a:p>
            <a:pPr>
              <a:spcAft>
                <a:spcPts val="600"/>
              </a:spcAft>
            </a:pPr>
            <a:r>
              <a:rPr lang="en-US" dirty="0"/>
              <a:t>S. aureus 只佔 3 到 8%，attributable mortality 卻有 12 到 40%。MSSA 用 cefazolin 或 oxacillin；MRSA BSI 用 vancomycin 或 daptomycin，治療 BSI 時 daptomycin 考慮 8 到 12 mg/kg/day。Daptomycin 會被 surfactant 失活，不能拿來治療肺炎，這是很典型的考點。Linezolid 有骨髓抑制，移植病人要小心。</a:t>
            </a:r>
          </a:p>
          <a:p>
            <a:pPr>
              <a:spcAft>
                <a:spcPts val="600"/>
              </a:spcAft>
            </a:pPr>
            <a:r>
              <a:rPr lang="en-US" dirty="0"/>
              <a:t>Enterococci 佔 4 到 24%，較晚發生，E. faecium 比 E. faecalis 多。VRE 的危險因子是 colonisation、mucositis 和廣效抗生素，常見於狀況差、合併 GVHD 的病人，這也解釋了為什麼 empirical 涵蓋 VRE 沒有降低死亡率。VRE 用 linezolid 或 daptomycin，也可以 daptomycin 合併 ampicillin、ceftriaxone 或 ceftaroline。</a:t>
            </a:r>
          </a:p>
          <a:p>
            <a:pPr>
              <a:spcAft>
                <a:spcPts val="600"/>
              </a:spcAft>
            </a:pPr>
            <a:r>
              <a:rPr lang="en-US" dirty="0"/>
              <a:t>Viridans streptococci 佔 7 到 24%，發生得早，可以合併 ARDS 和 septic shock。危險因子包括 cytarabine 引起的 mucositis、FQ 或 ceftazidime 暴露、制酸劑、MAC 和 haplo。它對 ceftazidime 不敏感，加上有 β-lactam 抗藥株，所以 neutropenic 病人出現 septic shock 時要加 vancomycin，這是前面不常規加 vancomycin 的重要例外。肺炎鏈球菌是晚期問題，死亡率 13 到 30%，預防那張再談。</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12:00 至 14:00]</a:t>
            </a:r>
          </a:p>
          <a:p>
            <a:pPr>
              <a:spcAft>
                <a:spcPts val="600"/>
              </a:spcAft>
            </a:pPr>
            <a:r>
              <a:rPr lang="en-US" dirty="0"/>
              <a:t>先看底下這行數字。EBMT 的多國前瞻性研究裡，一半的 Gram-negative 對 non-carbapenem β-lactam 抗藥，而這正是 febrile neutropenia 的 first-line；18.5% 對 carbapenem 抗藥，35% 是 MDR。Allo 比 auto 高，東南歐比西北歐高。Carbapenem-resistant 的危險因子是同一種菌的 colonisation 或感染、carbapenem 治療中 breakthrough，以及住過 ICU。</a:t>
            </a:r>
          </a:p>
          <a:p>
            <a:pPr>
              <a:spcAft>
                <a:spcPts val="600"/>
              </a:spcAft>
            </a:pPr>
            <a:r>
              <a:rPr lang="en-US" dirty="0"/>
              <a:t>ESBL 菌通常對 ceftriaxone 抗藥，體外可能看起來對其他 β-lactam 敏感，但嚴重感染仍然用 carbapenem，pip-tazo、ceftazidime、cefepime 即使藥敏顯示敏感也不建議。Enterobacter cloacae、Klebsiella aerogenes、Citrobacter freundii 有 inducible AmpC，治療中會產生抗藥，首選也是 carbapenem。</a:t>
            </a:r>
          </a:p>
          <a:p>
            <a:pPr>
              <a:spcAft>
                <a:spcPts val="600"/>
              </a:spcAft>
            </a:pPr>
            <a:r>
              <a:rPr lang="en-US" dirty="0"/>
              <a:t>Carbapenemase 分三類。KPC 用 meropenem-vaborbactam 或 ceftazidime-avibactam，結果比舊的 colistin-based regimen 好，腎毒性也低。OXA-48-like 用 ceftazidime-avibactam。Metallo-β-lactamase，像 NDM、VIM，用 aztreonam 加 ceftazidime-avibactam，或 cefiderocol。這組配對考試很愛考，尤其 MBL 要加 aztreonam。</a:t>
            </a:r>
          </a:p>
          <a:p>
            <a:pPr>
              <a:spcAft>
                <a:spcPts val="600"/>
              </a:spcAft>
            </a:pPr>
            <a:r>
              <a:rPr lang="en-US" dirty="0"/>
              <a:t>對 β-lactam 敏感的菌，不建議常規合併 aminoglycoside、polymyxin 或 FQ。只剩舊藥有效的 CRE，或拿不到新藥時，才用一種以上的有效藥物。</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14:00 至 15:30]</a:t>
            </a:r>
          </a:p>
          <a:p>
            <a:pPr>
              <a:spcAft>
                <a:spcPts val="600"/>
              </a:spcAft>
            </a:pPr>
            <a:r>
              <a:rPr lang="en-US" dirty="0"/>
              <a:t>Pseudomonas aeruginosa 佔 BSI 的 4 到 16%，死亡率 39 到 79%，25 到 71% 是 MDR，治療中也會產生抗藥。敏感的 PA 優先用 non-carbapenem β-lactam。DTR，difficult-to-treat，是指對 pip-tazo、ceftazidime、cefepime、aztreonam、兩種 carbapenem 和兩種 FQ 全部不敏感，首選 ceftolozane-tazobactam，但要留意治療中產生抗藥，並和 ceftazidime-avibactam 交叉抗藥。</a:t>
            </a:r>
          </a:p>
          <a:p>
            <a:pPr>
              <a:spcAft>
                <a:spcPts val="600"/>
              </a:spcAft>
            </a:pPr>
            <a:r>
              <a:rPr lang="en-US" dirty="0"/>
              <a:t>Stenotrophomonas maltophilia 會造成出血性肺炎，天生對 carbapenem 和 aminoglycoside 抗藥，所以在 carbapenem 治療中冒出來並不意外，首選 TMP/SMX。CRAB 多半和 ICU 有關，至少兩種有效藥物，以高劑量延長輸注的 ampicillin-sulbactam 為主，cefiderocol 因為死亡率較高，不建議常規使用。</a:t>
            </a:r>
          </a:p>
          <a:p>
            <a:pPr>
              <a:spcAft>
                <a:spcPts val="600"/>
              </a:spcAft>
            </a:pPr>
            <a:r>
              <a:rPr lang="en-US" dirty="0"/>
              <a:t>底下這行是例外條款，neutropenic 病人的嚴重 Pseudomonas 感染，常會先合併治療到病情穩定。</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15:30 至 17:00]</a:t>
            </a:r>
          </a:p>
          <a:p>
            <a:pPr>
              <a:spcAft>
                <a:spcPts val="600"/>
              </a:spcAft>
            </a:pPr>
            <a:r>
              <a:rPr lang="en-US" dirty="0"/>
              <a:t>CRBSI 在這幾種情況要懷疑，血液培養持續陽性、出口或 tunnel 感染，以及沖管時發冷發燒。確認方法是同時從 CVC 和周邊靜脈抽血，CVC 那瓶比周邊早超過 120 分鐘轉陽，也就是 differential time to positivity 大於 120 分鐘；另一種是半定量或定量培養。</a:t>
            </a:r>
          </a:p>
          <a:p>
            <a:pPr>
              <a:spcAft>
                <a:spcPts val="600"/>
              </a:spcAft>
            </a:pPr>
            <a:r>
              <a:rPr lang="en-US" dirty="0"/>
              <a:t>原則是拔管加全身抗生素。一定要拔的情況有四類，菌種是 S. aureus、P. aeruginosa、黴菌或 mycobacteria；嚴重 sepsis 合併血行動力學不穩；suppurative thrombophlebitis 或 endocarditis；適當抗生素下血液培養超過 72 小時仍陽性，或 tunnel、port pocket 感染。只有穩定、沒有併發症時，才考慮用 antimicrobial lock 保留導管。</a:t>
            </a:r>
          </a:p>
          <a:p>
            <a:pPr>
              <a:spcAft>
                <a:spcPts val="600"/>
              </a:spcAft>
            </a:pPr>
            <a:r>
              <a:rPr lang="en-US" dirty="0"/>
              <a:t>考題常給 S. aureus 或 Pseudomonas bacteremia 的病人，問要不要拔管，依這張圖答案幾乎都是要拔。</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17:00 至 18:30]</a:t>
            </a:r>
          </a:p>
          <a:p>
            <a:pPr>
              <a:spcAft>
                <a:spcPts val="600"/>
              </a:spcAft>
            </a:pPr>
            <a:r>
              <a:rPr lang="en-US" dirty="0"/>
              <a:t>預防先從感染控制開始，手部衛生、chlorhexidine 擦澡、單人房；流行時篩檢 colonisation、接觸隔離和 cohorting。CPE 的常規去 colonisation 沒有證據支持。CRBSI bundle 包括專門團隊無菌置放、避免 femoral、chlorhexidine 消毒，以及拔掉不需要的導管。</a:t>
            </a:r>
          </a:p>
          <a:p>
            <a:pPr>
              <a:spcAft>
                <a:spcPts val="600"/>
              </a:spcAft>
            </a:pPr>
            <a:r>
              <a:rPr lang="en-US" dirty="0"/>
              <a:t>FQ prophylaxis 在多個指引中仍建議用於預期 neutropenia 7 天以上的成人。不過 1980 到 2018 年的 meta-analysis 顯示死亡率沒有下降，febrile neutropenia 大約少 15%，BSI 的減少主要在 acute leukemia 和 auto-HCT，allo-HCT 沒有看到。代價包括 C. difficile、菌相改變可能增加 GVHD，以及 FQ-resistant 或 MDR Gram-negative。Allo-HCT 證據最弱這一點常被拿來出題。</a:t>
            </a:r>
          </a:p>
          <a:p>
            <a:pPr>
              <a:spcAft>
                <a:spcPts val="600"/>
              </a:spcAft>
            </a:pPr>
            <a:r>
              <a:rPr lang="en-US" dirty="0"/>
              <a:t>Day 100 以後，cGVHD 或 hypogammaglobulinemia 的病人給口服 penicillin，前提是當地抗藥率低，而且不論有沒有打過疫苗；IgG 低於 400 mg/dL 給 IVIg，再加上疫苗。</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18:30 至 20:30]</a:t>
            </a:r>
          </a:p>
          <a:p>
            <a:pPr>
              <a:spcAft>
                <a:spcPts val="600"/>
              </a:spcAft>
            </a:pPr>
            <a:r>
              <a:rPr lang="en-US" dirty="0"/>
              <a:t>第 39 章的病原有一個共通點，就是嚴重的細胞免疫抑制，尤其是長期用 steroid 的 GVHD。先看 toxoplasma。它幾乎都是血清陽性病人的潛伏 cyst 再活化，所以移植前要知道病人的 serostatus。主要發生在 allo-HCT，95% 在六個月內，aGVHD 和它的治療是主要危險因子；沒有 GVHD 但做過 T-cell depletion 的也有風險。平均發生率約 0.8%，低盛行區低於 0.4%，高盛行區 2 到 3%。</a:t>
            </a:r>
          </a:p>
          <a:p>
            <a:pPr>
              <a:spcAft>
                <a:spcPts val="600"/>
              </a:spcAft>
            </a:pPr>
            <a:r>
              <a:rPr lang="en-US" dirty="0"/>
              <a:t>最常侵犯 CNS，表現是亞急性的局部神經學症狀，CT 常見多發雙側病灶，MRI 更敏感；肺炎和心肌炎也常見。診斷靠血、CSF 或 BAL 的 qPCR，組織學是 definite，PCR 是 probable，只有影像是 possible。</a:t>
            </a:r>
          </a:p>
          <a:p>
            <a:pPr>
              <a:spcAft>
                <a:spcPts val="600"/>
              </a:spcAft>
            </a:pPr>
            <a:r>
              <a:rPr lang="en-US" dirty="0"/>
              <a:t>治療是 pyrimethamine 200 mg loading，之後每天 50 到 75 mg，加 folinic acid，再配 sulfadiazine 或 clindamycin。適當治療下最多六成病人改善，神經學症狀通常一週內好轉。</a:t>
            </a:r>
          </a:p>
          <a:p>
            <a:pPr>
              <a:spcAft>
                <a:spcPts val="600"/>
              </a:spcAft>
            </a:pPr>
            <a:r>
              <a:rPr lang="en-US" dirty="0"/>
              <a:t>預防用 TMP/SMX，breakthrough 多半發生在一週吃不到 3 天的人，所以建議每天一顆 single-strength，或 double-strength 一週 4 天。沒有吃 TMP/SMX 的血清陽性病人，改用每週血液 qPCR 監測，類似 CMV 的 preemptive 做法。</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20:30 至 22:00]</a:t>
            </a:r>
          </a:p>
          <a:p>
            <a:pPr>
              <a:spcAft>
                <a:spcPts val="600"/>
              </a:spcAft>
            </a:pPr>
            <a:r>
              <a:rPr lang="en-US" dirty="0"/>
              <a:t>TB 的風險跟所在地區的盛行率成正比，allo 大約是一般人的 2 到 10 倍，auto 沒有明顯增加。書上的 Table 39.3 收了三個台灣的系列，allo 是一般人的 7 到 13.1 倍，放在 backup。表現和一般人相似但進展較快，大約七成五是肺部，肺外以腦膜炎最常見。結核菌只能活在人體，培養到一個 colony 就是確診，不會是 colonisation。QuantiFERON 這類 IGRA 因為 T-cell 缺陷而不可靠，初步診斷靠 PCR。確診後立刻找感染科，藥物組合依當地抗藥情形而定。</a:t>
            </a:r>
          </a:p>
          <a:p>
            <a:pPr>
              <a:spcAft>
                <a:spcPts val="600"/>
              </a:spcAft>
            </a:pPr>
            <a:r>
              <a:rPr lang="en-US" dirty="0"/>
              <a:t>ECIL 只在特定情況建議找感染科評估預防，例如和開放性肺結核有實質接觸，或 IGRA 陽性、未治療且影像有肺部病灶；以前已經適當治療過的 TB 不需要篩檢或預防。台灣的篩檢做法要再確認。</a:t>
            </a:r>
          </a:p>
          <a:p>
            <a:pPr>
              <a:spcAft>
                <a:spcPts val="600"/>
              </a:spcAft>
            </a:pPr>
            <a:r>
              <a:rPr lang="en-US" dirty="0"/>
              <a:t>NTM 以 CVC 感染最多，佔四成，導管應該拔除，等感染科意見時先給 macrolide 加 moxifloxacin 或 levofloxacin。MAC 則見於嚴重 steroid-dependent cGVHD，超過一半血液培養陽性。</a:t>
            </a:r>
          </a:p>
          <a:p>
            <a:pPr>
              <a:spcAft>
                <a:spcPts val="600"/>
              </a:spcAft>
            </a:pPr>
            <a:r>
              <a:rPr lang="en-US" b="1" dirty="0"/>
              <a:t>講者提醒（不念出來）：</a:t>
            </a:r>
          </a:p>
          <a:p>
            <a:pPr>
              <a:spcAft>
                <a:spcPts val="600"/>
              </a:spcAft>
            </a:pPr>
            <a:r>
              <a:rPr lang="en-US" dirty="0"/>
              <a:t>- TO CONFIRM BEFORE PRESENTING: Ch. 39 gives only the ECIL-EBMT scenarios (Bergeron 2022) and notes most centres do not screen; check the current Taiwan CDC / TBMT practice on pre-HCT latent TB screening (IGRA/TST) and LTBI treatment for HCT candidates.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22:00 至 23:30]</a:t>
            </a:r>
          </a:p>
          <a:p>
            <a:pPr>
              <a:spcAft>
                <a:spcPts val="600"/>
              </a:spcAft>
            </a:pPr>
            <a:r>
              <a:rPr lang="en-US" dirty="0"/>
              <a:t>Listeria 是食物傳染的 Gram-positive 桿菌，冰箱溫度也能生長。唯一的危險因子是吃到被污染的食物，加上嚴重細胞免疫抑制，各中心報告的發生率從低於 0.1% 到 0.47%。幾乎都是 sepsis 合併 bacteremia，40 到 60% 有 CNS 侵犯，可以是腦膜炎、腦炎、腦膿瘍或 rhombencephalitis。治療是高劑量 ampicillin 加 aminoglycoside 三週，CNS 感染六週。EBMT 的 case-control 研究，存活率 48% 對照組 72%。</a:t>
            </a:r>
          </a:p>
          <a:p>
            <a:pPr>
              <a:spcAft>
                <a:spcPts val="600"/>
              </a:spcAft>
            </a:pPr>
            <a:r>
              <a:rPr lang="en-US" dirty="0"/>
              <a:t>Nocardia 是分枝狀、acid-fast 的 Gram-positive 桿菌，從土壤吸入，是晚期感染，典型病人有 steroid-dependent cGVHD。九成有肺部結節，傾向空洞化，最主要的鑑別診斷是 mould。大約三分之一一開始就有 CNS 侵犯，常常沒有症狀，所以肺部 nocardiosis 一律要照腦部影像。Basal meningitis 造成的 SIADH 也常見。治療是高劑量 TMP/SMX 至少六個月。</a:t>
            </a:r>
          </a:p>
          <a:p>
            <a:pPr>
              <a:spcAft>
                <a:spcPts val="600"/>
              </a:spcAft>
            </a:pPr>
            <a:r>
              <a:rPr lang="en-US" dirty="0"/>
              <a:t>最後一列是常見陷阱，一週兩到三天的 TMP/SMX 預防不了 Nocardia。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第一題。38 歲女性，AML，myeloablative allo-HCT 後 day 6，已知直腸 colonised KPC-producing Klebsiella pneumoniae。現在發燒 38.9 度，血壓 85/50，血液培養已經抽了。要選最適當的 empirical 抗生素策略。</a:t>
            </a:r>
          </a:p>
          <a:p>
            <a:pPr>
              <a:spcAft>
                <a:spcPts val="600"/>
              </a:spcAft>
            </a:pPr>
            <a:r>
              <a:rPr lang="en-US" dirty="0"/>
              <a:t>A 是 cefepime 單一藥物，48 到 72 小時還燒再換；B 是 pip-tazo 加 vancomycin；C 是以 ceftazidime-avibactam 為主，72 到 96 小時沒有 KPC 就降階；D 是 meropenem 單一藥物；E 是等培養陽性再給。</a:t>
            </a:r>
          </a:p>
          <a:p>
            <a:pPr>
              <a:spcAft>
                <a:spcPts val="600"/>
              </a:spcAft>
            </a:pPr>
            <a:r>
              <a:rPr lang="en-US" dirty="0"/>
              <a:t>先判斷病人該走哪一種策略，再看哪個選項的藥物對 colonising strain 有效。</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正確的是 C。這位病人同時有兩個條件，已知抗藥菌 colonisation，加上休克的嚴重表現，正好是 de-escalation 的適應症。起始藥物要對 colonising strain 有效，KPC 的選擇是 ceftazidime-avibactam 或 meropenem-vaborbactam，72 到 96 小時後沒有分離出 MDR 菌再降階。</a:t>
            </a:r>
          </a:p>
          <a:p>
            <a:pPr>
              <a:spcAft>
                <a:spcPts val="600"/>
              </a:spcAft>
            </a:pPr>
            <a:r>
              <a:rPr lang="en-US" dirty="0"/>
              <a:t>A 是主要陷阱，escalation 用在沒有抗藥風險的病人，這裡起始藥物一旦對分離出的 Gram-negative 無效，預後明顯變差。D 的 meropenem 看似夠廣，但 KPC 本身就是 carbapenemase。B 的 vancomycin 不是這裡的重點，E 更不可能，Gram-negative 可以在幾小時內致死。</a:t>
            </a:r>
          </a:p>
          <a:p>
            <a:pPr>
              <a:spcAft>
                <a:spcPts val="600"/>
              </a:spcAft>
            </a:pPr>
            <a:r>
              <a:rPr lang="en-US" dirty="0"/>
              <a:t>這類病人最好在發燒之前，就依 colonising strain 的藥敏把 empirical 處方寫在病歷上，一發燒就能立刻給藥。</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第二題。60 歲 myeloma 男性，autologous HCT 後 day 5，仍在 neutropenia。四天前發燒開始 IV cefepime，24 小時後退燒，之後血行動力學一直穩定。培養和 CT 都找不到感染源，neutrophil 是 0.1。</a:t>
            </a:r>
          </a:p>
          <a:p>
            <a:pPr>
              <a:spcAft>
                <a:spcPts val="600"/>
              </a:spcAft>
            </a:pPr>
            <a:r>
              <a:rPr lang="en-US" dirty="0"/>
              <a:t>A 是繼續用到 neutrophil 超過 0.5，B 是現在停藥、再燒就立刻重開，C 是改口服 levofloxacin 到恢復，D 是升級 meropenem，E 是加 vancomycin。</a:t>
            </a:r>
          </a:p>
          <a:p>
            <a:pPr>
              <a:spcAft>
                <a:spcPts val="600"/>
              </a:spcAft>
            </a:pPr>
            <a:r>
              <a:rPr lang="en-US" dirty="0"/>
              <a:t>對照停藥的條件，IV 抗生素用了多久、是否一直穩定、退燒多久，再想 neutrophil 數字重不重要。</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選 B。病人已經用了 4 天 IV 抗生素，退燒大約 72 小時，從發燒開始一直穩定，也沒有 documented infection，ECIL 的條件和 How Long trial 的條件都符合，而且不看 neutrophil 數字。</a:t>
            </a:r>
          </a:p>
          <a:p>
            <a:pPr>
              <a:spcAft>
                <a:spcPts val="600"/>
              </a:spcAft>
            </a:pPr>
            <a:r>
              <a:rPr lang="en-US" dirty="0"/>
              <a:t>A 是最多人選的答案，也就是傳統的用到 neutrophil 回升，這只會增加抗生素壓力和抗藥菌的選擇。D 和 E 的升級在病情穩定時沒有理由，vancomycin 沒有 Gram-positive 的證據就不該加。C 改成 FQ 也不是書上的建議。</a:t>
            </a:r>
          </a:p>
          <a:p>
            <a:pPr>
              <a:spcAft>
                <a:spcPts val="600"/>
              </a:spcAft>
            </a:pPr>
            <a:r>
              <a:rPr lang="en-US" dirty="0"/>
              <a:t>停藥之後要密切觀察，只要再發燒就立刻重新開始 empirical 抗生素，這是停藥策略安全的前提。de Jonge 的研究也提醒，停藥前最好先看到臨床改善。</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最後一題。57 歲男性，移植後 14 個月，因為 steroid-dependent chronic GVHD 持續吃 prednisolone，TMP/SMX 一週只吃兩天。現在發燒咳嗽，CT 有兩顆空洞化的肺結節，BAL 看到分枝狀、acid-fast 的 Gram-positive 桿菌。神經學檢查正常。</a:t>
            </a:r>
          </a:p>
          <a:p>
            <a:pPr>
              <a:spcAft>
                <a:spcPts val="600"/>
              </a:spcAft>
            </a:pPr>
            <a:r>
              <a:rPr lang="en-US" dirty="0"/>
              <a:t>選項包括腦部影像、兩週後重做 BAL、加 voriconazole、四合一抗結核藥，以及總共三週的療程。題目問的是除了高劑量 TMP/SMX 之外，一定要做的事。</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答 A。分枝狀、acid-fast 的 Gram-positive 桿菌，加上晚期、steroid-dependent 的 cGVHD，就是 Nocardia。大約三分之一的病人一開始就有 CNS 侵犯，而且可以沒有症狀，所以肺部 nocardiosis 一律要照腦部 CT 或 MRI。</a:t>
            </a:r>
          </a:p>
          <a:p>
            <a:pPr>
              <a:spcAft>
                <a:spcPts val="600"/>
              </a:spcAft>
            </a:pPr>
            <a:r>
              <a:rPr lang="en-US" dirty="0"/>
              <a:t>B 錯在 Nocardia 和結核菌一樣不會 colonise 呼吸道，培養到就是感染。C 的 mould 是最主要的鑑別診斷，但菌的型態已經給答案了。D 是把 acid-fast 直接等同結核。E 的三週是 Listeria 的療程，Nocardia 至少要六個月。</a:t>
            </a:r>
          </a:p>
          <a:p>
            <a:pPr>
              <a:spcAft>
                <a:spcPts val="600"/>
              </a:spcAft>
            </a:pPr>
            <a:r>
              <a:rPr lang="en-US" dirty="0"/>
              <a:t>題幹裡一週兩天的 TMP/SMX 也是線索，2 到 3 天的排程預防不了 Nocardia，這和 PJP 預防的思維不同。</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Neutropenic fever 的鑑別診斷很廣，包括病毒、黴菌等非細菌感染，以及 ATG、輸血反應、CRS、mucositis、engraftment syndrome、GVHD、rejection、haemophagocytosis 和原本疾病。但在排除之前，仍然先當 Gram-negative bacteremia 處理。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Pneumonia 發生在 11 到 24% 的病人，低血氧可能是唯一表現，要立刻做 chest CT、可行時做 bronchoscopy，並開始 empirical 治療。CDI 診斷用 GDH EIA、NAAT 和 toxin EIA 組合。懷疑細菌性腦膜炎時，empirical 用 cefotaxime 或 ceftriaxone 加 ampicillin，依當地肺炎鏈球菌抗藥率考慮加 vancomycin。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第 36 章的處理原則。病人不穩或有抗藥菌 colonisation 時先用廣效，之後降階；targeted therapy 用最窄、毒性最低的有效藥物。β-lactam 先給 loading dose 再延長或持續輸注，死亡率和治療中產生抗藥都比較低。療程至少 7 天，退燒至少 4 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 Table 39.3 的節錄。三個台灣系列中，allo-HCT 後 TB 的風險是一般人的 7 到 13.1 倍，Fan 2015 的 auto 也有 2.5 倍，和歐洲 auto 不增加的資料不同。Liu 2016 的摘要則是 NTM 多於 TB。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Neutropenic fever, bacterial and other life-threatening infections</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10 · Ch. 35, 36 and 39</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INFECTIONS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Three chapters, from the first fever to the rare pathogen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Mikulska M. EBMT Handbook 8th ed. 2024; Ch. 35 · Averbuch D. EBMT Handbook 8th ed. 2024; Ch. 36 · Martino R. EBMT Handbook 8th ed. 2024; Ch. 39</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Neutropenic fever (Ch. 35)</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Work-up, escalation vs de-escalation, persistent fever, stopping</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7.5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Bacterial infections (Ch. 36)</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Risk phases, Gram-positives, resistant Gram-negatives, CVC, prevention</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9.5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Other life-threatening infections (Ch. 39)</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Toxoplasma, tuberculosis, NTM, Listeria, Nocardia</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Board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KPC carrier in shock, stopping antibiotics, nodules in cGVHD</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5.25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NEUTROPENIC FEVER · WORK-UP</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Two culture sets and a careful exam start every febrile episode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Mikulska M. EBMT Handbook 8th ed. 2024; Ch. 35</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721608"/>
                <a:gridCol w="7095744"/>
              </a:tblGrid>
              <a:tr h="0">
                <a:tc>
                  <a:txBody>
                    <a:bodyPr/>
                    <a:lstStyle/>
                    <a:p>
                      <a:pPr indent="0" marL="0">
                        <a:buNone/>
                      </a:pPr>
                      <a:r>
                        <a:rPr lang="en-US" sz="1600" b="1" dirty="0">
                          <a:solidFill>
                            <a:schemeClr val="tx1"/>
                          </a:solidFill>
                        </a:rPr>
                        <a:t>Step or finding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Action or meaning</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Blood cultures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2 sets (aerobic + anaerobic bottle), 1 set via the CVC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Blood volume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10 mL per bottle: volume drives detection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CVC exit or entry site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Catheter infection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Perineal pain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Perianal abscess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Skin or nail lesions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Fungal infection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Abdominal defence, diarrhoea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Neutropenic enterocolitis, C. difficile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Rhinorrhoea; pleuritic pain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Respiratory virus; invasive mould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Lung focus suspected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Lung CT: chest X-ray is too insensitive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NEUTROPENIC FEVER · EMPIRICAL STRATEGY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Severity and resistance risk decide the first antibiotic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Mikulska M. EBMT Handbook 8th ed. 2024; Ch. 35</a:t>
            </a:r>
            <a:endParaRPr lang="en-US" sz="1000" dirty="0"/>
          </a:p>
        </p:txBody>
      </p:sp>
      <p:sp>
        <p:nvSpPr>
          <p:cNvPr id="6" name="Box 21"/>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Febrile neutropenia: assess severity and MDR risk</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22"/>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Low MDR risk</a:t>
            </a:r>
            <a:endParaRPr lang="en-US" sz="1400" dirty="0"/>
          </a:p>
        </p:txBody>
      </p:sp>
      <p:sp>
        <p:nvSpPr>
          <p:cNvPr id="11" name="Box 23"/>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Escalation</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24"/>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Cefepime, ceftazidime or pip-tazo alone</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25"/>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MDR risk, esp. severe</a:t>
            </a:r>
            <a:endParaRPr lang="en-US" sz="1400" dirty="0"/>
          </a:p>
        </p:txBody>
      </p:sp>
      <p:sp>
        <p:nvSpPr>
          <p:cNvPr id="16" name="Box 26"/>
          <p:cNvSpPr txBox="1"/>
          <p:nvPr/>
        </p:nvSpPr>
        <p:spPr>
          <a:xfrm>
            <a:off x="4413504"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De-escalation</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27"/>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Carbapenem or new BL/BLI ± combination</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28"/>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Known colonising strain</a:t>
            </a:r>
            <a:endParaRPr lang="en-US" sz="1400" dirty="0"/>
          </a:p>
        </p:txBody>
      </p:sp>
      <p:sp>
        <p:nvSpPr>
          <p:cNvPr id="21" name="Box 29"/>
          <p:cNvSpPr txBox="1"/>
          <p:nvPr/>
        </p:nvSpPr>
        <p:spPr>
          <a:xfrm>
            <a:off x="8141208"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Regimen written in advance</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30"/>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Chosen by that strain's susceptibility</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NEUTROPENIC FEVER · TABLE 35.1</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Escalation is the default; de-escalation covers MDR risk upfront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Mikulska M. EBMT Handbook 8th ed. 2024; Ch. 35</a:t>
            </a:r>
            <a:endParaRPr lang="en-US" sz="1000" dirty="0"/>
          </a:p>
        </p:txBody>
      </p:sp>
      <p:graphicFrame>
        <p:nvGraphicFramePr>
          <p:cNvPr id="6" name="Table 3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847088"/>
                <a:gridCol w="4224528"/>
                <a:gridCol w="4745736"/>
              </a:tblGrid>
              <a:tr h="0">
                <a:tc>
                  <a:txBody>
                    <a:bodyPr/>
                    <a:lstStyle/>
                    <a:p>
                      <a:pPr indent="0" marL="0">
                        <a:buNone/>
                      </a:pP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Escalation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De-escalation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Start with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Cefepime, ceftazidime or</a:t>
                      </a:r>
                      <a:endParaRPr lang="en-US" sz="1600" dirty="0"/>
                    </a:p>
                    <a:p>
                      <a:pPr indent="0" marL="0">
                        <a:buNone/>
                      </a:pPr>
                      <a:r>
                        <a:rPr lang="en-US" sz="1600" dirty="0">
                          <a:solidFill>
                            <a:schemeClr val="tx1"/>
                          </a:solidFill>
                        </a:rPr>
                        <a:t>piperacillin-tazobactam alone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Carbapenem or new BL/BLI,</a:t>
                      </a:r>
                      <a:endParaRPr lang="en-US" sz="1600" dirty="0"/>
                    </a:p>
                    <a:p>
                      <a:pPr indent="0" marL="0">
                        <a:buNone/>
                      </a:pPr>
                      <a:r>
                        <a:rPr lang="en-US" sz="1600" dirty="0">
                          <a:solidFill>
                            <a:schemeClr val="tx1"/>
                          </a:solidFill>
                        </a:rPr>
                        <a:t>± aminoglycoside or Gram-positive cover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Who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All patients without</a:t>
                      </a:r>
                      <a:endParaRPr lang="en-US" sz="1600" dirty="0"/>
                    </a:p>
                    <a:p>
                      <a:pPr indent="0" marL="0">
                        <a:buNone/>
                      </a:pPr>
                      <a:r>
                        <a:rPr lang="en-US" sz="1600" dirty="0">
                          <a:solidFill>
                            <a:schemeClr val="tx1"/>
                          </a:solidFill>
                        </a:rPr>
                        <a:t>de-escalation criteria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MDR colonised/infected or</a:t>
                      </a:r>
                      <a:endParaRPr lang="en-US" sz="1600" dirty="0"/>
                    </a:p>
                    <a:p>
                      <a:pPr indent="0" marL="0">
                        <a:buNone/>
                      </a:pPr>
                      <a:r>
                        <a:rPr lang="en-US" sz="1600" dirty="0">
                          <a:solidFill>
                            <a:schemeClr val="tx1"/>
                          </a:solidFill>
                        </a:rPr>
                        <a:t>high-MDR centre, esp. if severe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Advantage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Carbapenem sparing; less toxicity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Active therapy before cultures:</a:t>
                      </a:r>
                      <a:endParaRPr lang="en-US" sz="1600" dirty="0"/>
                    </a:p>
                    <a:p>
                      <a:pPr indent="0" marL="0">
                        <a:buNone/>
                      </a:pPr>
                      <a:r>
                        <a:rPr lang="en-US" sz="1600" dirty="0">
                          <a:solidFill>
                            <a:schemeClr val="tx1"/>
                          </a:solidFill>
                        </a:rPr>
                        <a:t>lower mortality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Limitation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Inactive against isolated GNB:</a:t>
                      </a:r>
                      <a:endParaRPr lang="en-US" sz="1600" dirty="0"/>
                    </a:p>
                    <a:p>
                      <a:pPr indent="0" marL="0">
                        <a:buNone/>
                      </a:pPr>
                      <a:r>
                        <a:rPr lang="en-US" sz="1600" dirty="0">
                          <a:solidFill>
                            <a:schemeClr val="tx1"/>
                          </a:solidFill>
                        </a:rPr>
                        <a:t>worse prognosis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Antibiotic pressure, worst if</a:t>
                      </a:r>
                      <a:endParaRPr lang="en-US" sz="1600" dirty="0"/>
                    </a:p>
                    <a:p>
                      <a:pPr indent="0" marL="0">
                        <a:buNone/>
                      </a:pPr>
                      <a:r>
                        <a:rPr lang="en-US" sz="1600" dirty="0">
                          <a:solidFill>
                            <a:schemeClr val="tx1"/>
                          </a:solidFill>
                        </a:rPr>
                        <a:t>not de-escalated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Next step</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Change if fever persists 48–72 h</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Narrow at 72–96 h if no MDR isolated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2"/>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Empirical vancomycin only for skin/CVC signs, pneumonia or a documented Gram-positive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NEUTROPENIC FEVER · PERSISTENT FEVER</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Stability decides what to do when fever persists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Mikulska M. EBMT Handbook 8th ed. 2024; Ch. 35</a:t>
            </a:r>
            <a:endParaRPr lang="en-US" sz="1000" dirty="0"/>
          </a:p>
        </p:txBody>
      </p:sp>
      <p:sp>
        <p:nvSpPr>
          <p:cNvPr id="6" name="Box 33"/>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Fever persists on empirical antibiotics</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34"/>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Stable</a:t>
            </a:r>
            <a:endParaRPr lang="en-US" sz="1400" dirty="0"/>
          </a:p>
        </p:txBody>
      </p:sp>
      <p:sp>
        <p:nvSpPr>
          <p:cNvPr id="11" name="Box 35"/>
          <p:cNvSpPr txBox="1"/>
          <p:nvPr/>
        </p:nvSpPr>
        <p:spPr>
          <a:xfrm>
            <a:off x="685800"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Usually no change</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36"/>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Slow response, virus, fungus, CRS?</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37"/>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Day 2–3 of fever</a:t>
            </a:r>
            <a:endParaRPr lang="en-US" sz="1400" dirty="0"/>
          </a:p>
        </p:txBody>
      </p:sp>
      <p:sp>
        <p:nvSpPr>
          <p:cNvPr id="16" name="Box 38"/>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GM/PCR results; lung CT</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39"/>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Diagnostic-driven antifungal</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40"/>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Deteriorating</a:t>
            </a:r>
            <a:endParaRPr lang="en-US" sz="1400" dirty="0"/>
          </a:p>
        </p:txBody>
      </p:sp>
      <p:sp>
        <p:nvSpPr>
          <p:cNvPr id="21" name="Box 41"/>
          <p:cNvSpPr txBox="1"/>
          <p:nvPr/>
        </p:nvSpPr>
        <p:spPr>
          <a:xfrm>
            <a:off x="6277356"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Aggressive work-up</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42"/>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Escalate antibiotics ± antifungal</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43"/>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Diarrhoea</a:t>
            </a:r>
            <a:endParaRPr lang="en-US" sz="1400" dirty="0"/>
          </a:p>
        </p:txBody>
      </p:sp>
      <p:sp>
        <p:nvSpPr>
          <p:cNvPr id="26" name="Box 44"/>
          <p:cNvSpPr txBox="1"/>
          <p:nvPr/>
        </p:nvSpPr>
        <p:spPr>
          <a:xfrm>
            <a:off x="9073134"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Test for C. difficile</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45"/>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Escalation alone may worsen CDI</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NEUTROPENIC FEVER · STOPPING ANTIBIOTICS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Antibiotics can stop before neutrophil recovery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Mikulska M. EBMT Handbook 8th ed. 2024; Ch. 35 · Averbuch D. EBMT Handbook 8th ed. 2024; Ch. 36</a:t>
            </a:r>
            <a:endParaRPr lang="en-US" sz="1000" dirty="0"/>
          </a:p>
        </p:txBody>
      </p:sp>
      <p:graphicFrame>
        <p:nvGraphicFramePr>
          <p:cNvPr id="8" name="Table 46"/>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3191256"/>
                <a:gridCol w="3364992"/>
                <a:gridCol w="4251960"/>
              </a:tblGrid>
              <a:tr h="0">
                <a:tc>
                  <a:txBody>
                    <a:bodyPr/>
                    <a:lstStyle/>
                    <a:p>
                      <a:pPr indent="0" marL="0">
                        <a:buNone/>
                      </a:pPr>
                      <a:r>
                        <a:rPr lang="en-US" sz="1600" b="1" dirty="0">
                          <a:solidFill>
                            <a:schemeClr val="tx1"/>
                          </a:solidFill>
                        </a:rPr>
                        <a:t>Source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Population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Rule or result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ECIL</a:t>
                      </a:r>
                      <a:endParaRPr lang="en-US" sz="1600" dirty="0"/>
                    </a:p>
                    <a:p>
                      <a:pPr indent="0" marL="0">
                        <a:buNone/>
                      </a:pPr>
                      <a:r>
                        <a:rPr lang="en-US" sz="1600" dirty="0">
                          <a:solidFill>
                            <a:schemeClr val="tx1"/>
                          </a:solidFill>
                        </a:rPr>
                        <a:t>(Averbuch 2013; Lehrnbecher 2023)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documented infection;</a:t>
                      </a:r>
                      <a:endParaRPr lang="en-US" sz="1600" dirty="0"/>
                    </a:p>
                    <a:p>
                      <a:pPr indent="0" marL="0">
                        <a:buNone/>
                      </a:pPr>
                      <a:r>
                        <a:rPr lang="en-US" sz="1600" dirty="0">
                          <a:solidFill>
                            <a:schemeClr val="tx1"/>
                          </a:solidFill>
                        </a:rPr>
                        <a:t>stable since fever onset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Stop after ≥ 72 h IV if afebrile</a:t>
                      </a:r>
                      <a:endParaRPr lang="en-US" sz="1600" dirty="0"/>
                    </a:p>
                    <a:p>
                      <a:pPr indent="0" marL="0">
                        <a:buNone/>
                      </a:pPr>
                      <a:r>
                        <a:rPr lang="en-US" sz="1600" dirty="0">
                          <a:solidFill>
                            <a:schemeClr val="tx1"/>
                          </a:solidFill>
                        </a:rPr>
                        <a:t>≥ 48 h, any ANC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How Long trial</a:t>
                      </a:r>
                      <a:endParaRPr lang="en-US" sz="1600" dirty="0"/>
                    </a:p>
                    <a:p>
                      <a:pPr indent="0" marL="0">
                        <a:buNone/>
                      </a:pPr>
                      <a:r>
                        <a:rPr lang="en-US" sz="1600" dirty="0">
                          <a:solidFill>
                            <a:schemeClr val="tx1"/>
                          </a:solidFill>
                        </a:rPr>
                        <a:t>(Aguilar-Guisado 2017)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157 high-risk febrile</a:t>
                      </a:r>
                      <a:endParaRPr lang="en-US" sz="1600" dirty="0"/>
                    </a:p>
                    <a:p>
                      <a:pPr indent="0" marL="0">
                        <a:buNone/>
                      </a:pPr>
                      <a:r>
                        <a:rPr lang="en-US" sz="1600" dirty="0">
                          <a:solidFill>
                            <a:schemeClr val="tx1"/>
                          </a:solidFill>
                        </a:rPr>
                        <a:t>neutropenia, no documented focus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Safe stop after 72 h apyrexia</a:t>
                      </a:r>
                      <a:endParaRPr lang="en-US" sz="1600" dirty="0"/>
                    </a:p>
                    <a:p>
                      <a:pPr indent="0" marL="0">
                        <a:buNone/>
                      </a:pPr>
                      <a:r>
                        <a:rPr lang="en-US" sz="1600" dirty="0">
                          <a:solidFill>
                            <a:schemeClr val="tx1"/>
                          </a:solidFill>
                        </a:rPr>
                        <a:t>and clinical recovery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Short carbapenem</a:t>
                      </a:r>
                      <a:endParaRPr lang="en-US" sz="1600" dirty="0"/>
                    </a:p>
                    <a:p>
                      <a:pPr indent="0" marL="0">
                        <a:buNone/>
                      </a:pPr>
                      <a:r>
                        <a:rPr lang="en-US" sz="1600" dirty="0">
                          <a:solidFill>
                            <a:schemeClr val="tx1"/>
                          </a:solidFill>
                        </a:rPr>
                        <a:t>(de Jonge 2022)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281 patients,</a:t>
                      </a:r>
                      <a:endParaRPr lang="en-US" sz="1600" dirty="0"/>
                    </a:p>
                    <a:p>
                      <a:pPr indent="0" marL="0">
                        <a:buNone/>
                      </a:pPr>
                      <a:r>
                        <a:rPr lang="en-US" sz="1600" dirty="0">
                          <a:solidFill>
                            <a:schemeClr val="tx1"/>
                          </a:solidFill>
                        </a:rPr>
                        <a:t>&gt; 60% autologous 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Stop at day 3: same failure,</a:t>
                      </a:r>
                      <a:endParaRPr lang="en-US" sz="1600" dirty="0"/>
                    </a:p>
                    <a:p>
                      <a:pPr indent="0" marL="0">
                        <a:buNone/>
                      </a:pPr>
                      <a:r>
                        <a:rPr lang="en-US" sz="1600" dirty="0">
                          <a:solidFill>
                            <a:schemeClr val="tx1"/>
                          </a:solidFill>
                        </a:rPr>
                        <a:t>more serious adverse events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Documented infection</a:t>
                      </a:r>
                      <a:endParaRPr lang="en-US" sz="1600" dirty="0"/>
                    </a:p>
                    <a:p>
                      <a:pPr indent="0" marL="0">
                        <a:buNone/>
                      </a:pPr>
                      <a:r>
                        <a:rPr lang="en-US" sz="1600" dirty="0">
                          <a:solidFill>
                            <a:schemeClr val="tx1"/>
                          </a:solidFill>
                        </a:rPr>
                        <a:t>(Ch. 36)</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Bacteraemia or</a:t>
                      </a:r>
                      <a:endParaRPr lang="en-US" sz="1600" dirty="0"/>
                    </a:p>
                    <a:p>
                      <a:pPr indent="0" marL="0">
                        <a:buNone/>
                      </a:pPr>
                      <a:r>
                        <a:rPr lang="en-US" sz="1600" dirty="0">
                          <a:solidFill>
                            <a:schemeClr val="tx1"/>
                          </a:solidFill>
                        </a:rPr>
                        <a:t>focal infection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7 days, eradicated,</a:t>
                      </a:r>
                      <a:endParaRPr lang="en-US" sz="1600" dirty="0"/>
                    </a:p>
                    <a:p>
                      <a:pPr indent="0" marL="0">
                        <a:buNone/>
                      </a:pPr>
                      <a:r>
                        <a:rPr lang="en-US" sz="1600" dirty="0">
                          <a:solidFill>
                            <a:schemeClr val="tx1"/>
                          </a:solidFill>
                        </a:rPr>
                        <a:t>afebrile ≥ 4 days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7"/>
          <p:cNvSpPr txBox="1"/>
          <p:nvPr/>
        </p:nvSpPr>
        <p:spPr>
          <a:xfrm>
            <a:off x="685800" y="52578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Restart antibiotics at once if fever returns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BACTERIAL INFECTIONS · TIMELINE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Bacterial risk shifts from broken barriers to missing immunity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Averbuch D. EBMT Handbook 8th ed. 2024; Ch. 36</a:t>
            </a:r>
            <a:endParaRPr lang="en-US" sz="1000" dirty="0"/>
          </a:p>
        </p:txBody>
      </p:sp>
      <p:sp>
        <p:nvSpPr>
          <p:cNvPr id="6" name="Box 48"/>
          <p:cNvSpPr txBox="1"/>
          <p:nvPr/>
        </p:nvSpPr>
        <p:spPr>
          <a:xfrm>
            <a:off x="685800" y="2606040"/>
            <a:ext cx="327050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Pre-engraftment: neutropenia, mucosa, CVC</a:t>
            </a:r>
            <a:endParaRPr lang="en-US" sz="1700" dirty="0"/>
          </a:p>
        </p:txBody>
      </p:sp>
      <p:sp>
        <p:nvSpPr>
          <p:cNvPr id="7" name="Shape 4"/>
          <p:cNvSpPr/>
          <p:nvPr/>
        </p:nvSpPr>
        <p:spPr>
          <a:xfrm>
            <a:off x="4011168" y="3474720"/>
            <a:ext cx="393192" cy="0"/>
          </a:xfrm>
          <a:prstGeom prst="line">
            <a:avLst/>
          </a:prstGeom>
          <a:noFill/>
          <a:ln w="15875">
            <a:solidFill>
              <a:schemeClr val="tx1"/>
            </a:solidFill>
            <a:prstDash val="solid"/>
            <a:tailEnd type="triangle"/>
          </a:ln>
        </p:spPr>
      </p:sp>
      <p:sp>
        <p:nvSpPr>
          <p:cNvPr id="8" name="Box 49"/>
          <p:cNvSpPr txBox="1"/>
          <p:nvPr/>
        </p:nvSpPr>
        <p:spPr>
          <a:xfrm>
            <a:off x="4459224" y="2606040"/>
            <a:ext cx="327050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Day +30 to +100: CVC, GVHD and its therapy</a:t>
            </a:r>
            <a:endParaRPr lang="en-US" sz="1700" dirty="0"/>
          </a:p>
        </p:txBody>
      </p:sp>
      <p:sp>
        <p:nvSpPr>
          <p:cNvPr id="9" name="Shape 6"/>
          <p:cNvSpPr/>
          <p:nvPr/>
        </p:nvSpPr>
        <p:spPr>
          <a:xfrm>
            <a:off x="7784592" y="3474720"/>
            <a:ext cx="393192" cy="0"/>
          </a:xfrm>
          <a:prstGeom prst="line">
            <a:avLst/>
          </a:prstGeom>
          <a:noFill/>
          <a:ln w="15875">
            <a:solidFill>
              <a:schemeClr val="tx1"/>
            </a:solidFill>
            <a:prstDash val="solid"/>
            <a:tailEnd type="triangle"/>
          </a:ln>
        </p:spPr>
      </p:sp>
      <p:sp>
        <p:nvSpPr>
          <p:cNvPr id="10" name="Box 50"/>
          <p:cNvSpPr txBox="1"/>
          <p:nvPr/>
        </p:nvSpPr>
        <p:spPr>
          <a:xfrm>
            <a:off x="8232648" y="2606040"/>
            <a:ext cx="327050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&gt; Day 100: encapsulated bacteria</a:t>
            </a:r>
            <a:endParaRPr lang="en-US" sz="1700" dirty="0"/>
          </a:p>
        </p:txBody>
      </p:sp>
      <p:sp>
        <p:nvSpPr>
          <p:cNvPr id="11" name="Text 51"/>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BSI: 5–10% after auto-HCT, 20–50% after allo-HCT, mostly before engraftment. Haplo and cord blood engraft slower. Rare late pathogens: mycobacteria, Nocardia, Listeria.</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BACTERIAL INFECTIONS · GRAM-POSITIVE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Gram-positive bacteraemia ranges from benign CoNS to lethal VS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Averbuch D. EBMT Handbook 8th ed. 2024; Ch. 36</a:t>
            </a:r>
            <a:endParaRPr lang="en-US" sz="1000" dirty="0"/>
          </a:p>
        </p:txBody>
      </p:sp>
      <p:graphicFrame>
        <p:nvGraphicFramePr>
          <p:cNvPr id="10" name="Table 5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112264"/>
                <a:gridCol w="1499616"/>
                <a:gridCol w="3602736"/>
                <a:gridCol w="3602736"/>
              </a:tblGrid>
              <a:tr h="0">
                <a:tc>
                  <a:txBody>
                    <a:bodyPr/>
                    <a:lstStyle/>
                    <a:p>
                      <a:pPr indent="0" marL="0">
                        <a:buNone/>
                      </a:pPr>
                      <a:r>
                        <a:rPr lang="en-US" sz="1500" b="1" dirty="0">
                          <a:solidFill>
                            <a:schemeClr val="tx1"/>
                          </a:solidFill>
                        </a:rPr>
                        <a:t>Organism</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Share of BSI</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Key feature</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Treatment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CoNS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7–63%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 2 positive cultures; CVC-related;</a:t>
                      </a:r>
                      <a:endParaRPr lang="en-US" sz="1500" dirty="0"/>
                    </a:p>
                    <a:p>
                      <a:pPr indent="0" marL="0">
                        <a:buNone/>
                      </a:pPr>
                      <a:r>
                        <a:rPr lang="en-US" sz="1500" dirty="0">
                          <a:solidFill>
                            <a:schemeClr val="tx1"/>
                          </a:solidFill>
                        </a:rPr>
                        <a:t>good prognosis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Glycopeptide</a:t>
                      </a:r>
                      <a:endParaRPr lang="en-US" sz="1500" dirty="0"/>
                    </a:p>
                    <a:p>
                      <a:pPr indent="0" marL="0">
                        <a:buNone/>
                      </a:pPr>
                      <a:r>
                        <a:rPr lang="en-US" sz="1500" dirty="0">
                          <a:solidFill>
                            <a:schemeClr val="tx1"/>
                          </a:solidFill>
                        </a:rPr>
                        <a:t>(methicillin resistance common)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 aureus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3–8%</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Attributable mortality 12–40%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MSSA: cefazolin, oxacillin</a:t>
                      </a:r>
                      <a:endParaRPr lang="en-US" sz="1500" dirty="0"/>
                    </a:p>
                    <a:p>
                      <a:pPr indent="0" marL="0">
                        <a:buNone/>
                      </a:pPr>
                      <a:r>
                        <a:rPr lang="en-US" sz="1500" dirty="0">
                          <a:solidFill>
                            <a:schemeClr val="tx1"/>
                          </a:solidFill>
                        </a:rPr>
                        <a:t>MRSA: vancomycin, daptomycin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Enterococci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4–24%</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Later after HCT; VRE with GVHD,</a:t>
                      </a:r>
                      <a:endParaRPr lang="en-US" sz="1500" dirty="0"/>
                    </a:p>
                    <a:p>
                      <a:pPr indent="0" marL="0">
                        <a:buNone/>
                      </a:pPr>
                      <a:r>
                        <a:rPr lang="en-US" sz="1500" dirty="0">
                          <a:solidFill>
                            <a:schemeClr val="tx1"/>
                          </a:solidFill>
                        </a:rPr>
                        <a:t>mucositis, broad antibiotics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Ampicillin → vancomycin</a:t>
                      </a:r>
                      <a:endParaRPr lang="en-US" sz="1500" dirty="0"/>
                    </a:p>
                    <a:p>
                      <a:pPr indent="0" marL="0">
                        <a:buNone/>
                      </a:pPr>
                      <a:r>
                        <a:rPr lang="en-US" sz="1500" dirty="0">
                          <a:solidFill>
                            <a:schemeClr val="tx1"/>
                          </a:solidFill>
                        </a:rPr>
                        <a:t>VRE: linezolid or daptomycin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Viridans streptococci</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7–24%</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Early; ARDS and septic shock;</a:t>
                      </a:r>
                      <a:endParaRPr lang="en-US" sz="1500" dirty="0"/>
                    </a:p>
                    <a:p>
                      <a:pPr indent="0" marL="0">
                        <a:buNone/>
                      </a:pPr>
                      <a:r>
                        <a:rPr lang="en-US" sz="1500" dirty="0">
                          <a:solidFill>
                            <a:schemeClr val="tx1"/>
                          </a:solidFill>
                        </a:rPr>
                        <a:t>cytarabine mucositis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Not ceftazidime; add vancomycin</a:t>
                      </a:r>
                      <a:endParaRPr lang="en-US" sz="1500" dirty="0"/>
                    </a:p>
                    <a:p>
                      <a:pPr indent="0" marL="0">
                        <a:buNone/>
                      </a:pPr>
                      <a:r>
                        <a:rPr lang="en-US" sz="1500" dirty="0">
                          <a:solidFill>
                            <a:schemeClr val="tx1"/>
                          </a:solidFill>
                        </a:rPr>
                        <a:t>in septic shock</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 pneumoniae</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Late, years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Mortality 13–30%;</a:t>
                      </a:r>
                      <a:endParaRPr lang="en-US" sz="1500" dirty="0"/>
                    </a:p>
                    <a:p>
                      <a:pPr indent="0" marL="0">
                        <a:buNone/>
                      </a:pPr>
                      <a:r>
                        <a:rPr lang="en-US" sz="1500" dirty="0">
                          <a:solidFill>
                            <a:schemeClr val="tx1"/>
                          </a:solidFill>
                        </a:rPr>
                        <a:t>cGVHD, low IgG</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Vaccination; oral penicillin</a:t>
                      </a:r>
                      <a:endParaRPr lang="en-US" sz="1500" dirty="0"/>
                    </a:p>
                    <a:p>
                      <a:pPr indent="0" marL="0">
                        <a:buNone/>
                      </a:pPr>
                      <a:r>
                        <a:rPr lang="en-US" sz="1500" dirty="0">
                          <a:solidFill>
                            <a:schemeClr val="tx1"/>
                          </a:solidFill>
                        </a:rPr>
                        <a:t>prophylaxis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3"/>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Daptomycin 8–12 mg/kg/day for BSI; never for pneumonia (inactivated by surfactant)</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BACTERIAL INFECTIONS · ENTEROBACTERALES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The β-lactamase type picks the drug for Enterobacterales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Averbuch D. EBMT Handbook 8th ed. 2024; Ch. 36</a:t>
            </a:r>
            <a:endParaRPr lang="en-US" sz="1000" dirty="0"/>
          </a:p>
        </p:txBody>
      </p:sp>
      <p:graphicFrame>
        <p:nvGraphicFramePr>
          <p:cNvPr id="11" name="Table 5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990088"/>
                <a:gridCol w="3867912"/>
                <a:gridCol w="3959352"/>
              </a:tblGrid>
              <a:tr h="0">
                <a:tc>
                  <a:txBody>
                    <a:bodyPr/>
                    <a:lstStyle/>
                    <a:p>
                      <a:pPr indent="0" marL="0">
                        <a:buNone/>
                      </a:pPr>
                      <a:r>
                        <a:rPr lang="en-US" sz="1400" b="1" dirty="0">
                          <a:solidFill>
                            <a:schemeClr val="tx1"/>
                          </a:solidFill>
                        </a:rPr>
                        <a:t>Mechanism</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Severe infection: treat with</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Note</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ESBL</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Carbapenem</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Not pip-tazo or cefepime,</a:t>
                      </a:r>
                      <a:endParaRPr lang="en-US" sz="1400" dirty="0"/>
                    </a:p>
                    <a:p>
                      <a:pPr indent="0" marL="0">
                        <a:buNone/>
                      </a:pPr>
                      <a:r>
                        <a:rPr lang="en-US" sz="1400" dirty="0">
                          <a:solidFill>
                            <a:schemeClr val="tx1"/>
                          </a:solidFill>
                        </a:rPr>
                        <a:t>even if susceptible in vitro</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Inducible AmpC</a:t>
                      </a:r>
                      <a:endParaRPr lang="en-US" sz="1400" dirty="0"/>
                    </a:p>
                    <a:p>
                      <a:pPr indent="0" marL="0">
                        <a:buNone/>
                      </a:pPr>
                      <a:r>
                        <a:rPr lang="en-US" sz="1400" dirty="0">
                          <a:solidFill>
                            <a:schemeClr val="tx1"/>
                          </a:solidFill>
                        </a:rPr>
                        <a:t>(E. cloacae, Citrobacter)</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Carbapenem</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Cefepime only if fully susceptible</a:t>
                      </a:r>
                      <a:endParaRPr lang="en-US" sz="1400" dirty="0"/>
                    </a:p>
                    <a:p>
                      <a:pPr indent="0" marL="0">
                        <a:buNone/>
                      </a:pPr>
                      <a:r>
                        <a:rPr lang="en-US" sz="1400" dirty="0">
                          <a:solidFill>
                            <a:schemeClr val="tx1"/>
                          </a:solidFill>
                        </a:rPr>
                        <a:t>and ESBL excluded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KPC</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Meropenem-vaborbactam or</a:t>
                      </a:r>
                      <a:endParaRPr lang="en-US" sz="1400" dirty="0"/>
                    </a:p>
                    <a:p>
                      <a:pPr indent="0" marL="0">
                        <a:buNone/>
                      </a:pPr>
                      <a:r>
                        <a:rPr lang="en-US" sz="1400" dirty="0">
                          <a:solidFill>
                            <a:schemeClr val="tx1"/>
                          </a:solidFill>
                        </a:rPr>
                        <a:t>ceftazidime-avibactam</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Better than colistin-based;</a:t>
                      </a:r>
                      <a:endParaRPr lang="en-US" sz="1400" dirty="0"/>
                    </a:p>
                    <a:p>
                      <a:pPr indent="0" marL="0">
                        <a:buNone/>
                      </a:pPr>
                      <a:r>
                        <a:rPr lang="en-US" sz="1400" dirty="0">
                          <a:solidFill>
                            <a:schemeClr val="tx1"/>
                          </a:solidFill>
                        </a:rPr>
                        <a:t>less nephrotoxic</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OXA-48-like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Ceftazidime-avibactam</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Alternative: cefiderocol</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Metallo-β-lactamase</a:t>
                      </a:r>
                      <a:endParaRPr lang="en-US" sz="1400" dirty="0"/>
                    </a:p>
                    <a:p>
                      <a:pPr indent="0" marL="0">
                        <a:buNone/>
                      </a:pPr>
                      <a:r>
                        <a:rPr lang="en-US" sz="1400" dirty="0">
                          <a:solidFill>
                            <a:schemeClr val="tx1"/>
                          </a:solidFill>
                        </a:rPr>
                        <a:t>(NDM, VIM)</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Aztreonam + ceftazidime-</a:t>
                      </a:r>
                      <a:endParaRPr lang="en-US" sz="1400" dirty="0"/>
                    </a:p>
                    <a:p>
                      <a:pPr indent="0" marL="0">
                        <a:buNone/>
                      </a:pPr>
                      <a:r>
                        <a:rPr lang="en-US" sz="1400" dirty="0">
                          <a:solidFill>
                            <a:schemeClr val="tx1"/>
                          </a:solidFill>
                        </a:rPr>
                        <a:t>avibactam, or cefiderocol</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CRE susceptible only</a:t>
                      </a:r>
                      <a:endParaRPr lang="en-US" sz="1400" dirty="0"/>
                    </a:p>
                    <a:p>
                      <a:pPr indent="0" marL="0">
                        <a:buNone/>
                      </a:pPr>
                      <a:r>
                        <a:rPr lang="en-US" sz="1400" dirty="0">
                          <a:solidFill>
                            <a:schemeClr val="tx1"/>
                          </a:solidFill>
                        </a:rPr>
                        <a:t>to older agents</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More than one active drug</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Polymyxin, aminoglycoside,</a:t>
                      </a:r>
                      <a:endParaRPr lang="en-US" sz="1400" dirty="0"/>
                    </a:p>
                    <a:p>
                      <a:pPr indent="0" marL="0">
                        <a:buNone/>
                      </a:pPr>
                      <a:r>
                        <a:rPr lang="en-US" sz="1400" dirty="0">
                          <a:solidFill>
                            <a:schemeClr val="tx1"/>
                          </a:solidFill>
                        </a:rPr>
                        <a:t>tigecycline, fosfomycin</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5"/>
          <p:cNvSpPr txBox="1"/>
          <p:nvPr/>
        </p:nvSpPr>
        <p:spPr>
          <a:xfrm>
            <a:off x="685800" y="544068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EBMT study (Averbuch 2017): GNB 50% resistant to non-carbapenem β-lactams, 18.5% CR, 35% MDR</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BACTERIAL INFECTIONS · NON-FERMENTERS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Non-fermenters need agents matched to intrinsic resistance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Averbuch D. EBMT Handbook 8th ed. 2024; Ch. 36</a:t>
            </a:r>
            <a:endParaRPr lang="en-US" sz="1000" dirty="0"/>
          </a:p>
        </p:txBody>
      </p:sp>
      <p:graphicFrame>
        <p:nvGraphicFramePr>
          <p:cNvPr id="12" name="Table 5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459736"/>
                <a:gridCol w="3867912"/>
                <a:gridCol w="4489704"/>
              </a:tblGrid>
              <a:tr h="0">
                <a:tc>
                  <a:txBody>
                    <a:bodyPr/>
                    <a:lstStyle/>
                    <a:p>
                      <a:pPr indent="0" marL="0">
                        <a:buNone/>
                      </a:pPr>
                      <a:r>
                        <a:rPr lang="en-US" sz="1600" b="1" dirty="0">
                          <a:solidFill>
                            <a:schemeClr val="tx1"/>
                          </a:solidFill>
                        </a:rPr>
                        <a:t>Pathogen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First choice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Key point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 aeruginosa,</a:t>
                      </a:r>
                      <a:endParaRPr lang="en-US" sz="1600" dirty="0"/>
                    </a:p>
                    <a:p>
                      <a:pPr indent="0" marL="0">
                        <a:buNone/>
                      </a:pPr>
                      <a:r>
                        <a:rPr lang="en-US" sz="1600" dirty="0">
                          <a:solidFill>
                            <a:schemeClr val="tx1"/>
                          </a:solidFill>
                        </a:rPr>
                        <a:t>susceptible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Non-carbapenem β-lactam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4–16% of BSI; mortality 39–79%;</a:t>
                      </a:r>
                      <a:endParaRPr lang="en-US" sz="1600" dirty="0"/>
                    </a:p>
                    <a:p>
                      <a:pPr indent="0" marL="0">
                        <a:buNone/>
                      </a:pPr>
                      <a:r>
                        <a:rPr lang="en-US" sz="1600" dirty="0">
                          <a:solidFill>
                            <a:schemeClr val="tx1"/>
                          </a:solidFill>
                        </a:rPr>
                        <a:t>25–71% MDR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DTR P. aeruginosa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Ceftolozane-tazobactam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Resistance may emerge, with</a:t>
                      </a:r>
                      <a:endParaRPr lang="en-US" sz="1600" dirty="0"/>
                    </a:p>
                    <a:p>
                      <a:pPr indent="0" marL="0">
                        <a:buNone/>
                      </a:pPr>
                      <a:r>
                        <a:rPr lang="en-US" sz="1600" dirty="0">
                          <a:solidFill>
                            <a:schemeClr val="tx1"/>
                          </a:solidFill>
                        </a:rPr>
                        <a:t>ceftazidime-avibactam cross-resistance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 maltophilia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TMP/SMX; if severe add</a:t>
                      </a:r>
                      <a:endParaRPr lang="en-US" sz="1600" dirty="0"/>
                    </a:p>
                    <a:p>
                      <a:pPr indent="0" marL="0">
                        <a:buNone/>
                      </a:pPr>
                      <a:r>
                        <a:rPr lang="en-US" sz="1600" dirty="0">
                          <a:solidFill>
                            <a:schemeClr val="tx1"/>
                          </a:solidFill>
                        </a:rPr>
                        <a:t>minocycline (preferred)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Intrinsically resistant to</a:t>
                      </a:r>
                      <a:endParaRPr lang="en-US" sz="1600" dirty="0"/>
                    </a:p>
                    <a:p>
                      <a:pPr indent="0" marL="0">
                        <a:buNone/>
                      </a:pPr>
                      <a:r>
                        <a:rPr lang="en-US" sz="1600" dirty="0">
                          <a:solidFill>
                            <a:schemeClr val="tx1"/>
                          </a:solidFill>
                        </a:rPr>
                        <a:t>carbapenems, aminoglycosides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CRAB</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2 active agents; high-dose</a:t>
                      </a:r>
                      <a:endParaRPr lang="en-US" sz="1600" dirty="0"/>
                    </a:p>
                    <a:p>
                      <a:pPr indent="0" marL="0">
                        <a:buNone/>
                      </a:pPr>
                      <a:r>
                        <a:rPr lang="en-US" sz="1600" dirty="0">
                          <a:solidFill>
                            <a:schemeClr val="tx1"/>
                          </a:solidFill>
                        </a:rPr>
                        <a:t>ampicillin-sulbactam</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Mortality 49–95%;</a:t>
                      </a:r>
                      <a:endParaRPr lang="en-US" sz="1600" dirty="0"/>
                    </a:p>
                    <a:p>
                      <a:pPr indent="0" marL="0">
                        <a:buNone/>
                      </a:pPr>
                      <a:r>
                        <a:rPr lang="en-US" sz="1600" dirty="0">
                          <a:solidFill>
                            <a:schemeClr val="tx1"/>
                          </a:solidFill>
                        </a:rPr>
                        <a:t>no routine cefiderocol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7"/>
          <p:cNvSpPr txBox="1"/>
          <p:nvPr/>
        </p:nvSpPr>
        <p:spPr>
          <a:xfrm>
            <a:off x="685800" y="484632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Combination for β-lactam-susceptible PA is not routine, except severe infection in neutropenia</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BACTERIAL INFECTIONS · CENTRAL 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Most catheter-related bacteraemias end with removing the line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Averbuch D. EBMT Handbook 8th ed. 2024; Ch. 36</a:t>
            </a:r>
            <a:endParaRPr lang="en-US" sz="1000" dirty="0"/>
          </a:p>
        </p:txBody>
      </p:sp>
      <p:sp>
        <p:nvSpPr>
          <p:cNvPr id="6" name="Box 58"/>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CRBSI proven: time to positivity CVC vs vein &gt; 120 min</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59"/>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Organism</a:t>
            </a:r>
            <a:endParaRPr lang="en-US" sz="1400" dirty="0"/>
          </a:p>
        </p:txBody>
      </p:sp>
      <p:sp>
        <p:nvSpPr>
          <p:cNvPr id="11" name="Box 60"/>
          <p:cNvSpPr txBox="1"/>
          <p:nvPr/>
        </p:nvSpPr>
        <p:spPr>
          <a:xfrm>
            <a:off x="685800"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S. aureus, PA, fungi, mycobacteria</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61"/>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Remove CVC</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62"/>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Complication</a:t>
            </a:r>
            <a:endParaRPr lang="en-US" sz="1400" dirty="0"/>
          </a:p>
        </p:txBody>
      </p:sp>
      <p:sp>
        <p:nvSpPr>
          <p:cNvPr id="16" name="Box 63"/>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Shock, endocarditis, thrombophlebitis</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64"/>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Remove CVC</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65"/>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Persistence or site</a:t>
            </a:r>
            <a:endParaRPr lang="en-US" sz="1400" dirty="0"/>
          </a:p>
        </p:txBody>
      </p:sp>
      <p:sp>
        <p:nvSpPr>
          <p:cNvPr id="21" name="Box 66"/>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Positive &gt; 72 h; tunnel or port pocket</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67"/>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Remove CVC</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68"/>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None of these</a:t>
            </a:r>
            <a:endParaRPr lang="en-US" sz="1400" dirty="0"/>
          </a:p>
        </p:txBody>
      </p:sp>
      <p:sp>
        <p:nvSpPr>
          <p:cNvPr id="26" name="Box 69"/>
          <p:cNvSpPr txBox="1"/>
          <p:nvPr/>
        </p:nvSpPr>
        <p:spPr>
          <a:xfrm>
            <a:off x="9073134"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Stable, uncomplicated</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70"/>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Salvage with antimicrobial lock</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BACTERIAL INFECTIONS · PREVENTION</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Fluoroquinolone prophylaxis trades fewer fevers for resistance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Averbuch D. EBMT Handbook 8th ed. 2024; Ch. 36</a:t>
            </a:r>
            <a:endParaRPr lang="en-US" sz="1000" dirty="0"/>
          </a:p>
        </p:txBody>
      </p:sp>
      <p:graphicFrame>
        <p:nvGraphicFramePr>
          <p:cNvPr id="14" name="Table 7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06624"/>
                <a:gridCol w="8110728"/>
              </a:tblGrid>
              <a:tr h="0">
                <a:tc>
                  <a:txBody>
                    <a:bodyPr/>
                    <a:lstStyle/>
                    <a:p>
                      <a:pPr indent="0" marL="0">
                        <a:buNone/>
                      </a:pPr>
                      <a:r>
                        <a:rPr lang="en-US" sz="1600" b="1" dirty="0">
                          <a:solidFill>
                            <a:schemeClr val="tx1"/>
                          </a:solidFill>
                        </a:rPr>
                        <a:t>Measure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Indication or evidence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Infection control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Hand hygiene, chlorhexidine bathing; screen and cohort MDR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CRBSI bundle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Expert sterile insertion, no femoral site, remove unused CVC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FQ prophylaxis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Guidelines: adults with neutropenia expected ≥ 7 days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FQ: evidence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mortality fall; fever ~15% lower; BSI not lower in allo-HCT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FQ: harm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CDI, microbiome loss (GVHD risk), FQ-resistant/MDR GNB</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Late (&gt; day 100)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Oral penicillin for cGVHD or hypogammaglobulinaemia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IVIg; vaccination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IVIg if IgG &lt; 400 mg/dL; pneumococcal vaccination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CH. 39 · TOXOPLASMOSIS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Toxoplasmosis strikes seropositive allo-HCT recipients early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Martino R. EBMT Handbook 8th ed. 2024; Ch. 39</a:t>
            </a:r>
            <a:endParaRPr lang="en-US" sz="1000" dirty="0"/>
          </a:p>
        </p:txBody>
      </p:sp>
      <p:graphicFrame>
        <p:nvGraphicFramePr>
          <p:cNvPr id="15" name="Table 7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523744"/>
                <a:gridCol w="8293608"/>
              </a:tblGrid>
              <a:tr h="0">
                <a:tc>
                  <a:txBody>
                    <a:bodyPr/>
                    <a:lstStyle/>
                    <a:p>
                      <a:pPr indent="0" marL="0">
                        <a:buNone/>
                      </a:pPr>
                      <a:r>
                        <a:rPr lang="en-US" sz="1600" b="1" dirty="0">
                          <a:solidFill>
                            <a:schemeClr val="tx1"/>
                          </a:solidFill>
                        </a:rPr>
                        <a:t>Topic</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Key facts (Table 39.2 for drugs)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Who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Seropositive allo-HCT; aGVHD and its therapy; T-cell depletion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When; how often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95% within 6 months; ~0.8% (&lt; 0.4% to 2–3%)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Disease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CNS (multiple lesions; MRI &gt; CT), pneumonitis, myocarditis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Diagnosis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qPCR in blood, CSF, BAL; histology definite, PCR probable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Treatment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Pyrimethamine 200 mg load, then 50–75 mg/day + folinic acid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  plus one of</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Sulfadiazine 1–1.5 g q6–8h, or clindamycin 600 mg q6h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Prevention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TMP/SMX 1 SS daily or 1 DS 4 days/week; else weekly qPCR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CH. 39 · MYCOBACTERIA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Tuberculosis is never colonisation; NTM often starts in the CVC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Martino R. EBMT Handbook 8th ed. 2024; Ch. 39</a:t>
            </a:r>
            <a:endParaRPr lang="en-US" sz="1000" dirty="0"/>
          </a:p>
        </p:txBody>
      </p:sp>
      <p:graphicFrame>
        <p:nvGraphicFramePr>
          <p:cNvPr id="16" name="Table 7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1755648"/>
                <a:gridCol w="4572000"/>
                <a:gridCol w="4489704"/>
              </a:tblGrid>
              <a:tr h="0">
                <a:tc>
                  <a:txBody>
                    <a:bodyPr/>
                    <a:lstStyle/>
                    <a:p>
                      <a:pPr indent="0" marL="0">
                        <a:buNone/>
                      </a:pP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Tuberculosis</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Non-tuberculous mycobacteria</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Risk</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Allo-HCT 2–10× general population;</a:t>
                      </a:r>
                      <a:endParaRPr lang="en-US" sz="1500" dirty="0"/>
                    </a:p>
                    <a:p>
                      <a:pPr indent="0" marL="0">
                        <a:buNone/>
                      </a:pPr>
                      <a:r>
                        <a:rPr lang="en-US" sz="1500" dirty="0">
                          <a:solidFill>
                            <a:schemeClr val="tx1"/>
                          </a:solidFill>
                        </a:rPr>
                        <a:t>auto-HCT not higher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MAC: severe steroid-dependent</a:t>
                      </a:r>
                      <a:endParaRPr lang="en-US" sz="1500" dirty="0"/>
                    </a:p>
                    <a:p>
                      <a:pPr indent="0" marL="0">
                        <a:buNone/>
                      </a:pPr>
                      <a:r>
                        <a:rPr lang="en-US" sz="1500" dirty="0">
                          <a:solidFill>
                            <a:schemeClr val="tx1"/>
                          </a:solidFill>
                        </a:rPr>
                        <a:t>cGVHD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Disease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~75% pulmonary; meningitis is the</a:t>
                      </a:r>
                      <a:endParaRPr lang="en-US" sz="1500" dirty="0"/>
                    </a:p>
                    <a:p>
                      <a:pPr indent="0" marL="0">
                        <a:buNone/>
                      </a:pPr>
                      <a:r>
                        <a:rPr lang="en-US" sz="1500" dirty="0">
                          <a:solidFill>
                            <a:schemeClr val="tx1"/>
                          </a:solidFill>
                        </a:rPr>
                        <a:t>commonest extrapulmonary site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CVC 40%, skin 30%, lung 20%;</a:t>
                      </a:r>
                      <a:endParaRPr lang="en-US" sz="1500" dirty="0"/>
                    </a:p>
                    <a:p>
                      <a:pPr indent="0" marL="0">
                        <a:buNone/>
                      </a:pPr>
                      <a:r>
                        <a:rPr lang="en-US" sz="1500" dirty="0">
                          <a:solidFill>
                            <a:schemeClr val="tx1"/>
                          </a:solidFill>
                        </a:rPr>
                        <a:t>MAC: lung or disseminated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Diagnosis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PCR first; one colony is diagnostic;</a:t>
                      </a:r>
                      <a:endParaRPr lang="en-US" sz="1500" dirty="0"/>
                    </a:p>
                    <a:p>
                      <a:pPr indent="0" marL="0">
                        <a:buNone/>
                      </a:pPr>
                      <a:r>
                        <a:rPr lang="en-US" sz="1500" dirty="0">
                          <a:solidFill>
                            <a:schemeClr val="tx1"/>
                          </a:solidFill>
                        </a:rPr>
                        <a:t>IGRA unreliable after 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Isolate from the organ; lung</a:t>
                      </a:r>
                      <a:endParaRPr lang="en-US" sz="1500" dirty="0"/>
                    </a:p>
                    <a:p>
                      <a:pPr indent="0" marL="0">
                        <a:buNone/>
                      </a:pPr>
                      <a:r>
                        <a:rPr lang="en-US" sz="1500" dirty="0">
                          <a:solidFill>
                            <a:schemeClr val="tx1"/>
                          </a:solidFill>
                        </a:rPr>
                        <a:t>colonisation hard to exclude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Treatment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Call ID at once; drugs by local</a:t>
                      </a:r>
                      <a:endParaRPr lang="en-US" sz="1500" dirty="0"/>
                    </a:p>
                    <a:p>
                      <a:pPr indent="0" marL="0">
                        <a:buNone/>
                      </a:pPr>
                      <a:r>
                        <a:rPr lang="en-US" sz="1500" dirty="0">
                          <a:solidFill>
                            <a:schemeClr val="tx1"/>
                          </a:solidFill>
                        </a:rPr>
                        <a:t>resistance; mortality &lt; 30%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Remove CVC; macrolide +</a:t>
                      </a:r>
                      <a:endParaRPr lang="en-US" sz="1500" dirty="0"/>
                    </a:p>
                    <a:p>
                      <a:pPr indent="0" marL="0">
                        <a:buNone/>
                      </a:pPr>
                      <a:r>
                        <a:rPr lang="en-US" sz="1500" dirty="0">
                          <a:solidFill>
                            <a:schemeClr val="tx1"/>
                          </a:solidFill>
                        </a:rPr>
                        <a:t>moxifloxacin or levofloxacin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Screening</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ECIL scenarios only</a:t>
                      </a:r>
                      <a:endParaRPr lang="en-US" sz="1500" dirty="0"/>
                    </a:p>
                    <a:p>
                      <a:pPr indent="0" marL="0">
                        <a:buNone/>
                      </a:pPr>
                      <a:r>
                        <a:rPr lang="en-US" sz="1500" dirty="0">
                          <a:solidFill>
                            <a:schemeClr val="tx1"/>
                          </a:solidFill>
                        </a:rPr>
                        <a:t>[verify: Taiwan LTBI policy]</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 role for screening</a:t>
                      </a:r>
                      <a:endParaRPr lang="en-US" sz="1500" dirty="0"/>
                    </a:p>
                    <a:p>
                      <a:pPr indent="0" marL="0">
                        <a:buNone/>
                      </a:pPr>
                      <a:r>
                        <a:rPr lang="en-US" sz="1500" dirty="0">
                          <a:solidFill>
                            <a:schemeClr val="tx1"/>
                          </a:solidFill>
                        </a:rPr>
                        <a:t>or prophylaxis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CH. 39 · LISTERIA AND NOCARDIA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Listeria seeds the brain early; Nocardia needs a brain scan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Martino R. EBMT Handbook 8th ed. 2024; Ch. 39</a:t>
            </a:r>
            <a:endParaRPr lang="en-US" sz="1000" dirty="0"/>
          </a:p>
        </p:txBody>
      </p:sp>
      <p:graphicFrame>
        <p:nvGraphicFramePr>
          <p:cNvPr id="17" name="Table 74"/>
          <p:cNvGraphicFramePr>
            <a:graphicFrameLocks noGrp="1"/>
          </p:cNvGraphicFramePr>
          <p:nvPr>
            <p:extLst>
              <p:ext uri="{D42A27DB-BD31-4B8C-83A1-F6EECF244321}">
                <p14:modId xmlns:p14="http://schemas.microsoft.com/office/powerpoint/2010/main" val="1579011935"/>
              </p:ext>
            </p:extLst>
          </p:nvPr>
        </p:nvGraphicFramePr>
        <p:xfrm>
          <a:off x="685800" y="2240280"/>
          <a:ext cx="10826496" cy="914400"/>
        </p:xfrm>
        <a:graphic>
          <a:graphicData uri="http://schemas.openxmlformats.org/drawingml/2006/table">
            <a:tbl>
              <a:tblPr/>
              <a:tblGrid>
                <a:gridCol w="1938528"/>
                <a:gridCol w="4398264"/>
                <a:gridCol w="4489704"/>
              </a:tblGrid>
              <a:tr h="0">
                <a:tc>
                  <a:txBody>
                    <a:bodyPr/>
                    <a:lstStyle/>
                    <a:p>
                      <a:pPr indent="0" marL="0">
                        <a:buNone/>
                      </a:pP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Listeria monocytogenes</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Nocardia spp.</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Organism</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Gram-positive rod; foodborne;</a:t>
                      </a:r>
                      <a:endParaRPr lang="en-US" sz="1500" dirty="0"/>
                    </a:p>
                    <a:p>
                      <a:pPr indent="0" marL="0">
                        <a:buNone/>
                      </a:pPr>
                      <a:r>
                        <a:rPr lang="en-US" sz="1500" dirty="0">
                          <a:solidFill>
                            <a:schemeClr val="tx1"/>
                          </a:solidFill>
                        </a:rPr>
                        <a:t>grows at refrigerator temperature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Branching, acid-fast Gram-positive</a:t>
                      </a:r>
                      <a:endParaRPr lang="en-US" sz="1500" dirty="0"/>
                    </a:p>
                    <a:p>
                      <a:pPr indent="0" marL="0">
                        <a:buNone/>
                      </a:pPr>
                      <a:r>
                        <a:rPr lang="en-US" sz="1500" dirty="0">
                          <a:solidFill>
                            <a:schemeClr val="tx1"/>
                          </a:solidFill>
                        </a:rPr>
                        <a:t>rod; inhaled from soil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Host, timing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Severe cellular IS; &lt; 0.1% to 0.47%</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Late; steroid-dependent cGVHD;</a:t>
                      </a:r>
                      <a:endParaRPr lang="en-US" sz="1500" dirty="0"/>
                    </a:p>
                    <a:p>
                      <a:pPr indent="0" marL="0">
                        <a:buNone/>
                      </a:pPr>
                      <a:r>
                        <a:rPr lang="en-US" sz="1500" dirty="0">
                          <a:solidFill>
                            <a:schemeClr val="tx1"/>
                          </a:solidFill>
                        </a:rPr>
                        <a:t>0.3–1.7% of allo-HCT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Disease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Bacteraemia; CNS in 40–60%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Cavitating nodules 90%;</a:t>
                      </a:r>
                      <a:endParaRPr lang="en-US" sz="1500" dirty="0"/>
                    </a:p>
                    <a:p>
                      <a:pPr indent="0" marL="0">
                        <a:buNone/>
                      </a:pPr>
                      <a:r>
                        <a:rPr lang="en-US" sz="1500" dirty="0">
                          <a:solidFill>
                            <a:schemeClr val="tx1"/>
                          </a:solidFill>
                        </a:rPr>
                        <a:t>CNS in ~1/3, often silent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Treatment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High-dose ampicillin + amino-</a:t>
                      </a:r>
                      <a:endParaRPr lang="en-US" sz="1500" dirty="0"/>
                    </a:p>
                    <a:p>
                      <a:pPr indent="0" marL="0">
                        <a:buNone/>
                      </a:pPr>
                      <a:r>
                        <a:rPr lang="en-US" sz="1500" dirty="0">
                          <a:solidFill>
                            <a:schemeClr val="tx1"/>
                          </a:solidFill>
                        </a:rPr>
                        <a:t>glycoside, 3 weeks (CNS 6)</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High-dose TMP/SMX</a:t>
                      </a:r>
                      <a:endParaRPr lang="en-US" sz="1500" dirty="0"/>
                    </a:p>
                    <a:p>
                      <a:pPr indent="0" marL="0">
                        <a:buNone/>
                      </a:pPr>
                      <a:r>
                        <a:rPr lang="en-US" sz="1500" dirty="0">
                          <a:solidFill>
                            <a:schemeClr val="tx1"/>
                          </a:solidFill>
                        </a:rPr>
                        <a:t>for ≥ 6 months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TMP/SMX</a:t>
                      </a:r>
                      <a:endParaRPr lang="en-US" sz="1500" dirty="0"/>
                    </a:p>
                    <a:p>
                      <a:pPr indent="0" marL="0">
                        <a:buNone/>
                      </a:pPr>
                      <a:r>
                        <a:rPr lang="en-US" sz="1500" dirty="0">
                          <a:solidFill>
                            <a:schemeClr val="tx1"/>
                          </a:solidFill>
                        </a:rPr>
                        <a:t>prophylaxis</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Probably protective (unproven)</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2–3 days/week does not protect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75"/>
          <p:cNvSpPr txBox="1"/>
          <p:nvPr/>
        </p:nvSpPr>
        <p:spPr>
          <a:xfrm>
            <a:off x="685800" y="53492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Every pulmonary nocardiosis needs brain CT or MRI, even without symptoms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choose the empirical regimen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Mikulska M. EBMT Handbook 8th ed. 2024; Ch. 35 · Averbuch D. EBMT Handbook 8th ed. 2024; Ch. 36</a:t>
            </a:r>
            <a:endParaRPr lang="en-US" sz="1000" dirty="0"/>
          </a:p>
        </p:txBody>
      </p:sp>
      <p:sp>
        <p:nvSpPr>
          <p:cNvPr id="6" name="Text 76"/>
          <p:cNvSpPr txBox="1"/>
          <p:nvPr/>
        </p:nvSpPr>
        <p:spPr>
          <a:xfrm>
            <a:off x="685800" y="17373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38-year-old woman with AML is on day +6 after myeloablative allo-HCT. She is known to be rectally colonised with KPC-producing Klebsiella pneumoniae. She develops fever of 38.9 °C and blood pressure 85/50 mmHg. Blood cultures are drawn. What is the most appropriate empirical antibacterial approach?</a:t>
            </a:r>
            <a:endParaRPr lang="en-US" sz="1900" dirty="0"/>
          </a:p>
        </p:txBody>
      </p:sp>
      <p:sp>
        <p:nvSpPr>
          <p:cNvPr id="7" name="Text 77"/>
          <p:cNvSpPr txBox="1"/>
          <p:nvPr/>
        </p:nvSpPr>
        <p:spPr>
          <a:xfrm>
            <a:off x="960120" y="3465576"/>
            <a:ext cx="10543032" cy="24323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Cefepime monotherapy, changed if fever persists at 48–72 hours</a:t>
            </a:r>
            <a:endParaRPr lang="en-US" sz="1800" dirty="0"/>
          </a:p>
          <a:p>
            <a:pPr indent="0" marL="0">
              <a:spcAft>
                <a:spcPts val="800"/>
              </a:spcAft>
              <a:buNone/>
            </a:pPr>
            <a:r>
              <a:rPr lang="en-US" sz="1800" dirty="0">
                <a:solidFill>
                  <a:schemeClr val="tx1"/>
                </a:solidFill>
              </a:rPr>
              <a:t>B.  Piperacillin-tazobactam plus vancomycin</a:t>
            </a:r>
            <a:endParaRPr lang="en-US" sz="1800" dirty="0"/>
          </a:p>
          <a:p>
            <a:pPr indent="0" marL="0">
              <a:spcAft>
                <a:spcPts val="800"/>
              </a:spcAft>
              <a:buNone/>
            </a:pPr>
            <a:r>
              <a:rPr lang="en-US" sz="1800" dirty="0">
                <a:solidFill>
                  <a:schemeClr val="tx1"/>
                </a:solidFill>
              </a:rPr>
              <a:t>C.  Ceftazidime-avibactam-based regimen, narrowed at 72–96 h if no KPC</a:t>
            </a:r>
            <a:endParaRPr lang="en-US" sz="1800" dirty="0"/>
          </a:p>
          <a:p>
            <a:pPr indent="0" marL="0">
              <a:spcAft>
                <a:spcPts val="800"/>
              </a:spcAft>
              <a:buNone/>
            </a:pPr>
            <a:r>
              <a:rPr lang="en-US" sz="1800" dirty="0">
                <a:solidFill>
                  <a:schemeClr val="tx1"/>
                </a:solidFill>
              </a:rPr>
              <a:t>D.  Meropenem monotherapy</a:t>
            </a:r>
            <a:endParaRPr lang="en-US" sz="1800" dirty="0"/>
          </a:p>
          <a:p>
            <a:pPr indent="0" marL="0">
              <a:spcAft>
                <a:spcPts val="800"/>
              </a:spcAft>
              <a:buNone/>
            </a:pPr>
            <a:r>
              <a:rPr lang="en-US" sz="1800" dirty="0">
                <a:solidFill>
                  <a:schemeClr val="tx1"/>
                </a:solidFill>
              </a:rPr>
              <a:t>E.  Withhold antibiotics until blood cultures turn positive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de-escalation for this KPC carrier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Mikulska M. EBMT Handbook 8th ed. 2024; Ch. 35 · Averbuch D. EBMT Handbook 8th ed. 2024; Ch. 36</a:t>
            </a:r>
            <a:endParaRPr lang="en-US" sz="1000" dirty="0"/>
          </a:p>
        </p:txBody>
      </p:sp>
      <p:sp>
        <p:nvSpPr>
          <p:cNvPr id="6" name="Box 78"/>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Ceftazidime-avibactam-based regimen, narrowed at 72–96 h if no KPC</a:t>
            </a:r>
            <a:endParaRPr lang="en-US" sz="2000" dirty="0"/>
          </a:p>
        </p:txBody>
      </p:sp>
      <p:sp>
        <p:nvSpPr>
          <p:cNvPr id="7" name="Text 79"/>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Colonisation with a resistant strain plus a severe presentation calls for de-escalation: start an agent active against the colonising strain (for KPC, ceftazidime-avibactam or meropenem-vaborbactam), then narrow at 72–96 h if no MDR pathogen is isolated. Escalation risks inactive first-line therapy and higher mortality.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decide on day 4 of cefepime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Mikulska M. EBMT Handbook 8th ed. 2024; Ch. 35</a:t>
            </a:r>
            <a:endParaRPr lang="en-US" sz="1000" dirty="0"/>
          </a:p>
        </p:txBody>
      </p:sp>
      <p:sp>
        <p:nvSpPr>
          <p:cNvPr id="6" name="Text 80"/>
          <p:cNvSpPr txBox="1"/>
          <p:nvPr/>
        </p:nvSpPr>
        <p:spPr>
          <a:xfrm>
            <a:off x="685800" y="17373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60-year-old man with myeloma is neutropenic on day +5 after autologous HCT. Fever began 4 days ago and IV cefepime was started. He became afebrile after 24 hours and has been haemodynamically stable throughout. Cultures and CT show no source. His neutrophil count is 0.1 × 10⁹/L. What is the best next step?</a:t>
            </a:r>
            <a:endParaRPr lang="en-US" sz="1900" dirty="0"/>
          </a:p>
        </p:txBody>
      </p:sp>
      <p:sp>
        <p:nvSpPr>
          <p:cNvPr id="7" name="Text 81"/>
          <p:cNvSpPr txBox="1"/>
          <p:nvPr/>
        </p:nvSpPr>
        <p:spPr>
          <a:xfrm>
            <a:off x="960120" y="3465576"/>
            <a:ext cx="10543032" cy="24323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Continue cefepime until neutrophils exceed 0.5 × 10⁹/L</a:t>
            </a:r>
            <a:endParaRPr lang="en-US" sz="1800" dirty="0"/>
          </a:p>
          <a:p>
            <a:pPr indent="0" marL="0">
              <a:spcAft>
                <a:spcPts val="800"/>
              </a:spcAft>
              <a:buNone/>
            </a:pPr>
            <a:r>
              <a:rPr lang="en-US" sz="1800" dirty="0">
                <a:solidFill>
                  <a:schemeClr val="tx1"/>
                </a:solidFill>
              </a:rPr>
              <a:t>B.  Stop cefepime now and restart promptly if fever recurs</a:t>
            </a:r>
            <a:endParaRPr lang="en-US" sz="1800" dirty="0"/>
          </a:p>
          <a:p>
            <a:pPr indent="0" marL="0">
              <a:spcAft>
                <a:spcPts val="800"/>
              </a:spcAft>
              <a:buNone/>
            </a:pPr>
            <a:r>
              <a:rPr lang="en-US" sz="1800" dirty="0">
                <a:solidFill>
                  <a:schemeClr val="tx1"/>
                </a:solidFill>
              </a:rPr>
              <a:t>C.  Switch to oral levofloxacin until neutrophil recovery</a:t>
            </a:r>
            <a:endParaRPr lang="en-US" sz="1800" dirty="0"/>
          </a:p>
          <a:p>
            <a:pPr indent="0" marL="0">
              <a:spcAft>
                <a:spcPts val="800"/>
              </a:spcAft>
              <a:buNone/>
            </a:pPr>
            <a:r>
              <a:rPr lang="en-US" sz="1800" dirty="0">
                <a:solidFill>
                  <a:schemeClr val="tx1"/>
                </a:solidFill>
              </a:rPr>
              <a:t>D.  Escalate to meropenem for the rest of neutropenia</a:t>
            </a:r>
            <a:endParaRPr lang="en-US" sz="1800" dirty="0"/>
          </a:p>
          <a:p>
            <a:pPr indent="0" marL="0">
              <a:spcAft>
                <a:spcPts val="800"/>
              </a:spcAft>
              <a:buNone/>
            </a:pPr>
            <a:r>
              <a:rPr lang="en-US" sz="1800" dirty="0">
                <a:solidFill>
                  <a:schemeClr val="tx1"/>
                </a:solidFill>
              </a:rPr>
              <a:t>E.  Add empirical vancomycin and continue both</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stop after 72 h afebrile, any ANC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Mikulska M. EBMT Handbook 8th ed. 2024; Ch. 35</a:t>
            </a:r>
            <a:endParaRPr lang="en-US" sz="1000" dirty="0"/>
          </a:p>
        </p:txBody>
      </p:sp>
      <p:sp>
        <p:nvSpPr>
          <p:cNvPr id="6" name="Box 82"/>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Stop cefepime now and restart promptly if fever recurs</a:t>
            </a:r>
            <a:endParaRPr lang="en-US" sz="2000" dirty="0"/>
          </a:p>
        </p:txBody>
      </p:sp>
      <p:sp>
        <p:nvSpPr>
          <p:cNvPr id="7" name="Text 83"/>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ECIL: with no documented infection, antibiotics can stop after ≥ 72 h of IV therapy in a patient stable since fever onset and afebrile ≥ 48 h, irrespective of neutrophil count. The How Long trial (n = 157) confirmed safety after 72 h of apyrexia and clinical recovery. Continuing to recovery only adds antibiotic pressure.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cavitating nodules in chronic GVHD</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Martino R. EBMT Handbook 8th ed. 2024; Ch. 39</a:t>
            </a:r>
            <a:endParaRPr lang="en-US" sz="1000" dirty="0"/>
          </a:p>
        </p:txBody>
      </p:sp>
      <p:sp>
        <p:nvSpPr>
          <p:cNvPr id="6" name="Text 84"/>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57-year-old man is 14 months after allo-HCT and takes prednisolone for steroid-dependent chronic GVHD, with TMP/SMX twice weekly. He has fever and cough; CT shows two cavitating lung nodules. BAL shows branching, acid-fast, Gram-positive rods. He is neurologically normal. Besides high-dose TMP/SMX, what is mandatory?</a:t>
            </a:r>
            <a:endParaRPr lang="en-US" sz="1900" dirty="0"/>
          </a:p>
        </p:txBody>
      </p:sp>
      <p:sp>
        <p:nvSpPr>
          <p:cNvPr id="7" name="Text 85"/>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Brain CT or MRI, even without neurological symptoms</a:t>
            </a:r>
            <a:endParaRPr lang="en-US" sz="1800" dirty="0"/>
          </a:p>
          <a:p>
            <a:pPr indent="0" marL="0">
              <a:spcAft>
                <a:spcPts val="800"/>
              </a:spcAft>
              <a:buNone/>
            </a:pPr>
            <a:r>
              <a:rPr lang="en-US" sz="1800" dirty="0">
                <a:solidFill>
                  <a:schemeClr val="tx1"/>
                </a:solidFill>
              </a:rPr>
              <a:t>B.  Repeat BAL in 2 weeks, as airway colonisation is likely</a:t>
            </a:r>
            <a:endParaRPr lang="en-US" sz="1800" dirty="0"/>
          </a:p>
          <a:p>
            <a:pPr indent="0" marL="0">
              <a:spcAft>
                <a:spcPts val="800"/>
              </a:spcAft>
              <a:buNone/>
            </a:pPr>
            <a:r>
              <a:rPr lang="en-US" sz="1800" dirty="0">
                <a:solidFill>
                  <a:schemeClr val="tx1"/>
                </a:solidFill>
              </a:rPr>
              <a:t>C.  Add voriconazole for presumed mould infection</a:t>
            </a:r>
            <a:endParaRPr lang="en-US" sz="1800" dirty="0"/>
          </a:p>
          <a:p>
            <a:pPr indent="0" marL="0">
              <a:spcAft>
                <a:spcPts val="800"/>
              </a:spcAft>
              <a:buNone/>
            </a:pPr>
            <a:r>
              <a:rPr lang="en-US" sz="1800" dirty="0">
                <a:solidFill>
                  <a:schemeClr val="tx1"/>
                </a:solidFill>
              </a:rPr>
              <a:t>D.  Start isoniazid, rifampicin, pyrazinamide and ethambutol</a:t>
            </a:r>
            <a:endParaRPr lang="en-US" sz="1800" dirty="0"/>
          </a:p>
          <a:p>
            <a:pPr indent="0" marL="0">
              <a:spcAft>
                <a:spcPts val="800"/>
              </a:spcAft>
              <a:buNone/>
            </a:pPr>
            <a:r>
              <a:rPr lang="en-US" sz="1800" dirty="0">
                <a:solidFill>
                  <a:schemeClr val="tx1"/>
                </a:solidFill>
              </a:rPr>
              <a:t>E.  Plan a total of 3 weeks of antibiotics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A: always image the brain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Martino R. EBMT Handbook 8th ed. 2024; Ch. 39</a:t>
            </a:r>
            <a:endParaRPr lang="en-US" sz="1000" dirty="0"/>
          </a:p>
        </p:txBody>
      </p:sp>
      <p:sp>
        <p:nvSpPr>
          <p:cNvPr id="6" name="Box 86"/>
          <p:cNvSpPr txBox="1"/>
          <p:nvPr/>
        </p:nvSpPr>
        <p:spPr>
          <a:xfrm>
            <a:off x="685800" y="17830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A.  Brain CT or MRI, even without neurological symptoms</a:t>
            </a:r>
            <a:endParaRPr lang="en-US" sz="2000" dirty="0"/>
          </a:p>
        </p:txBody>
      </p:sp>
      <p:sp>
        <p:nvSpPr>
          <p:cNvPr id="7" name="Text 87"/>
          <p:cNvSpPr txBox="1"/>
          <p:nvPr/>
        </p:nvSpPr>
        <p:spPr>
          <a:xfrm>
            <a:off x="685800" y="2788920"/>
            <a:ext cx="10817352" cy="3108960"/>
          </a:xfrm>
          <a:prstGeom prst="rect">
            <a:avLst/>
          </a:prstGeom>
          <a:noFill/>
          <a:ln/>
        </p:spPr>
        <p:txBody>
          <a:bodyPr wrap="square" lIns="0" tIns="0" rIns="0" bIns="0" rtlCol="0" anchor="t"/>
          <a:lstStyle/>
          <a:p>
            <a:pPr indent="0" marL="0">
              <a:buNone/>
            </a:pPr>
            <a:r>
              <a:rPr lang="en-US" sz="1800" dirty="0">
                <a:solidFill>
                  <a:schemeClr val="tx1"/>
                </a:solidFill>
              </a:rPr>
              <a:t>Branching acid-fast rods in a late cGVHD patient mean Nocardia, which does not colonise airways. About 1/3 have CNS involvement at presentation, often silent, so brain CT or MRI is mandatory. Treat with high-dose TMP/SMX for at least 6 months; 2–3-day-per-week prophylaxis does not prevent nocardiosis.</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3</a:t>
            </a:r>
            <a:endParaRPr lang="en-US" sz="3600" dirty="0"/>
          </a:p>
        </p:txBody>
      </p:sp>
      <p:sp>
        <p:nvSpPr>
          <p:cNvPr id="5" name="Text 88"/>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Mikulska M. Neutropenic fever. In: Sureda A, Corbacioglu S, Greco R, Kröger N, Carreras E, eds. The EBMT Handbook: Hematopoietic Cell Transplantation and Cellular Therapies. 8th ed. Springer, Cham; 2024. pp. 303–309. https://doi.org/10.1007/978-3-031-44080-9_35</a:t>
            </a:r>
            <a:endParaRPr lang="en-US" sz="1100" dirty="0"/>
          </a:p>
          <a:p>
            <a:pPr indent="0" marL="0">
              <a:spcAft>
                <a:spcPts val="700"/>
              </a:spcAft>
              <a:buNone/>
            </a:pPr>
            <a:r>
              <a:rPr lang="en-US" sz="1100" dirty="0">
                <a:solidFill>
                  <a:schemeClr val="tx1"/>
                </a:solidFill>
              </a:rPr>
              <a:t>2. Averbuch D. Bacterial infections. In: Sureda A, Corbacioglu S, Greco R, Kröger N, Carreras E, eds. The EBMT Handbook: Hematopoietic Cell Transplantation and Cellular Therapies. 8th ed. Springer, Cham; 2024. pp. 311–319. https://doi.org/10.1007/978-3-031-44080-9_36</a:t>
            </a:r>
            <a:endParaRPr lang="en-US" sz="1100" dirty="0"/>
          </a:p>
          <a:p>
            <a:pPr indent="0" marL="0">
              <a:spcAft>
                <a:spcPts val="700"/>
              </a:spcAft>
              <a:buNone/>
            </a:pPr>
            <a:r>
              <a:rPr lang="en-US" sz="1100" dirty="0">
                <a:solidFill>
                  <a:schemeClr val="tx1"/>
                </a:solidFill>
              </a:rPr>
              <a:t>3. Martino R. Other life-threatening infections. In: Sureda A, Corbacioglu S, Greco R, Kröger N, Carreras E, eds. The EBMT Handbook: Hematopoietic Cell Transplantation and Cellular Therapies. 8th ed. Springer, Cham; 2024. pp. 345–354. https://doi.org/10.1007/978-3-031-44080-9_39</a:t>
            </a:r>
            <a:endParaRPr lang="en-US" sz="1100" dirty="0"/>
          </a:p>
        </p:txBody>
      </p:sp>
      <p:sp>
        <p:nvSpPr>
          <p:cNvPr id="6" name="Text 89"/>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4. Averbuch D, Orasch C, Cordonnier C. ECIL4, a joint venture of EBMT, EORTC, ICHS, ESGICH/ESCMID and ELN, et al. European guidelines for empirical antibacterial therapy for febrile neutropenic patients in the era of growing resistance: summary of the 2011 4th European conference on infections in leukemia. Haematologica. 2013;98:1826–35.</a:t>
            </a:r>
            <a:endParaRPr lang="en-US" sz="1100" dirty="0"/>
          </a:p>
          <a:p>
            <a:pPr indent="0" marL="0">
              <a:spcAft>
                <a:spcPts val="700"/>
              </a:spcAft>
              <a:buNone/>
            </a:pPr>
            <a:r>
              <a:rPr lang="en-US" sz="1100" dirty="0">
                <a:solidFill>
                  <a:schemeClr val="tx1"/>
                </a:solidFill>
              </a:rPr>
              <a:t>5. Lehrnbecher T, Robinson PD, Ammann RA, et al. Guideline for the Management of Fever and Neutropenia in pediatric patients with cancer and hematopoietic cell transplantation recipients: 2023 update. J Clin Oncol. 2023;41(9):1774–85.</a:t>
            </a:r>
            <a:endParaRPr lang="en-US" sz="1100" dirty="0"/>
          </a:p>
          <a:p>
            <a:pPr indent="0" marL="0">
              <a:spcAft>
                <a:spcPts val="700"/>
              </a:spcAft>
              <a:buNone/>
            </a:pPr>
            <a:r>
              <a:rPr lang="en-US" sz="1100" dirty="0">
                <a:solidFill>
                  <a:schemeClr val="tx1"/>
                </a:solidFill>
              </a:rPr>
              <a:t>6. Aguilar-Guisado M, Espigado I, Martín-Peña A, et al. Optimisation of empirical antimicrobial therapy in patients with haematological malignancies and febrile neutropenia (how long study): an open-label, randomised, controlled phase 4 trial. Lancet Haematol. 2017;4:e573–83.</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3</a:t>
            </a:r>
            <a:endParaRPr lang="en-US" sz="3600" dirty="0"/>
          </a:p>
        </p:txBody>
      </p:sp>
      <p:sp>
        <p:nvSpPr>
          <p:cNvPr id="5" name="Text 90"/>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7. de Jonge NA, Sikkens JJ, Zweegman S, et al. Short versus extended treatment with a carbapenem in patients with high-risk fever of unknown origin during neutropenia: a non-inferiority, open-label, multicentre, randomised trial. Lancet Haematol. 2022;9(8):e563–72.</a:t>
            </a:r>
            <a:endParaRPr lang="en-US" sz="1100" dirty="0"/>
          </a:p>
          <a:p>
            <a:pPr indent="0" marL="0">
              <a:spcAft>
                <a:spcPts val="700"/>
              </a:spcAft>
              <a:buNone/>
            </a:pPr>
            <a:r>
              <a:rPr lang="en-US" sz="1100" dirty="0">
                <a:solidFill>
                  <a:schemeClr val="tx1"/>
                </a:solidFill>
              </a:rPr>
              <a:t>8. Maertens J, Lodewyck T, Donnelly JP, et al. Empiric vs preemptive antifungal strategy in high-risk neutropenic patients on fluconazole prophylaxis: a randomized trial of the European Organization for Research and Treatment of cancer. Clin Infect Dis. 2023;76(4):674–82.</a:t>
            </a:r>
            <a:endParaRPr lang="en-US" sz="1100" dirty="0"/>
          </a:p>
          <a:p>
            <a:pPr indent="0" marL="0">
              <a:spcAft>
                <a:spcPts val="700"/>
              </a:spcAft>
              <a:buNone/>
            </a:pPr>
            <a:r>
              <a:rPr lang="en-US" sz="1100" dirty="0">
                <a:solidFill>
                  <a:schemeClr val="tx1"/>
                </a:solidFill>
              </a:rPr>
              <a:t>9. Beyar-Katz O, Dickstein Y, Borok S, et al. Empirical antibiotics targeting gram-positive bacteria for the treatment of febrile neutropenic patients with cancer. Cochrane Database Syst Rev. 2017;6:CD003914.</a:t>
            </a:r>
            <a:endParaRPr lang="en-US" sz="1100" dirty="0"/>
          </a:p>
        </p:txBody>
      </p:sp>
      <p:sp>
        <p:nvSpPr>
          <p:cNvPr id="6" name="Text 91"/>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10. Averbuch D, Tridello G, Hoek J, et al. Antimicrobial resistance in gram-negative rods causing bacteremia in hematopoietic stem cell transplant recipients: intercontinental prospective study of the infectious diseases working Party of the European Bone Marrow Transplantation Group. Clin Infect Dis. 2017;65(11):1819–28.</a:t>
            </a:r>
            <a:endParaRPr lang="en-US" sz="1100" dirty="0"/>
          </a:p>
          <a:p>
            <a:pPr indent="0" marL="0">
              <a:spcAft>
                <a:spcPts val="700"/>
              </a:spcAft>
              <a:buNone/>
            </a:pPr>
            <a:r>
              <a:rPr lang="en-US" sz="1100" dirty="0">
                <a:solidFill>
                  <a:schemeClr val="tx1"/>
                </a:solidFill>
              </a:rPr>
              <a:t>11. Mikulska M, Averbuch D, Tissot F, Cordonnier C, Akova M, Calandra T, Ceppi M, Bruzzi P, Viscoli C, L. European Conference on Infections in. Fluoroquinolone prophylaxis in haematological cancer patients with neutropenia: ECIL critical appraisal of previous guidelines. J Infect. 2018;76(1):20–37.</a:t>
            </a:r>
            <a:endParaRPr lang="en-US" sz="1100" dirty="0"/>
          </a:p>
          <a:p>
            <a:pPr indent="0" marL="0">
              <a:spcAft>
                <a:spcPts val="700"/>
              </a:spcAft>
              <a:buNone/>
            </a:pPr>
            <a:r>
              <a:rPr lang="en-US" sz="1100" dirty="0">
                <a:solidFill>
                  <a:schemeClr val="tx1"/>
                </a:solidFill>
              </a:rPr>
              <a:t>12. Bergeron A, Mikulska M, De Greef J, et al. Mycobacterial infections in adults with haematological malignancies and haematopoietic stem cell transplants: guidelines from the 8th European conference on infections in Leukaemia. Lancet Infect Dis. 2022 Dec;22:e359–69.</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3</a:t>
            </a:r>
            <a:endParaRPr lang="en-US" sz="3600" dirty="0"/>
          </a:p>
        </p:txBody>
      </p:sp>
      <p:sp>
        <p:nvSpPr>
          <p:cNvPr id="5" name="Text 92"/>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Averbuch D, De Greef J, Duréault A, et al. European Study Group for Nocardia in hematopoietic cell transplantation. Nocardia infections in hematopoietic cell transplant recipients: amulticenter international retrospective study of the infectious diseases working Party of the European Society for blood and marrow transplantation. Clin Infect Dis. 2022a;75:88–97.</a:t>
            </a:r>
            <a:endParaRPr lang="en-US" sz="1100" dirty="0"/>
          </a:p>
        </p:txBody>
      </p:sp>
      <p:sp>
        <p:nvSpPr>
          <p:cNvPr id="6" name="Text 93"/>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14. Averbuch D, Tridello G, Wendel L, et al. Listeria infection in hematopoietic cell transplant recipients: an international case-control study of the Infectious Diseases Working Party of the EBMT. The 48th Annual Meeting of the European Society for Blood and Marrow Transplantation: Physicians—Oral Sessions (O009-O155). Bone Marrow Transplant. 2022b;57(Suppl 1):16–99. https://doi.org/10.1038/s41409-022-01815-2.</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NEUTROPENIC FEVER · DIFFERENTIAL</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Neutropenic fever has many non-bacterial causes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Mikulska M. EBMT Handbook 8th ed. 2024; Ch. 35</a:t>
            </a:r>
            <a:endParaRPr lang="en-US" sz="1000" dirty="0"/>
          </a:p>
        </p:txBody>
      </p:sp>
      <p:sp>
        <p:nvSpPr>
          <p:cNvPr id="6" name="Text 94"/>
          <p:cNvSpPr txBox="1"/>
          <p:nvPr/>
        </p:nvSpPr>
        <p:spPr>
          <a:xfrm>
            <a:off x="685800" y="2240280"/>
            <a:ext cx="5180076" cy="457200"/>
          </a:xfrm>
          <a:prstGeom prst="rect">
            <a:avLst/>
          </a:prstGeom>
          <a:noFill/>
          <a:ln/>
        </p:spPr>
        <p:txBody>
          <a:bodyPr wrap="square" lIns="0" tIns="0" rIns="0" bIns="0" rtlCol="0" anchor="t"/>
          <a:lstStyle/>
          <a:p>
            <a:pPr indent="0" marL="0">
              <a:buNone/>
            </a:pPr>
            <a:r>
              <a:rPr lang="en-US" sz="2000" b="1" dirty="0">
                <a:solidFill>
                  <a:schemeClr val="tx1"/>
                </a:solidFill>
              </a:rPr>
              <a:t>Infections beyond bacteria</a:t>
            </a:r>
            <a:endParaRPr lang="en-US" sz="2000" dirty="0"/>
          </a:p>
        </p:txBody>
      </p:sp>
      <p:sp>
        <p:nvSpPr>
          <p:cNvPr id="7" name="Shape 4"/>
          <p:cNvSpPr/>
          <p:nvPr/>
        </p:nvSpPr>
        <p:spPr>
          <a:xfrm>
            <a:off x="685800" y="2743200"/>
            <a:ext cx="5180076" cy="0"/>
          </a:xfrm>
          <a:prstGeom prst="line">
            <a:avLst/>
          </a:prstGeom>
          <a:noFill/>
          <a:ln w="15875">
            <a:solidFill>
              <a:schemeClr val="tx1"/>
            </a:solidFill>
            <a:prstDash val="solid"/>
          </a:ln>
        </p:spPr>
      </p:sp>
      <p:sp>
        <p:nvSpPr>
          <p:cNvPr id="8" name="Text 95"/>
          <p:cNvSpPr txBox="1"/>
          <p:nvPr/>
        </p:nvSpPr>
        <p:spPr>
          <a:xfrm>
            <a:off x="685800" y="2880360"/>
            <a:ext cx="5180076"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Viral infections (CMV, ADV, respiratory)</a:t>
            </a:r>
            <a:endParaRPr lang="en-US" sz="1800" dirty="0"/>
          </a:p>
          <a:p>
            <a:pPr marL="342900" indent="-342900">
              <a:spcAft>
                <a:spcPts val="800"/>
              </a:spcAft>
              <a:buSzPct val="100000"/>
              <a:buChar char="•"/>
            </a:pPr>
            <a:r>
              <a:rPr lang="en-US" sz="1800" dirty="0">
                <a:solidFill>
                  <a:schemeClr val="tx1"/>
                </a:solidFill>
              </a:rPr>
              <a:t>Fungal infections</a:t>
            </a:r>
            <a:endParaRPr lang="en-US" sz="1800" dirty="0"/>
          </a:p>
          <a:p>
            <a:pPr marL="342900" indent="-342900">
              <a:spcAft>
                <a:spcPts val="800"/>
              </a:spcAft>
              <a:buSzPct val="100000"/>
              <a:buChar char="•"/>
            </a:pPr>
            <a:r>
              <a:rPr lang="en-US" sz="1800" dirty="0">
                <a:solidFill>
                  <a:schemeClr val="tx1"/>
                </a:solidFill>
              </a:rPr>
              <a:t>Legionella, mycobacteria, Nocardia</a:t>
            </a:r>
            <a:endParaRPr lang="en-US" sz="1800" dirty="0"/>
          </a:p>
          <a:p>
            <a:pPr marL="342900" indent="-342900">
              <a:spcAft>
                <a:spcPts val="800"/>
              </a:spcAft>
              <a:buSzPct val="100000"/>
              <a:buChar char="•"/>
            </a:pPr>
            <a:r>
              <a:rPr lang="en-US" sz="1800" dirty="0">
                <a:solidFill>
                  <a:schemeClr val="tx1"/>
                </a:solidFill>
              </a:rPr>
              <a:t>Toxoplasma</a:t>
            </a:r>
            <a:endParaRPr lang="en-US" sz="1800" dirty="0"/>
          </a:p>
        </p:txBody>
      </p:sp>
      <p:sp>
        <p:nvSpPr>
          <p:cNvPr id="9" name="Text 96"/>
          <p:cNvSpPr txBox="1"/>
          <p:nvPr/>
        </p:nvSpPr>
        <p:spPr>
          <a:xfrm>
            <a:off x="6323076" y="2240280"/>
            <a:ext cx="5180076" cy="457200"/>
          </a:xfrm>
          <a:prstGeom prst="rect">
            <a:avLst/>
          </a:prstGeom>
          <a:noFill/>
          <a:ln/>
        </p:spPr>
        <p:txBody>
          <a:bodyPr wrap="square" lIns="0" tIns="0" rIns="0" bIns="0" rtlCol="0" anchor="t"/>
          <a:lstStyle/>
          <a:p>
            <a:pPr indent="0" marL="0">
              <a:buNone/>
            </a:pPr>
            <a:r>
              <a:rPr lang="en-US" sz="2000" b="1" dirty="0">
                <a:solidFill>
                  <a:schemeClr val="tx1"/>
                </a:solidFill>
              </a:rPr>
              <a:t>Non-infectious causes</a:t>
            </a:r>
            <a:endParaRPr lang="en-US" sz="2000" dirty="0"/>
          </a:p>
        </p:txBody>
      </p:sp>
      <p:sp>
        <p:nvSpPr>
          <p:cNvPr id="10" name="Shape 7"/>
          <p:cNvSpPr/>
          <p:nvPr/>
        </p:nvSpPr>
        <p:spPr>
          <a:xfrm>
            <a:off x="6323076" y="2743200"/>
            <a:ext cx="5180076" cy="0"/>
          </a:xfrm>
          <a:prstGeom prst="line">
            <a:avLst/>
          </a:prstGeom>
          <a:noFill/>
          <a:ln w="15875">
            <a:solidFill>
              <a:schemeClr val="tx1"/>
            </a:solidFill>
            <a:prstDash val="solid"/>
          </a:ln>
        </p:spPr>
      </p:sp>
      <p:sp>
        <p:nvSpPr>
          <p:cNvPr id="11" name="Text 97"/>
          <p:cNvSpPr txBox="1"/>
          <p:nvPr/>
        </p:nvSpPr>
        <p:spPr>
          <a:xfrm>
            <a:off x="6323076" y="2880360"/>
            <a:ext cx="5180076" cy="30175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chemeClr val="tx1"/>
                </a:solidFill>
              </a:rPr>
              <a:t>Drug (ATG) or transfusion reaction</a:t>
            </a:r>
            <a:endParaRPr lang="en-US" sz="1800" dirty="0"/>
          </a:p>
          <a:p>
            <a:pPr marL="342900" indent="-342900">
              <a:spcAft>
                <a:spcPts val="800"/>
              </a:spcAft>
              <a:buSzPct val="100000"/>
              <a:buChar char="•"/>
            </a:pPr>
            <a:r>
              <a:rPr lang="en-US" sz="1800" dirty="0">
                <a:solidFill>
                  <a:schemeClr val="tx1"/>
                </a:solidFill>
              </a:rPr>
              <a:t>CRS, engraftment syndrome</a:t>
            </a:r>
            <a:endParaRPr lang="en-US" sz="1800" dirty="0"/>
          </a:p>
          <a:p>
            <a:pPr marL="342900" indent="-342900">
              <a:spcAft>
                <a:spcPts val="800"/>
              </a:spcAft>
              <a:buSzPct val="100000"/>
              <a:buChar char="•"/>
            </a:pPr>
            <a:r>
              <a:rPr lang="en-US" sz="1800" dirty="0">
                <a:solidFill>
                  <a:schemeClr val="tx1"/>
                </a:solidFill>
              </a:rPr>
              <a:t>Mucositis</a:t>
            </a:r>
            <a:endParaRPr lang="en-US" sz="1800" dirty="0"/>
          </a:p>
          <a:p>
            <a:pPr marL="342900" indent="-342900">
              <a:spcAft>
                <a:spcPts val="800"/>
              </a:spcAft>
              <a:buSzPct val="100000"/>
              <a:buChar char="•"/>
            </a:pPr>
            <a:r>
              <a:rPr lang="en-US" sz="1800" dirty="0">
                <a:solidFill>
                  <a:schemeClr val="tx1"/>
                </a:solidFill>
              </a:rPr>
              <a:t>GVHD, rejection, haemophagocytosis</a:t>
            </a:r>
            <a:endParaRPr lang="en-US" sz="1800" dirty="0"/>
          </a:p>
          <a:p>
            <a:pPr marL="342900" indent="-342900">
              <a:spcAft>
                <a:spcPts val="800"/>
              </a:spcAft>
              <a:buSzPct val="100000"/>
              <a:buChar char="•"/>
            </a:pPr>
            <a:r>
              <a:rPr lang="en-US" sz="1800" dirty="0">
                <a:solidFill>
                  <a:schemeClr val="tx1"/>
                </a:solidFill>
              </a:rPr>
              <a:t>Underlying disease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BACTERIAL INFECTIONS · SYNDROMES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Pneumonia, diarrhoea and CNS infection each have a rule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Averbuch D. EBMT Handbook 8th ed. 2024; Ch. 36</a:t>
            </a:r>
            <a:endParaRPr lang="en-US" sz="1000" dirty="0"/>
          </a:p>
        </p:txBody>
      </p:sp>
      <p:graphicFrame>
        <p:nvGraphicFramePr>
          <p:cNvPr id="28" name="Table 98"/>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112264"/>
                <a:gridCol w="4398264"/>
                <a:gridCol w="4306824"/>
              </a:tblGrid>
              <a:tr h="0">
                <a:tc>
                  <a:txBody>
                    <a:bodyPr/>
                    <a:lstStyle/>
                    <a:p>
                      <a:pPr indent="0" marL="0">
                        <a:buNone/>
                      </a:pPr>
                      <a:r>
                        <a:rPr lang="en-US" sz="1600" b="1" dirty="0">
                          <a:solidFill>
                            <a:schemeClr val="tx1"/>
                          </a:solidFill>
                        </a:rPr>
                        <a:t>Syndrome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Key facts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Action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Pneumonia</a:t>
                      </a:r>
                      <a:endParaRPr lang="en-US" sz="1600" dirty="0"/>
                    </a:p>
                    <a:p>
                      <a:pPr indent="0" marL="0">
                        <a:buNone/>
                      </a:pPr>
                      <a:r>
                        <a:rPr lang="en-US" sz="1600" dirty="0">
                          <a:solidFill>
                            <a:schemeClr val="tx1"/>
                          </a:solidFill>
                        </a:rPr>
                        <a:t>(11–24%)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Atypical, rapid; hypoxaemia may</a:t>
                      </a:r>
                      <a:endParaRPr lang="en-US" sz="1600" dirty="0"/>
                    </a:p>
                    <a:p>
                      <a:pPr indent="0" marL="0">
                        <a:buNone/>
                      </a:pPr>
                      <a:r>
                        <a:rPr lang="en-US" sz="1600" dirty="0">
                          <a:solidFill>
                            <a:schemeClr val="tx1"/>
                          </a:solidFill>
                        </a:rPr>
                        <a:t>be the only sign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Chest CT, bronchoscopy,</a:t>
                      </a:r>
                      <a:endParaRPr lang="en-US" sz="1600" dirty="0"/>
                    </a:p>
                    <a:p>
                      <a:pPr indent="0" marL="0">
                        <a:buNone/>
                      </a:pPr>
                      <a:r>
                        <a:rPr lang="en-US" sz="1600" dirty="0">
                          <a:solidFill>
                            <a:schemeClr val="tx1"/>
                          </a:solidFill>
                        </a:rPr>
                        <a:t>immediate empirical therapy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 difficile</a:t>
                      </a:r>
                      <a:endParaRPr lang="en-US" sz="1600" dirty="0"/>
                    </a:p>
                    <a:p>
                      <a:pPr indent="0" marL="0">
                        <a:buNone/>
                      </a:pPr>
                      <a:r>
                        <a:rPr lang="en-US" sz="1600" dirty="0">
                          <a:solidFill>
                            <a:schemeClr val="tx1"/>
                          </a:solidFill>
                        </a:rPr>
                        <a:t>(5–30%)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May be paradoxically mild;</a:t>
                      </a:r>
                      <a:endParaRPr lang="en-US" sz="1600" dirty="0"/>
                    </a:p>
                    <a:p>
                      <a:pPr indent="0" marL="0">
                        <a:buNone/>
                      </a:pPr>
                      <a:r>
                        <a:rPr lang="en-US" sz="1600" dirty="0">
                          <a:solidFill>
                            <a:schemeClr val="tx1"/>
                          </a:solidFill>
                        </a:rPr>
                        <a:t>megacolon, perforation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GDH EIA + NAAT +</a:t>
                      </a:r>
                      <a:endParaRPr lang="en-US" sz="1600" dirty="0"/>
                    </a:p>
                    <a:p>
                      <a:pPr indent="0" marL="0">
                        <a:buNone/>
                      </a:pPr>
                      <a:r>
                        <a:rPr lang="en-US" sz="1600" dirty="0">
                          <a:solidFill>
                            <a:schemeClr val="tx1"/>
                          </a:solidFill>
                        </a:rPr>
                        <a:t>toxin A/B EIA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Community</a:t>
                      </a:r>
                      <a:endParaRPr lang="en-US" sz="1600" dirty="0"/>
                    </a:p>
                    <a:p>
                      <a:pPr indent="0" marL="0">
                        <a:buNone/>
                      </a:pPr>
                      <a:r>
                        <a:rPr lang="en-US" sz="1600" dirty="0">
                          <a:solidFill>
                            <a:schemeClr val="tx1"/>
                          </a:solidFill>
                        </a:rPr>
                        <a:t>diarrhoea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Shigella, Salmonella, Campylobacter:</a:t>
                      </a:r>
                      <a:endParaRPr lang="en-US" sz="1600" dirty="0"/>
                    </a:p>
                    <a:p>
                      <a:pPr indent="0" marL="0">
                        <a:buNone/>
                      </a:pPr>
                      <a:r>
                        <a:rPr lang="en-US" sz="1600" dirty="0">
                          <a:solidFill>
                            <a:schemeClr val="tx1"/>
                          </a:solidFill>
                        </a:rPr>
                        <a:t>rare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Stool culture only within</a:t>
                      </a:r>
                      <a:endParaRPr lang="en-US" sz="1600" dirty="0"/>
                    </a:p>
                    <a:p>
                      <a:pPr indent="0" marL="0">
                        <a:buNone/>
                      </a:pPr>
                      <a:r>
                        <a:rPr lang="en-US" sz="1600" dirty="0">
                          <a:solidFill>
                            <a:schemeClr val="tx1"/>
                          </a:solidFill>
                        </a:rPr>
                        <a:t>3 days of admission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CNS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Abscess (VS, S. aureus, Klebsiella);</a:t>
                      </a:r>
                      <a:endParaRPr lang="en-US" sz="1600" dirty="0"/>
                    </a:p>
                    <a:p>
                      <a:pPr indent="0" marL="0">
                        <a:buNone/>
                      </a:pPr>
                      <a:r>
                        <a:rPr lang="en-US" sz="1600" dirty="0">
                          <a:solidFill>
                            <a:schemeClr val="tx1"/>
                          </a:solidFill>
                        </a:rPr>
                        <a:t>meningitis (Listeria, IPD)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MRI; cefotaxime/ceftriaxone</a:t>
                      </a:r>
                      <a:endParaRPr lang="en-US" sz="1600" dirty="0"/>
                    </a:p>
                    <a:p>
                      <a:pPr indent="0" marL="0">
                        <a:buNone/>
                      </a:pPr>
                      <a:r>
                        <a:rPr lang="en-US" sz="1600" dirty="0">
                          <a:solidFill>
                            <a:schemeClr val="tx1"/>
                          </a:solidFill>
                        </a:rPr>
                        <a:t>+ ampicillin ± vancomycin</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BACTERIAL INFECTIONS · PRINCIPLES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Targeted therapy is narrow, well dosed and long enough</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Averbuch D. EBMT Handbook 8th ed. 2024; Ch. 36</a:t>
            </a:r>
            <a:endParaRPr lang="en-US" sz="1000" dirty="0"/>
          </a:p>
        </p:txBody>
      </p:sp>
      <p:graphicFrame>
        <p:nvGraphicFramePr>
          <p:cNvPr id="29" name="Table 9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063240"/>
                <a:gridCol w="7754112"/>
              </a:tblGrid>
              <a:tr h="0">
                <a:tc>
                  <a:txBody>
                    <a:bodyPr/>
                    <a:lstStyle/>
                    <a:p>
                      <a:pPr indent="0" marL="0">
                        <a:buNone/>
                      </a:pPr>
                      <a:r>
                        <a:rPr lang="en-US" sz="1700" b="1" dirty="0">
                          <a:solidFill>
                            <a:schemeClr val="tx1"/>
                          </a:solidFill>
                        </a:rPr>
                        <a:t>Principle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Detail</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Unstable or MDR-colonised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Meropenem or β-lactam + aminoglycoside ± vancomycin, then narrow</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Targeted therapy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Narrowest, least toxic active drug; consult ID for resistant bacteria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Dosing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Loading dose, then prolonged or continuous β-lactam infusion; TDM</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Combination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Not routine for β-lactam-susceptible GNB</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Duration</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 7 days; eradicated, signs resolved, afebrile ≥ 4 days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CH. 39 · TABLE 39.3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Asian series show the highest tuberculosis risk after allo-HCT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Martino R. EBMT Handbook 8th ed. 2024; Ch. 39</a:t>
            </a:r>
            <a:endParaRPr lang="en-US" sz="1000" dirty="0"/>
          </a:p>
        </p:txBody>
      </p:sp>
      <p:graphicFrame>
        <p:nvGraphicFramePr>
          <p:cNvPr id="30" name="Table 10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523744"/>
                <a:gridCol w="1444752"/>
                <a:gridCol w="4507992"/>
                <a:gridCol w="1170432"/>
                <a:gridCol w="1170432"/>
              </a:tblGrid>
              <a:tr h="0">
                <a:tc>
                  <a:txBody>
                    <a:bodyPr/>
                    <a:lstStyle/>
                    <a:p>
                      <a:pPr indent="0" marL="0">
                        <a:buNone/>
                      </a:pPr>
                      <a:r>
                        <a:rPr lang="en-US" sz="1600" b="1" dirty="0">
                          <a:solidFill>
                            <a:schemeClr val="tx1"/>
                          </a:solidFill>
                        </a:rPr>
                        <a:t>Series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Country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TB/HCT × general population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NTM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Deaths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Ku 2001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Taiwan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8/255 allo × 13.1; 0/95 auto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Fan 2015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Taiwan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32/1368 allo × 7; 7/672 auto × 2.5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Liu 2016 (abstract)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Taiwan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5/422 allo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21/422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Lee 2017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Korea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21/824 allo × 9.1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de la Cámara 2000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Spain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12/2866 allo × 2.2; auto = GP</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Cordonnier 2004</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EBMT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23/1513 allo; 8/3012 auto</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8</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Neutropenic fever, bacterial and other life-threatening infections</dc:title>
  <dc:subject>PptxGenJS Presentation</dc:subject>
  <dc:creator>Hsieh-Ting Lin, MD</dc:creator>
  <cp:lastModifiedBy>Hsieh-Ting Lin, MD</cp:lastModifiedBy>
  <cp:revision>1</cp:revision>
  <dcterms:created xsi:type="dcterms:W3CDTF">2026-10-09T16:08:02Z</dcterms:created>
  <dcterms:modified xsi:type="dcterms:W3CDTF">2026-10-09T16:08:02Z</dcterms:modified>
</cp:coreProperties>
</file>